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deep dive into Dreamer 4, the September 2025 DeepMind paper by Danijar Hafner, Wilson Yan and Tim Lillicrap. Headline: an agent that learns to obtain diamonds in Minecraft purely from offline video, by training inside a learned world model that runs in real time on a single GPU. The three frames on the right are all generated by the world model: an imagined training rollout, a human play-testing session, and the robot-arm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it's this one. Five claims, each tied to a table or figure. Note the honesty in the numbers: diamonds are rare (0.7 %), but every earlier milestone is reached far more reliably and faster than by the baselines, all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Keeping the dynamics loss on uniform data rather than task-relevant data is a small but deliberate choice to avoid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random masking during training. Everything after this operates on 256 latent tokens per frame instead of 960 patches. The schematic on the left is an illustration built from a real frame, not a visualisation of the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 A wording note: the paper says the past inputs are 'slightly corrupted to signal level τ_ctx = 0.1' — read that as a small amount of noise on the context, not 90 % noise.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dial τ from 0 (pure noise) to 1 (clean latent). Training corrupts a clean latent to a random position on the dial and asks the network for the way back, either as a direction (velocity) or as the clean end point. Sampling turns the dial from 0 to 1 in K steps. The strip at the top is a real world-model frame mixed with Gaussian noise at five signal levels. The problem for a real-time simulator is K: standard models need dozens of steps per frame.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forcing is the trick that turns a video diffusion model into a causal simulator: every frame gets its own noise level, so the model learns to predict a noisy future from a cleaner past. That is precisely the situation at inference, where the past is what the model generated a moment ago. What it does not solve is speed; that is what shortcut models are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 models teach the network to take big steps consistently. The extra input is the step size; the extra loss says that one big step must agree with two half steps that the model computes itself. Because the target is deterministic it is easier to fit than the noisy flow-matching target, which is one reason the bootstrap term works well. Dreamer 4 combines this with diffusion forcing into shortcut forcing.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objective in words. Combining the two prior ideas gets you from 875 back to 329 FVD at 4 steps — but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independently confirmed this —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not FVD — exactly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First, using the world model as the representation for imitation already gives a large jump — that's a statement about video pretraining. Second, RL inside the model adds a further, smaller but consistent gain on the hardest items and makes the agent faster, which is a hallmark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strategically important.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 how to make a fast, accurate autoregressive video world model — is robust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which — memory, corrective data, and language — directly address the limitations we just discussed. Note that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image" Target="../media/image20.jpg"/><Relationship Id="rId6" Type="http://schemas.openxmlformats.org/officeDocument/2006/relationships/image" Target="../media/image21.jpg"/><Relationship Id="rId7" Type="http://schemas.openxmlformats.org/officeDocument/2006/relationships/image" Target="../media/image22.jpg"/><Relationship Id="rId8" Type="http://schemas.openxmlformats.org/officeDocument/2006/relationships/image" Target="../media/image23.jpg"/><Relationship Id="rId9" Type="http://schemas.openxmlformats.org/officeDocument/2006/relationships/image" Target="../media/image24.jpg"/><Relationship Id="rId10" Type="http://schemas.openxmlformats.org/officeDocument/2006/relationships/image" Target="../media/image25.jpg"/><Relationship Id="rId11"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41732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PAPER DEEP DIVE  ·  ARXIV 2509.24527</a:t>
            </a:r>
          </a:p>
        </p:txBody>
      </p:sp>
      <p:sp>
        <p:nvSpPr>
          <p:cNvPr id="7" name="TextBox 6"/>
          <p:cNvSpPr txBox="1"/>
          <p:nvPr/>
        </p:nvSpPr>
        <p:spPr>
          <a:xfrm>
            <a:off x="685800" y="178308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834640"/>
            <a:ext cx="5852160" cy="128016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Training Agents Inside of</a:t>
            </a:r>
          </a:p>
          <a:p>
            <a:pPr algn="l">
              <a:lnSpc>
                <a:spcPct val="110000"/>
              </a:lnSpc>
            </a:pPr>
            <a:r>
              <a:rPr sz="2600" b="0" i="0">
                <a:solidFill>
                  <a:srgbClr val="FFFFFF"/>
                </a:solidFill>
                <a:latin typeface="Calibri"/>
              </a:rPr>
              <a:t>Scalable World Models</a:t>
            </a:r>
          </a:p>
        </p:txBody>
      </p:sp>
      <p:sp>
        <p:nvSpPr>
          <p:cNvPr id="9" name="Rectangle 8"/>
          <p:cNvSpPr/>
          <p:nvPr/>
        </p:nvSpPr>
        <p:spPr>
          <a:xfrm>
            <a:off x="777240" y="416052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43400"/>
            <a:ext cx="6035040" cy="914400"/>
          </a:xfrm>
          <a:prstGeom prst="rect">
            <a:avLst/>
          </a:prstGeom>
          <a:noFill/>
        </p:spPr>
        <p:txBody>
          <a:bodyPr wrap="square" anchor="t" lIns="45720" rIns="45720" tIns="18288" bIns="18288">
            <a:spAutoFit/>
          </a:bodyPr>
          <a:lstStyle/>
          <a:p>
            <a:pPr algn="l">
              <a:lnSpc>
                <a:spcPct val="120000"/>
              </a:lnSpc>
            </a:pPr>
            <a:r>
              <a:rPr sz="1500" b="0" i="0">
                <a:solidFill>
                  <a:srgbClr val="C9D3E6"/>
                </a:solidFill>
                <a:latin typeface="Calibri"/>
              </a:rPr>
              <a:t>Danijar Hafner*, Wilson Yan*, Timothy Lillicrap — Google DeepMind</a:t>
            </a:r>
          </a:p>
          <a:p>
            <a:pPr algn="l">
              <a:lnSpc>
                <a:spcPct val="120000"/>
              </a:lnSpc>
            </a:pPr>
            <a:r>
              <a:rPr sz="1500" b="0" i="0">
                <a:solidFill>
                  <a:srgbClr val="C9D3E6"/>
                </a:solidFill>
                <a:latin typeface="Calibri"/>
              </a:rPr>
              <a:t>29 September 2025  ·  danijar.com/project/dreamer4</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~45–60 min incl.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frames generated by the Dreamer 4 world model —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sp>
        <p:nvSpPr>
          <p:cNvPr id="6" name="TextBox 5"/>
          <p:cNvSpPr txBox="1"/>
          <p:nvPr/>
        </p:nvSpPr>
        <p:spPr>
          <a:xfrm>
            <a:off x="548640" y="152704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7" name="TextBox 6"/>
          <p:cNvSpPr txBox="1"/>
          <p:nvPr/>
        </p:nvSpPr>
        <p:spPr>
          <a:xfrm>
            <a:off x="1097280" y="155448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Background</a:t>
            </a:r>
          </a:p>
        </p:txBody>
      </p:sp>
      <p:sp>
        <p:nvSpPr>
          <p:cNvPr id="8" name="TextBox 7"/>
          <p:cNvSpPr txBox="1"/>
          <p:nvPr/>
        </p:nvSpPr>
        <p:spPr>
          <a:xfrm>
            <a:off x="2926080" y="155448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why world models, what made scaling them hard, the offline diamond challenge</a:t>
            </a:r>
          </a:p>
        </p:txBody>
      </p:sp>
      <p:sp>
        <p:nvSpPr>
          <p:cNvPr id="9" name="TextBox 8"/>
          <p:cNvSpPr txBox="1"/>
          <p:nvPr/>
        </p:nvSpPr>
        <p:spPr>
          <a:xfrm>
            <a:off x="548640" y="230936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097280" y="233680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Method</a:t>
            </a:r>
          </a:p>
        </p:txBody>
      </p:sp>
      <p:sp>
        <p:nvSpPr>
          <p:cNvPr id="11" name="TextBox 10"/>
          <p:cNvSpPr txBox="1"/>
          <p:nvPr/>
        </p:nvSpPr>
        <p:spPr>
          <a:xfrm>
            <a:off x="2926080" y="233680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tokenizer, dynamics transformer, shortcut forcing, agent tokens, imagination training (PMPO)</a:t>
            </a:r>
          </a:p>
        </p:txBody>
      </p:sp>
      <p:sp>
        <p:nvSpPr>
          <p:cNvPr id="12" name="TextBox 11"/>
          <p:cNvSpPr txBox="1"/>
          <p:nvPr/>
        </p:nvSpPr>
        <p:spPr>
          <a:xfrm>
            <a:off x="548640" y="334568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3" name="TextBox 12"/>
          <p:cNvSpPr txBox="1"/>
          <p:nvPr/>
        </p:nvSpPr>
        <p:spPr>
          <a:xfrm>
            <a:off x="1097280" y="337312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Experiments</a:t>
            </a:r>
          </a:p>
        </p:txBody>
      </p:sp>
      <p:sp>
        <p:nvSpPr>
          <p:cNvPr id="14" name="TextBox 13"/>
          <p:cNvSpPr txBox="1"/>
          <p:nvPr/>
        </p:nvSpPr>
        <p:spPr>
          <a:xfrm>
            <a:off x="2926080" y="337312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real-time human play-testing, diamond challenge, ablations, learning from unlabeled video, robotics</a:t>
            </a:r>
          </a:p>
        </p:txBody>
      </p:sp>
      <p:sp>
        <p:nvSpPr>
          <p:cNvPr id="15" name="TextBox 14"/>
          <p:cNvSpPr txBox="1"/>
          <p:nvPr/>
        </p:nvSpPr>
        <p:spPr>
          <a:xfrm>
            <a:off x="548640" y="438200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6" name="TextBox 15"/>
          <p:cNvSpPr txBox="1"/>
          <p:nvPr/>
        </p:nvSpPr>
        <p:spPr>
          <a:xfrm>
            <a:off x="1097280" y="440944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Discussion</a:t>
            </a:r>
          </a:p>
        </p:txBody>
      </p:sp>
      <p:sp>
        <p:nvSpPr>
          <p:cNvPr id="17" name="TextBox 16"/>
          <p:cNvSpPr txBox="1"/>
          <p:nvPr/>
        </p:nvSpPr>
        <p:spPr>
          <a:xfrm>
            <a:off x="2926080" y="440944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limitations, critical reading, future work, takeaways</a:t>
            </a:r>
          </a:p>
        </p:txBody>
      </p:sp>
      <p:sp>
        <p:nvSpPr>
          <p:cNvPr id="18" name="TextBox 17"/>
          <p:cNvSpPr txBox="1"/>
          <p:nvPr/>
        </p:nvSpPr>
        <p:spPr>
          <a:xfrm>
            <a:off x="548640" y="516432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9" name="TextBox 18"/>
          <p:cNvSpPr txBox="1"/>
          <p:nvPr/>
        </p:nvSpPr>
        <p:spPr>
          <a:xfrm>
            <a:off x="1097280" y="519176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Appendix</a:t>
            </a:r>
          </a:p>
        </p:txBody>
      </p:sp>
      <p:sp>
        <p:nvSpPr>
          <p:cNvPr id="20" name="TextBox 19"/>
          <p:cNvSpPr txBox="1"/>
          <p:nvPr/>
        </p:nvSpPr>
        <p:spPr>
          <a:xfrm>
            <a:off x="2926080" y="5191760"/>
            <a:ext cx="393192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hyper-parameters, full tables, glossary</a:t>
            </a:r>
          </a:p>
        </p:txBody>
      </p:sp>
      <p:sp>
        <p:nvSpPr>
          <p:cNvPr id="21" name="Rectangle 20"/>
          <p:cNvSpPr/>
          <p:nvPr/>
        </p:nvSpPr>
        <p:spPr>
          <a:xfrm>
            <a:off x="7589520" y="1627632"/>
            <a:ext cx="25400" cy="24691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160020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HOW TO READ THIS DECK</a:t>
            </a:r>
          </a:p>
        </p:txBody>
      </p:sp>
      <p:sp>
        <p:nvSpPr>
          <p:cNvPr id="23" name="TextBox 22"/>
          <p:cNvSpPr txBox="1"/>
          <p:nvPr/>
        </p:nvSpPr>
        <p:spPr>
          <a:xfrm>
            <a:off x="7772400" y="1929384"/>
            <a:ext cx="3913632" cy="292608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Equations are kept to the minimum needed for intuition; the appendix has the exact settings.</a:t>
            </a:r>
          </a:p>
          <a:p>
            <a:pPr algn="l">
              <a:lnSpc>
                <a:spcPct val="110000"/>
              </a:lnSpc>
              <a:spcAft>
                <a:spcPts val="500"/>
              </a:spcAft>
            </a:pPr>
            <a:r>
              <a:rPr sz="1250" b="0" i="0">
                <a:solidFill>
                  <a:srgbClr val="1F2937"/>
                </a:solidFill>
                <a:latin typeface="Calibri"/>
              </a:rPr>
              <a:t>Every number is from the paper's tables (Table 1, 2, 7, 8) or the authors' talks — sources are on each slide.</a:t>
            </a:r>
          </a:p>
          <a:p>
            <a:pPr algn="l">
              <a:lnSpc>
                <a:spcPct val="110000"/>
              </a:lnSpc>
              <a:spcAft>
                <a:spcPts val="500"/>
              </a:spcAft>
            </a:pPr>
            <a:r>
              <a:rPr sz="1250" b="0" i="0">
                <a:solidFill>
                  <a:srgbClr val="1F2937"/>
                </a:solidFill>
                <a:latin typeface="Calibri"/>
              </a:rPr>
              <a:t>Figures © the authors (arXiv 2509.24527 / danijar.com), reproduced for discussion.</a:t>
            </a:r>
          </a:p>
          <a:p>
            <a:pPr algn="l">
              <a:lnSpc>
                <a:spcPct val="110000"/>
              </a:lnSpc>
              <a:spcAft>
                <a:spcPts val="500"/>
              </a:spcAft>
            </a:pPr>
            <a:r>
              <a:rPr sz="1250" b="0" i="0">
                <a:solidFill>
                  <a:srgbClr val="1F2937"/>
                </a:solidFill>
                <a:latin typeface="Calibri"/>
              </a:rPr>
              <a:t>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the paper claims, and the evidence behind each claim</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graphicFrame>
        <p:nvGraphicFramePr>
          <p:cNvPr id="7" name="Table 6"/>
          <p:cNvGraphicFramePr>
            <a:graphicFrameLocks noGrp="1"/>
          </p:cNvGraphicFramePr>
          <p:nvPr/>
        </p:nvGraphicFramePr>
        <p:xfrm>
          <a:off x="457200" y="1417320"/>
          <a:ext cx="11247120" cy="4041648"/>
        </p:xfrm>
        <a:graphic>
          <a:graphicData uri="http://schemas.openxmlformats.org/drawingml/2006/table">
            <a:tbl>
              <a:tblPr firstRow="0" bandRow="0"/>
              <a:tblGrid>
                <a:gridCol w="4206240"/>
                <a:gridCol w="7040880"/>
              </a:tblGrid>
              <a:tr h="384048">
                <a:tc>
                  <a:txBody>
                    <a:bodyPr/>
                    <a:lstStyle/>
                    <a:p>
                      <a:pPr algn="l"/>
                      <a:r>
                        <a:rPr sz="1200" b="1" i="0">
                          <a:solidFill>
                            <a:srgbClr val="14213D"/>
                          </a:solidFill>
                          <a:latin typeface="Calibri"/>
                        </a:rPr>
                        <a:t>Claim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Evidence in the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731520">
                <a:tc>
                  <a:txBody>
                    <a:bodyPr/>
                    <a:lstStyle/>
                    <a:p>
                      <a:pPr algn="l"/>
                      <a:r>
                        <a:rPr sz="1250" b="0" i="0">
                          <a:solidFill>
                            <a:srgbClr val="1F2937"/>
                          </a:solidFill>
                          <a:latin typeface="Calibri"/>
                        </a:rPr>
                        <a:t>First agent to obtain diamonds in Minecraft from offline data only</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0.7 % of 1,000 × 60-min episodes reach a diamond; 29 % reach an iron pickaxe (vs 11 % for a Gemma-3 VLA, 0.6 % for BC) — Table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Human play-testers solve 14/16 interaction tasks inside it at 21 FPS with a 9.6 s context (Oasis: 5/16, Lucid-v1: 0/16) — Table 1</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Shortcut forcing + an efficient transformer make this fast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4 sampling steps instead of 16–64; FVD 306 → 57 across the design cascade while going from 0.8 to 21 FPS — Table 2, Fig. 8</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Action conditioning can be learned from few labels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100 h of labeled actions ≈ 85 % PSNR / 100 % SSIM of using all 2,541 h; actions transfer to Nether/End seen only unlabeled — Fig.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~100× less data than VPT, no environment interaction</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2,541 h contractor video vs VPT's 270 K h web video + online RL — Table 3</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World models, learning in imagination, and why Minecraft from offline data is a hard test</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1" i="0">
                <a:solidFill>
                  <a:srgbClr val="14213D"/>
                </a:solidFill>
                <a:latin typeface="Calibri"/>
              </a:rPr>
              <a:t>World model:</a:t>
            </a:r>
            <a:r>
              <a:rPr sz="1700" b="0" i="0">
                <a:solidFill>
                  <a:srgbClr val="1F2937"/>
                </a:solidFill>
                <a:latin typeface="Calibri"/>
              </a:rPr>
              <a:t> a learned simulator that predicts what happens next given the current situation and an action</a:t>
            </a:r>
          </a:p>
          <a:p>
            <a:pPr marL="237744" indent="-201168">
              <a:lnSpc>
                <a:spcPct val="108000"/>
              </a:lnSpc>
              <a:spcAft>
                <a:spcPts val="600"/>
              </a:spcAft>
              <a:buClr>
                <a:srgbClr val="9AA3B2"/>
              </a:buClr>
              <a:buFont typeface="Arial"/>
              <a:buChar char="•"/>
            </a:pPr>
            <a:r>
              <a:rPr sz="1700" b="1" i="0">
                <a:solidFill>
                  <a:srgbClr val="14213D"/>
                </a:solidFill>
                <a:latin typeface="Calibri"/>
              </a:rPr>
              <a:t>Imagination training:</a:t>
            </a:r>
            <a:r>
              <a:rPr sz="1700" b="0" i="0">
                <a:solidFill>
                  <a:srgbClr val="1F2937"/>
                </a:solidFill>
                <a:latin typeface="Calibri"/>
              </a:rPr>
              <a:t> the policy is optimised on rollouts generated </a:t>
            </a:r>
            <a:r>
              <a:rPr sz="1700" b="0" i="1">
                <a:solidFill>
                  <a:srgbClr val="1F2937"/>
                </a:solidFill>
                <a:latin typeface="Calibri"/>
              </a:rPr>
              <a:t>by the model</a:t>
            </a:r>
            <a:r>
              <a:rPr sz="1700" b="0" i="0">
                <a:solidFill>
                  <a:srgbClr val="1F2937"/>
                </a:solidFill>
                <a:latin typeface="Calibri"/>
              </a:rPr>
              <a:t>, not by the real environment — cheap, parallel, safe</a:t>
            </a:r>
          </a:p>
          <a:p>
            <a:pPr marL="237744" indent="-201168">
              <a:lnSpc>
                <a:spcPct val="108000"/>
              </a:lnSpc>
              <a:spcAft>
                <a:spcPts val="600"/>
              </a:spcAft>
              <a:buClr>
                <a:srgbClr val="9AA3B2"/>
              </a:buClr>
              <a:buFont typeface="Arial"/>
              <a:buChar char="•"/>
            </a:pPr>
            <a:r>
              <a:rPr sz="1700" b="1" i="0">
                <a:solidFill>
                  <a:srgbClr val="14213D"/>
                </a:solidFill>
                <a:latin typeface="Calibri"/>
              </a:rPr>
              <a:t>Why it matters now:</a:t>
            </a:r>
            <a:r>
              <a:rPr sz="1700" b="0" i="0">
                <a:solidFill>
                  <a:srgbClr val="1F2937"/>
                </a:solidFill>
                <a:latin typeface="Calibri"/>
              </a:rPr>
              <a:t> robots and other real-world systems cannot afford millions of trial-and-error interactions; video on the internet is abundant</a:t>
            </a:r>
          </a:p>
          <a:p>
            <a:pPr marL="237744" indent="-201168">
              <a:lnSpc>
                <a:spcPct val="108000"/>
              </a:lnSpc>
              <a:spcAft>
                <a:spcPts val="600"/>
              </a:spcAft>
              <a:buClr>
                <a:srgbClr val="9AA3B2"/>
              </a:buClr>
              <a:buFont typeface="Arial"/>
              <a:buChar char="•"/>
            </a:pPr>
            <a:r>
              <a:rPr sz="1700" b="1" i="0">
                <a:solidFill>
                  <a:srgbClr val="14213D"/>
                </a:solidFill>
                <a:latin typeface="Calibri"/>
              </a:rPr>
              <a:t>Dreamer 4's bet:</a:t>
            </a:r>
            <a:r>
              <a:rPr sz="1700" b="0" i="0">
                <a:solidFill>
                  <a:srgbClr val="1F2937"/>
                </a:solidFill>
                <a:latin typeface="Calibri"/>
              </a:rPr>
              <a:t> if the simulator is accurate enough about object interactions,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 and a human tester needs ≥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1" i="0">
                <a:solidFill>
                  <a:srgbClr val="14213D"/>
                </a:solidFill>
                <a:latin typeface="Calibri"/>
              </a:rPr>
              <a:t>Dreamer 3's RSSM</a:t>
            </a:r>
            <a:r>
              <a:rPr sz="1600" b="0" i="0">
                <a:solidFill>
                  <a:srgbClr val="1F2937"/>
                </a:solidFill>
                <a:latin typeface="Calibri"/>
              </a:rPr>
              <a:t> is fast (~1,000× faster than a diffusion transformer) but operates at 64×64 pixels and needed abstract inventory state and crafting actions — not raw mouse &amp; keyboard</a:t>
            </a:r>
          </a:p>
          <a:p>
            <a:pPr marL="237744" indent="-201168">
              <a:lnSpc>
                <a:spcPct val="108000"/>
              </a:lnSpc>
              <a:spcAft>
                <a:spcPts val="600"/>
              </a:spcAft>
              <a:buClr>
                <a:srgbClr val="9AA3B2"/>
              </a:buClr>
              <a:buFont typeface="Arial"/>
              <a:buChar char="•"/>
            </a:pPr>
            <a:r>
              <a:rPr sz="1600" b="1" i="0">
                <a:solidFill>
                  <a:srgbClr val="14213D"/>
                </a:solidFill>
                <a:latin typeface="Calibri"/>
              </a:rPr>
              <a:t>Dreamer 4's answer:</a:t>
            </a:r>
            <a:r>
              <a:rPr sz="1600" b="0" i="0">
                <a:solidFill>
                  <a:srgbClr val="1F2937"/>
                </a:solidFill>
                <a:latin typeface="Calibri"/>
              </a:rPr>
              <a:t> a diffusion transformer that needs only 4 sampling steps (shortcut forcing), an architecture tuned for long context at low cost, and training tricks that keep long rollouts stable (x-prediction, noised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 learn everything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1" i="0">
                <a:solidFill>
                  <a:srgbClr val="14213D"/>
                </a:solidFill>
                <a:latin typeface="Calibri"/>
              </a:rPr>
              <a:t>Why it is hard:</a:t>
            </a:r>
            <a:r>
              <a:rPr sz="1550" b="0" i="0">
                <a:solidFill>
                  <a:srgbClr val="1F2937"/>
                </a:solidFill>
                <a:latin typeface="Calibri"/>
              </a:rPr>
              <a:t>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One transformer, three phases: world-model pretraining → agent fine-tuning → imagination training</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9</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Key design choice:</a:t>
            </a:r>
            <a:r>
              <a:rPr sz="1450" b="0" i="0">
                <a:solidFill>
                  <a:srgbClr val="1F2937"/>
                </a:solidFill>
                <a:latin typeface="Calibri"/>
              </a:rPr>
              <a:t> the same block-causal transformer serves as tokenizer, dynamics model and agent backbone; policy and value are tiny heads on 'agent tokens'</a:t>
            </a:r>
          </a:p>
          <a:p>
            <a:pPr marL="237744" indent="-201168">
              <a:lnSpc>
                <a:spcPct val="108000"/>
              </a:lnSpc>
              <a:spcAft>
                <a:spcPts val="600"/>
              </a:spcAft>
              <a:buClr>
                <a:srgbClr val="9AA3B2"/>
              </a:buClr>
              <a:buFont typeface="Arial"/>
              <a:buChar char="•"/>
            </a:pPr>
            <a:r>
              <a:rPr sz="1450" b="1" i="0">
                <a:solidFill>
                  <a:srgbClr val="14213D"/>
                </a:solidFill>
                <a:latin typeface="Calibri"/>
              </a:rPr>
              <a:t>Data mix in phases 2–3:</a:t>
            </a:r>
            <a:r>
              <a:rPr sz="1450" b="0" i="0">
                <a:solidFill>
                  <a:srgbClr val="1F2937"/>
                </a:solidFill>
                <a:latin typeface="Calibri"/>
              </a:rPr>
              <a:t> 50 % uniform sequences / 50 % task-relevant; BC loss only on relevant data, dynamics loss only on uniform data ('to avoid optimistic generations')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10</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Total 2 B parameters:</a:t>
            </a:r>
            <a:r>
              <a:rPr sz="1450" b="0" i="0">
                <a:solidFill>
                  <a:srgbClr val="1F2937"/>
                </a:solidFill>
                <a:latin typeface="Calibri"/>
              </a:rPr>
              <a:t>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Block-causal:</a:t>
            </a:r>
            <a:r>
              <a:rPr sz="1450" b="0" i="0">
                <a:solidFill>
                  <a:srgbClr val="1F2937"/>
                </a:solidFill>
                <a:latin typeface="Calibri"/>
              </a:rPr>
              <a:t> full attention within a frame, causal across frames → usable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Transformer recipe:</a:t>
            </a:r>
            <a:r>
              <a:rPr sz="1450" b="0" i="0">
                <a:solidFill>
                  <a:srgbClr val="1F2937"/>
                </a:solidFill>
                <a:latin typeface="Calibri"/>
              </a:rPr>
              <a:t> pre-RMSNorm, RoPE, SwiGLU, QK-norm, logit soft-capping, register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Compress each frame into 256 continuous latent tokens without looking into the future (paper §3.1)</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11</a:t>
            </a:r>
          </a:p>
        </p:txBody>
      </p:sp>
      <p:pic>
        <p:nvPicPr>
          <p:cNvPr id="8" name="Picture 7" descr="diag_tokenizer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Schematic built from one archived world-model frame; the latent grid is illustrative (real latents are 256 tokens × 32 dims, not a 16×16 image).</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Masked autoencoder, not a VAE/VQ:</a:t>
            </a:r>
            <a:r>
              <a:rPr sz="1300" b="0" i="0">
                <a:solidFill>
                  <a:srgbClr val="1F2937"/>
                </a:solidFill>
                <a:latin typeface="Calibri"/>
              </a:rPr>
              <a:t> input patches are dropped with probability p ~ U(0, 0.9) and replaced by a learned embedding, so the encoder must infer them from context — that regularises the latent space; p = 0 at inference</a:t>
            </a:r>
          </a:p>
          <a:p>
            <a:pPr marL="237744" indent="-201168">
              <a:lnSpc>
                <a:spcPct val="108000"/>
              </a:lnSpc>
              <a:spcAft>
                <a:spcPts val="500"/>
              </a:spcAft>
              <a:buClr>
                <a:srgbClr val="9AA3B2"/>
              </a:buClr>
              <a:buFont typeface="Arial"/>
              <a:buChar char="•"/>
            </a:pPr>
            <a:r>
              <a:rPr sz="1300" b="1" i="0">
                <a:solidFill>
                  <a:srgbClr val="14213D"/>
                </a:solidFill>
                <a:latin typeface="Calibri"/>
              </a:rPr>
              <a:t>Bottleneck:</a:t>
            </a:r>
            <a:r>
              <a:rPr sz="1300" b="0" i="0">
                <a:solidFill>
                  <a:srgbClr val="1F2937"/>
                </a:solidFill>
                <a:latin typeface="Calibri"/>
              </a:rPr>
              <a:t> latent tokens are read out through a linear projection to 512×16 with a tanh, reshaped to 256 tokens × 32 dims per frame — continuous, no codebook</a:t>
            </a:r>
          </a:p>
          <a:p>
            <a:pPr marL="237744" indent="-201168">
              <a:lnSpc>
                <a:spcPct val="108000"/>
              </a:lnSpc>
              <a:spcAft>
                <a:spcPts val="500"/>
              </a:spcAft>
              <a:buClr>
                <a:srgbClr val="9AA3B2"/>
              </a:buClr>
              <a:buFont typeface="Arial"/>
              <a:buChar char="•"/>
            </a:pPr>
            <a:r>
              <a:rPr sz="1300" b="1" i="0">
                <a:solidFill>
                  <a:srgbClr val="14213D"/>
                </a:solidFill>
                <a:latin typeface="Calibri"/>
              </a:rPr>
              <a:t>Loss:</a:t>
            </a:r>
            <a:r>
              <a:rPr sz="1300" b="0" i="0">
                <a:solidFill>
                  <a:srgbClr val="1F2937"/>
                </a:solidFill>
                <a:latin typeface="Calibri"/>
              </a:rPr>
              <a:t> MSE + 0.2·LPIPS on the reconstructed patches; the perceptual term keeps textures crisp</a:t>
            </a:r>
          </a:p>
          <a:p>
            <a:pPr marL="237744" indent="-201168">
              <a:lnSpc>
                <a:spcPct val="108000"/>
              </a:lnSpc>
              <a:spcAft>
                <a:spcPts val="500"/>
              </a:spcAft>
              <a:buClr>
                <a:srgbClr val="9AA3B2"/>
              </a:buClr>
              <a:buFont typeface="Arial"/>
              <a:buChar char="•"/>
            </a:pPr>
            <a:r>
              <a:rPr sz="1300" b="1" i="0">
                <a:solidFill>
                  <a:srgbClr val="14213D"/>
                </a:solidFill>
                <a:latin typeface="Calibri"/>
              </a:rPr>
              <a:t>Causal in time:</a:t>
            </a:r>
            <a:r>
              <a:rPr sz="1300" b="0" i="0">
                <a:solidFill>
                  <a:srgbClr val="1F2937"/>
                </a:solidFill>
                <a:latin typeface="Calibri"/>
              </a:rPr>
              <a:t> frame t is encoded and decoded from frames ≤ t only, so the same tokenizer runs frame by frame during live play</a:t>
            </a:r>
          </a:p>
          <a:p>
            <a:pPr marL="237744" indent="-201168">
              <a:lnSpc>
                <a:spcPct val="108000"/>
              </a:lnSpc>
              <a:spcAft>
                <a:spcPts val="500"/>
              </a:spcAft>
              <a:buClr>
                <a:srgbClr val="9AA3B2"/>
              </a:buClr>
              <a:buFont typeface="Arial"/>
              <a:buChar char="•"/>
            </a:pPr>
            <a:r>
              <a:rPr sz="1300" b="1" i="0">
                <a:solidFill>
                  <a:srgbClr val="14213D"/>
                </a:solidFill>
                <a:latin typeface="Calibri"/>
              </a:rPr>
              <a:t>Trained once, then frozen</a:t>
            </a:r>
            <a:r>
              <a:rPr sz="1300" b="0" i="0">
                <a:solidFill>
                  <a:srgbClr val="1F2937"/>
                </a:solidFill>
                <a:latin typeface="Calibri"/>
              </a:rPr>
              <a:t> (≈ 400 M parameters); Hafner expects end-to-end training to be possible eventually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Predict the clean latents of the next frame from the past, the actions and a noisy guess (paper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pic>
        <p:nvPicPr>
          <p:cNvPr id="8" name="Picture 7" descr="diag_dynamics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Sequence layout and attention pattern (schematic). Three of the 192 context frames are shown.</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Sequence per frame:</a:t>
            </a:r>
            <a:r>
              <a:rPr sz="1300" b="0" i="0">
                <a:solidFill>
                  <a:srgbClr val="1F2937"/>
                </a:solidFill>
                <a:latin typeface="Calibri"/>
              </a:rPr>
              <a:t> action tokens (23 keys + mouse class, or a learned 'no action' embedding for unlabeled video), one token for signal level τ_t and step size d, the 256 latent tokens, register tokens</a:t>
            </a:r>
          </a:p>
          <a:p>
            <a:pPr marL="237744" indent="-201168">
              <a:lnSpc>
                <a:spcPct val="108000"/>
              </a:lnSpc>
              <a:spcAft>
                <a:spcPts val="500"/>
              </a:spcAft>
              <a:buClr>
                <a:srgbClr val="9AA3B2"/>
              </a:buClr>
              <a:buFont typeface="Arial"/>
              <a:buChar char="•"/>
            </a:pPr>
            <a:r>
              <a:rPr sz="1300" b="1" i="0">
                <a:solidFill>
                  <a:srgbClr val="14213D"/>
                </a:solidFill>
                <a:latin typeface="Calibri"/>
              </a:rPr>
              <a:t>Block-causal attention:</a:t>
            </a:r>
            <a:r>
              <a:rPr sz="1300" b="0" i="0">
                <a:solidFill>
                  <a:srgbClr val="1F2937"/>
                </a:solidFill>
                <a:latin typeface="Calibri"/>
              </a:rPr>
              <a:t> everything within a frame sees each other; across frames only the past. Space-only layers do most of the work; a causal time layer every 4th layer sees the 192-frame (9.6 s) context</a:t>
            </a:r>
          </a:p>
          <a:p>
            <a:pPr marL="237744" indent="-201168">
              <a:lnSpc>
                <a:spcPct val="108000"/>
              </a:lnSpc>
              <a:spcAft>
                <a:spcPts val="500"/>
              </a:spcAft>
              <a:buClr>
                <a:srgbClr val="9AA3B2"/>
              </a:buClr>
              <a:buFont typeface="Arial"/>
              <a:buChar char="•"/>
            </a:pPr>
            <a:r>
              <a:rPr sz="1300" b="1" i="0">
                <a:solidFill>
                  <a:srgbClr val="14213D"/>
                </a:solidFill>
                <a:latin typeface="Calibri"/>
              </a:rPr>
              <a:t>Training target:</a:t>
            </a:r>
            <a:r>
              <a:rPr sz="1300" b="0" i="0">
                <a:solidFill>
                  <a:srgbClr val="1F2937"/>
                </a:solidFill>
                <a:latin typeface="Calibri"/>
              </a:rPr>
              <a:t> the clean latents of every frame (x-prediction) from their noised versions, the past and the actions — one loss over the whole sequence</a:t>
            </a:r>
          </a:p>
          <a:p>
            <a:pPr marL="237744" indent="-201168">
              <a:lnSpc>
                <a:spcPct val="108000"/>
              </a:lnSpc>
              <a:spcAft>
                <a:spcPts val="500"/>
              </a:spcAft>
              <a:buClr>
                <a:srgbClr val="9AA3B2"/>
              </a:buClr>
              <a:buFont typeface="Arial"/>
              <a:buChar char="•"/>
            </a:pPr>
            <a:r>
              <a:rPr sz="1300" b="1" i="0">
                <a:solidFill>
                  <a:srgbClr val="14213D"/>
                </a:solidFill>
                <a:latin typeface="Calibri"/>
              </a:rPr>
              <a:t>Efficiency:</a:t>
            </a:r>
            <a:r>
              <a:rPr sz="1300" b="0" i="0">
                <a:solidFill>
                  <a:srgbClr val="1F2937"/>
                </a:solidFill>
                <a:latin typeface="Calibri"/>
              </a:rPr>
              <a:t> grouped-query attention, alternating 64/256-frame batches, registers — 1.6 B parameters, 21 FPS on one H100 with K = 4</a:t>
            </a:r>
          </a:p>
          <a:p>
            <a:pPr marL="237744" indent="-201168">
              <a:lnSpc>
                <a:spcPct val="108000"/>
              </a:lnSpc>
              <a:spcAft>
                <a:spcPts val="500"/>
              </a:spcAft>
              <a:buClr>
                <a:srgbClr val="9AA3B2"/>
              </a:buClr>
              <a:buFont typeface="Arial"/>
              <a:buChar char="•"/>
            </a:pPr>
            <a:r>
              <a:rPr sz="1300" b="1" i="0">
                <a:solidFill>
                  <a:srgbClr val="14213D"/>
                </a:solidFill>
                <a:latin typeface="Calibri"/>
              </a:rPr>
              <a:t>Inference:</a:t>
            </a:r>
            <a:r>
              <a:rPr sz="1300" b="0" i="0">
                <a:solidFill>
                  <a:srgbClr val="1F2937"/>
                </a:solidFill>
                <a:latin typeface="Calibri"/>
              </a:rPr>
              <a:t> past frames are kept slightly corrupted (the paper's τ_ctx) so small generation errors do not push the model off-distribution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1 of 3 · Flow matching: one dial from noise to image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background the dynamics objective is built on (paper §2)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pic>
        <p:nvPicPr>
          <p:cNvPr id="8" name="Picture 7" descr="diag_flow_s.jpg"/>
          <p:cNvPicPr>
            <a:picLocks noChangeAspect="1"/>
          </p:cNvPicPr>
          <p:nvPr/>
        </p:nvPicPr>
        <p:blipFill>
          <a:blip r:embed="rId2"/>
          <a:stretch>
            <a:fillRect/>
          </a:stretch>
        </p:blipFill>
        <p:spPr>
          <a:xfrm>
            <a:off x="1508760" y="1371600"/>
            <a:ext cx="9144000" cy="3017520"/>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Signal level τ ∈ [0, 1]:</a:t>
            </a:r>
            <a:r>
              <a:rPr sz="1350" b="0" i="0">
                <a:solidFill>
                  <a:srgbClr val="1F2937"/>
                </a:solidFill>
                <a:latin typeface="Calibri"/>
              </a:rPr>
              <a:t> x(τ) = (1 − τ)·ε + τ·x — τ = 0 is pure noise, τ = 1 the clean latent; during training τ is drawn at random for every example</a:t>
            </a:r>
          </a:p>
          <a:p>
            <a:pPr marL="237744" indent="-201168">
              <a:lnSpc>
                <a:spcPct val="108000"/>
              </a:lnSpc>
              <a:spcAft>
                <a:spcPts val="500"/>
              </a:spcAft>
              <a:buClr>
                <a:srgbClr val="9AA3B2"/>
              </a:buClr>
              <a:buFont typeface="Arial"/>
              <a:buChar char="•"/>
            </a:pPr>
            <a:r>
              <a:rPr sz="1350" b="1" i="0">
                <a:solidFill>
                  <a:srgbClr val="14213D"/>
                </a:solidFill>
                <a:latin typeface="Calibri"/>
              </a:rPr>
              <a:t>The network learns a direction:</a:t>
            </a:r>
            <a:r>
              <a:rPr sz="1350" b="0" i="0">
                <a:solidFill>
                  <a:srgbClr val="1F2937"/>
                </a:solidFill>
                <a:latin typeface="Calibri"/>
              </a:rPr>
              <a:t> f(x(τ), τ) ≈ v = x − ε, the velocity pointing from noise to data; sampling starts from noise and walks to τ = 1 in K steps</a:t>
            </a:r>
          </a:p>
          <a:p>
            <a:pPr marL="237744" indent="-201168">
              <a:lnSpc>
                <a:spcPct val="108000"/>
              </a:lnSpc>
              <a:spcAft>
                <a:spcPts val="500"/>
              </a:spcAft>
              <a:buClr>
                <a:srgbClr val="9AA3B2"/>
              </a:buClr>
              <a:buFont typeface="Arial"/>
              <a:buChar char="•"/>
            </a:pPr>
            <a:r>
              <a:rPr sz="1350" b="1" i="0">
                <a:solidFill>
                  <a:srgbClr val="14213D"/>
                </a:solidFill>
                <a:latin typeface="Calibri"/>
              </a:rPr>
              <a:t>Two ways to say the same thing:</a:t>
            </a:r>
            <a:r>
              <a:rPr sz="1350" b="0" i="0">
                <a:solidFill>
                  <a:srgbClr val="1F2937"/>
                </a:solidFill>
                <a:latin typeface="Calibri"/>
              </a:rPr>
              <a:t> predict the velocity v (standard) or the clean latent x directly (x-prediction); the maths is identical, the error behaviour under autoregressive feedback is not (slide 17)</a:t>
            </a:r>
          </a:p>
          <a:p>
            <a:pPr marL="237744" indent="-201168">
              <a:lnSpc>
                <a:spcPct val="108000"/>
              </a:lnSpc>
              <a:spcAft>
                <a:spcPts val="500"/>
              </a:spcAft>
              <a:buClr>
                <a:srgbClr val="9AA3B2"/>
              </a:buClr>
              <a:buFont typeface="Arial"/>
              <a:buChar char="•"/>
            </a:pPr>
            <a:r>
              <a:rPr sz="1350" b="1" i="0">
                <a:solidFill>
                  <a:srgbClr val="14213D"/>
                </a:solidFill>
                <a:latin typeface="Calibri"/>
              </a:rPr>
              <a:t>Why so many steps?</a:t>
            </a:r>
            <a:r>
              <a:rPr sz="1350" b="0" i="0">
                <a:solidFill>
                  <a:srgbClr val="1F2937"/>
                </a:solidFill>
                <a:latin typeface="Calibri"/>
              </a:rPr>
              <a:t> The learned direction is only locally right, so ordinary diffusion needs 16–64 small steps per image — far too slow for a 20 FPS simulator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2 of 3 · Diffusion forcing: a noise level per frame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Chen et al., 2024 — what makes causal, frame-by-frame generation possible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pic>
        <p:nvPicPr>
          <p:cNvPr id="8" name="Picture 7" descr="diag_forcing_s.jpg"/>
          <p:cNvPicPr>
            <a:picLocks noChangeAspect="1"/>
          </p:cNvPicPr>
          <p:nvPr/>
        </p:nvPicPr>
        <p:blipFill>
          <a:blip r:embed="rId2"/>
          <a:stretch>
            <a:fillRect/>
          </a:stretch>
        </p:blipFill>
        <p:spPr>
          <a:xfrm>
            <a:off x="1508760" y="1371600"/>
            <a:ext cx="9144000" cy="3200400"/>
          </a:xfrm>
          <a:prstGeom prst="rect">
            <a:avLst/>
          </a:prstGeom>
        </p:spPr>
      </p:pic>
      <p:sp>
        <p:nvSpPr>
          <p:cNvPr id="9" name="TextBox 8"/>
          <p:cNvSpPr txBox="1"/>
          <p:nvPr/>
        </p:nvSpPr>
        <p:spPr>
          <a:xfrm>
            <a:off x="548640" y="4663440"/>
            <a:ext cx="11155680" cy="173736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Standard video diffusion</a:t>
            </a:r>
            <a:r>
              <a:rPr sz="1350" b="0" i="0">
                <a:solidFill>
                  <a:srgbClr val="1F2937"/>
                </a:solidFill>
                <a:latin typeface="Calibri"/>
              </a:rPr>
              <a:t> corrupts the whole clip with one τ: past and future are always equally noisy, so the model cannot be rolled out one frame at a time</a:t>
            </a:r>
          </a:p>
          <a:p>
            <a:pPr marL="237744" indent="-201168">
              <a:lnSpc>
                <a:spcPct val="108000"/>
              </a:lnSpc>
              <a:spcAft>
                <a:spcPts val="500"/>
              </a:spcAft>
              <a:buClr>
                <a:srgbClr val="9AA3B2"/>
              </a:buClr>
              <a:buFont typeface="Arial"/>
              <a:buChar char="•"/>
            </a:pPr>
            <a:r>
              <a:rPr sz="1350" b="1" i="0">
                <a:solidFill>
                  <a:srgbClr val="14213D"/>
                </a:solidFill>
                <a:latin typeface="Calibri"/>
              </a:rPr>
              <a:t>Diffusion forcing</a:t>
            </a:r>
            <a:r>
              <a:rPr sz="1350" b="0" i="0">
                <a:solidFill>
                  <a:srgbClr val="1F2937"/>
                </a:solidFill>
                <a:latin typeface="Calibri"/>
              </a:rPr>
              <a:t> draws an independent τ_t for every frame; each frame is at once a denoising target and (noisy) history for the frames after it — a single loss over the whole sequence</a:t>
            </a:r>
          </a:p>
          <a:p>
            <a:pPr marL="237744" indent="-201168">
              <a:lnSpc>
                <a:spcPct val="108000"/>
              </a:lnSpc>
              <a:spcAft>
                <a:spcPts val="500"/>
              </a:spcAft>
              <a:buClr>
                <a:srgbClr val="9AA3B2"/>
              </a:buClr>
              <a:buFont typeface="Arial"/>
              <a:buChar char="•"/>
            </a:pPr>
            <a:r>
              <a:rPr sz="1350" b="1" i="0">
                <a:solidFill>
                  <a:srgbClr val="14213D"/>
                </a:solidFill>
                <a:latin typeface="Calibri"/>
              </a:rPr>
              <a:t>What it buys at inference:</a:t>
            </a:r>
            <a:r>
              <a:rPr sz="1350" b="0" i="0">
                <a:solidFill>
                  <a:srgbClr val="1F2937"/>
                </a:solidFill>
                <a:latin typeface="Calibri"/>
              </a:rPr>
              <a:t> generate the next frame from pure noise given a clean or lightly noised past — exactly the interactive setting; keeping the past slightly noised makes the model robust to its own small mistakes</a:t>
            </a:r>
          </a:p>
          <a:p>
            <a:pPr marL="237744" indent="-201168">
              <a:lnSpc>
                <a:spcPct val="108000"/>
              </a:lnSpc>
              <a:spcAft>
                <a:spcPts val="500"/>
              </a:spcAft>
              <a:buClr>
                <a:srgbClr val="9AA3B2"/>
              </a:buClr>
              <a:buFont typeface="Arial"/>
              <a:buChar char="•"/>
            </a:pPr>
            <a:r>
              <a:rPr sz="1350" b="1" i="0">
                <a:solidFill>
                  <a:srgbClr val="14213D"/>
                </a:solidFill>
                <a:latin typeface="Calibri"/>
              </a:rPr>
              <a:t>What it does not fix:</a:t>
            </a:r>
            <a:r>
              <a:rPr sz="1350" b="0" i="0">
                <a:solidFill>
                  <a:srgbClr val="1F2937"/>
                </a:solidFill>
                <a:latin typeface="Calibri"/>
              </a:rPr>
              <a:t> still tens of denoising steps for every frame — the 0.8 FPS starting point of the design cascade (Table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3 of 3 · Shortcut models: learning to take big steps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Frans, Hafner, Levine, Abbeel, 2024 — why four sampling steps can be enough</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pic>
        <p:nvPicPr>
          <p:cNvPr id="8" name="Picture 7" descr="diag_shortcut_s.jpg"/>
          <p:cNvPicPr>
            <a:picLocks noChangeAspect="1"/>
          </p:cNvPicPr>
          <p:nvPr/>
        </p:nvPicPr>
        <p:blipFill>
          <a:blip r:embed="rId2"/>
          <a:stretch>
            <a:fillRect/>
          </a:stretch>
        </p:blipFill>
        <p:spPr>
          <a:xfrm>
            <a:off x="1508760" y="1371600"/>
            <a:ext cx="9144000" cy="3108960"/>
          </a:xfrm>
          <a:prstGeom prst="rect">
            <a:avLst/>
          </a:prstGeom>
        </p:spPr>
      </p:pic>
      <p:sp>
        <p:nvSpPr>
          <p:cNvPr id="9" name="TextBox 8"/>
          <p:cNvSpPr txBox="1"/>
          <p:nvPr/>
        </p:nvSpPr>
        <p:spPr>
          <a:xfrm>
            <a:off x="548640" y="457200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Add the step size d as an input:</a:t>
            </a:r>
            <a:r>
              <a:rPr sz="1350" b="0" i="0">
                <a:solidFill>
                  <a:srgbClr val="1F2937"/>
                </a:solidFill>
                <a:latin typeface="Calibri"/>
              </a:rPr>
              <a:t> f(x(τ), τ, d) predicts the average direction over a jump of size d, not just the local direction</a:t>
            </a:r>
          </a:p>
          <a:p>
            <a:pPr marL="237744" indent="-201168">
              <a:lnSpc>
                <a:spcPct val="108000"/>
              </a:lnSpc>
              <a:spcAft>
                <a:spcPts val="500"/>
              </a:spcAft>
              <a:buClr>
                <a:srgbClr val="9AA3B2"/>
              </a:buClr>
              <a:buFont typeface="Arial"/>
              <a:buChar char="•"/>
            </a:pPr>
            <a:r>
              <a:rPr sz="1350" b="1" i="0">
                <a:solidFill>
                  <a:srgbClr val="14213D"/>
                </a:solidFill>
                <a:latin typeface="Calibri"/>
              </a:rPr>
              <a:t>Smallest step:</a:t>
            </a:r>
            <a:r>
              <a:rPr sz="1350" b="0" i="0">
                <a:solidFill>
                  <a:srgbClr val="1F2937"/>
                </a:solidFill>
                <a:latin typeface="Calibri"/>
              </a:rPr>
              <a:t> ordinary flow-matching loss. </a:t>
            </a:r>
            <a:r>
              <a:rPr sz="1350" b="1" i="0">
                <a:solidFill>
                  <a:srgbClr val="14213D"/>
                </a:solidFill>
                <a:latin typeface="Calibri"/>
              </a:rPr>
              <a:t>Larger steps:</a:t>
            </a:r>
            <a:r>
              <a:rPr sz="1350" b="0" i="0">
                <a:solidFill>
                  <a:srgbClr val="1F2937"/>
                </a:solidFill>
                <a:latin typeface="Calibri"/>
              </a:rPr>
              <a:t> self-consistency (bootstrap) loss — one step of size d must land where two steps of size d/2 land; the two-step target is produced by the model itself with gradients stopped</a:t>
            </a:r>
          </a:p>
          <a:p>
            <a:pPr marL="237744" indent="-201168">
              <a:lnSpc>
                <a:spcPct val="108000"/>
              </a:lnSpc>
              <a:spcAft>
                <a:spcPts val="500"/>
              </a:spcAft>
              <a:buClr>
                <a:srgbClr val="9AA3B2"/>
              </a:buClr>
              <a:buFont typeface="Arial"/>
              <a:buChar char="•"/>
            </a:pPr>
            <a:r>
              <a:rPr sz="1350" b="1" i="0">
                <a:solidFill>
                  <a:srgbClr val="14213D"/>
                </a:solidFill>
                <a:latin typeface="Calibri"/>
              </a:rPr>
              <a:t>Result:</a:t>
            </a:r>
            <a:r>
              <a:rPr sz="1350" b="0" i="0">
                <a:solidFill>
                  <a:srgbClr val="1F2937"/>
                </a:solidFill>
                <a:latin typeface="Calibri"/>
              </a:rPr>
              <a:t> 2–4 steps reach the quality of 64 in the original paper, with no separate distillation stage — one model, one training run</a:t>
            </a:r>
          </a:p>
          <a:p>
            <a:pPr marL="237744" indent="-201168">
              <a:lnSpc>
                <a:spcPct val="108000"/>
              </a:lnSpc>
              <a:spcAft>
                <a:spcPts val="500"/>
              </a:spcAft>
              <a:buClr>
                <a:srgbClr val="9AA3B2"/>
              </a:buClr>
              <a:buFont typeface="Arial"/>
              <a:buChar char="•"/>
            </a:pPr>
            <a:r>
              <a:rPr sz="1350" b="1" i="0">
                <a:solidFill>
                  <a:srgbClr val="14213D"/>
                </a:solidFill>
                <a:latin typeface="Calibri"/>
              </a:rPr>
              <a:t>Dreamer 4 combines the two:</a:t>
            </a:r>
            <a:r>
              <a:rPr sz="1350" b="0" i="0">
                <a:solidFill>
                  <a:srgbClr val="1F2937"/>
                </a:solidFill>
                <a:latin typeface="Calibri"/>
              </a:rPr>
              <a:t> per-frame τ_t from diffusion forcing + step-size conditioning from shortcut models = shortcut forcing, K = 4 steps per frame at 21 FPS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 x-prediction:</a:t>
            </a:r>
            <a:r>
              <a:rPr sz="1450" b="0" i="0">
                <a:solidFill>
                  <a:srgbClr val="1F2937"/>
                </a:solidFill>
                <a:latin typeface="Calibri"/>
              </a:rPr>
              <a:t> the network outputs the clean latent, not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 ramp weight:</a:t>
            </a:r>
            <a:r>
              <a:rPr sz="1450" b="0" i="0">
                <a:solidFill>
                  <a:srgbClr val="1F2937"/>
                </a:solidFill>
                <a:latin typeface="Calibri"/>
              </a:rPr>
              <a:t> loss weight w(τ) = 0.9 τ + 0.1 emphasises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remains stochastic → diverse imagined futures for RL</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IS THE KEY CONTRIBUTION</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 roughly 16× fewer network evaluations per frame, which is what makes real-time interaction and large-scale imagination RL feasible.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v-prediction carries the noise:</a:t>
            </a:r>
            <a:r>
              <a:rPr sz="1450" b="0" i="0">
                <a:solidFill>
                  <a:srgbClr val="1F2937"/>
                </a:solidFill>
                <a:latin typeface="Calibri"/>
              </a:rPr>
              <a:t>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1" i="0">
                <a:solidFill>
                  <a:srgbClr val="14213D"/>
                </a:solidFill>
                <a:latin typeface="Calibri"/>
              </a:rPr>
              <a:t>In autoregressive use these errors compound:</a:t>
            </a:r>
            <a:r>
              <a:rPr sz="1450" b="0" i="0">
                <a:solidFill>
                  <a:srgbClr val="1F2937"/>
                </a:solidFill>
                <a:latin typeface="Calibri"/>
              </a:rPr>
              <a:t> each generated frame becomes context for the next; velocity errors accumulate as drift, blur or flicker over long rollouts</a:t>
            </a:r>
          </a:p>
          <a:p>
            <a:pPr marL="237744" indent="-201168">
              <a:lnSpc>
                <a:spcPct val="108000"/>
              </a:lnSpc>
              <a:spcAft>
                <a:spcPts val="600"/>
              </a:spcAft>
              <a:buClr>
                <a:srgbClr val="9AA3B2"/>
              </a:buClr>
              <a:buFont typeface="Arial"/>
              <a:buChar char="•"/>
            </a:pPr>
            <a:r>
              <a:rPr sz="1450" b="1" i="0">
                <a:solidFill>
                  <a:srgbClr val="14213D"/>
                </a:solidFill>
                <a:latin typeface="Calibri"/>
              </a:rPr>
              <a:t>x-prediction is a denoising target:</a:t>
            </a:r>
            <a:r>
              <a:rPr sz="1450" b="0" i="0">
                <a:solidFill>
                  <a:srgbClr val="1F2937"/>
                </a:solidFill>
                <a:latin typeface="Calibri"/>
              </a:rPr>
              <a:t> the network only needs to know what the clean frame should look like — errors are 'pulled back' toward plausible images every step</a:t>
            </a:r>
          </a:p>
          <a:p>
            <a:pPr marL="237744" indent="-201168">
              <a:lnSpc>
                <a:spcPct val="108000"/>
              </a:lnSpc>
              <a:spcAft>
                <a:spcPts val="600"/>
              </a:spcAft>
              <a:buClr>
                <a:srgbClr val="9AA3B2"/>
              </a:buClr>
              <a:buFont typeface="Arial"/>
              <a:buChar char="•"/>
            </a:pPr>
            <a:r>
              <a:rPr sz="1450" b="1" i="0">
                <a:solidFill>
                  <a:srgbClr val="14213D"/>
                </a:solidFill>
                <a:latin typeface="Calibri"/>
              </a:rPr>
              <a:t>Combined with noised context (τ_ctx ≈ 0.1):</a:t>
            </a:r>
            <a:r>
              <a:rPr sz="1450" b="0" i="0">
                <a:solidFill>
                  <a:srgbClr val="1F2937"/>
                </a:solidFill>
                <a:latin typeface="Calibri"/>
              </a:rPr>
              <a:t>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1" i="0">
                <a:solidFill>
                  <a:srgbClr val="14213D"/>
                </a:solidFill>
                <a:latin typeface="Calibri"/>
              </a:rPr>
              <a:t>Evidence:</a:t>
            </a:r>
            <a:r>
              <a:rPr sz="1450" b="0" i="0">
                <a:solidFill>
                  <a:srgbClr val="1F2937"/>
                </a:solidFill>
                <a:latin typeface="Calibri"/>
              </a:rPr>
              <a:t> full architecture with v-space prediction/loss reaches FVD 124; with x-prediction and x-space loss, 57 (Table 2). Long 384-frame generations were used for FVD precisely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Alternating batch lengths</a:t>
            </a:r>
            <a:r>
              <a:rPr sz="1400" b="0" i="0">
                <a:solidFill>
                  <a:srgbClr val="1F2937"/>
                </a:solidFill>
                <a:latin typeface="Calibri"/>
              </a:rPr>
              <a:t> (64 / 256 frames): FVD 102 → 80 and a training step from 9.8 s → 1.5 s</a:t>
            </a:r>
          </a:p>
          <a:p>
            <a:pPr marL="237744" indent="-201168">
              <a:lnSpc>
                <a:spcPct val="108000"/>
              </a:lnSpc>
              <a:spcAft>
                <a:spcPts val="600"/>
              </a:spcAft>
              <a:buClr>
                <a:srgbClr val="9AA3B2"/>
              </a:buClr>
              <a:buFont typeface="Arial"/>
              <a:buChar char="•"/>
            </a:pPr>
            <a:r>
              <a:rPr sz="1400" b="1" i="0">
                <a:solidFill>
                  <a:srgbClr val="14213D"/>
                </a:solidFill>
                <a:latin typeface="Calibri"/>
              </a:rPr>
              <a:t>Time attention only every 4th layer:</a:t>
            </a:r>
            <a:r>
              <a:rPr sz="1400" b="0" i="0">
                <a:solidFill>
                  <a:srgbClr val="1F2937"/>
                </a:solidFill>
                <a:latin typeface="Calibri"/>
              </a:rPr>
              <a:t> 18.9 FPS at FVD 70</a:t>
            </a:r>
          </a:p>
          <a:p>
            <a:pPr marL="237744" indent="-201168">
              <a:lnSpc>
                <a:spcPct val="108000"/>
              </a:lnSpc>
              <a:spcAft>
                <a:spcPts val="600"/>
              </a:spcAft>
              <a:buClr>
                <a:srgbClr val="9AA3B2"/>
              </a:buClr>
              <a:buFont typeface="Arial"/>
              <a:buChar char="•"/>
            </a:pPr>
            <a:r>
              <a:rPr sz="1400" b="1" i="0">
                <a:solidFill>
                  <a:srgbClr val="14213D"/>
                </a:solidFill>
                <a:latin typeface="Calibri"/>
              </a:rPr>
              <a:t>Grouped-query attention:</a:t>
            </a:r>
            <a:r>
              <a:rPr sz="1400" b="0" i="0">
                <a:solidFill>
                  <a:srgbClr val="1F2937"/>
                </a:solidFill>
                <a:latin typeface="Calibri"/>
              </a:rPr>
              <a:t> 23.2 FPS, FVD unchanged</a:t>
            </a:r>
          </a:p>
          <a:p>
            <a:pPr marL="237744" indent="-201168">
              <a:lnSpc>
                <a:spcPct val="108000"/>
              </a:lnSpc>
              <a:spcAft>
                <a:spcPts val="600"/>
              </a:spcAft>
              <a:buClr>
                <a:srgbClr val="9AA3B2"/>
              </a:buClr>
              <a:buFont typeface="Arial"/>
              <a:buChar char="•"/>
            </a:pPr>
            <a:r>
              <a:rPr sz="1400" b="1" i="0">
                <a:solidFill>
                  <a:srgbClr val="14213D"/>
                </a:solidFill>
                <a:latin typeface="Calibri"/>
              </a:rPr>
              <a:t>Time-factorised long context</a:t>
            </a:r>
            <a:r>
              <a:rPr sz="1400" b="0" i="0">
                <a:solidFill>
                  <a:srgbClr val="1F2937"/>
                </a:solidFill>
                <a:latin typeface="Calibri"/>
              </a:rPr>
              <a:t> trades a little quality (91) for 30 FPS; </a:t>
            </a:r>
            <a:r>
              <a:rPr sz="1400" b="1" i="0">
                <a:solidFill>
                  <a:srgbClr val="14213D"/>
                </a:solidFill>
                <a:latin typeface="Calibri"/>
              </a:rPr>
              <a:t>registers</a:t>
            </a:r>
            <a:r>
              <a:rPr sz="1400" b="0" i="0">
                <a:solidFill>
                  <a:srgbClr val="1F2937"/>
                </a:solidFill>
                <a:latin typeface="Calibri"/>
              </a:rPr>
              <a:t> stabilise attention</a:t>
            </a:r>
          </a:p>
          <a:p>
            <a:pPr marL="237744" indent="-201168">
              <a:lnSpc>
                <a:spcPct val="108000"/>
              </a:lnSpc>
              <a:spcAft>
                <a:spcPts val="600"/>
              </a:spcAft>
              <a:buClr>
                <a:srgbClr val="9AA3B2"/>
              </a:buClr>
              <a:buFont typeface="Arial"/>
              <a:buChar char="•"/>
            </a:pPr>
            <a:r>
              <a:rPr sz="1400" b="1" i="0">
                <a:solidFill>
                  <a:srgbClr val="14213D"/>
                </a:solidFill>
                <a:latin typeface="Calibri"/>
              </a:rPr>
              <a:t>More latent tokens</a:t>
            </a:r>
            <a:r>
              <a:rPr sz="1400" b="0" i="0">
                <a:solidFill>
                  <a:srgbClr val="1F2937"/>
                </a:solidFill>
                <a:latin typeface="Calibri"/>
              </a:rPr>
              <a:t> (128 → 256) brings FVD to 57 at 21.4 FPS —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19</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 — behavioural cloning with multi-token prediction:</a:t>
            </a:r>
            <a:r>
              <a:rPr sz="1450" b="0" i="0">
                <a:solidFill>
                  <a:srgbClr val="1F2937"/>
                </a:solidFill>
                <a:latin typeface="Calibri"/>
              </a:rPr>
              <a:t> predict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1" i="0">
                <a:solidFill>
                  <a:srgbClr val="14213D"/>
                </a:solidFill>
                <a:latin typeface="Calibri"/>
              </a:rPr>
              <a:t>Result already at this stage:</a:t>
            </a:r>
            <a:r>
              <a:rPr sz="1450" b="0" i="0">
                <a:solidFill>
                  <a:srgbClr val="1F2937"/>
                </a:solidFill>
                <a:latin typeface="Calibri"/>
              </a:rPr>
              <a:t> 'WM + BC' beats BC on every hard milestone (iron pickaxe 16.9 % vs 0.6 %) —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Rollouts:</a:t>
            </a:r>
            <a:r>
              <a:rPr sz="1450" b="0" i="0">
                <a:solidFill>
                  <a:srgbClr val="1F2937"/>
                </a:solidFill>
                <a:latin typeface="Calibri"/>
              </a:rPr>
              <a:t>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1" i="0">
                <a:solidFill>
                  <a:srgbClr val="14213D"/>
                </a:solidFill>
                <a:latin typeface="Calibri"/>
              </a:rPr>
              <a:t>Frozen transformer:</a:t>
            </a:r>
            <a:r>
              <a:rPr sz="1450" b="0" i="0">
                <a:solidFill>
                  <a:srgbClr val="1F2937"/>
                </a:solidFill>
                <a:latin typeface="Calibri"/>
              </a:rPr>
              <a:t> only policy and value heads are trained → the simulator cannot drift toward the policy</a:t>
            </a:r>
          </a:p>
          <a:p>
            <a:pPr marL="237744" indent="-201168">
              <a:lnSpc>
                <a:spcPct val="108000"/>
              </a:lnSpc>
              <a:spcAft>
                <a:spcPts val="600"/>
              </a:spcAft>
              <a:buClr>
                <a:srgbClr val="9AA3B2"/>
              </a:buClr>
              <a:buFont typeface="Arial"/>
              <a:buChar char="•"/>
            </a:pPr>
            <a:r>
              <a:rPr sz="1450" b="1" i="0">
                <a:solidFill>
                  <a:srgbClr val="14213D"/>
                </a:solidFill>
                <a:latin typeface="Calibri"/>
              </a:rPr>
              <a:t>PMPO (Preference-style MPO):</a:t>
            </a:r>
            <a:r>
              <a:rPr sz="1450" b="0" i="0">
                <a:solidFill>
                  <a:srgbClr val="1F2937"/>
                </a:solidFill>
                <a:latin typeface="Calibri"/>
              </a:rPr>
              <a:t> instead of scaling the policy gradient by the advantage, use only its </a:t>
            </a:r>
            <a:r>
              <a:rPr sz="1450" b="0" i="1">
                <a:solidFill>
                  <a:srgbClr val="1F2937"/>
                </a:solidFill>
                <a:latin typeface="Calibri"/>
              </a:rPr>
              <a:t>sign</a:t>
            </a:r>
            <a:r>
              <a:rPr sz="1450" b="0" i="0">
                <a:solidFill>
                  <a:srgbClr val="1F2937"/>
                </a:solidFill>
                <a:latin typeface="Calibri"/>
              </a:rPr>
              <a:t> — positive-advantage actions are pushed up, negative ones down, with balanced weight α = 0.5 on each set</a:t>
            </a:r>
          </a:p>
          <a:p>
            <a:pPr marL="237744" indent="-201168">
              <a:lnSpc>
                <a:spcPct val="108000"/>
              </a:lnSpc>
              <a:spcAft>
                <a:spcPts val="600"/>
              </a:spcAft>
              <a:buClr>
                <a:srgbClr val="9AA3B2"/>
              </a:buClr>
              <a:buFont typeface="Arial"/>
              <a:buChar char="•"/>
            </a:pPr>
            <a:r>
              <a:rPr sz="1450" b="1" i="0">
                <a:solidFill>
                  <a:srgbClr val="14213D"/>
                </a:solidFill>
                <a:latin typeface="Calibri"/>
              </a:rPr>
              <a:t>Reverse-KL to the frozen BC policy</a:t>
            </a:r>
            <a:r>
              <a:rPr sz="1450" b="0" i="0">
                <a:solidFill>
                  <a:srgbClr val="1F2937"/>
                </a:solidFill>
                <a:latin typeface="Calibri"/>
              </a:rPr>
              <a:t> with β = 0.3 keeps the policy on the data manifold — analogous to KL-regularised RLHF; also the main guard against exploiting world-model gaps</a:t>
            </a:r>
          </a:p>
          <a:p>
            <a:pPr marL="237744" indent="-201168">
              <a:lnSpc>
                <a:spcPct val="108000"/>
              </a:lnSpc>
              <a:spcAft>
                <a:spcPts val="600"/>
              </a:spcAft>
              <a:buClr>
                <a:srgbClr val="9AA3B2"/>
              </a:buClr>
              <a:buFont typeface="Arial"/>
              <a:buChar char="•"/>
            </a:pPr>
            <a:r>
              <a:rPr sz="1450" b="1" i="0">
                <a:solidFill>
                  <a:srgbClr val="14213D"/>
                </a:solidFill>
                <a:latin typeface="Calibri"/>
              </a:rPr>
              <a:t>Why not Dreamer 3's recipe?</a:t>
            </a:r>
            <a:r>
              <a:rPr sz="1450" b="0" i="0">
                <a:solidFill>
                  <a:srgbClr val="1F2937"/>
                </a:solidFill>
                <a:latin typeface="Calibri"/>
              </a:rPr>
              <a:t> Return normalisation + entropy bonus were replaced by the sign-based update: robust to reward scale and to the extremely sparse late-game rewards</a:t>
            </a:r>
          </a:p>
          <a:p>
            <a:pPr marL="237744" indent="-201168">
              <a:lnSpc>
                <a:spcPct val="108000"/>
              </a:lnSpc>
              <a:spcAft>
                <a:spcPts val="600"/>
              </a:spcAft>
              <a:buClr>
                <a:srgbClr val="9AA3B2"/>
              </a:buClr>
              <a:buFont typeface="Arial"/>
              <a:buChar char="•"/>
            </a:pPr>
            <a:r>
              <a:rPr sz="1450" b="1" i="0">
                <a:solidFill>
                  <a:srgbClr val="14213D"/>
                </a:solidFill>
                <a:latin typeface="Calibri"/>
              </a:rPr>
              <a:t>Effect:</a:t>
            </a:r>
            <a:r>
              <a:rPr sz="1450" b="0" i="0">
                <a:solidFill>
                  <a:srgbClr val="1F2937"/>
                </a:solidFill>
                <a:latin typeface="Calibri"/>
              </a:rPr>
              <a: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Real-time play-testing, the offline diamond challenge, ablations, label efficiency, robotics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1" i="0">
                <a:solidFill>
                  <a:srgbClr val="14213D"/>
                </a:solidFill>
                <a:latin typeface="Calibri"/>
              </a:rPr>
              <a:t>The two failures</a:t>
            </a:r>
            <a:r>
              <a:rPr sz="1350" b="0" i="0">
                <a:solidFill>
                  <a:srgbClr val="1F2937"/>
                </a:solidFill>
                <a:latin typeface="Calibri"/>
              </a:rPr>
              <a:t>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no long-horizon </a:t>
            </a:r>
            <a:r>
              <a:rPr sz="1200" b="0" i="1">
                <a:solidFill>
                  <a:srgbClr val="1F2937"/>
                </a:solidFill>
                <a:latin typeface="Calibri"/>
              </a:rPr>
              <a:t>quantitative</a:t>
            </a:r>
            <a:r>
              <a:rPr sz="1200" b="0" i="0">
                <a:solidFill>
                  <a:srgbClr val="1F2937"/>
                </a:solidFill>
                <a:latin typeface="Calibri"/>
              </a:rPr>
              <a:t> interaction metric exists yet — a fair critique.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Single frames sampled from the project-page clips (danijar.com/asset/dreamer4/human/…). Dreamer 4 renders the boat ride, the Nether-portal swirl and a working crafting-table menu; the baselines lose the scene or the 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Gap widens along the tech tree: imitation is enough for early items, imagination RL matters where data is thin and horizons are long</a:t>
            </a:r>
          </a:p>
        </p:txBody>
      </p:sp>
      <p:sp>
        <p:nvSpPr>
          <p:cNvPr id="10" name="TextBox 9"/>
          <p:cNvSpPr txBox="1"/>
          <p:nvPr/>
        </p:nvSpPr>
        <p:spPr>
          <a:xfrm>
            <a:off x="457200" y="4526280"/>
            <a:ext cx="10972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Official figure from danijar.com/project/dreamer4 (benchmark.png).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25</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 iron pickaxe 16.9 % vs 0.6 %;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1" i="0">
                <a:solidFill>
                  <a:srgbClr val="14213D"/>
                </a:solidFill>
                <a:latin typeface="Calibri"/>
              </a:rPr>
              <a:t>Task input matters:</a:t>
            </a:r>
            <a:r>
              <a:rPr sz="1350" b="0" i="0">
                <a:solidFill>
                  <a:srgbClr val="1F2937"/>
                </a:solidFill>
                <a:latin typeface="Calibri"/>
              </a:rPr>
              <a:t> BC without the task embedding collapses to 8.8 % stone pickaxe (Table 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26</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1" i="0">
                <a:solidFill>
                  <a:srgbClr val="14213D"/>
                </a:solidFill>
                <a:latin typeface="Calibri"/>
              </a:rPr>
              <a:t>10 h of labels → 53 % PSNR / 75 % SSIM; 100 h → 85 % / 100 %; 1,000 h → 100 %</a:t>
            </a:r>
            <a:r>
              <a:rPr sz="1400" b="0" i="0">
                <a:solidFill>
                  <a:srgbClr val="1F2937"/>
                </a:solidFill>
                <a:latin typeface="Calibri"/>
              </a:rPr>
              <a:t>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 the model separates 'what actions do' from 'what the world looks like'</a:t>
            </a:r>
          </a:p>
          <a:p>
            <a:pPr marL="237744" indent="-201168">
              <a:lnSpc>
                <a:spcPct val="108000"/>
              </a:lnSpc>
              <a:spcAft>
                <a:spcPts val="600"/>
              </a:spcAft>
              <a:buClr>
                <a:srgbClr val="9AA3B2"/>
              </a:buClr>
              <a:buFont typeface="Arial"/>
              <a:buChar char="•"/>
            </a:pPr>
            <a:r>
              <a:rPr sz="1400" b="1" i="0">
                <a:solidFill>
                  <a:srgbClr val="14213D"/>
                </a:solidFill>
                <a:latin typeface="Calibri"/>
              </a:rPr>
              <a:t>Why it matters:</a:t>
            </a:r>
            <a:r>
              <a:rPr sz="1400" b="0" i="0">
                <a:solidFill>
                  <a:srgbClr val="1F2937"/>
                </a:solidFill>
                <a:latin typeface="Calibri"/>
              </a:rPr>
              <a:t>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1 — imagined sequences for four agent tasks, decoded only for visualisation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The world model simulates chopping, crafting menus, mining, cave lighting and diamond ore — all generated, not recorded</a:t>
            </a:r>
          </a:p>
          <a:p>
            <a:pPr marL="237744" indent="-201168">
              <a:lnSpc>
                <a:spcPct val="108000"/>
              </a:lnSpc>
              <a:spcAft>
                <a:spcPts val="600"/>
              </a:spcAft>
              <a:buClr>
                <a:srgbClr val="9AA3B2"/>
              </a:buClr>
              <a:buFont typeface="Arial"/>
              <a:buChar char="•"/>
            </a:pPr>
            <a:r>
              <a:rPr sz="1400" b="0" i="0">
                <a:solidFill>
                  <a:srgbClr val="1F2937"/>
                </a:solidFill>
                <a:latin typeface="Calibri"/>
              </a:rPr>
              <a:t>RL never sees pixels: it operates on latents; decoding is for us</a:t>
            </a:r>
          </a:p>
          <a:p>
            <a:pPr marL="237744" indent="-201168">
              <a:lnSpc>
                <a:spcPct val="108000"/>
              </a:lnSpc>
              <a:spcAft>
                <a:spcPts val="600"/>
              </a:spcAft>
              <a:buClr>
                <a:srgbClr val="9AA3B2"/>
              </a:buClr>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 training data stays on-policy without touching the game</a:t>
            </a:r>
          </a:p>
          <a:p>
            <a:pPr marL="237744" indent="-201168">
              <a:lnSpc>
                <a:spcPct val="108000"/>
              </a:lnSpc>
              <a:spcAft>
                <a:spcPts val="600"/>
              </a:spcAft>
              <a:buClr>
                <a:srgbClr val="9AA3B2"/>
              </a:buClr>
              <a:buFont typeface="Arial"/>
              <a:buChar char="•"/>
            </a:pPr>
            <a:r>
              <a:rPr sz="1400" b="0" i="0">
                <a:solidFill>
                  <a:srgbClr val="1F2937"/>
                </a:solidFill>
                <a:latin typeface="Calibri"/>
              </a:rPr>
              <a:t>Stochastic sampling gives diverse futures — useful for exploring rare outcomes such as finding 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6 and Figure 9 — same recipe, different data; no quantitative benchmark yet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28</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SOAR:</a:t>
            </a:r>
            <a:r>
              <a:rPr sz="1400" b="0" i="0">
                <a:solidFill>
                  <a:srgbClr val="1F2937"/>
                </a:solidFill>
                <a:latin typeface="Calibri"/>
              </a:rPr>
              <a:t> 180 h of teleoperation + online-RL data, 256×256 at 5 FPS, 7-D relative end-effector actions; N_z = 512, context 96 frames</a:t>
            </a:r>
          </a:p>
          <a:p>
            <a:pPr marL="237744" indent="-201168">
              <a:lnSpc>
                <a:spcPct val="108000"/>
              </a:lnSpc>
              <a:spcAft>
                <a:spcPts val="600"/>
              </a:spcAft>
              <a:buClr>
                <a:srgbClr val="9AA3B2"/>
              </a:buClr>
              <a:buFont typeface="Arial"/>
              <a:buChar char="•"/>
            </a:pPr>
            <a:r>
              <a:rPr sz="1400" b="1" i="0">
                <a:solidFill>
                  <a:srgbClr val="14213D"/>
                </a:solidFill>
                <a:latin typeface="Calibri"/>
              </a:rPr>
              <a:t>Epic Kitchens 100:</a:t>
            </a:r>
            <a:r>
              <a:rPr sz="1400" b="0" i="0">
                <a:solidFill>
                  <a:srgbClr val="1F2937"/>
                </a:solidFill>
                <a:latin typeface="Calibri"/>
              </a:rPr>
              <a:t> 100 h of egocentric kitchen video, no actions — generations from held-out context (Fig. 9) show the recipe works on real, unstructured video</a:t>
            </a:r>
          </a:p>
          <a:p>
            <a:pPr marL="237744" indent="-201168">
              <a:lnSpc>
                <a:spcPct val="108000"/>
              </a:lnSpc>
              <a:spcAft>
                <a:spcPts val="600"/>
              </a:spcAft>
              <a:buClr>
                <a:srgbClr val="9AA3B2"/>
              </a:buClr>
              <a:buFont typeface="Arial"/>
              <a:buChar char="•"/>
            </a:pPr>
            <a:r>
              <a:rPr sz="1400" b="1" i="0">
                <a:solidFill>
                  <a:srgbClr val="14213D"/>
                </a:solidFill>
                <a:latin typeface="Calibri"/>
              </a:rPr>
              <a:t>Caveat:</a:t>
            </a:r>
            <a:r>
              <a:rPr sz="1400" b="0" i="0">
                <a:solidFill>
                  <a:srgbClr val="1F2937"/>
                </a:solidFill>
                <a:latin typeface="Calibri"/>
              </a:rPr>
              <a:t> no policy was trained and no metrics are reported for these domains — they demonstrate generality of the world model, not of the agent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29</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A and Table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0" bandRow="0"/>
              <a:tblGrid>
                <a:gridCol w="2377440"/>
                <a:gridCol w="914400"/>
                <a:gridCol w="2651760"/>
                <a:gridCol w="2926080"/>
                <a:gridCol w="2377440"/>
              </a:tblGrid>
              <a:tr h="384048">
                <a:tc>
                  <a:txBody>
                    <a:bodyPr/>
                    <a:lstStyle/>
                    <a:p>
                      <a:pPr algn="l"/>
                      <a:r>
                        <a:rPr sz="1150" b="1" i="0">
                          <a:solidFill>
                            <a:srgbClr val="14213D"/>
                          </a:solidFill>
                          <a:latin typeface="Calibri"/>
                        </a:rPr>
                        <a:t>Dataset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Size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Resolution / 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Actions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Dynamics config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57200">
                <a:tc>
                  <a:txBody>
                    <a:bodyPr/>
                    <a:lstStyle/>
                    <a:p>
                      <a:pPr algn="l"/>
                      <a:r>
                        <a:rPr sz="1200" b="0" i="0">
                          <a:solidFill>
                            <a:srgbClr val="1F2937"/>
                          </a:solidFill>
                          <a:latin typeface="Calibri"/>
                        </a:rPr>
                        <a:t>Minecraft (VPT contractor 6–10)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2,541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360×640 → 384×640 padded, 20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23 keys + 121-way mouse; item events → rewards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256 · C 192 · T 64/256</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Overworld vs Nether/End split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subset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same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labels only for Overworld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action-generalisation study</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SOAR robotics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180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256×256, 5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7-D relative end-effector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512 · C 96 · T 32/128</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Epic Kitchens 100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100 h</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256×256, 10 FPS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none</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same as SOAR</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0" bandRow="0"/>
              <a:tblGrid>
                <a:gridCol w="2011680"/>
                <a:gridCol w="1280160"/>
                <a:gridCol w="1280160"/>
                <a:gridCol w="1463040"/>
              </a:tblGrid>
              <a:tr h="365760">
                <a:tc>
                  <a:txBody>
                    <a:bodyPr/>
                    <a:lstStyle/>
                    <a:p>
                      <a:pPr algn="l"/>
                      <a:r>
                        <a:rPr sz="1150" b="1" i="0">
                          <a:solidFill>
                            <a:srgbClr val="14213D"/>
                          </a:solidFill>
                          <a:latin typeface="Calibri"/>
                        </a:rPr>
                        <a:t>Agent (Table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Human data</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Web video</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Online interaction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65760">
                <a:tc>
                  <a:txBody>
                    <a:bodyPr/>
                    <a:lstStyle/>
                    <a:p>
                      <a:pPr algn="l"/>
                      <a:r>
                        <a:rPr sz="1200" b="0" i="0">
                          <a:solidFill>
                            <a:srgbClr val="1F2937"/>
                          </a:solidFill>
                          <a:latin typeface="Calibri"/>
                        </a:rPr>
                        <a:t>VPT (RL fine-tuned)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194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VPT (BC)</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Dreamer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2.5 K h</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Compute:</a:t>
            </a:r>
            <a:r>
              <a:rPr sz="1350" b="0" i="0">
                <a:solidFill>
                  <a:srgbClr val="1F2937"/>
                </a:solidFill>
                <a:latin typeface="Calibri"/>
              </a:rPr>
              <a:t> 256–1,024 TPU v5p chips per run (exact chip-hours not disclosed)</a:t>
            </a:r>
          </a:p>
          <a:p>
            <a:pPr marL="237744" indent="-201168">
              <a:lnSpc>
                <a:spcPct val="108000"/>
              </a:lnSpc>
              <a:spcAft>
                <a:spcPts val="600"/>
              </a:spcAft>
              <a:buClr>
                <a:srgbClr val="9AA3B2"/>
              </a:buClr>
              <a:buFont typeface="Arial"/>
              <a:buChar char="•"/>
            </a:pPr>
            <a:r>
              <a:rPr sz="1350" b="1" i="0">
                <a:solidFill>
                  <a:srgbClr val="14213D"/>
                </a:solidFill>
                <a:latin typeface="Calibri"/>
              </a:rPr>
              <a:t>Ablations:</a:t>
            </a:r>
            <a:r>
              <a:rPr sz="1350" b="0" i="0">
                <a:solidFill>
                  <a:srgbClr val="1F2937"/>
                </a:solidFill>
                <a:latin typeface="Calibri"/>
              </a:rPr>
              <a:t> 48 h runs per configuration</a:t>
            </a:r>
          </a:p>
          <a:p>
            <a:pPr marL="237744" indent="-201168">
              <a:lnSpc>
                <a:spcPct val="108000"/>
              </a:lnSpc>
              <a:spcAft>
                <a:spcPts val="600"/>
              </a:spcAft>
              <a:buClr>
                <a:srgbClr val="9AA3B2"/>
              </a:buClr>
              <a:buFont typeface="Arial"/>
              <a:buChar char="•"/>
            </a:pPr>
            <a:r>
              <a:rPr sz="1350" b="1" i="0">
                <a:solidFill>
                  <a:srgbClr val="14213D"/>
                </a:solidFill>
                <a:latin typeface="Calibri"/>
              </a:rPr>
              <a:t>Model:</a:t>
            </a:r>
            <a:r>
              <a:rPr sz="1350" b="0" i="0">
                <a:solidFill>
                  <a:srgbClr val="1F2937"/>
                </a:solidFill>
                <a:latin typeface="Calibri"/>
              </a:rPr>
              <a:t> ≈ 2 B parameters total; inference 21 FPS on one H100</a:t>
            </a:r>
          </a:p>
          <a:p>
            <a:pPr marL="237744" indent="-201168">
              <a:lnSpc>
                <a:spcPct val="108000"/>
              </a:lnSpc>
              <a:spcAft>
                <a:spcPts val="600"/>
              </a:spcAft>
              <a:buClr>
                <a:srgbClr val="9AA3B2"/>
              </a:buClr>
              <a:buFont typeface="Arial"/>
              <a:buChar char="•"/>
            </a:pPr>
            <a:r>
              <a:rPr sz="1350" b="1" i="0">
                <a:solidFill>
                  <a:srgbClr val="14213D"/>
                </a:solidFill>
                <a:latin typeface="Calibri"/>
              </a:rPr>
              <a:t>Not released:</a:t>
            </a:r>
            <a:r>
              <a:rPr sz="1350" b="0" i="0">
                <a:solidFill>
                  <a:srgbClr val="1F2937"/>
                </a:solidFill>
                <a:latin typeface="Calibri"/>
              </a:rPr>
              <a:t> code, weights or data recipe (Hafner: 'probably not') — reproductions exist (Open Dreamer, Dreamer-MC, Hansen's PyTorch port)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Limitations, critical reading, future work, takeaways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 long-term memory is the number-one item on the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 a clean 12-step ablation cascade, and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Future work listed in the paper and expanded in the TalkRL interview (Nov 2025)</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Internet-video pretraining</a:t>
            </a:r>
          </a:p>
        </p:txBody>
      </p:sp>
      <p:sp>
        <p:nvSpPr>
          <p:cNvPr id="11" name="TextBox 10"/>
          <p:cNvSpPr txBox="1"/>
          <p:nvPr/>
        </p:nvSpPr>
        <p:spPr>
          <a:xfrm>
            <a:off x="457200"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Learn dynamics from unlabeled web video; label only a small slice with actions (Fig. 7 is the proof of concept).</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Long-term memory</a:t>
            </a:r>
          </a:p>
        </p:txBody>
      </p:sp>
      <p:sp>
        <p:nvSpPr>
          <p:cNvPr id="15" name="TextBox 14"/>
          <p:cNvSpPr txBox="1"/>
          <p:nvPr/>
        </p:nvSpPr>
        <p:spPr>
          <a:xfrm>
            <a:off x="4352544"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Beyond 9.6 s: retrieval or compressed memory so the world stays consistent when you look away.</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Language conditioning</a:t>
            </a:r>
          </a:p>
        </p:txBody>
      </p:sp>
      <p:sp>
        <p:nvSpPr>
          <p:cNvPr id="19" name="TextBox 18"/>
          <p:cNvSpPr txBox="1"/>
          <p:nvPr/>
        </p:nvSpPr>
        <p:spPr>
          <a:xfrm>
            <a:off x="8247888"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Replace one-hot task IDs with text embeddings; scalar task-conditioned reward already anticipates open-vocabulary tasks.</a:t>
            </a:r>
          </a:p>
        </p:txBody>
      </p:sp>
      <p:sp>
        <p:nvSpPr>
          <p:cNvPr id="20" name="TextBox 19"/>
          <p:cNvSpPr txBox="1"/>
          <p:nvPr/>
        </p:nvSpPr>
        <p:spPr>
          <a:xfrm>
            <a:off x="457200"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1" name="Rectangle 20"/>
          <p:cNvSpPr/>
          <p:nvPr/>
        </p:nvSpPr>
        <p:spPr>
          <a:xfrm>
            <a:off x="457200"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 little online data</a:t>
            </a:r>
          </a:p>
        </p:txBody>
      </p:sp>
      <p:sp>
        <p:nvSpPr>
          <p:cNvPr id="23" name="TextBox 22"/>
          <p:cNvSpPr txBox="1"/>
          <p:nvPr/>
        </p:nvSpPr>
        <p:spPr>
          <a:xfrm>
            <a:off x="457200"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Small rounds of </a:t>
            </a:r>
            <a:r>
              <a:rPr sz="1400" b="0" i="1">
                <a:solidFill>
                  <a:srgbClr val="1F2937"/>
                </a:solidFill>
                <a:latin typeface="Calibri"/>
              </a:rPr>
              <a:t>corrective</a:t>
            </a:r>
            <a:r>
              <a:rPr sz="1400" b="0" i="0">
                <a:solidFill>
                  <a:srgbClr val="1F2937"/>
                </a:solidFill>
                <a:latin typeface="Calibri"/>
              </a:rPr>
              <a:t> interaction to fix the errors the policy exploits — then the KL constraint can be relaxed.</a:t>
            </a:r>
          </a:p>
        </p:txBody>
      </p:sp>
      <p:sp>
        <p:nvSpPr>
          <p:cNvPr id="24" name="TextBox 23"/>
          <p:cNvSpPr txBox="1"/>
          <p:nvPr/>
        </p:nvSpPr>
        <p:spPr>
          <a:xfrm>
            <a:off x="4352544"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5" name="Rectangle 24"/>
          <p:cNvSpPr/>
          <p:nvPr/>
        </p:nvSpPr>
        <p:spPr>
          <a:xfrm>
            <a:off x="4352544"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Automatic goal discovery</a:t>
            </a:r>
          </a:p>
        </p:txBody>
      </p:sp>
      <p:sp>
        <p:nvSpPr>
          <p:cNvPr id="27" name="TextBox 26"/>
          <p:cNvSpPr txBox="1"/>
          <p:nvPr/>
        </p:nvSpPr>
        <p:spPr>
          <a:xfrm>
            <a:off x="4352544"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Empowerment / exploration objectives (APD, Plan2Explore, Director) so agents propose their own tasks inside the model.</a:t>
            </a:r>
          </a:p>
        </p:txBody>
      </p:sp>
      <p:sp>
        <p:nvSpPr>
          <p:cNvPr id="28" name="TextBox 27"/>
          <p:cNvSpPr txBox="1"/>
          <p:nvPr/>
        </p:nvSpPr>
        <p:spPr>
          <a:xfrm>
            <a:off x="8247888"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9" name="Rectangle 28"/>
          <p:cNvSpPr/>
          <p:nvPr/>
        </p:nvSpPr>
        <p:spPr>
          <a:xfrm>
            <a:off x="8247888"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End-to-end training</a:t>
            </a:r>
          </a:p>
        </p:txBody>
      </p:sp>
      <p:sp>
        <p:nvSpPr>
          <p:cNvPr id="31" name="TextBox 30"/>
          <p:cNvSpPr txBox="1"/>
          <p:nvPr/>
        </p:nvSpPr>
        <p:spPr>
          <a:xfrm>
            <a:off x="8247888"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Fold the tokenizer into the dynamics model; scale parameters and context together.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Key takeaways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training works offline, from pixels</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Dreamer 4 reaches diamonds in Minecraft with zero environment interaction and about 100× less data than VPT.</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enabling contribution is speed at quality</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sampling steps), x-prediction with an x-space loss, and time attention only in every 4th layer: 21 FPS on one GPU with a 9.6 s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Interaction accuracy, not visual polish, is the bar</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Validated by humans playing inside the model: 14 of 16 tasks, against 5 of 16 for the best prior Minecraft world model.</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pretraining is a strong prior for control</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comes from the world-model representation; RL adds the rest on the hardest, longest-horizon items.</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Action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labeled actions on top of thousands of unlabeled hours suffice, and action semantics transfer to unseen visual domains.</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Open problems remain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 memory, exploitable frozen simulators, thin statistics on the headline result, and no official code or weights.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 and what evaluation would you run first?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37</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 PDFs, repo snapshots, articles, transcripts, the official clips used in this deck, and a MEDIA_INDEX.md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 Configuration &amp;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38</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 Full design cascade (Table 2)</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0" bandRow="0"/>
              <a:tblGrid>
                <a:gridCol w="4846320"/>
                <a:gridCol w="914400"/>
                <a:gridCol w="1097280"/>
              </a:tblGrid>
              <a:tr h="329184">
                <a:tc>
                  <a:txBody>
                    <a:bodyPr/>
                    <a:lstStyle/>
                    <a:p>
                      <a:pPr algn="l"/>
                      <a:r>
                        <a:rPr sz="1100" b="1" i="0">
                          <a:solidFill>
                            <a:srgbClr val="14213D"/>
                          </a:solidFill>
                          <a:latin typeface="Calibri"/>
                        </a:rPr>
                        <a:t>Change (cumulative)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FVD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29184">
                <a:tc>
                  <a:txBody>
                    <a:bodyPr/>
                    <a:lstStyle/>
                    <a:p>
                      <a:pPr algn="l"/>
                      <a:r>
                        <a:rPr sz="1150" b="0" i="0">
                          <a:solidFill>
                            <a:srgbClr val="1F2937"/>
                          </a:solidFill>
                          <a:latin typeface="Calibri"/>
                        </a:rPr>
                        <a:t>Diffusion-forcing transformer, K = 64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0.8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K = 4 sampling steps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875</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shortcut objective (→ 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329</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x-space loss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151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ramp weight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102</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alternating batch lengths (step 9.8 s → 1.5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long context only every 4th layer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grouped-query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23.2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time-factorised long context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register tokens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1" i="0">
                          <a:solidFill>
                            <a:srgbClr val="1F2937"/>
                          </a:solidFill>
                          <a:latin typeface="Calibri"/>
                        </a:rPr>
                        <a:t>N_z 128 → 256 (final)</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21.4</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57</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r>
              <a:tr h="329184">
                <a:tc>
                  <a:txBody>
                    <a:bodyPr/>
                    <a:lstStyle/>
                    <a:p>
                      <a:pPr algn="l"/>
                      <a:r>
                        <a:rPr sz="1150" b="0" i="0">
                          <a:solidFill>
                            <a:srgbClr val="1F2937"/>
                          </a:solidFill>
                          <a:latin typeface="Calibri"/>
                        </a:rPr>
                        <a:t>(reference) full architecture, v-space prediction &amp; loss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124</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48-hour training runs per row</a:t>
            </a:r>
          </a:p>
          <a:p>
            <a:pPr marL="237744" indent="-201168">
              <a:lnSpc>
                <a:spcPct val="108000"/>
              </a:lnSpc>
              <a:spcAft>
                <a:spcPts val="600"/>
              </a:spcAft>
              <a:buClr>
                <a:srgbClr val="9AA3B2"/>
              </a:buClr>
              <a:buFont typeface="Arial"/>
              <a:buChar char="•"/>
            </a:pPr>
            <a:r>
              <a:rPr sz="1350" b="0" i="0">
                <a:solidFill>
                  <a:srgbClr val="1F2937"/>
                </a:solidFill>
                <a:latin typeface="Calibri"/>
              </a:rPr>
              <a:t>FVD on 1,024 generations of 384 frames (long rollouts to expose compounding error)</a:t>
            </a:r>
          </a:p>
          <a:p>
            <a:pPr marL="237744" indent="-201168">
              <a:lnSpc>
                <a:spcPct val="108000"/>
              </a:lnSpc>
              <a:spcAft>
                <a:spcPts val="600"/>
              </a:spcAft>
              <a:buClr>
                <a:srgbClr val="9AA3B2"/>
              </a:buClr>
              <a:buFont typeface="Arial"/>
              <a:buChar char="•"/>
            </a:pPr>
            <a:r>
              <a:rPr sz="1350" b="0" i="0">
                <a:solidFill>
                  <a:srgbClr val="1F2937"/>
                </a:solidFill>
                <a:latin typeface="Calibri"/>
              </a:rPr>
              <a:t>FPS measured for generation on one H100 where reported</a:t>
            </a:r>
          </a:p>
          <a:p>
            <a:pPr marL="237744" indent="-201168">
              <a:lnSpc>
                <a:spcPct val="108000"/>
              </a:lnSpc>
              <a:spcAft>
                <a:spcPts val="600"/>
              </a:spcAft>
              <a:buClr>
                <a:srgbClr val="9AA3B2"/>
              </a:buClr>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40</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41</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