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a deep dive into Dreamer 4, the September 2025 DeepMind paper by Danijar Hafner, Wilson Yan and Tim Lillicrap. Headline: an agent that learns to obtain diamonds in Minecraft purely from offline video, by training inside a learned world model that runs in real time on a single GPU. Background image: a frame of the official teaser video from the project page.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parts plus an appendix. For a mixed audience I'll spend most time on the method intuition and on what the experiments do and do not show.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slide, it's this one. Five claims, each tied to a table or figure. Note the honesty in the numbers: diamonds are rare (0.7 %), but every earlier milestone is reached far more reliably and faster than by the baselines, all without a single environment step.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idea has been constant since the first Dreamer in 2019: learn a model of the environment, then train the policy on imagined trajectories. What changed in Dreamer 4 is the simulator: a 2-billion-parameter block-causal transformer trained with a diffusion-style objective, accurate enough that a human can play inside it. The frame on the right is an imagined rollout, not the real game.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tensions: fidelity versus speed versus stability over long horizons. Prior Minecraft world models chose speed and looked plausible, but a human trying to craft a pickaxe inside them fails. The recurrent Dreamer 3 model was fast but low-resolution and relied on privileged state. Dreamer 4 tries to get all three at once.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means offline: the agent never touches Minecraft during training. The only signal is human gameplay video with logged inputs. Diamonds need a long chain of subgoals, each executed with raw mouse and keyboard at 20 Hz. That is why success rates fall off steeply along the tech tree for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phases. First a world model is trained on all video. Second, agent tokens and heads are added and trained by behavioural cloning while the dynamics loss keeps running. Third, the transformer is frozen and only the policy and value heads are trained by RL on imagined rollouts. Keeping the dynamics loss on uniform data rather than task-relevant data is a small but deliberate choice to avoid a world model that is optimistic about task success.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halves use the same transformer block. Block-causal means every token in frame t can see all tokens of frames up to t, which is exactly what you need for online, frame-by-frame generation with a human or a policy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tokenizer is a masked autoencoder over 16×16 patches with a small continuous bottleneck. Two properties matter downstream: it is causal in time, and its latent space is smooth because of the heavy masking during training. Everything after this operates on 256 latent tokens per frame instead of 960 patches.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dynamics model reads the interleaved sequence of actions and latents. Only every fourth layer attends across time; the rest work within one frame. That is what makes a 9.6 s context affordable. Alternating short and long batches is a training-cost trick: it cut a training step from 9.8 s to 1.5 s in the ablation (Table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non-diffusion people: think of a noise level τ from 0 (pure noise) to 1 (clean latent). The model learns to push a noisy latent toward the clean one; sampling repeats this K times. Diffusion forcing makes the noise level per frame, which is what allows causal rollouts. Shortcut models teach the network to take big steps consistently. Dreamer 4 combines the two.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objective in words. Combining the two prior ideas gets you from 875 back to 329 FVD at 4 steps — but the big wins come from the parameterisation details: predicting x instead of v, computing the loss in x-space, and the ramp weight together take FVD from 329 to 102. These are the kind of choices you only discover with a careful cascade of ablations, which the paper provides.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transferable lesson of the paper for anyone building autoregressive generative models: predict the clean signal, not the velocity, when your own outputs become your inputs. Open Dreamer, the open-source reproduction, independently confirmed this — they report the same instability with v-prediction at scale.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bars top to bottom. The red bars are the starting point: a diffusion-forcing transformer that is either slow or bad. The grey bars are the objective changes from the previous slides; the blue bar is the final model. The architectural changes on the lower half mostly move FPS, not FVD — exactly what you want.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tokens are the interface between simulation and decision making. The one-directional mask is subtle but important: if latents could attend to agent tokens, the model could 'cheat' by predicting frames consistent with what the policy intends rather than with the physics of the game. Notice how much of the gain over BC comes from this phase alone — the representation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PMPO is deliberately simple. Using only the sign of the advantage makes the update invariant to reward scale, which matters when rewards are rare item events. The KL term to the BC policy is doing two jobs: stabilising RL and preventing the policy from wandering into regions the world model gets wrong. Hafner mentioned in a talk that a few rounds of corrective online data would allow a much weaker KL — but that is not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most convincing evidence about the world model. Real people sit down with a mouse and keyboard and try to do things. Dreamer 4 is the only model in which crafting, riding a boat or entering a portal work. The caveat is on the right: this is a small, human-judged protocol; I'd like to see automated long-horizon metrics in follow-ups.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of the sixteen tasks. In the boat task Lucid shows only blue; in the portal task the baselines never enter; in the crafting task Dreamer 4 opens a functional crafting menu. The clips themselves are in the resource archive if you want to play them during the talk.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results figure. Every method nails the first items; the interesting region is the right half. Dreamer 4 roughly doubles or triples the VLA on iron-age items and is the only one reaching diamonds — rarely, but from zero interaction. Remember this is a 60-minute budget per episode; humans need about 20 minutes on average.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separable effects. First, using the world model as the representation for imitation already gives a large jump — that's a statement about video pretraining. Second, RL inside the model adds a further, smaller but consistent gain on the hardest items and makes the agent faster, which is a hallmark of RL over imitation.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experiment is easy to overlook but strategically important. Only about a hundred hours of labeled actions are needed on top of thousands of unlabeled hours, and the learned action semantics transfer to visual domains that were never labeled. That is the argument for scaling to internet video later.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 from the paper. All of these frames are generated by the model while the policy is being trained. Worth stressing to a mixed audience: the agent learns in latent space; decoding is purely for visualisation.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positions Dreamer 4 as a step toward robotics. The evidence here is qualitative: plausible counterfactual generations on real robot and kitchen video. Hafner left DeepMind shortly after the paper to work on humanoid robotics, which tells you where the authors think this goes.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family, different regime. Dreamer 3 solved diamonds with online interaction and privileged state at 64×64; Dreamer 4 does it offline from raw pixels and inputs. The price is speed: the transformer is still about forty times slower than the recurrent model, according to Hafner.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context. The Minecraft data is the public VPT contractor set, which makes the comparison with VPT clean: Dreamer 4 uses about a hundred times less data and no interaction. Compute is disclosed only as a TPU range. Nothing was open-sourced, which shaped the follow-up ecosystem.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authors are quite candid. The two that matter most for the agenda of the paper are memory and exploitability: both limit how far imagination training can be pushed before the policy learns things that are only true inside the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 sheet. The methodological contribution — how to make a fast, accurate autoregressive video world model — is robust and has been independently reproduced. The headline agent result is real but statistically thin and has not been reproduced outside DeepMind. For a reading group, this split is where the discussion usually starts.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directions, three of which — memory, corrective data, and language — directly address the limitations we just discussed. Note that the authors' next steps are toward physical robots, not more Minecraft.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takeaways, ordered from result to method to caveats.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two or three depending on the room.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sources, plus the GitHub archive that contains local copies of every item used to build this deck.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not meant to be presented in full.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transcribed from Table 2 and read off Figure 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table for reference.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Glossary for the mixed audience.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jpg"/><Relationship Id="rId7" Type="http://schemas.openxmlformats.org/officeDocument/2006/relationships/image" Target="../media/image17.jpg"/><Relationship Id="rId8" Type="http://schemas.openxmlformats.org/officeDocument/2006/relationships/image" Target="../media/image18.jpg"/><Relationship Id="rId9" Type="http://schemas.openxmlformats.org/officeDocument/2006/relationships/image" Target="../media/image19.jpg"/><Relationship Id="rId10" Type="http://schemas.openxmlformats.org/officeDocument/2006/relationships/image" Target="../media/image20.jpg"/><Relationship Id="rId11"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image" Target="../media/image29.png"/><Relationship Id="rId4"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_bg.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1371600"/>
            <a:ext cx="10515600" cy="457200"/>
          </a:xfrm>
          <a:prstGeom prst="rect">
            <a:avLst/>
          </a:prstGeom>
          <a:noFill/>
        </p:spPr>
        <p:txBody>
          <a:bodyPr wrap="square" anchor="t" lIns="45720" rIns="45720" tIns="18288" bIns="18288">
            <a:spAutoFit/>
          </a:bodyPr>
          <a:lstStyle/>
          <a:p>
            <a:pPr algn="l">
              <a:lnSpc>
                <a:spcPct val="105000"/>
              </a:lnSpc>
            </a:pPr>
            <a:r>
              <a:rPr sz="1600" b="1" i="0">
                <a:solidFill>
                  <a:srgbClr val="1FB5A6"/>
                </a:solidFill>
                <a:latin typeface="Calibri"/>
              </a:rPr>
              <a:t>PAPER DEEP DIVE</a:t>
            </a:r>
          </a:p>
        </p:txBody>
      </p:sp>
      <p:sp>
        <p:nvSpPr>
          <p:cNvPr id="4" name="TextBox 3"/>
          <p:cNvSpPr txBox="1"/>
          <p:nvPr/>
        </p:nvSpPr>
        <p:spPr>
          <a:xfrm>
            <a:off x="731520" y="1828800"/>
            <a:ext cx="10789920" cy="1280160"/>
          </a:xfrm>
          <a:prstGeom prst="rect">
            <a:avLst/>
          </a:prstGeom>
          <a:noFill/>
        </p:spPr>
        <p:txBody>
          <a:bodyPr wrap="square" anchor="t" lIns="45720" rIns="45720" tIns="18288" bIns="18288">
            <a:spAutoFit/>
          </a:bodyPr>
          <a:lstStyle/>
          <a:p>
            <a:pPr algn="l">
              <a:lnSpc>
                <a:spcPct val="105000"/>
              </a:lnSpc>
            </a:pPr>
            <a:r>
              <a:rPr sz="6600" b="1" i="0">
                <a:solidFill>
                  <a:srgbClr val="FFFFFF"/>
                </a:solidFill>
                <a:latin typeface="Calibri"/>
              </a:rPr>
              <a:t>Dreamer 4</a:t>
            </a:r>
          </a:p>
        </p:txBody>
      </p:sp>
      <p:sp>
        <p:nvSpPr>
          <p:cNvPr id="5" name="TextBox 4"/>
          <p:cNvSpPr txBox="1"/>
          <p:nvPr/>
        </p:nvSpPr>
        <p:spPr>
          <a:xfrm>
            <a:off x="731520" y="2926080"/>
            <a:ext cx="10789920" cy="914400"/>
          </a:xfrm>
          <a:prstGeom prst="rect">
            <a:avLst/>
          </a:prstGeom>
          <a:noFill/>
        </p:spPr>
        <p:txBody>
          <a:bodyPr wrap="square" anchor="t" lIns="45720" rIns="45720" tIns="18288" bIns="18288">
            <a:spAutoFit/>
          </a:bodyPr>
          <a:lstStyle/>
          <a:p>
            <a:pPr algn="l">
              <a:lnSpc>
                <a:spcPct val="105000"/>
              </a:lnSpc>
            </a:pPr>
            <a:r>
              <a:rPr sz="3200" b="0" i="0">
                <a:solidFill>
                  <a:srgbClr val="FFFFFF"/>
                </a:solidFill>
                <a:latin typeface="Calibri"/>
              </a:rPr>
              <a:t>Training Agents Inside of Scalable World Models</a:t>
            </a:r>
          </a:p>
        </p:txBody>
      </p:sp>
      <p:sp>
        <p:nvSpPr>
          <p:cNvPr id="6" name="TextBox 5"/>
          <p:cNvSpPr txBox="1"/>
          <p:nvPr/>
        </p:nvSpPr>
        <p:spPr>
          <a:xfrm>
            <a:off x="731520" y="3886200"/>
            <a:ext cx="10789920" cy="822960"/>
          </a:xfrm>
          <a:prstGeom prst="rect">
            <a:avLst/>
          </a:prstGeom>
          <a:noFill/>
        </p:spPr>
        <p:txBody>
          <a:bodyPr wrap="square" anchor="t" lIns="45720" rIns="45720" tIns="18288" bIns="18288">
            <a:spAutoFit/>
          </a:bodyPr>
          <a:lstStyle/>
          <a:p>
            <a:pPr algn="l">
              <a:lnSpc>
                <a:spcPct val="105000"/>
              </a:lnSpc>
            </a:pPr>
            <a:r>
              <a:rPr sz="1800" b="0" i="0">
                <a:solidFill>
                  <a:srgbClr val="D6DEEE"/>
                </a:solidFill>
                <a:latin typeface="Calibri"/>
              </a:rPr>
              <a:t>Danijar Hafner*, Wilson Yan*, Timothy Lillicrap — Google DeepMind</a:t>
            </a:r>
          </a:p>
          <a:p>
            <a:pPr algn="l">
              <a:lnSpc>
                <a:spcPct val="105000"/>
              </a:lnSpc>
            </a:pPr>
            <a:r>
              <a:rPr sz="1800" b="0" i="0">
                <a:solidFill>
                  <a:srgbClr val="D6DEEE"/>
                </a:solidFill>
                <a:latin typeface="Calibri"/>
              </a:rPr>
              <a:t>arXiv 2509.24527 · 29 September 2025 · danijar.com/dreamer4</a:t>
            </a:r>
          </a:p>
        </p:txBody>
      </p:sp>
      <p:sp>
        <p:nvSpPr>
          <p:cNvPr id="7" name="TextBox 6"/>
          <p:cNvSpPr txBox="1"/>
          <p:nvPr/>
        </p:nvSpPr>
        <p:spPr>
          <a:xfrm>
            <a:off x="731520" y="5760720"/>
            <a:ext cx="10789920" cy="457200"/>
          </a:xfrm>
          <a:prstGeom prst="rect">
            <a:avLst/>
          </a:prstGeom>
          <a:noFill/>
        </p:spPr>
        <p:txBody>
          <a:bodyPr wrap="square" anchor="t" lIns="45720" rIns="45720" tIns="18288" bIns="18288">
            <a:spAutoFit/>
          </a:bodyPr>
          <a:lstStyle/>
          <a:p>
            <a:pPr algn="l">
              <a:lnSpc>
                <a:spcPct val="105000"/>
              </a:lnSpc>
            </a:pPr>
            <a:r>
              <a:rPr sz="1400" b="0" i="0">
                <a:solidFill>
                  <a:srgbClr val="B8C2D6"/>
                </a:solidFill>
                <a:latin typeface="Calibri"/>
              </a:rPr>
              <a:t>Presenter: ____________    ·    Date: ____________    ·    ~45–60 min incl. discussion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Agenda</a:t>
            </a:r>
          </a:p>
        </p:txBody>
      </p:sp>
      <p:sp>
        <p:nvSpPr>
          <p:cNvPr id="5" name="TextBox 4"/>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6" name="TextBox 5"/>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2</a:t>
            </a:r>
          </a:p>
        </p:txBody>
      </p:sp>
      <p:sp>
        <p:nvSpPr>
          <p:cNvPr id="7" name="TextBox 6"/>
          <p:cNvSpPr txBox="1"/>
          <p:nvPr/>
        </p:nvSpPr>
        <p:spPr>
          <a:xfrm>
            <a:off x="640080" y="1371600"/>
            <a:ext cx="5486400" cy="4572000"/>
          </a:xfrm>
          <a:prstGeom prst="rect">
            <a:avLst/>
          </a:prstGeom>
          <a:noFill/>
        </p:spPr>
        <p:txBody>
          <a:bodyPr wrap="square" lIns="45720" rIns="45720">
            <a:spAutoFit/>
          </a:bodyPr>
          <a:lstStyle/>
          <a:p>
            <a:pPr marL="256032" indent="-219456">
              <a:lnSpc>
                <a:spcPct val="105000"/>
              </a:lnSpc>
              <a:spcAft>
                <a:spcPts val="1200"/>
              </a:spcAft>
              <a:buFont typeface="Arial"/>
              <a:buChar char="•"/>
            </a:pPr>
            <a:r>
              <a:rPr sz="1800" b="1" i="0">
                <a:solidFill>
                  <a:srgbClr val="1F2937"/>
                </a:solidFill>
                <a:latin typeface="Calibri"/>
              </a:rPr>
              <a:t>Part 1 — Background:</a:t>
            </a:r>
            <a:r>
              <a:rPr sz="1800" b="0" i="0">
                <a:solidFill>
                  <a:srgbClr val="1F2937"/>
                </a:solidFill>
                <a:latin typeface="Calibri"/>
              </a:rPr>
              <a:t> why world models, what made scaling them hard, the offline diamond challenge</a:t>
            </a:r>
          </a:p>
          <a:p>
            <a:pPr marL="256032" indent="-219456">
              <a:lnSpc>
                <a:spcPct val="105000"/>
              </a:lnSpc>
              <a:spcAft>
                <a:spcPts val="1200"/>
              </a:spcAft>
              <a:buFont typeface="Arial"/>
              <a:buChar char="•"/>
            </a:pPr>
            <a:r>
              <a:rPr sz="1800" b="1" i="0">
                <a:solidFill>
                  <a:srgbClr val="1F2937"/>
                </a:solidFill>
                <a:latin typeface="Calibri"/>
              </a:rPr>
              <a:t>Part 2 — Method:</a:t>
            </a:r>
            <a:r>
              <a:rPr sz="1800" b="0" i="0">
                <a:solidFill>
                  <a:srgbClr val="1F2937"/>
                </a:solidFill>
                <a:latin typeface="Calibri"/>
              </a:rPr>
              <a:t> tokenizer, dynamics transformer, shortcut forcing, agent tokens, imagination training (PMPO)</a:t>
            </a:r>
          </a:p>
          <a:p>
            <a:pPr marL="256032" indent="-219456">
              <a:lnSpc>
                <a:spcPct val="105000"/>
              </a:lnSpc>
              <a:spcAft>
                <a:spcPts val="1200"/>
              </a:spcAft>
              <a:buFont typeface="Arial"/>
              <a:buChar char="•"/>
            </a:pPr>
            <a:r>
              <a:rPr sz="1800" b="1" i="0">
                <a:solidFill>
                  <a:srgbClr val="1F2937"/>
                </a:solidFill>
                <a:latin typeface="Calibri"/>
              </a:rPr>
              <a:t>Part 3 — Experiments:</a:t>
            </a:r>
            <a:r>
              <a:rPr sz="1800" b="0" i="0">
                <a:solidFill>
                  <a:srgbClr val="1F2937"/>
                </a:solidFill>
                <a:latin typeface="Calibri"/>
              </a:rPr>
              <a:t> real-time human play-testing, diamond challenge, ablations, learning from unlabeled video, robotics</a:t>
            </a:r>
          </a:p>
          <a:p>
            <a:pPr marL="256032" indent="-219456">
              <a:lnSpc>
                <a:spcPct val="105000"/>
              </a:lnSpc>
              <a:spcAft>
                <a:spcPts val="1200"/>
              </a:spcAft>
              <a:buFont typeface="Arial"/>
              <a:buChar char="•"/>
            </a:pPr>
            <a:r>
              <a:rPr sz="1800" b="1" i="0">
                <a:solidFill>
                  <a:srgbClr val="1F2937"/>
                </a:solidFill>
                <a:latin typeface="Calibri"/>
              </a:rPr>
              <a:t>Part 4 — Discussion:</a:t>
            </a:r>
            <a:r>
              <a:rPr sz="1800" b="0" i="0">
                <a:solidFill>
                  <a:srgbClr val="1F2937"/>
                </a:solidFill>
                <a:latin typeface="Calibri"/>
              </a:rPr>
              <a:t> limitations, critical reading, future work, takeaways</a:t>
            </a:r>
          </a:p>
          <a:p>
            <a:pPr marL="256032" indent="-219456">
              <a:lnSpc>
                <a:spcPct val="105000"/>
              </a:lnSpc>
              <a:spcAft>
                <a:spcPts val="1200"/>
              </a:spcAft>
              <a:buFont typeface="Arial"/>
              <a:buChar char="•"/>
            </a:pPr>
            <a:r>
              <a:rPr sz="1800" b="1" i="0">
                <a:solidFill>
                  <a:srgbClr val="1F2937"/>
                </a:solidFill>
                <a:latin typeface="Calibri"/>
              </a:rPr>
              <a:t>Appendix:</a:t>
            </a:r>
            <a:r>
              <a:rPr sz="1800" b="0" i="0">
                <a:solidFill>
                  <a:srgbClr val="1F2937"/>
                </a:solidFill>
                <a:latin typeface="Calibri"/>
              </a:rPr>
              <a:t> hyper-parameters, full tables, glossary</a:t>
            </a:r>
          </a:p>
        </p:txBody>
      </p:sp>
      <p:sp>
        <p:nvSpPr>
          <p:cNvPr id="8" name="Rounded Rectangle 7"/>
          <p:cNvSpPr/>
          <p:nvPr/>
        </p:nvSpPr>
        <p:spPr>
          <a:xfrm>
            <a:off x="6675120" y="1463040"/>
            <a:ext cx="4937760" cy="4023360"/>
          </a:xfrm>
          <a:prstGeom prst="roundRect">
            <a:avLst>
              <a:gd name="adj" fmla="val 8000"/>
            </a:avLst>
          </a:prstGeom>
          <a:solidFill>
            <a:srgbClr val="E4E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84848" y="1536192"/>
            <a:ext cx="4718304" cy="365760"/>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How to read this deck</a:t>
            </a:r>
          </a:p>
        </p:txBody>
      </p:sp>
      <p:sp>
        <p:nvSpPr>
          <p:cNvPr id="10" name="TextBox 9"/>
          <p:cNvSpPr txBox="1"/>
          <p:nvPr/>
        </p:nvSpPr>
        <p:spPr>
          <a:xfrm>
            <a:off x="6784848" y="1920240"/>
            <a:ext cx="4718304" cy="3520440"/>
          </a:xfrm>
          <a:prstGeom prst="rect">
            <a:avLst/>
          </a:prstGeom>
          <a:noFill/>
        </p:spPr>
        <p:txBody>
          <a:bodyPr wrap="square" anchor="t" lIns="45720" rIns="45720" tIns="18288" bIns="18288">
            <a:spAutoFit/>
          </a:bodyPr>
          <a:lstStyle/>
          <a:p>
            <a:pPr algn="l">
              <a:lnSpc>
                <a:spcPct val="105000"/>
              </a:lnSpc>
            </a:pPr>
            <a:r>
              <a:rPr sz="1300" b="0" i="0">
                <a:solidFill>
                  <a:srgbClr val="1F2937"/>
                </a:solidFill>
                <a:latin typeface="Calibri"/>
              </a:rPr>
              <a:t>• Equations are kept to the minimum needed for intuition; the appendix has the exact settings.</a:t>
            </a:r>
          </a:p>
          <a:p>
            <a:pPr algn="l">
              <a:lnSpc>
                <a:spcPct val="105000"/>
              </a:lnSpc>
            </a:pPr>
            <a:r>
              <a:rPr sz="1300" b="0" i="0">
                <a:solidFill>
                  <a:srgbClr val="1F2937"/>
                </a:solidFill>
                <a:latin typeface="Calibri"/>
              </a:rPr>
              <a:t>• Every number is from the paper's tables (Table 1, 2, 7, 8) or the authors' talks — sources are on each slide.</a:t>
            </a:r>
          </a:p>
          <a:p>
            <a:pPr algn="l">
              <a:lnSpc>
                <a:spcPct val="105000"/>
              </a:lnSpc>
            </a:pPr>
            <a:r>
              <a:rPr sz="1300" b="0" i="0">
                <a:solidFill>
                  <a:srgbClr val="1F2937"/>
                </a:solidFill>
                <a:latin typeface="Calibri"/>
              </a:rPr>
              <a:t>• Figures: © the authors (arXiv 2509.24527 / danijar.com), reproduced for discussion.</a:t>
            </a:r>
          </a:p>
          <a:p>
            <a:pPr algn="l">
              <a:lnSpc>
                <a:spcPct val="105000"/>
              </a:lnSpc>
            </a:pPr>
            <a:r>
              <a:rPr sz="1300" b="0" i="0">
                <a:solidFill>
                  <a:srgbClr val="1F2937"/>
                </a:solidFill>
                <a:latin typeface="Calibri"/>
              </a:rPr>
              <a:t>• Suggested pacing: Parts 1–2 ≈ 25 min, Part 3 ≈ 15 min, Part 4 ≈ 10 min + 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Dreamer 4 in one slide</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What the paper claims, and the evidence behind each claim</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3</a:t>
            </a:r>
          </a:p>
        </p:txBody>
      </p:sp>
      <p:graphicFrame>
        <p:nvGraphicFramePr>
          <p:cNvPr id="8" name="Table 7"/>
          <p:cNvGraphicFramePr>
            <a:graphicFrameLocks noGrp="1"/>
          </p:cNvGraphicFramePr>
          <p:nvPr/>
        </p:nvGraphicFramePr>
        <p:xfrm>
          <a:off x="457200" y="1417320"/>
          <a:ext cx="11247120" cy="4041648"/>
        </p:xfrm>
        <a:graphic>
          <a:graphicData uri="http://schemas.openxmlformats.org/drawingml/2006/table">
            <a:tbl>
              <a:tblPr firstRow="1" bandRow="1">
                <a:tableStyleId>{5C22544A-7EE6-4342-B048-85BDC9FD1C3A}</a:tableStyleId>
              </a:tblPr>
              <a:tblGrid>
                <a:gridCol w="4206240"/>
                <a:gridCol w="7040880"/>
              </a:tblGrid>
              <a:tr h="384048">
                <a:tc>
                  <a:txBody>
                    <a:bodyPr/>
                    <a:lstStyle/>
                    <a:p>
                      <a:pPr algn="l"/>
                      <a:r>
                        <a:rPr sz="1250" b="1" i="0">
                          <a:solidFill>
                            <a:srgbClr val="FFFFFF"/>
                          </a:solidFill>
                          <a:latin typeface="Calibri"/>
                        </a:rPr>
                        <a:t>Claim</a:t>
                      </a:r>
                    </a:p>
                  </a:txBody>
                  <a:tcPr marL="54864" marR="54864" marT="27432" marB="27432">
                    <a:solidFill>
                      <a:srgbClr val="14213D"/>
                    </a:solidFill>
                  </a:tcPr>
                </a:tc>
                <a:tc>
                  <a:txBody>
                    <a:bodyPr/>
                    <a:lstStyle/>
                    <a:p>
                      <a:pPr algn="ctr"/>
                      <a:r>
                        <a:rPr sz="1250" b="1" i="0">
                          <a:solidFill>
                            <a:srgbClr val="FFFFFF"/>
                          </a:solidFill>
                          <a:latin typeface="Calibri"/>
                        </a:rPr>
                        <a:t>Evidence in the paper</a:t>
                      </a:r>
                    </a:p>
                  </a:txBody>
                  <a:tcPr marL="54864" marR="54864" marT="27432" marB="27432">
                    <a:solidFill>
                      <a:srgbClr val="14213D"/>
                    </a:solidFill>
                  </a:tcPr>
                </a:tc>
              </a:tr>
              <a:tr h="731520">
                <a:tc>
                  <a:txBody>
                    <a:bodyPr/>
                    <a:lstStyle/>
                    <a:p>
                      <a:pPr algn="l"/>
                      <a:r>
                        <a:rPr sz="1250" b="0" i="0">
                          <a:solidFill>
                            <a:srgbClr val="1F2937"/>
                          </a:solidFill>
                          <a:latin typeface="Calibri"/>
                        </a:rPr>
                        <a:t>First agent to obtain diamonds in Minecraft from offline data only</a:t>
                      </a:r>
                    </a:p>
                  </a:txBody>
                  <a:tcPr marL="54864" marR="54864" marT="27432" marB="27432">
                    <a:solidFill>
                      <a:srgbClr val="FFFFFF"/>
                    </a:solidFill>
                  </a:tcPr>
                </a:tc>
                <a:tc>
                  <a:txBody>
                    <a:bodyPr/>
                    <a:lstStyle/>
                    <a:p>
                      <a:pPr algn="l"/>
                      <a:r>
                        <a:rPr sz="1250" b="0" i="0">
                          <a:solidFill>
                            <a:srgbClr val="1F2937"/>
                          </a:solidFill>
                          <a:latin typeface="Calibri"/>
                        </a:rPr>
                        <a:t>0.7 % of 1,000 × 60-min episodes reach a diamond; 29 % reach an iron pickaxe (vs 11 % for a Gemma-3 VLA, 0.6 % for BC) — Table 7</a:t>
                      </a:r>
                    </a:p>
                  </a:txBody>
                  <a:tcPr marL="54864" marR="54864" marT="27432" marB="27432">
                    <a:solidFill>
                      <a:srgbClr val="FFFFFF"/>
                    </a:solidFill>
                  </a:tcPr>
                </a:tc>
              </a:tr>
              <a:tr h="731520">
                <a:tc>
                  <a:txBody>
                    <a:bodyPr/>
                    <a:lstStyle/>
                    <a:p>
                      <a:pPr algn="l"/>
                      <a:r>
                        <a:rPr sz="1250" b="0" i="0">
                          <a:solidFill>
                            <a:srgbClr val="1F2937"/>
                          </a:solidFill>
                          <a:latin typeface="Calibri"/>
                        </a:rPr>
                        <a:t>A world model that simulates Minecraft object interactions and menus accurately, in real time on 1 GPU</a:t>
                      </a:r>
                    </a:p>
                  </a:txBody>
                  <a:tcPr marL="54864" marR="54864" marT="27432" marB="27432">
                    <a:solidFill>
                      <a:srgbClr val="F3F5F9"/>
                    </a:solidFill>
                  </a:tcPr>
                </a:tc>
                <a:tc>
                  <a:txBody>
                    <a:bodyPr/>
                    <a:lstStyle/>
                    <a:p>
                      <a:pPr algn="l"/>
                      <a:r>
                        <a:rPr sz="1250" b="0" i="0">
                          <a:solidFill>
                            <a:srgbClr val="1F2937"/>
                          </a:solidFill>
                          <a:latin typeface="Calibri"/>
                        </a:rPr>
                        <a:t>Human play-testers solve 14/16 interaction tasks inside it at 21 FPS with a 9.6 s context (Oasis: 5/16, Lucid-v1: 0/16) — Table 1</a:t>
                      </a:r>
                    </a:p>
                  </a:txBody>
                  <a:tcPr marL="54864" marR="54864" marT="27432" marB="27432">
                    <a:solidFill>
                      <a:srgbClr val="F3F5F9"/>
                    </a:solidFill>
                  </a:tcPr>
                </a:tc>
              </a:tr>
              <a:tr h="731520">
                <a:tc>
                  <a:txBody>
                    <a:bodyPr/>
                    <a:lstStyle/>
                    <a:p>
                      <a:pPr algn="l"/>
                      <a:r>
                        <a:rPr sz="1250" b="0" i="0">
                          <a:solidFill>
                            <a:srgbClr val="1F2937"/>
                          </a:solidFill>
                          <a:latin typeface="Calibri"/>
                        </a:rPr>
                        <a:t>Shortcut forcing + an efficient transformer make this fast</a:t>
                      </a:r>
                    </a:p>
                  </a:txBody>
                  <a:tcPr marL="54864" marR="54864" marT="27432" marB="27432">
                    <a:solidFill>
                      <a:srgbClr val="FFFFFF"/>
                    </a:solidFill>
                  </a:tcPr>
                </a:tc>
                <a:tc>
                  <a:txBody>
                    <a:bodyPr/>
                    <a:lstStyle/>
                    <a:p>
                      <a:pPr algn="l"/>
                      <a:r>
                        <a:rPr sz="1250" b="0" i="0">
                          <a:solidFill>
                            <a:srgbClr val="1F2937"/>
                          </a:solidFill>
                          <a:latin typeface="Calibri"/>
                        </a:rPr>
                        <a:t>4 sampling steps instead of 16–64; FVD 306 → 57 across the design cascade while going from 0.8 to 21 FPS — Table 2, Fig. 8</a:t>
                      </a:r>
                    </a:p>
                  </a:txBody>
                  <a:tcPr marL="54864" marR="54864" marT="27432" marB="27432">
                    <a:solidFill>
                      <a:srgbClr val="FFFFFF"/>
                    </a:solidFill>
                  </a:tcPr>
                </a:tc>
              </a:tr>
              <a:tr h="731520">
                <a:tc>
                  <a:txBody>
                    <a:bodyPr/>
                    <a:lstStyle/>
                    <a:p>
                      <a:pPr algn="l"/>
                      <a:r>
                        <a:rPr sz="1250" b="0" i="0">
                          <a:solidFill>
                            <a:srgbClr val="1F2937"/>
                          </a:solidFill>
                          <a:latin typeface="Calibri"/>
                        </a:rPr>
                        <a:t>Action conditioning can be learned from few labels</a:t>
                      </a:r>
                    </a:p>
                  </a:txBody>
                  <a:tcPr marL="54864" marR="54864" marT="27432" marB="27432">
                    <a:solidFill>
                      <a:srgbClr val="F3F5F9"/>
                    </a:solidFill>
                  </a:tcPr>
                </a:tc>
                <a:tc>
                  <a:txBody>
                    <a:bodyPr/>
                    <a:lstStyle/>
                    <a:p>
                      <a:pPr algn="l"/>
                      <a:r>
                        <a:rPr sz="1250" b="0" i="0">
                          <a:solidFill>
                            <a:srgbClr val="1F2937"/>
                          </a:solidFill>
                          <a:latin typeface="Calibri"/>
                        </a:rPr>
                        <a:t>100 h of labeled actions ≈ 85 % PSNR / 100 % SSIM of using all 2,541 h; actions transfer to Nether/End seen only unlabeled — Fig. 7</a:t>
                      </a:r>
                    </a:p>
                  </a:txBody>
                  <a:tcPr marL="54864" marR="54864" marT="27432" marB="27432">
                    <a:solidFill>
                      <a:srgbClr val="F3F5F9"/>
                    </a:solidFill>
                  </a:tcPr>
                </a:tc>
              </a:tr>
              <a:tr h="731520">
                <a:tc>
                  <a:txBody>
                    <a:bodyPr/>
                    <a:lstStyle/>
                    <a:p>
                      <a:pPr algn="l"/>
                      <a:r>
                        <a:rPr sz="1250" b="0" i="0">
                          <a:solidFill>
                            <a:srgbClr val="1F2937"/>
                          </a:solidFill>
                          <a:latin typeface="Calibri"/>
                        </a:rPr>
                        <a:t>~100× less data than VPT, no environment interaction</a:t>
                      </a:r>
                    </a:p>
                  </a:txBody>
                  <a:tcPr marL="54864" marR="54864" marT="27432" marB="27432">
                    <a:solidFill>
                      <a:srgbClr val="FFFFFF"/>
                    </a:solidFill>
                  </a:tcPr>
                </a:tc>
                <a:tc>
                  <a:txBody>
                    <a:bodyPr/>
                    <a:lstStyle/>
                    <a:p>
                      <a:pPr algn="l"/>
                      <a:r>
                        <a:rPr sz="1250" b="0" i="0">
                          <a:solidFill>
                            <a:srgbClr val="1F2937"/>
                          </a:solidFill>
                          <a:latin typeface="Calibri"/>
                        </a:rPr>
                        <a:t>2,541 h contractor video vs VPT's 270 K h web video + online RL — Table 3</a:t>
                      </a:r>
                    </a:p>
                  </a:txBody>
                  <a:tcPr marL="54864" marR="54864" marT="27432" marB="27432">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88920"/>
            <a:ext cx="1097280" cy="73152"/>
          </a:xfrm>
          <a:prstGeom prst="rect">
            <a:avLst/>
          </a:prstGeom>
          <a:solidFill>
            <a:srgbClr val="1FB5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37360"/>
            <a:ext cx="10058400" cy="914400"/>
          </a:xfrm>
          <a:prstGeom prst="rect">
            <a:avLst/>
          </a:prstGeom>
          <a:noFill/>
        </p:spPr>
        <p:txBody>
          <a:bodyPr wrap="square" anchor="t" lIns="45720" rIns="45720" tIns="18288" bIns="18288">
            <a:spAutoFit/>
          </a:bodyPr>
          <a:lstStyle/>
          <a:p>
            <a:pPr algn="l">
              <a:lnSpc>
                <a:spcPct val="105000"/>
              </a:lnSpc>
            </a:pPr>
            <a:r>
              <a:rPr sz="2000" b="1" i="0">
                <a:solidFill>
                  <a:srgbClr val="1FB5A6"/>
                </a:solidFill>
                <a:latin typeface="Calibri"/>
              </a:rPr>
              <a:t>Part 1</a:t>
            </a:r>
          </a:p>
        </p:txBody>
      </p:sp>
      <p:sp>
        <p:nvSpPr>
          <p:cNvPr id="5" name="TextBox 4"/>
          <p:cNvSpPr txBox="1"/>
          <p:nvPr/>
        </p:nvSpPr>
        <p:spPr>
          <a:xfrm>
            <a:off x="822960" y="2971800"/>
            <a:ext cx="10515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Background &amp; motivation</a:t>
            </a:r>
          </a:p>
        </p:txBody>
      </p:sp>
      <p:sp>
        <p:nvSpPr>
          <p:cNvPr id="6" name="TextBox 5"/>
          <p:cNvSpPr txBox="1"/>
          <p:nvPr/>
        </p:nvSpPr>
        <p:spPr>
          <a:xfrm>
            <a:off x="822960" y="4114800"/>
            <a:ext cx="10058400" cy="1097280"/>
          </a:xfrm>
          <a:prstGeom prst="rect">
            <a:avLst/>
          </a:prstGeom>
          <a:noFill/>
        </p:spPr>
        <p:txBody>
          <a:bodyPr wrap="square" anchor="t" lIns="45720" rIns="45720" tIns="18288" bIns="18288">
            <a:spAutoFit/>
          </a:bodyPr>
          <a:lstStyle/>
          <a:p>
            <a:pPr algn="l">
              <a:lnSpc>
                <a:spcPct val="105000"/>
              </a:lnSpc>
            </a:pPr>
            <a:r>
              <a:rPr sz="2000" b="0" i="0">
                <a:solidFill>
                  <a:srgbClr val="C9D3E6"/>
                </a:solidFill>
                <a:latin typeface="Calibri"/>
              </a:rPr>
              <a:t>World models, learning in imagination, and why Minecraft from offline data is a hard test</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FFFFFF"/>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Why world models? Learning in imagination</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The Dreamer lineage: same idea, increasingly capable simulators</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5</a:t>
            </a:r>
          </a:p>
        </p:txBody>
      </p:sp>
      <p:sp>
        <p:nvSpPr>
          <p:cNvPr id="8" name="TextBox 7"/>
          <p:cNvSpPr txBox="1"/>
          <p:nvPr/>
        </p:nvSpPr>
        <p:spPr>
          <a:xfrm>
            <a:off x="548640" y="1417320"/>
            <a:ext cx="5852160" cy="384048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700" b="1" i="0">
                <a:solidFill>
                  <a:srgbClr val="1F2937"/>
                </a:solidFill>
                <a:latin typeface="Calibri"/>
              </a:rPr>
              <a:t>World model:</a:t>
            </a:r>
            <a:r>
              <a:rPr sz="1700" b="0" i="0">
                <a:solidFill>
                  <a:srgbClr val="1F2937"/>
                </a:solidFill>
                <a:latin typeface="Calibri"/>
              </a:rPr>
              <a:t> a learned simulator that predicts what happens next given the current situation and an action</a:t>
            </a:r>
          </a:p>
          <a:p>
            <a:pPr marL="256032" indent="-219456">
              <a:lnSpc>
                <a:spcPct val="105000"/>
              </a:lnSpc>
              <a:spcAft>
                <a:spcPts val="600"/>
              </a:spcAft>
              <a:buFont typeface="Arial"/>
              <a:buChar char="•"/>
            </a:pPr>
            <a:r>
              <a:rPr sz="1700" b="1" i="0">
                <a:solidFill>
                  <a:srgbClr val="1F2937"/>
                </a:solidFill>
                <a:latin typeface="Calibri"/>
              </a:rPr>
              <a:t>Imagination training:</a:t>
            </a:r>
            <a:r>
              <a:rPr sz="1700" b="0" i="0">
                <a:solidFill>
                  <a:srgbClr val="1F2937"/>
                </a:solidFill>
                <a:latin typeface="Calibri"/>
              </a:rPr>
              <a:t> the policy is optimised on rollouts generated </a:t>
            </a:r>
            <a:r>
              <a:rPr sz="1700" b="0" i="1">
                <a:solidFill>
                  <a:srgbClr val="1F2937"/>
                </a:solidFill>
                <a:latin typeface="Calibri"/>
              </a:rPr>
              <a:t>by the model</a:t>
            </a:r>
            <a:r>
              <a:rPr sz="1700" b="0" i="0">
                <a:solidFill>
                  <a:srgbClr val="1F2937"/>
                </a:solidFill>
                <a:latin typeface="Calibri"/>
              </a:rPr>
              <a:t>, not by the real environment — cheap, parallel, safe</a:t>
            </a:r>
          </a:p>
          <a:p>
            <a:pPr marL="256032" indent="-219456">
              <a:lnSpc>
                <a:spcPct val="105000"/>
              </a:lnSpc>
              <a:spcAft>
                <a:spcPts val="600"/>
              </a:spcAft>
              <a:buFont typeface="Arial"/>
              <a:buChar char="•"/>
            </a:pPr>
            <a:r>
              <a:rPr sz="1700" b="1" i="0">
                <a:solidFill>
                  <a:srgbClr val="1F2937"/>
                </a:solidFill>
                <a:latin typeface="Calibri"/>
              </a:rPr>
              <a:t>Why it matters now:</a:t>
            </a:r>
            <a:r>
              <a:rPr sz="1700" b="0" i="0">
                <a:solidFill>
                  <a:srgbClr val="1F2937"/>
                </a:solidFill>
                <a:latin typeface="Calibri"/>
              </a:rPr>
              <a:t> robots and other real-world systems cannot afford millions of trial-and-error interactions; video on the internet is abundant</a:t>
            </a:r>
          </a:p>
          <a:p>
            <a:pPr marL="256032" indent="-219456">
              <a:lnSpc>
                <a:spcPct val="105000"/>
              </a:lnSpc>
              <a:spcAft>
                <a:spcPts val="600"/>
              </a:spcAft>
              <a:buFont typeface="Arial"/>
              <a:buChar char="•"/>
            </a:pPr>
            <a:r>
              <a:rPr sz="1700" b="1" i="0">
                <a:solidFill>
                  <a:srgbClr val="1F2937"/>
                </a:solidFill>
                <a:latin typeface="Calibri"/>
              </a:rPr>
              <a:t>Dreamer 4's bet:</a:t>
            </a:r>
            <a:r>
              <a:rPr sz="1700" b="0" i="0">
                <a:solidFill>
                  <a:srgbClr val="1F2937"/>
                </a:solidFill>
                <a:latin typeface="Calibri"/>
              </a:rPr>
              <a:t> if the simulator is accurate enough about object interactions, RL inside it can go beyond what pure imitation learns</a:t>
            </a:r>
          </a:p>
        </p:txBody>
      </p:sp>
      <p:sp>
        <p:nvSpPr>
          <p:cNvPr id="9" name="Rectangle 8"/>
          <p:cNvSpPr/>
          <p:nvPr/>
        </p:nvSpPr>
        <p:spPr>
          <a:xfrm>
            <a:off x="822960" y="5650992"/>
            <a:ext cx="10424160" cy="36576"/>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19" y="5532120"/>
            <a:ext cx="274320" cy="2743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52160"/>
            <a:ext cx="2651760" cy="731520"/>
          </a:xfrm>
          <a:prstGeom prst="rect">
            <a:avLst/>
          </a:prstGeom>
          <a:noFill/>
        </p:spPr>
        <p:txBody>
          <a:bodyPr wrap="square" anchor="t" lIns="45720" rIns="45720" tIns="18288" bIns="18288">
            <a:spAutoFit/>
          </a:bodyPr>
          <a:lstStyle/>
          <a:p>
            <a:pPr algn="l">
              <a:lnSpc>
                <a:spcPct val="105000"/>
              </a:lnSpc>
            </a:pPr>
            <a:r>
              <a:rPr sz="1100" b="0" i="0">
                <a:solidFill>
                  <a:srgbClr val="1F2937"/>
                </a:solidFill>
                <a:latin typeface="Calibri"/>
              </a:rPr>
              <a:t>Dreamer (2019)</a:t>
            </a:r>
          </a:p>
          <a:p>
            <a:pPr algn="l">
              <a:lnSpc>
                <a:spcPct val="105000"/>
              </a:lnSpc>
            </a:pPr>
            <a:r>
              <a:rPr sz="1100" b="0" i="0">
                <a:solidFill>
                  <a:srgbClr val="1F2937"/>
                </a:solidFill>
                <a:latin typeface="Calibri"/>
              </a:rPr>
              <a:t>latent imagination on DM Control</a:t>
            </a:r>
          </a:p>
        </p:txBody>
      </p:sp>
      <p:sp>
        <p:nvSpPr>
          <p:cNvPr id="12" name="Oval 11"/>
          <p:cNvSpPr/>
          <p:nvPr/>
        </p:nvSpPr>
        <p:spPr>
          <a:xfrm>
            <a:off x="3474720" y="5532120"/>
            <a:ext cx="274320" cy="2743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5852160"/>
            <a:ext cx="2651760" cy="731520"/>
          </a:xfrm>
          <a:prstGeom prst="rect">
            <a:avLst/>
          </a:prstGeom>
          <a:noFill/>
        </p:spPr>
        <p:txBody>
          <a:bodyPr wrap="square" anchor="t" lIns="45720" rIns="45720" tIns="18288" bIns="18288">
            <a:spAutoFit/>
          </a:bodyPr>
          <a:lstStyle/>
          <a:p>
            <a:pPr algn="l">
              <a:lnSpc>
                <a:spcPct val="105000"/>
              </a:lnSpc>
            </a:pPr>
            <a:r>
              <a:rPr sz="1100" b="0" i="0">
                <a:solidFill>
                  <a:srgbClr val="1F2937"/>
                </a:solidFill>
                <a:latin typeface="Calibri"/>
              </a:rPr>
              <a:t>DreamerV2 (2020)</a:t>
            </a:r>
          </a:p>
          <a:p>
            <a:pPr algn="l">
              <a:lnSpc>
                <a:spcPct val="105000"/>
              </a:lnSpc>
            </a:pPr>
            <a:r>
              <a:rPr sz="1100" b="0" i="0">
                <a:solidFill>
                  <a:srgbClr val="1F2937"/>
                </a:solidFill>
                <a:latin typeface="Calibri"/>
              </a:rPr>
              <a:t>discrete latents, Atari</a:t>
            </a:r>
          </a:p>
        </p:txBody>
      </p:sp>
      <p:sp>
        <p:nvSpPr>
          <p:cNvPr id="14" name="Oval 13"/>
          <p:cNvSpPr/>
          <p:nvPr/>
        </p:nvSpPr>
        <p:spPr>
          <a:xfrm>
            <a:off x="6217920" y="5532120"/>
            <a:ext cx="274320" cy="2743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5852160"/>
            <a:ext cx="2651760" cy="731520"/>
          </a:xfrm>
          <a:prstGeom prst="rect">
            <a:avLst/>
          </a:prstGeom>
          <a:noFill/>
        </p:spPr>
        <p:txBody>
          <a:bodyPr wrap="square" anchor="t" lIns="45720" rIns="45720" tIns="18288" bIns="18288">
            <a:spAutoFit/>
          </a:bodyPr>
          <a:lstStyle/>
          <a:p>
            <a:pPr algn="l">
              <a:lnSpc>
                <a:spcPct val="105000"/>
              </a:lnSpc>
            </a:pPr>
            <a:r>
              <a:rPr sz="1100" b="0" i="0">
                <a:solidFill>
                  <a:srgbClr val="1F2937"/>
                </a:solidFill>
                <a:latin typeface="Calibri"/>
              </a:rPr>
              <a:t>DreamerV3 (2023/Nature 2025)</a:t>
            </a:r>
          </a:p>
          <a:p>
            <a:pPr algn="l">
              <a:lnSpc>
                <a:spcPct val="105000"/>
              </a:lnSpc>
            </a:pPr>
            <a:r>
              <a:rPr sz="1100" b="0" i="0">
                <a:solidFill>
                  <a:srgbClr val="1F2937"/>
                </a:solidFill>
                <a:latin typeface="Calibri"/>
              </a:rPr>
              <a:t>one config for 150+ tasks; diamonds with online RL</a:t>
            </a:r>
          </a:p>
        </p:txBody>
      </p:sp>
      <p:sp>
        <p:nvSpPr>
          <p:cNvPr id="16" name="Oval 15"/>
          <p:cNvSpPr/>
          <p:nvPr/>
        </p:nvSpPr>
        <p:spPr>
          <a:xfrm>
            <a:off x="8961119" y="5532120"/>
            <a:ext cx="274320" cy="274320"/>
          </a:xfrm>
          <a:prstGeom prst="ellipse">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852160"/>
            <a:ext cx="2651760" cy="731520"/>
          </a:xfrm>
          <a:prstGeom prst="rect">
            <a:avLst/>
          </a:prstGeom>
          <a:noFill/>
        </p:spPr>
        <p:txBody>
          <a:bodyPr wrap="square" anchor="t" lIns="45720" rIns="45720" tIns="18288" bIns="18288">
            <a:spAutoFit/>
          </a:bodyPr>
          <a:lstStyle/>
          <a:p>
            <a:pPr algn="l">
              <a:lnSpc>
                <a:spcPct val="105000"/>
              </a:lnSpc>
            </a:pPr>
            <a:r>
              <a:rPr sz="1100" b="0" i="0">
                <a:solidFill>
                  <a:srgbClr val="1F2937"/>
                </a:solidFill>
                <a:latin typeface="Calibri"/>
              </a:rPr>
              <a:t>Dreamer 4 (2025)</a:t>
            </a:r>
          </a:p>
          <a:p>
            <a:pPr algn="l">
              <a:lnSpc>
                <a:spcPct val="105000"/>
              </a:lnSpc>
            </a:pPr>
            <a:r>
              <a:rPr sz="1100" b="0" i="0">
                <a:solidFill>
                  <a:srgbClr val="1F2937"/>
                </a:solidFill>
                <a:latin typeface="Calibri"/>
              </a:rPr>
              <a:t>transformer diffusion WM; diamonds offline; real-time on 1 GPU</a:t>
            </a:r>
          </a:p>
        </p:txBody>
      </p:sp>
      <p:pic>
        <p:nvPicPr>
          <p:cNvPr id="18" name="Picture 17" descr="frame_imag_treechop.jpg"/>
          <p:cNvPicPr>
            <a:picLocks noChangeAspect="1"/>
          </p:cNvPicPr>
          <p:nvPr/>
        </p:nvPicPr>
        <p:blipFill>
          <a:blip r:embed="rId2"/>
          <a:stretch>
            <a:fillRect/>
          </a:stretch>
        </p:blipFill>
        <p:spPr>
          <a:xfrm>
            <a:off x="7264837" y="1463040"/>
            <a:ext cx="3849766" cy="3108960"/>
          </a:xfrm>
          <a:prstGeom prst="rect">
            <a:avLst/>
          </a:prstGeom>
        </p:spPr>
      </p:pic>
      <p:sp>
        <p:nvSpPr>
          <p:cNvPr id="19" name="TextBox 18"/>
          <p:cNvSpPr txBox="1"/>
          <p:nvPr/>
        </p:nvSpPr>
        <p:spPr>
          <a:xfrm>
            <a:off x="6675120" y="4617720"/>
            <a:ext cx="5029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Imagined rollout decoded for visualisation, with the agent's reward and value estimates (project page, 'Gather wood').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made scalable world models hard before</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Three requirements pulled in different directions</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6</a:t>
            </a:r>
          </a:p>
        </p:txBody>
      </p:sp>
      <p:sp>
        <p:nvSpPr>
          <p:cNvPr id="8" name="Rounded Rectangle 7"/>
          <p:cNvSpPr/>
          <p:nvPr/>
        </p:nvSpPr>
        <p:spPr>
          <a:xfrm>
            <a:off x="457200" y="1463040"/>
            <a:ext cx="3657600" cy="23774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536192"/>
            <a:ext cx="3438144" cy="365760"/>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1 · Fidelity of interactions</a:t>
            </a:r>
          </a:p>
        </p:txBody>
      </p:sp>
      <p:sp>
        <p:nvSpPr>
          <p:cNvPr id="10" name="TextBox 9"/>
          <p:cNvSpPr txBox="1"/>
          <p:nvPr/>
        </p:nvSpPr>
        <p:spPr>
          <a:xfrm>
            <a:off x="566928" y="1920240"/>
            <a:ext cx="3438144" cy="1874520"/>
          </a:xfrm>
          <a:prstGeom prst="rect">
            <a:avLst/>
          </a:prstGeom>
          <a:noFill/>
        </p:spPr>
        <p:txBody>
          <a:bodyPr wrap="square" anchor="t" lIns="45720" rIns="45720" tIns="18288" bIns="18288">
            <a:spAutoFit/>
          </a:bodyPr>
          <a:lstStyle/>
          <a:p>
            <a:pPr algn="l">
              <a:lnSpc>
                <a:spcPct val="105000"/>
              </a:lnSpc>
            </a:pPr>
            <a:r>
              <a:rPr sz="1300" b="0" i="0">
                <a:solidFill>
                  <a:srgbClr val="1F2937"/>
                </a:solidFill>
                <a:latin typeface="Calibri"/>
              </a:rPr>
              <a:t>Video generators look good but get game mechanics wrong: inventories, crafting menus, breaking blocks, placing a boat and riding it.</a:t>
            </a:r>
          </a:p>
          <a:p>
            <a:pPr algn="l">
              <a:lnSpc>
                <a:spcPct val="105000"/>
              </a:lnSpc>
            </a:pPr>
            <a:r>
              <a:rPr sz="1300" b="0" i="0">
                <a:solidFill>
                  <a:srgbClr val="1F2937"/>
                </a:solidFill>
                <a:latin typeface="Calibri"/>
              </a:rPr>
              <a:t>Prior Minecraft world models (Oasis, Lucid-v1, MineWorld) fail most such tasks.</a:t>
            </a:r>
          </a:p>
        </p:txBody>
      </p:sp>
      <p:sp>
        <p:nvSpPr>
          <p:cNvPr id="11" name="Rounded Rectangle 10"/>
          <p:cNvSpPr/>
          <p:nvPr/>
        </p:nvSpPr>
        <p:spPr>
          <a:xfrm>
            <a:off x="4270248" y="1463040"/>
            <a:ext cx="3657600" cy="23774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9976" y="1536192"/>
            <a:ext cx="3438144" cy="365760"/>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2 · Speed</a:t>
            </a:r>
          </a:p>
        </p:txBody>
      </p:sp>
      <p:sp>
        <p:nvSpPr>
          <p:cNvPr id="13" name="TextBox 12"/>
          <p:cNvSpPr txBox="1"/>
          <p:nvPr/>
        </p:nvSpPr>
        <p:spPr>
          <a:xfrm>
            <a:off x="4379976" y="1920240"/>
            <a:ext cx="3438144" cy="1874520"/>
          </a:xfrm>
          <a:prstGeom prst="rect">
            <a:avLst/>
          </a:prstGeom>
          <a:noFill/>
        </p:spPr>
        <p:txBody>
          <a:bodyPr wrap="square" anchor="t" lIns="45720" rIns="45720" tIns="18288" bIns="18288">
            <a:spAutoFit/>
          </a:bodyPr>
          <a:lstStyle/>
          <a:p>
            <a:pPr algn="l">
              <a:lnSpc>
                <a:spcPct val="105000"/>
              </a:lnSpc>
            </a:pPr>
            <a:r>
              <a:rPr sz="1300" b="0" i="0">
                <a:solidFill>
                  <a:srgbClr val="1F2937"/>
                </a:solidFill>
                <a:latin typeface="Calibri"/>
              </a:rPr>
              <a:t>Imagination RL needs millions of generated frames — and a human tester needs ≥ 20 FPS.</a:t>
            </a:r>
          </a:p>
          <a:p>
            <a:pPr algn="l">
              <a:lnSpc>
                <a:spcPct val="105000"/>
              </a:lnSpc>
            </a:pPr>
            <a:r>
              <a:rPr sz="1300" b="0" i="0">
                <a:solidFill>
                  <a:srgbClr val="1F2937"/>
                </a:solidFill>
                <a:latin typeface="Calibri"/>
              </a:rPr>
              <a:t>Diffusion transformers spend tens of denoising steps per frame: 0.8 FPS for the baseline in this paper.</a:t>
            </a:r>
          </a:p>
        </p:txBody>
      </p:sp>
      <p:sp>
        <p:nvSpPr>
          <p:cNvPr id="14" name="Rounded Rectangle 13"/>
          <p:cNvSpPr/>
          <p:nvPr/>
        </p:nvSpPr>
        <p:spPr>
          <a:xfrm>
            <a:off x="8083296" y="1463040"/>
            <a:ext cx="3657600" cy="23774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3024" y="1536192"/>
            <a:ext cx="3438144" cy="365760"/>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3 · Memory &amp; drift</a:t>
            </a:r>
          </a:p>
        </p:txBody>
      </p:sp>
      <p:sp>
        <p:nvSpPr>
          <p:cNvPr id="16" name="TextBox 15"/>
          <p:cNvSpPr txBox="1"/>
          <p:nvPr/>
        </p:nvSpPr>
        <p:spPr>
          <a:xfrm>
            <a:off x="8193024" y="1920240"/>
            <a:ext cx="3438144" cy="1874520"/>
          </a:xfrm>
          <a:prstGeom prst="rect">
            <a:avLst/>
          </a:prstGeom>
          <a:noFill/>
        </p:spPr>
        <p:txBody>
          <a:bodyPr wrap="square" anchor="t" lIns="45720" rIns="45720" tIns="18288" bIns="18288">
            <a:spAutoFit/>
          </a:bodyPr>
          <a:lstStyle/>
          <a:p>
            <a:pPr algn="l">
              <a:lnSpc>
                <a:spcPct val="105000"/>
              </a:lnSpc>
            </a:pPr>
            <a:r>
              <a:rPr sz="1300" b="0" i="0">
                <a:solidFill>
                  <a:srgbClr val="1F2937"/>
                </a:solidFill>
                <a:latin typeface="Calibri"/>
              </a:rPr>
              <a:t>Autoregressive video drifts: small errors feed back into the context.</a:t>
            </a:r>
          </a:p>
          <a:p>
            <a:pPr algn="l">
              <a:lnSpc>
                <a:spcPct val="105000"/>
              </a:lnSpc>
            </a:pPr>
            <a:r>
              <a:rPr sz="1300" b="0" i="0">
                <a:solidFill>
                  <a:srgbClr val="1F2937"/>
                </a:solidFill>
                <a:latin typeface="Calibri"/>
              </a:rPr>
              <a:t>Short contexts (1–2 s in prior models) forget what is behind the player.</a:t>
            </a:r>
          </a:p>
        </p:txBody>
      </p:sp>
      <p:sp>
        <p:nvSpPr>
          <p:cNvPr id="17" name="TextBox 16"/>
          <p:cNvSpPr txBox="1"/>
          <p:nvPr/>
        </p:nvSpPr>
        <p:spPr>
          <a:xfrm>
            <a:off x="548640" y="4114800"/>
            <a:ext cx="11155680" cy="210312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600" b="1" i="0">
                <a:solidFill>
                  <a:srgbClr val="1F2937"/>
                </a:solidFill>
                <a:latin typeface="Calibri"/>
              </a:rPr>
              <a:t>Dreamer 3's RSSM</a:t>
            </a:r>
            <a:r>
              <a:rPr sz="1600" b="0" i="0">
                <a:solidFill>
                  <a:srgbClr val="1F2937"/>
                </a:solidFill>
                <a:latin typeface="Calibri"/>
              </a:rPr>
              <a:t> is fast (~1,000× faster than a diffusion transformer) but operates at 64×64 pixels and needed abstract inventory state and crafting actions — not raw mouse &amp; keyboard</a:t>
            </a:r>
          </a:p>
          <a:p>
            <a:pPr marL="256032" indent="-219456">
              <a:lnSpc>
                <a:spcPct val="105000"/>
              </a:lnSpc>
              <a:spcAft>
                <a:spcPts val="600"/>
              </a:spcAft>
              <a:buFont typeface="Arial"/>
              <a:buChar char="•"/>
            </a:pPr>
            <a:r>
              <a:rPr sz="1600" b="1" i="0">
                <a:solidFill>
                  <a:srgbClr val="1F2937"/>
                </a:solidFill>
                <a:latin typeface="Calibri"/>
              </a:rPr>
              <a:t>Dreamer 4's answer:</a:t>
            </a:r>
            <a:r>
              <a:rPr sz="1600" b="0" i="0">
                <a:solidFill>
                  <a:srgbClr val="1F2937"/>
                </a:solidFill>
                <a:latin typeface="Calibri"/>
              </a:rPr>
              <a:t> a diffusion transformer that needs only 4 sampling steps (shortcut forcing), an architecture tuned for long context at low cost, and training tricks that keep long rollouts stable (x-prediction, noised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test bed: the offline diamond challenge</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No environment interaction at all — learn everything from 2,541 hours of human gameplay video</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7</a:t>
            </a:r>
          </a:p>
        </p:txBody>
      </p:sp>
      <p:sp>
        <p:nvSpPr>
          <p:cNvPr id="8" name="TextBox 7"/>
          <p:cNvSpPr txBox="1"/>
          <p:nvPr/>
        </p:nvSpPr>
        <p:spPr>
          <a:xfrm>
            <a:off x="548640" y="1417320"/>
            <a:ext cx="6035040" cy="475488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550" b="1" i="0">
                <a:solidFill>
                  <a:srgbClr val="1F2937"/>
                </a:solidFill>
                <a:latin typeface="Calibri"/>
              </a:rPr>
              <a:t>Data:</a:t>
            </a:r>
            <a:r>
              <a:rPr sz="1550" b="0" i="0">
                <a:solidFill>
                  <a:srgbClr val="1F2937"/>
                </a:solidFill>
                <a:latin typeface="Calibri"/>
              </a:rPr>
              <a:t> OpenAI VPT contractor recordings (subsets 6–10), 2,541 h at 360×640, 20 FPS, with mouse &amp; keyboard labels; 90/10 train/eval split by 5-minute chunk</a:t>
            </a:r>
          </a:p>
          <a:p>
            <a:pPr marL="256032" indent="-219456">
              <a:lnSpc>
                <a:spcPct val="105000"/>
              </a:lnSpc>
              <a:spcAft>
                <a:spcPts val="600"/>
              </a:spcAft>
              <a:buFont typeface="Arial"/>
              <a:buChar char="•"/>
            </a:pPr>
            <a:r>
              <a:rPr sz="1550" b="1" i="0">
                <a:solidFill>
                  <a:srgbClr val="1F2937"/>
                </a:solidFill>
                <a:latin typeface="Calibri"/>
              </a:rPr>
              <a:t>Actions:</a:t>
            </a:r>
            <a:r>
              <a:rPr sz="1550" b="0" i="0">
                <a:solidFill>
                  <a:srgbClr val="1F2937"/>
                </a:solidFill>
                <a:latin typeface="Calibri"/>
              </a:rPr>
              <a:t> 23 binary keys + 121-way mouse class (11×11 foveated bins, VPT convention) — no abstract 'craft' actions</a:t>
            </a:r>
          </a:p>
          <a:p>
            <a:pPr marL="256032" indent="-219456">
              <a:lnSpc>
                <a:spcPct val="105000"/>
              </a:lnSpc>
              <a:spcAft>
                <a:spcPts val="600"/>
              </a:spcAft>
              <a:buFont typeface="Arial"/>
              <a:buChar char="•"/>
            </a:pPr>
            <a:r>
              <a:rPr sz="1550" b="1" i="0">
                <a:solidFill>
                  <a:srgbClr val="1F2937"/>
                </a:solidFill>
                <a:latin typeface="Calibri"/>
              </a:rPr>
              <a:t>Evaluation:</a:t>
            </a:r>
            <a:r>
              <a:rPr sz="1550" b="0" i="0">
                <a:solidFill>
                  <a:srgbClr val="1F2937"/>
                </a:solidFill>
                <a:latin typeface="Calibri"/>
              </a:rPr>
              <a:t> 1,000 fresh random worlds, empty inventory, 60 min each (72,000 actions at 20 FPS); a fixed prompt sequence walks the agent through the 12-item tech tree</a:t>
            </a:r>
          </a:p>
          <a:p>
            <a:pPr marL="256032" indent="-219456">
              <a:lnSpc>
                <a:spcPct val="105000"/>
              </a:lnSpc>
              <a:spcAft>
                <a:spcPts val="600"/>
              </a:spcAft>
              <a:buFont typeface="Arial"/>
              <a:buChar char="•"/>
            </a:pPr>
            <a:r>
              <a:rPr sz="1550" b="1" i="0">
                <a:solidFill>
                  <a:srgbClr val="1F2937"/>
                </a:solidFill>
                <a:latin typeface="Calibri"/>
              </a:rPr>
              <a:t>Why it is hard:</a:t>
            </a:r>
            <a:r>
              <a:rPr sz="1550" b="0" i="0">
                <a:solidFill>
                  <a:srgbClr val="1F2937"/>
                </a:solidFill>
                <a:latin typeface="Calibri"/>
              </a:rPr>
              <a:t> diamonds sit ~24,000 actions deep for a human; rewards are sparse; offline data covers the late tech tree thinly; every skill (chop → craft → mine → smelt) must chain without a single trial in the real game</a:t>
            </a:r>
          </a:p>
          <a:p>
            <a:pPr marL="256032" indent="-219456">
              <a:lnSpc>
                <a:spcPct val="105000"/>
              </a:lnSpc>
              <a:spcAft>
                <a:spcPts val="600"/>
              </a:spcAft>
              <a:buFont typeface="Arial"/>
              <a:buChar char="•"/>
            </a:pPr>
            <a:r>
              <a:rPr sz="1550" b="1" i="0">
                <a:solidFill>
                  <a:srgbClr val="1F2937"/>
                </a:solidFill>
                <a:latin typeface="Calibri"/>
              </a:rPr>
              <a:t>Baselines, all on the same data:</a:t>
            </a:r>
            <a:r>
              <a:rPr sz="1550" b="0" i="0">
                <a:solidFill>
                  <a:srgbClr val="1F2937"/>
                </a:solidFill>
                <a:latin typeface="Calibri"/>
              </a:rPr>
              <a:t> VPT fine-tuned, BC, BC without task input, a VLA built on Gemma 3, and 'WM + BC' (Dreamer 4 without imagination RL)</a:t>
            </a:r>
          </a:p>
        </p:txBody>
      </p:sp>
      <p:pic>
        <p:nvPicPr>
          <p:cNvPr id="9" name="Picture 8" descr="frame_diamond_dreamer.jpg"/>
          <p:cNvPicPr>
            <a:picLocks noChangeAspect="1"/>
          </p:cNvPicPr>
          <p:nvPr/>
        </p:nvPicPr>
        <p:blipFill>
          <a:blip r:embed="rId2"/>
          <a:stretch>
            <a:fillRect/>
          </a:stretch>
        </p:blipFill>
        <p:spPr>
          <a:xfrm>
            <a:off x="6858000" y="1463040"/>
            <a:ext cx="4846320" cy="2726055"/>
          </a:xfrm>
          <a:prstGeom prst="rect">
            <a:avLst/>
          </a:prstGeom>
        </p:spPr>
      </p:pic>
      <p:sp>
        <p:nvSpPr>
          <p:cNvPr id="10" name="TextBox 9"/>
          <p:cNvSpPr txBox="1"/>
          <p:nvPr/>
        </p:nvSpPr>
        <p:spPr>
          <a:xfrm>
            <a:off x="6858000" y="4224528"/>
            <a:ext cx="484632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Diamond ore, as simulated by the world model during a human 'mine diamonds' session (project page).</a:t>
            </a:r>
          </a:p>
        </p:txBody>
      </p:sp>
      <p:sp>
        <p:nvSpPr>
          <p:cNvPr id="11" name="Rounded Rectangle 10"/>
          <p:cNvSpPr/>
          <p:nvPr/>
        </p:nvSpPr>
        <p:spPr>
          <a:xfrm>
            <a:off x="6858000" y="4663440"/>
            <a:ext cx="4846320" cy="1463040"/>
          </a:xfrm>
          <a:prstGeom prst="roundRect">
            <a:avLst>
              <a:gd name="adj" fmla="val 8000"/>
            </a:avLst>
          </a:prstGeom>
          <a:solidFill>
            <a:srgbClr val="E4E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7728" y="4736592"/>
            <a:ext cx="4626864" cy="365760"/>
          </a:xfrm>
          <a:prstGeom prst="rect">
            <a:avLst/>
          </a:prstGeom>
          <a:noFill/>
        </p:spPr>
        <p:txBody>
          <a:bodyPr wrap="square" anchor="t" lIns="45720" rIns="45720" tIns="18288" bIns="18288">
            <a:spAutoFit/>
          </a:bodyPr>
          <a:lstStyle/>
          <a:p>
            <a:pPr algn="l">
              <a:lnSpc>
                <a:spcPct val="105000"/>
              </a:lnSpc>
            </a:pPr>
            <a:r>
              <a:rPr sz="1400" b="1" i="0">
                <a:solidFill>
                  <a:srgbClr val="14213D"/>
                </a:solidFill>
                <a:latin typeface="Calibri"/>
              </a:rPr>
              <a:t>The 12 milestones (Table 5)</a:t>
            </a:r>
          </a:p>
        </p:txBody>
      </p:sp>
      <p:sp>
        <p:nvSpPr>
          <p:cNvPr id="13" name="TextBox 12"/>
          <p:cNvSpPr txBox="1"/>
          <p:nvPr/>
        </p:nvSpPr>
        <p:spPr>
          <a:xfrm>
            <a:off x="6967728" y="5120640"/>
            <a:ext cx="4626864" cy="960120"/>
          </a:xfrm>
          <a:prstGeom prst="rect">
            <a:avLst/>
          </a:prstGeom>
          <a:noFill/>
        </p:spPr>
        <p:txBody>
          <a:bodyPr wrap="square" anchor="t" lIns="45720" rIns="45720" tIns="18288" bIns="18288">
            <a:spAutoFit/>
          </a:bodyPr>
          <a:lstStyle/>
          <a:p>
            <a:pPr algn="l">
              <a:lnSpc>
                <a:spcPct val="105000"/>
              </a:lnSpc>
            </a:pPr>
            <a:r>
              <a:rPr sz="1200" b="0" i="0">
                <a:solidFill>
                  <a:srgbClr val="1F2937"/>
                </a:solidFill>
                <a:latin typeface="Calibri"/>
              </a:rPr>
              <a:t>log → planks → crafting table → stick → wooden pickaxe → cobblestone → stone pickaxe → iron ore → furnace → iron ingot → iron pickaxe → diamond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88920"/>
            <a:ext cx="1097280" cy="73152"/>
          </a:xfrm>
          <a:prstGeom prst="rect">
            <a:avLst/>
          </a:prstGeom>
          <a:solidFill>
            <a:srgbClr val="1FB5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37360"/>
            <a:ext cx="10058400" cy="914400"/>
          </a:xfrm>
          <a:prstGeom prst="rect">
            <a:avLst/>
          </a:prstGeom>
          <a:noFill/>
        </p:spPr>
        <p:txBody>
          <a:bodyPr wrap="square" anchor="t" lIns="45720" rIns="45720" tIns="18288" bIns="18288">
            <a:spAutoFit/>
          </a:bodyPr>
          <a:lstStyle/>
          <a:p>
            <a:pPr algn="l">
              <a:lnSpc>
                <a:spcPct val="105000"/>
              </a:lnSpc>
            </a:pPr>
            <a:r>
              <a:rPr sz="2000" b="1" i="0">
                <a:solidFill>
                  <a:srgbClr val="1FB5A6"/>
                </a:solidFill>
                <a:latin typeface="Calibri"/>
              </a:rPr>
              <a:t>Part 2</a:t>
            </a:r>
          </a:p>
        </p:txBody>
      </p:sp>
      <p:sp>
        <p:nvSpPr>
          <p:cNvPr id="5" name="TextBox 4"/>
          <p:cNvSpPr txBox="1"/>
          <p:nvPr/>
        </p:nvSpPr>
        <p:spPr>
          <a:xfrm>
            <a:off x="822960" y="2971800"/>
            <a:ext cx="10515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Method</a:t>
            </a:r>
          </a:p>
        </p:txBody>
      </p:sp>
      <p:sp>
        <p:nvSpPr>
          <p:cNvPr id="6" name="TextBox 5"/>
          <p:cNvSpPr txBox="1"/>
          <p:nvPr/>
        </p:nvSpPr>
        <p:spPr>
          <a:xfrm>
            <a:off x="822960" y="4114800"/>
            <a:ext cx="10058400" cy="1097280"/>
          </a:xfrm>
          <a:prstGeom prst="rect">
            <a:avLst/>
          </a:prstGeom>
          <a:noFill/>
        </p:spPr>
        <p:txBody>
          <a:bodyPr wrap="square" anchor="t" lIns="45720" rIns="45720" tIns="18288" bIns="18288">
            <a:spAutoFit/>
          </a:bodyPr>
          <a:lstStyle/>
          <a:p>
            <a:pPr algn="l">
              <a:lnSpc>
                <a:spcPct val="105000"/>
              </a:lnSpc>
            </a:pPr>
            <a:r>
              <a:rPr sz="2000" b="0" i="0">
                <a:solidFill>
                  <a:srgbClr val="C9D3E6"/>
                </a:solidFill>
                <a:latin typeface="Calibri"/>
              </a:rPr>
              <a:t>One transformer, three phases: world-model pretraining → agent fine-tuning → imagination training</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FFFFFF"/>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Overview: three phases, one transformer</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Algorithm 1 in the paper</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9</a:t>
            </a:r>
          </a:p>
        </p:txBody>
      </p:sp>
      <p:sp>
        <p:nvSpPr>
          <p:cNvPr id="8" name="Rounded Rectangle 7"/>
          <p:cNvSpPr/>
          <p:nvPr/>
        </p:nvSpPr>
        <p:spPr>
          <a:xfrm>
            <a:off x="457200" y="1508760"/>
            <a:ext cx="3520440" cy="3200400"/>
          </a:xfrm>
          <a:prstGeom prst="roundRect">
            <a:avLst>
              <a:gd name="adj" fmla="val 6000"/>
            </a:avLst>
          </a:prstGeom>
          <a:solidFill>
            <a:srgbClr val="F3F5F9"/>
          </a:solidFill>
          <a:ln w="25400">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7200" y="1508760"/>
            <a:ext cx="3520440" cy="548640"/>
          </a:xfrm>
          <a:prstGeom prst="roundRect">
            <a:avLst>
              <a:gd name="adj" fmla="val 30000"/>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554480"/>
            <a:ext cx="3337560" cy="457200"/>
          </a:xfrm>
          <a:prstGeom prst="rect">
            <a:avLst/>
          </a:prstGeom>
          <a:noFill/>
        </p:spPr>
        <p:txBody>
          <a:bodyPr wrap="square" anchor="ctr" lIns="45720" rIns="45720" tIns="18288" bIns="18288">
            <a:spAutoFit/>
          </a:bodyPr>
          <a:lstStyle/>
          <a:p>
            <a:pPr algn="l">
              <a:lnSpc>
                <a:spcPct val="105000"/>
              </a:lnSpc>
            </a:pPr>
            <a:r>
              <a:rPr sz="1400" b="1" i="0">
                <a:solidFill>
                  <a:srgbClr val="FFFFFF"/>
                </a:solidFill>
                <a:latin typeface="Calibri"/>
              </a:rPr>
              <a:t>Phase 1 · World-model pretraining</a:t>
            </a:r>
          </a:p>
        </p:txBody>
      </p:sp>
      <p:sp>
        <p:nvSpPr>
          <p:cNvPr id="11" name="TextBox 10"/>
          <p:cNvSpPr txBox="1"/>
          <p:nvPr/>
        </p:nvSpPr>
        <p:spPr>
          <a:xfrm>
            <a:off x="548640" y="2194560"/>
            <a:ext cx="3337560" cy="2468880"/>
          </a:xfrm>
          <a:prstGeom prst="rect">
            <a:avLst/>
          </a:prstGeom>
          <a:noFill/>
        </p:spPr>
        <p:txBody>
          <a:bodyPr wrap="square" lIns="45720" rIns="45720">
            <a:spAutoFit/>
          </a:bodyPr>
          <a:lstStyle/>
          <a:p>
            <a:pPr marL="256032" indent="-219456">
              <a:lnSpc>
                <a:spcPct val="105000"/>
              </a:lnSpc>
              <a:spcAft>
                <a:spcPts val="500"/>
              </a:spcAft>
              <a:buFont typeface="Arial"/>
              <a:buChar char="•"/>
            </a:pPr>
            <a:r>
              <a:rPr sz="1300" b="0" i="0">
                <a:solidFill>
                  <a:srgbClr val="1F2937"/>
                </a:solidFill>
                <a:latin typeface="Calibri"/>
              </a:rPr>
              <a:t>Train the causal tokenizer (masked autoencoding), then freeze it</a:t>
            </a:r>
          </a:p>
          <a:p>
            <a:pPr marL="256032" indent="-219456">
              <a:lnSpc>
                <a:spcPct val="105000"/>
              </a:lnSpc>
              <a:spcAft>
                <a:spcPts val="500"/>
              </a:spcAft>
              <a:buFont typeface="Arial"/>
              <a:buChar char="•"/>
            </a:pPr>
            <a:r>
              <a:rPr sz="1300" b="0" i="0">
                <a:solidFill>
                  <a:srgbClr val="1F2937"/>
                </a:solidFill>
                <a:latin typeface="Calibri"/>
              </a:rPr>
              <a:t>Train the interactive dynamics model on tokenized video ± actions with shortcut forcing</a:t>
            </a:r>
          </a:p>
          <a:p>
            <a:pPr marL="256032" indent="-219456">
              <a:lnSpc>
                <a:spcPct val="105000"/>
              </a:lnSpc>
              <a:spcAft>
                <a:spcPts val="500"/>
              </a:spcAft>
              <a:buFont typeface="Arial"/>
              <a:buChar char="•"/>
            </a:pPr>
            <a:r>
              <a:rPr sz="1300" b="0" i="0">
                <a:solidFill>
                  <a:srgbClr val="1F2937"/>
                </a:solidFill>
                <a:latin typeface="Calibri"/>
              </a:rPr>
              <a:t>Inputs: all 2,541 h, labeled or not</a:t>
            </a:r>
          </a:p>
        </p:txBody>
      </p:sp>
      <p:sp>
        <p:nvSpPr>
          <p:cNvPr id="12" name="Right Arrow 11"/>
          <p:cNvSpPr/>
          <p:nvPr/>
        </p:nvSpPr>
        <p:spPr>
          <a:xfrm>
            <a:off x="4023360" y="2880360"/>
            <a:ext cx="320040" cy="457200"/>
          </a:xfrm>
          <a:prstGeom prst="rightArrow">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508760"/>
            <a:ext cx="3520440" cy="3200400"/>
          </a:xfrm>
          <a:prstGeom prst="roundRect">
            <a:avLst>
              <a:gd name="adj" fmla="val 6000"/>
            </a:avLst>
          </a:prstGeom>
          <a:solidFill>
            <a:srgbClr val="F3F5F9"/>
          </a:solidFill>
          <a:ln w="25400">
            <a:solidFill>
              <a:srgbClr val="1FB5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43400" y="1508760"/>
            <a:ext cx="3520440" cy="548640"/>
          </a:xfrm>
          <a:prstGeom prst="roundRect">
            <a:avLst>
              <a:gd name="adj" fmla="val 30000"/>
            </a:avLst>
          </a:prstGeom>
          <a:solidFill>
            <a:srgbClr val="1FB5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554480"/>
            <a:ext cx="3337560" cy="457200"/>
          </a:xfrm>
          <a:prstGeom prst="rect">
            <a:avLst/>
          </a:prstGeom>
          <a:noFill/>
        </p:spPr>
        <p:txBody>
          <a:bodyPr wrap="square" anchor="ctr" lIns="45720" rIns="45720" tIns="18288" bIns="18288">
            <a:spAutoFit/>
          </a:bodyPr>
          <a:lstStyle/>
          <a:p>
            <a:pPr algn="l">
              <a:lnSpc>
                <a:spcPct val="105000"/>
              </a:lnSpc>
            </a:pPr>
            <a:r>
              <a:rPr sz="1400" b="1" i="0">
                <a:solidFill>
                  <a:srgbClr val="FFFFFF"/>
                </a:solidFill>
                <a:latin typeface="Calibri"/>
              </a:rPr>
              <a:t>Phase 2 · Agent fine-tuning</a:t>
            </a:r>
          </a:p>
        </p:txBody>
      </p:sp>
      <p:sp>
        <p:nvSpPr>
          <p:cNvPr id="16" name="TextBox 15"/>
          <p:cNvSpPr txBox="1"/>
          <p:nvPr/>
        </p:nvSpPr>
        <p:spPr>
          <a:xfrm>
            <a:off x="4434840" y="2194560"/>
            <a:ext cx="3337560" cy="2468880"/>
          </a:xfrm>
          <a:prstGeom prst="rect">
            <a:avLst/>
          </a:prstGeom>
          <a:noFill/>
        </p:spPr>
        <p:txBody>
          <a:bodyPr wrap="square" lIns="45720" rIns="45720">
            <a:spAutoFit/>
          </a:bodyPr>
          <a:lstStyle/>
          <a:p>
            <a:pPr marL="256032" indent="-219456">
              <a:lnSpc>
                <a:spcPct val="105000"/>
              </a:lnSpc>
              <a:spcAft>
                <a:spcPts val="500"/>
              </a:spcAft>
              <a:buFont typeface="Arial"/>
              <a:buChar char="•"/>
            </a:pPr>
            <a:r>
              <a:rPr sz="1300" b="0" i="0">
                <a:solidFill>
                  <a:srgbClr val="1F2937"/>
                </a:solidFill>
                <a:latin typeface="Calibri"/>
              </a:rPr>
              <a:t>Insert agent tokens with task embedding; add policy &amp; reward heads</a:t>
            </a:r>
          </a:p>
          <a:p>
            <a:pPr marL="256032" indent="-219456">
              <a:lnSpc>
                <a:spcPct val="105000"/>
              </a:lnSpc>
              <a:spcAft>
                <a:spcPts val="500"/>
              </a:spcAft>
              <a:buFont typeface="Arial"/>
              <a:buChar char="•"/>
            </a:pPr>
            <a:r>
              <a:rPr sz="1300" b="0" i="0">
                <a:solidFill>
                  <a:srgbClr val="1F2937"/>
                </a:solidFill>
                <a:latin typeface="Calibri"/>
              </a:rPr>
              <a:t>Behavioural cloning with multi-token prediction (L = 8) on task-relevant data</a:t>
            </a:r>
          </a:p>
          <a:p>
            <a:pPr marL="256032" indent="-219456">
              <a:lnSpc>
                <a:spcPct val="105000"/>
              </a:lnSpc>
              <a:spcAft>
                <a:spcPts val="500"/>
              </a:spcAft>
              <a:buFont typeface="Arial"/>
              <a:buChar char="•"/>
            </a:pPr>
            <a:r>
              <a:rPr sz="1300" b="0" i="0">
                <a:solidFill>
                  <a:srgbClr val="1F2937"/>
                </a:solidFill>
                <a:latin typeface="Calibri"/>
              </a:rPr>
              <a:t>Dynamics loss continues on uniform data so the model stays honest</a:t>
            </a:r>
          </a:p>
        </p:txBody>
      </p:sp>
      <p:sp>
        <p:nvSpPr>
          <p:cNvPr id="17" name="Right Arrow 16"/>
          <p:cNvSpPr/>
          <p:nvPr/>
        </p:nvSpPr>
        <p:spPr>
          <a:xfrm>
            <a:off x="7909560" y="2880360"/>
            <a:ext cx="320040" cy="457200"/>
          </a:xfrm>
          <a:prstGeom prst="rightArrow">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29600" y="1508760"/>
            <a:ext cx="3520440" cy="3200400"/>
          </a:xfrm>
          <a:prstGeom prst="roundRect">
            <a:avLst>
              <a:gd name="adj" fmla="val 6000"/>
            </a:avLst>
          </a:prstGeom>
          <a:solidFill>
            <a:srgbClr val="F3F5F9"/>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229600" y="1508760"/>
            <a:ext cx="3520440" cy="548640"/>
          </a:xfrm>
          <a:prstGeom prst="roundRect">
            <a:avLst>
              <a:gd name="adj" fmla="val 30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554480"/>
            <a:ext cx="3337560" cy="457200"/>
          </a:xfrm>
          <a:prstGeom prst="rect">
            <a:avLst/>
          </a:prstGeom>
          <a:noFill/>
        </p:spPr>
        <p:txBody>
          <a:bodyPr wrap="square" anchor="ctr" lIns="45720" rIns="45720" tIns="18288" bIns="18288">
            <a:spAutoFit/>
          </a:bodyPr>
          <a:lstStyle/>
          <a:p>
            <a:pPr algn="l">
              <a:lnSpc>
                <a:spcPct val="105000"/>
              </a:lnSpc>
            </a:pPr>
            <a:r>
              <a:rPr sz="1400" b="1" i="0">
                <a:solidFill>
                  <a:srgbClr val="FFFFFF"/>
                </a:solidFill>
                <a:latin typeface="Calibri"/>
              </a:rPr>
              <a:t>Phase 3 · Imagination training</a:t>
            </a:r>
          </a:p>
        </p:txBody>
      </p:sp>
      <p:sp>
        <p:nvSpPr>
          <p:cNvPr id="21" name="TextBox 20"/>
          <p:cNvSpPr txBox="1"/>
          <p:nvPr/>
        </p:nvSpPr>
        <p:spPr>
          <a:xfrm>
            <a:off x="8321040" y="2194560"/>
            <a:ext cx="3337560" cy="2468880"/>
          </a:xfrm>
          <a:prstGeom prst="rect">
            <a:avLst/>
          </a:prstGeom>
          <a:noFill/>
        </p:spPr>
        <p:txBody>
          <a:bodyPr wrap="square" lIns="45720" rIns="45720">
            <a:spAutoFit/>
          </a:bodyPr>
          <a:lstStyle/>
          <a:p>
            <a:pPr marL="256032" indent="-219456">
              <a:lnSpc>
                <a:spcPct val="105000"/>
              </a:lnSpc>
              <a:spcAft>
                <a:spcPts val="500"/>
              </a:spcAft>
              <a:buFont typeface="Arial"/>
              <a:buChar char="•"/>
            </a:pPr>
            <a:r>
              <a:rPr sz="1300" b="0" i="0">
                <a:solidFill>
                  <a:srgbClr val="1F2937"/>
                </a:solidFill>
                <a:latin typeface="Calibri"/>
              </a:rPr>
              <a:t>Freeze the transformer; train policy + value heads only</a:t>
            </a:r>
          </a:p>
          <a:p>
            <a:pPr marL="256032" indent="-219456">
              <a:lnSpc>
                <a:spcPct val="105000"/>
              </a:lnSpc>
              <a:spcAft>
                <a:spcPts val="500"/>
              </a:spcAft>
              <a:buFont typeface="Arial"/>
              <a:buChar char="•"/>
            </a:pPr>
            <a:r>
              <a:rPr sz="1300" b="0" i="0">
                <a:solidFill>
                  <a:srgbClr val="1F2937"/>
                </a:solidFill>
                <a:latin typeface="Calibri"/>
              </a:rPr>
              <a:t>Roll out the policy inside the world model, reward from the learned reward head</a:t>
            </a:r>
          </a:p>
          <a:p>
            <a:pPr marL="256032" indent="-219456">
              <a:lnSpc>
                <a:spcPct val="105000"/>
              </a:lnSpc>
              <a:spcAft>
                <a:spcPts val="500"/>
              </a:spcAft>
              <a:buFont typeface="Arial"/>
              <a:buChar char="•"/>
            </a:pPr>
            <a:r>
              <a:rPr sz="1300" b="0" i="0">
                <a:solidFill>
                  <a:srgbClr val="1F2937"/>
                </a:solidFill>
                <a:latin typeface="Calibri"/>
              </a:rPr>
              <a:t>PMPO with reverse-KL to the frozen BC policy; γ = 0.997</a:t>
            </a:r>
          </a:p>
        </p:txBody>
      </p:sp>
      <p:sp>
        <p:nvSpPr>
          <p:cNvPr id="22" name="TextBox 21"/>
          <p:cNvSpPr txBox="1"/>
          <p:nvPr/>
        </p:nvSpPr>
        <p:spPr>
          <a:xfrm>
            <a:off x="548640" y="4937760"/>
            <a:ext cx="11155680" cy="146304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450" b="1" i="0">
                <a:solidFill>
                  <a:srgbClr val="1F2937"/>
                </a:solidFill>
                <a:latin typeface="Calibri"/>
              </a:rPr>
              <a:t>Key design choice:</a:t>
            </a:r>
            <a:r>
              <a:rPr sz="1450" b="0" i="0">
                <a:solidFill>
                  <a:srgbClr val="1F2937"/>
                </a:solidFill>
                <a:latin typeface="Calibri"/>
              </a:rPr>
              <a:t> the same block-causal transformer serves as tokenizer, dynamics model and agent backbone; policy and value are tiny heads on 'agent tokens'</a:t>
            </a:r>
          </a:p>
          <a:p>
            <a:pPr marL="256032" indent="-219456">
              <a:lnSpc>
                <a:spcPct val="105000"/>
              </a:lnSpc>
              <a:spcAft>
                <a:spcPts val="600"/>
              </a:spcAft>
              <a:buFont typeface="Arial"/>
              <a:buChar char="•"/>
            </a:pPr>
            <a:r>
              <a:rPr sz="1450" b="1" i="0">
                <a:solidFill>
                  <a:srgbClr val="1F2937"/>
                </a:solidFill>
                <a:latin typeface="Calibri"/>
              </a:rPr>
              <a:t>Data mix in phases 2–3:</a:t>
            </a:r>
            <a:r>
              <a:rPr sz="1450" b="0" i="0">
                <a:solidFill>
                  <a:srgbClr val="1F2937"/>
                </a:solidFill>
                <a:latin typeface="Calibri"/>
              </a:rPr>
              <a:t> 50 % uniform sequences / 50 % task-relevant; BC loss only on relevant data, dynamics loss only on uniform data ('to avoid optimistic generations')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World-model design</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Figure 2: causal tokenizer + interactive dynamics model, one shared block-causal transformer</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10</a:t>
            </a:r>
          </a:p>
        </p:txBody>
      </p:sp>
      <p:pic>
        <p:nvPicPr>
          <p:cNvPr id="8" name="Picture 7" descr="fig2_world_model_design.png"/>
          <p:cNvPicPr>
            <a:picLocks noChangeAspect="1"/>
          </p:cNvPicPr>
          <p:nvPr/>
        </p:nvPicPr>
        <p:blipFill>
          <a:blip r:embed="rId2"/>
          <a:stretch>
            <a:fillRect/>
          </a:stretch>
        </p:blipFill>
        <p:spPr>
          <a:xfrm>
            <a:off x="457200" y="1417320"/>
            <a:ext cx="6949440" cy="2883703"/>
          </a:xfrm>
          <a:prstGeom prst="rect">
            <a:avLst/>
          </a:prstGeom>
        </p:spPr>
      </p:pic>
      <p:sp>
        <p:nvSpPr>
          <p:cNvPr id="9" name="TextBox 8"/>
          <p:cNvSpPr txBox="1"/>
          <p:nvPr/>
        </p:nvSpPr>
        <p:spPr>
          <a:xfrm>
            <a:off x="457200" y="4572000"/>
            <a:ext cx="694944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Left: causal tokenizer (masked patches → latent tokens → reconstruction). Right: interactive dynamics — interleaved action tokens a, latent tokens z, and per-frame signal level τ / step size d; space layers with a causal time layer every 4th block. (Figure 2, arXiv 2509.24527)</a:t>
            </a:r>
          </a:p>
        </p:txBody>
      </p:sp>
      <p:sp>
        <p:nvSpPr>
          <p:cNvPr id="10" name="TextBox 9"/>
          <p:cNvSpPr txBox="1"/>
          <p:nvPr/>
        </p:nvSpPr>
        <p:spPr>
          <a:xfrm>
            <a:off x="7680960" y="1463040"/>
            <a:ext cx="4114800" cy="475488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450" b="1" i="0">
                <a:solidFill>
                  <a:srgbClr val="1F2937"/>
                </a:solidFill>
                <a:latin typeface="Calibri"/>
              </a:rPr>
              <a:t>Total 2 B parameters:</a:t>
            </a:r>
            <a:r>
              <a:rPr sz="1450" b="0" i="0">
                <a:solidFill>
                  <a:srgbClr val="1F2937"/>
                </a:solidFill>
                <a:latin typeface="Calibri"/>
              </a:rPr>
              <a:t> ≈ 400 M tokenizer + 1.6 B dynamics</a:t>
            </a:r>
          </a:p>
          <a:p>
            <a:pPr marL="256032" indent="-219456">
              <a:lnSpc>
                <a:spcPct val="105000"/>
              </a:lnSpc>
              <a:spcAft>
                <a:spcPts val="600"/>
              </a:spcAft>
              <a:buFont typeface="Arial"/>
              <a:buChar char="•"/>
            </a:pPr>
            <a:r>
              <a:rPr sz="1450" b="1" i="0">
                <a:solidFill>
                  <a:srgbClr val="1F2937"/>
                </a:solidFill>
                <a:latin typeface="Calibri"/>
              </a:rPr>
              <a:t>Frames:</a:t>
            </a:r>
            <a:r>
              <a:rPr sz="1450" b="0" i="0">
                <a:solidFill>
                  <a:srgbClr val="1F2937"/>
                </a:solidFill>
                <a:latin typeface="Calibri"/>
              </a:rPr>
              <a:t> 360×640, zero-padded to 384×640 → 960 patches of 16×16</a:t>
            </a:r>
          </a:p>
          <a:p>
            <a:pPr marL="256032" indent="-219456">
              <a:lnSpc>
                <a:spcPct val="105000"/>
              </a:lnSpc>
              <a:spcAft>
                <a:spcPts val="600"/>
              </a:spcAft>
              <a:buFont typeface="Arial"/>
              <a:buChar char="•"/>
            </a:pPr>
            <a:r>
              <a:rPr sz="1450" b="1" i="0">
                <a:solidFill>
                  <a:srgbClr val="1F2937"/>
                </a:solidFill>
                <a:latin typeface="Calibri"/>
              </a:rPr>
              <a:t>Latents:</a:t>
            </a:r>
            <a:r>
              <a:rPr sz="1450" b="0" i="0">
                <a:solidFill>
                  <a:srgbClr val="1F2937"/>
                </a:solidFill>
                <a:latin typeface="Calibri"/>
              </a:rPr>
              <a:t> N_z = 256 tokens × 32 dims per frame (512×16 bottleneck, tanh)</a:t>
            </a:r>
          </a:p>
          <a:p>
            <a:pPr marL="256032" indent="-219456">
              <a:lnSpc>
                <a:spcPct val="105000"/>
              </a:lnSpc>
              <a:spcAft>
                <a:spcPts val="600"/>
              </a:spcAft>
              <a:buFont typeface="Arial"/>
              <a:buChar char="•"/>
            </a:pPr>
            <a:r>
              <a:rPr sz="1450" b="1" i="0">
                <a:solidFill>
                  <a:srgbClr val="1F2937"/>
                </a:solidFill>
                <a:latin typeface="Calibri"/>
              </a:rPr>
              <a:t>Context:</a:t>
            </a:r>
            <a:r>
              <a:rPr sz="1450" b="0" i="0">
                <a:solidFill>
                  <a:srgbClr val="1F2937"/>
                </a:solidFill>
                <a:latin typeface="Calibri"/>
              </a:rPr>
              <a:t> 192 frames = 9.6 s at 20 FPS</a:t>
            </a:r>
          </a:p>
          <a:p>
            <a:pPr marL="256032" indent="-219456">
              <a:lnSpc>
                <a:spcPct val="105000"/>
              </a:lnSpc>
              <a:spcAft>
                <a:spcPts val="600"/>
              </a:spcAft>
              <a:buFont typeface="Arial"/>
              <a:buChar char="•"/>
            </a:pPr>
            <a:r>
              <a:rPr sz="1450" b="1" i="0">
                <a:solidFill>
                  <a:srgbClr val="1F2937"/>
                </a:solidFill>
                <a:latin typeface="Calibri"/>
              </a:rPr>
              <a:t>Block-causal:</a:t>
            </a:r>
            <a:r>
              <a:rPr sz="1450" b="0" i="0">
                <a:solidFill>
                  <a:srgbClr val="1F2937"/>
                </a:solidFill>
                <a:latin typeface="Calibri"/>
              </a:rPr>
              <a:t> full attention within a frame, causal across frames → usable online, frame by frame</a:t>
            </a:r>
          </a:p>
          <a:p>
            <a:pPr marL="256032" indent="-219456">
              <a:lnSpc>
                <a:spcPct val="105000"/>
              </a:lnSpc>
              <a:spcAft>
                <a:spcPts val="600"/>
              </a:spcAft>
              <a:buFont typeface="Arial"/>
              <a:buChar char="•"/>
            </a:pPr>
            <a:r>
              <a:rPr sz="1450" b="1" i="0">
                <a:solidFill>
                  <a:srgbClr val="1F2937"/>
                </a:solidFill>
                <a:latin typeface="Calibri"/>
              </a:rPr>
              <a:t>Transformer recipe:</a:t>
            </a:r>
            <a:r>
              <a:rPr sz="1450" b="0" i="0">
                <a:solidFill>
                  <a:srgbClr val="1F2937"/>
                </a:solidFill>
                <a:latin typeface="Calibri"/>
              </a:rPr>
              <a:t> pre-RMSNorm, RoPE, SwiGLU, QK-norm, logit soft-capping, register tokens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causal tokenizer</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Compress each frame into 256 latent tokens without looking into the future</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11</a:t>
            </a:r>
          </a:p>
        </p:txBody>
      </p:sp>
      <p:sp>
        <p:nvSpPr>
          <p:cNvPr id="8" name="TextBox 7"/>
          <p:cNvSpPr txBox="1"/>
          <p:nvPr/>
        </p:nvSpPr>
        <p:spPr>
          <a:xfrm>
            <a:off x="548640" y="1417320"/>
            <a:ext cx="6766560" cy="484632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500" b="1" i="0">
                <a:solidFill>
                  <a:srgbClr val="1F2937"/>
                </a:solidFill>
                <a:latin typeface="Calibri"/>
              </a:rPr>
              <a:t>Masked autoencoder, not a VAE/VQ:</a:t>
            </a:r>
            <a:r>
              <a:rPr sz="1500" b="0" i="0">
                <a:solidFill>
                  <a:srgbClr val="1F2937"/>
                </a:solidFill>
                <a:latin typeface="Calibri"/>
              </a:rPr>
              <a:t> patches are dropped with ratio ~ U(0, 0.9) during training; encoder sees the surviving patches plus learned latent tokens, decoder reconstructs all patches</a:t>
            </a:r>
          </a:p>
          <a:p>
            <a:pPr marL="256032" indent="-219456">
              <a:lnSpc>
                <a:spcPct val="105000"/>
              </a:lnSpc>
              <a:spcAft>
                <a:spcPts val="600"/>
              </a:spcAft>
              <a:buFont typeface="Arial"/>
              <a:buChar char="•"/>
            </a:pPr>
            <a:r>
              <a:rPr sz="1500" b="1" i="0">
                <a:solidFill>
                  <a:srgbClr val="1F2937"/>
                </a:solidFill>
                <a:latin typeface="Calibri"/>
              </a:rPr>
              <a:t>Loss:</a:t>
            </a:r>
            <a:r>
              <a:rPr sz="1500" b="0" i="0">
                <a:solidFill>
                  <a:srgbClr val="1F2937"/>
                </a:solidFill>
                <a:latin typeface="Calibri"/>
              </a:rPr>
              <a:t> MSE + 0.2 · LPIPS (perceptual term keeps textures crisp)</a:t>
            </a:r>
          </a:p>
          <a:p>
            <a:pPr marL="256032" indent="-219456">
              <a:lnSpc>
                <a:spcPct val="105000"/>
              </a:lnSpc>
              <a:spcAft>
                <a:spcPts val="600"/>
              </a:spcAft>
              <a:buFont typeface="Arial"/>
              <a:buChar char="•"/>
            </a:pPr>
            <a:r>
              <a:rPr sz="1500" b="1" i="0">
                <a:solidFill>
                  <a:srgbClr val="1F2937"/>
                </a:solidFill>
                <a:latin typeface="Calibri"/>
              </a:rPr>
              <a:t>Bottleneck:</a:t>
            </a:r>
            <a:r>
              <a:rPr sz="1500" b="0" i="0">
                <a:solidFill>
                  <a:srgbClr val="1F2937"/>
                </a:solidFill>
                <a:latin typeface="Calibri"/>
              </a:rPr>
              <a:t> 512×16 per frame with tanh squashing, reshaped to 256 tokens × 32 dims for the dynamics model — a </a:t>
            </a:r>
            <a:r>
              <a:rPr sz="1500" b="0" i="1">
                <a:solidFill>
                  <a:srgbClr val="1F2937"/>
                </a:solidFill>
                <a:latin typeface="Calibri"/>
              </a:rPr>
              <a:t>continuous</a:t>
            </a:r>
            <a:r>
              <a:rPr sz="1500" b="0" i="0">
                <a:solidFill>
                  <a:srgbClr val="1F2937"/>
                </a:solidFill>
                <a:latin typeface="Calibri"/>
              </a:rPr>
              <a:t> latent, no codebook</a:t>
            </a:r>
          </a:p>
          <a:p>
            <a:pPr marL="256032" indent="-219456">
              <a:lnSpc>
                <a:spcPct val="105000"/>
              </a:lnSpc>
              <a:spcAft>
                <a:spcPts val="600"/>
              </a:spcAft>
              <a:buFont typeface="Arial"/>
              <a:buChar char="•"/>
            </a:pPr>
            <a:r>
              <a:rPr sz="1500" b="1" i="0">
                <a:solidFill>
                  <a:srgbClr val="1F2937"/>
                </a:solidFill>
                <a:latin typeface="Calibri"/>
              </a:rPr>
              <a:t>Causal in time:</a:t>
            </a:r>
            <a:r>
              <a:rPr sz="1500" b="0" i="0">
                <a:solidFill>
                  <a:srgbClr val="1F2937"/>
                </a:solidFill>
                <a:latin typeface="Calibri"/>
              </a:rPr>
              <a:t> frame t is encoded/decoded using only frames ≤ t → the same tokenizer works during live interaction</a:t>
            </a:r>
          </a:p>
          <a:p>
            <a:pPr marL="256032" indent="-219456">
              <a:lnSpc>
                <a:spcPct val="105000"/>
              </a:lnSpc>
              <a:spcAft>
                <a:spcPts val="600"/>
              </a:spcAft>
              <a:buFont typeface="Arial"/>
              <a:buChar char="•"/>
            </a:pPr>
            <a:r>
              <a:rPr sz="1500" b="1" i="0">
                <a:solidFill>
                  <a:srgbClr val="1F2937"/>
                </a:solidFill>
                <a:latin typeface="Calibri"/>
              </a:rPr>
              <a:t>Why MAE-style?</a:t>
            </a:r>
            <a:r>
              <a:rPr sz="1500" b="0" i="0">
                <a:solidFill>
                  <a:srgbClr val="1F2937"/>
                </a:solidFill>
                <a:latin typeface="Calibri"/>
              </a:rPr>
              <a:t> Inspired by MAETok (masked autoencoders make good tokenizers for diffusion models): masking regularises the latent space so the dynamics model has an easier, smoother target</a:t>
            </a:r>
          </a:p>
          <a:p>
            <a:pPr marL="256032" indent="-219456">
              <a:lnSpc>
                <a:spcPct val="105000"/>
              </a:lnSpc>
              <a:spcAft>
                <a:spcPts val="600"/>
              </a:spcAft>
              <a:buFont typeface="Arial"/>
              <a:buChar char="•"/>
            </a:pPr>
            <a:r>
              <a:rPr sz="1500" b="1" i="0">
                <a:solidFill>
                  <a:srgbClr val="1F2937"/>
                </a:solidFill>
                <a:latin typeface="Calibri"/>
              </a:rPr>
              <a:t>Trained once, then frozen</a:t>
            </a:r>
            <a:r>
              <a:rPr sz="1500" b="0" i="0">
                <a:solidFill>
                  <a:srgbClr val="1F2937"/>
                </a:solidFill>
                <a:latin typeface="Calibri"/>
              </a:rPr>
              <a:t> — Hafner expects fully end-to-end training to be possible eventually</a:t>
            </a:r>
          </a:p>
        </p:txBody>
      </p:sp>
      <p:pic>
        <p:nvPicPr>
          <p:cNvPr id="9" name="Picture 8" descr="fig_tok.png"/>
          <p:cNvPicPr>
            <a:picLocks noChangeAspect="1"/>
          </p:cNvPicPr>
          <p:nvPr/>
        </p:nvPicPr>
        <p:blipFill>
          <a:blip r:embed="rId2"/>
          <a:stretch>
            <a:fillRect/>
          </a:stretch>
        </p:blipFill>
        <p:spPr>
          <a:xfrm>
            <a:off x="7638270" y="1554480"/>
            <a:ext cx="4017300" cy="3566160"/>
          </a:xfrm>
          <a:prstGeom prst="rect">
            <a:avLst/>
          </a:prstGeom>
        </p:spPr>
      </p:pic>
      <p:sp>
        <p:nvSpPr>
          <p:cNvPr id="10" name="TextBox 9"/>
          <p:cNvSpPr txBox="1"/>
          <p:nvPr/>
        </p:nvSpPr>
        <p:spPr>
          <a:xfrm>
            <a:off x="7589520" y="516636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2a (arXiv HTML render).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interactive dynamics model</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Predict the next frame's latents from past latents, actions and the current noisy guess</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12</a:t>
            </a:r>
          </a:p>
        </p:txBody>
      </p:sp>
      <p:sp>
        <p:nvSpPr>
          <p:cNvPr id="8" name="TextBox 7"/>
          <p:cNvSpPr txBox="1"/>
          <p:nvPr/>
        </p:nvSpPr>
        <p:spPr>
          <a:xfrm>
            <a:off x="548640" y="1417320"/>
            <a:ext cx="6949440" cy="484632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450" b="1" i="0">
                <a:solidFill>
                  <a:srgbClr val="1F2937"/>
                </a:solidFill>
                <a:latin typeface="Calibri"/>
              </a:rPr>
              <a:t>Sequence layout:</a:t>
            </a:r>
            <a:r>
              <a:rPr sz="1450" b="0" i="0">
                <a:solidFill>
                  <a:srgbClr val="1F2937"/>
                </a:solidFill>
                <a:latin typeface="Calibri"/>
              </a:rPr>
              <a:t> per frame, action tokens (23 keys + mouse class, or a learned 'no action' embedding for unlabeled video), then 256 latent tokens, plus a token carrying signal level τ and step size d</a:t>
            </a:r>
          </a:p>
          <a:p>
            <a:pPr marL="256032" indent="-219456">
              <a:lnSpc>
                <a:spcPct val="105000"/>
              </a:lnSpc>
              <a:spcAft>
                <a:spcPts val="600"/>
              </a:spcAft>
              <a:buFont typeface="Arial"/>
              <a:buChar char="•"/>
            </a:pPr>
            <a:r>
              <a:rPr sz="1450" b="1" i="0">
                <a:solidFill>
                  <a:srgbClr val="1F2937"/>
                </a:solidFill>
                <a:latin typeface="Calibri"/>
              </a:rPr>
              <a:t>Attention pattern:</a:t>
            </a:r>
            <a:r>
              <a:rPr sz="1450" b="0" i="0">
                <a:solidFill>
                  <a:srgbClr val="1F2937"/>
                </a:solidFill>
                <a:latin typeface="Calibri"/>
              </a:rPr>
              <a:t> space-only attention inside a frame in 3 of every 4 layers; a </a:t>
            </a:r>
            <a:r>
              <a:rPr sz="1450" b="0" i="1">
                <a:solidFill>
                  <a:srgbClr val="1F2937"/>
                </a:solidFill>
                <a:latin typeface="Calibri"/>
              </a:rPr>
              <a:t>causal time</a:t>
            </a:r>
            <a:r>
              <a:rPr sz="1450" b="0" i="0">
                <a:solidFill>
                  <a:srgbClr val="1F2937"/>
                </a:solidFill>
                <a:latin typeface="Calibri"/>
              </a:rPr>
              <a:t> layer every 4th layer sees the 192-frame context → most compute is spent on cheap per-frame attention</a:t>
            </a:r>
          </a:p>
          <a:p>
            <a:pPr marL="256032" indent="-219456">
              <a:lnSpc>
                <a:spcPct val="105000"/>
              </a:lnSpc>
              <a:spcAft>
                <a:spcPts val="600"/>
              </a:spcAft>
              <a:buFont typeface="Arial"/>
              <a:buChar char="•"/>
            </a:pPr>
            <a:r>
              <a:rPr sz="1450" b="1" i="0">
                <a:solidFill>
                  <a:srgbClr val="1F2937"/>
                </a:solidFill>
                <a:latin typeface="Calibri"/>
              </a:rPr>
              <a:t>Efficiency tricks:</a:t>
            </a:r>
            <a:r>
              <a:rPr sz="1450" b="0" i="0">
                <a:solidFill>
                  <a:srgbClr val="1F2937"/>
                </a:solidFill>
                <a:latin typeface="Calibri"/>
              </a:rPr>
              <a:t> grouped-query attention, register tokens, alternating batch lengths (64-frame short batches interleaved with 256-frame long batches — long context is learned without paying for it every step)</a:t>
            </a:r>
          </a:p>
          <a:p>
            <a:pPr marL="256032" indent="-219456">
              <a:lnSpc>
                <a:spcPct val="105000"/>
              </a:lnSpc>
              <a:spcAft>
                <a:spcPts val="600"/>
              </a:spcAft>
              <a:buFont typeface="Arial"/>
              <a:buChar char="•"/>
            </a:pPr>
            <a:r>
              <a:rPr sz="1450" b="1" i="0">
                <a:solidFill>
                  <a:srgbClr val="1F2937"/>
                </a:solidFill>
                <a:latin typeface="Calibri"/>
              </a:rPr>
              <a:t>Objective:</a:t>
            </a:r>
            <a:r>
              <a:rPr sz="1450" b="0" i="0">
                <a:solidFill>
                  <a:srgbClr val="1F2937"/>
                </a:solidFill>
                <a:latin typeface="Calibri"/>
              </a:rPr>
              <a:t> shortcut forcing — a diffusion/flow objective that (i) noises every frame independently and (ii) is conditioned on the step size so that 4 sampling steps suffice (next slides)</a:t>
            </a:r>
          </a:p>
          <a:p>
            <a:pPr marL="256032" indent="-219456">
              <a:lnSpc>
                <a:spcPct val="105000"/>
              </a:lnSpc>
              <a:spcAft>
                <a:spcPts val="600"/>
              </a:spcAft>
              <a:buFont typeface="Arial"/>
              <a:buChar char="•"/>
            </a:pPr>
            <a:r>
              <a:rPr sz="1450" b="1" i="0">
                <a:solidFill>
                  <a:srgbClr val="1F2937"/>
                </a:solidFill>
                <a:latin typeface="Calibri"/>
              </a:rPr>
              <a:t>Inference:</a:t>
            </a:r>
            <a:r>
              <a:rPr sz="1450" b="0" i="0">
                <a:solidFill>
                  <a:srgbClr val="1F2937"/>
                </a:solidFill>
                <a:latin typeface="Calibri"/>
              </a:rPr>
              <a:t> 21 FPS at 640×360 on one H100 with K = 4 steps; context frames are kept slightly noisy (τ_ctx ≈ 0.1) so the model tolerates its own imperfections</a:t>
            </a:r>
          </a:p>
        </p:txBody>
      </p:sp>
      <p:pic>
        <p:nvPicPr>
          <p:cNvPr id="9" name="Picture 8" descr="fig_dyn.png"/>
          <p:cNvPicPr>
            <a:picLocks noChangeAspect="1"/>
          </p:cNvPicPr>
          <p:nvPr/>
        </p:nvPicPr>
        <p:blipFill>
          <a:blip r:embed="rId2"/>
          <a:stretch>
            <a:fillRect/>
          </a:stretch>
        </p:blipFill>
        <p:spPr>
          <a:xfrm>
            <a:off x="7772400" y="1554480"/>
            <a:ext cx="3931920" cy="3078767"/>
          </a:xfrm>
          <a:prstGeom prst="rect">
            <a:avLst/>
          </a:prstGeom>
        </p:spPr>
      </p:pic>
      <p:sp>
        <p:nvSpPr>
          <p:cNvPr id="10" name="TextBox 9"/>
          <p:cNvSpPr txBox="1"/>
          <p:nvPr/>
        </p:nvSpPr>
        <p:spPr>
          <a:xfrm>
            <a:off x="7772400" y="5166360"/>
            <a:ext cx="393192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2b (arXiv HTML render).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Two-minute primer: flow matching, signal level τ, x vs v</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Just enough background for shortcut forcing</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13</a:t>
            </a:r>
          </a:p>
        </p:txBody>
      </p:sp>
      <p:sp>
        <p:nvSpPr>
          <p:cNvPr id="8" name="Rounded Rectangle 7"/>
          <p:cNvSpPr/>
          <p:nvPr/>
        </p:nvSpPr>
        <p:spPr>
          <a:xfrm>
            <a:off x="457200" y="1463040"/>
            <a:ext cx="5577840" cy="233172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536192"/>
            <a:ext cx="5358384" cy="365760"/>
          </a:xfrm>
          <a:prstGeom prst="rect">
            <a:avLst/>
          </a:prstGeom>
          <a:noFill/>
        </p:spPr>
        <p:txBody>
          <a:bodyPr wrap="square" anchor="t" lIns="45720" rIns="45720" tIns="18288" bIns="18288">
            <a:spAutoFit/>
          </a:bodyPr>
          <a:lstStyle/>
          <a:p>
            <a:pPr algn="l">
              <a:lnSpc>
                <a:spcPct val="105000"/>
              </a:lnSpc>
            </a:pPr>
            <a:r>
              <a:rPr sz="1450" b="1" i="0">
                <a:solidFill>
                  <a:srgbClr val="14213D"/>
                </a:solidFill>
                <a:latin typeface="Calibri"/>
              </a:rPr>
              <a:t>Flow matching view of diffusion</a:t>
            </a:r>
          </a:p>
        </p:txBody>
      </p:sp>
      <p:sp>
        <p:nvSpPr>
          <p:cNvPr id="10" name="TextBox 9"/>
          <p:cNvSpPr txBox="1"/>
          <p:nvPr/>
        </p:nvSpPr>
        <p:spPr>
          <a:xfrm>
            <a:off x="566928" y="1920240"/>
            <a:ext cx="5358384" cy="1828800"/>
          </a:xfrm>
          <a:prstGeom prst="rect">
            <a:avLst/>
          </a:prstGeom>
          <a:noFill/>
        </p:spPr>
        <p:txBody>
          <a:bodyPr wrap="square" anchor="t" lIns="45720" rIns="45720" tIns="18288" bIns="18288">
            <a:spAutoFit/>
          </a:bodyPr>
          <a:lstStyle/>
          <a:p>
            <a:pPr algn="l">
              <a:lnSpc>
                <a:spcPct val="105000"/>
              </a:lnSpc>
            </a:pPr>
            <a:r>
              <a:rPr sz="1250" b="0" i="0">
                <a:solidFill>
                  <a:srgbClr val="1F2937"/>
                </a:solidFill>
                <a:latin typeface="Calibri"/>
              </a:rPr>
              <a:t>Interpolate between noise ε and clean latent x:  z_τ = τ · x + (1 − τ) · ε,  τ ∈ [0, 1]  (τ = signal level).</a:t>
            </a:r>
          </a:p>
          <a:p>
            <a:pPr algn="l">
              <a:lnSpc>
                <a:spcPct val="105000"/>
              </a:lnSpc>
            </a:pPr>
            <a:r>
              <a:rPr sz="1250" b="0" i="0">
                <a:solidFill>
                  <a:srgbClr val="1F2937"/>
                </a:solidFill>
                <a:latin typeface="Calibri"/>
              </a:rPr>
              <a:t>A network learns to move z_τ toward x; sampling integrates from τ = 0 (pure noise) to τ = 1 (clean) in K steps.</a:t>
            </a:r>
          </a:p>
          <a:p>
            <a:pPr algn="l">
              <a:lnSpc>
                <a:spcPct val="105000"/>
              </a:lnSpc>
            </a:pPr>
            <a:r>
              <a:rPr sz="1250" b="0" i="0">
                <a:solidFill>
                  <a:srgbClr val="1F2937"/>
                </a:solidFill>
                <a:latin typeface="Calibri"/>
              </a:rPr>
              <a:t>Standard models need many small steps because the learned direction is only locally correct.</a:t>
            </a:r>
          </a:p>
        </p:txBody>
      </p:sp>
      <p:sp>
        <p:nvSpPr>
          <p:cNvPr id="11" name="Rounded Rectangle 10"/>
          <p:cNvSpPr/>
          <p:nvPr/>
        </p:nvSpPr>
        <p:spPr>
          <a:xfrm>
            <a:off x="6172200" y="1463040"/>
            <a:ext cx="5577840" cy="233172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81928" y="1536192"/>
            <a:ext cx="5358384" cy="365760"/>
          </a:xfrm>
          <a:prstGeom prst="rect">
            <a:avLst/>
          </a:prstGeom>
          <a:noFill/>
        </p:spPr>
        <p:txBody>
          <a:bodyPr wrap="square" anchor="t" lIns="45720" rIns="45720" tIns="18288" bIns="18288">
            <a:spAutoFit/>
          </a:bodyPr>
          <a:lstStyle/>
          <a:p>
            <a:pPr algn="l">
              <a:lnSpc>
                <a:spcPct val="105000"/>
              </a:lnSpc>
            </a:pPr>
            <a:r>
              <a:rPr sz="1450" b="1" i="0">
                <a:solidFill>
                  <a:srgbClr val="14213D"/>
                </a:solidFill>
                <a:latin typeface="Calibri"/>
              </a:rPr>
              <a:t>Two parameterisations of the same target</a:t>
            </a:r>
          </a:p>
        </p:txBody>
      </p:sp>
      <p:sp>
        <p:nvSpPr>
          <p:cNvPr id="13" name="TextBox 12"/>
          <p:cNvSpPr txBox="1"/>
          <p:nvPr/>
        </p:nvSpPr>
        <p:spPr>
          <a:xfrm>
            <a:off x="6281928" y="1920240"/>
            <a:ext cx="5358384" cy="1828800"/>
          </a:xfrm>
          <a:prstGeom prst="rect">
            <a:avLst/>
          </a:prstGeom>
          <a:noFill/>
        </p:spPr>
        <p:txBody>
          <a:bodyPr wrap="square" anchor="t" lIns="45720" rIns="45720" tIns="18288" bIns="18288">
            <a:spAutoFit/>
          </a:bodyPr>
          <a:lstStyle/>
          <a:p>
            <a:pPr algn="l">
              <a:lnSpc>
                <a:spcPct val="105000"/>
              </a:lnSpc>
            </a:pPr>
            <a:r>
              <a:rPr sz="1250" b="0" i="0">
                <a:solidFill>
                  <a:srgbClr val="1F2937"/>
                </a:solidFill>
                <a:latin typeface="Calibri"/>
              </a:rPr>
              <a:t>v-prediction: output the velocity  v = x − ε  (common in image/video diffusion).</a:t>
            </a:r>
          </a:p>
          <a:p>
            <a:pPr algn="l">
              <a:lnSpc>
                <a:spcPct val="105000"/>
              </a:lnSpc>
            </a:pPr>
            <a:r>
              <a:rPr sz="1250" b="0" i="0">
                <a:solidFill>
                  <a:srgbClr val="1F2937"/>
                </a:solidFill>
                <a:latin typeface="Calibri"/>
              </a:rPr>
              <a:t>x-prediction: output the clean latent x directly; the velocity follows as (x − z_τ)/(1 − τ).</a:t>
            </a:r>
          </a:p>
          <a:p>
            <a:pPr algn="l">
              <a:lnSpc>
                <a:spcPct val="105000"/>
              </a:lnSpc>
            </a:pPr>
            <a:r>
              <a:rPr sz="1250" b="0" i="0">
                <a:solidFill>
                  <a:srgbClr val="1F2937"/>
                </a:solidFill>
                <a:latin typeface="Calibri"/>
              </a:rPr>
              <a:t>Mathematically equivalent — numerically very different when errors feed back autoregressively (slide 15).</a:t>
            </a:r>
          </a:p>
        </p:txBody>
      </p:sp>
      <p:sp>
        <p:nvSpPr>
          <p:cNvPr id="14" name="Rounded Rectangle 13"/>
          <p:cNvSpPr/>
          <p:nvPr/>
        </p:nvSpPr>
        <p:spPr>
          <a:xfrm>
            <a:off x="457200" y="3977639"/>
            <a:ext cx="5577840" cy="2240280"/>
          </a:xfrm>
          <a:prstGeom prst="roundRect">
            <a:avLst>
              <a:gd name="adj" fmla="val 8000"/>
            </a:avLst>
          </a:prstGeom>
          <a:solidFill>
            <a:srgbClr val="E4E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050791"/>
            <a:ext cx="5358384" cy="365760"/>
          </a:xfrm>
          <a:prstGeom prst="rect">
            <a:avLst/>
          </a:prstGeom>
          <a:noFill/>
        </p:spPr>
        <p:txBody>
          <a:bodyPr wrap="square" anchor="t" lIns="45720" rIns="45720" tIns="18288" bIns="18288">
            <a:spAutoFit/>
          </a:bodyPr>
          <a:lstStyle/>
          <a:p>
            <a:pPr algn="l">
              <a:lnSpc>
                <a:spcPct val="105000"/>
              </a:lnSpc>
            </a:pPr>
            <a:r>
              <a:rPr sz="1450" b="1" i="0">
                <a:solidFill>
                  <a:srgbClr val="14213D"/>
                </a:solidFill>
                <a:latin typeface="Calibri"/>
              </a:rPr>
              <a:t>Diffusion forcing (Chen et al., 2024)</a:t>
            </a:r>
          </a:p>
        </p:txBody>
      </p:sp>
      <p:sp>
        <p:nvSpPr>
          <p:cNvPr id="16" name="TextBox 15"/>
          <p:cNvSpPr txBox="1"/>
          <p:nvPr/>
        </p:nvSpPr>
        <p:spPr>
          <a:xfrm>
            <a:off x="566928" y="4434839"/>
            <a:ext cx="5358384" cy="1737360"/>
          </a:xfrm>
          <a:prstGeom prst="rect">
            <a:avLst/>
          </a:prstGeom>
          <a:noFill/>
        </p:spPr>
        <p:txBody>
          <a:bodyPr wrap="square" anchor="t" lIns="45720" rIns="45720" tIns="18288" bIns="18288">
            <a:spAutoFit/>
          </a:bodyPr>
          <a:lstStyle/>
          <a:p>
            <a:pPr algn="l">
              <a:lnSpc>
                <a:spcPct val="105000"/>
              </a:lnSpc>
            </a:pPr>
            <a:r>
              <a:rPr sz="1250" b="0" i="0">
                <a:solidFill>
                  <a:srgbClr val="1F2937"/>
                </a:solidFill>
                <a:latin typeface="Calibri"/>
              </a:rPr>
              <a:t>Give every frame in the sequence its </a:t>
            </a:r>
            <a:r>
              <a:rPr sz="1250" b="0" i="1">
                <a:solidFill>
                  <a:srgbClr val="1F2937"/>
                </a:solidFill>
                <a:latin typeface="Calibri"/>
              </a:rPr>
              <a:t>own</a:t>
            </a:r>
            <a:r>
              <a:rPr sz="1250" b="0" i="0">
                <a:solidFill>
                  <a:srgbClr val="1F2937"/>
                </a:solidFill>
                <a:latin typeface="Calibri"/>
              </a:rPr>
              <a:t> noise level instead of one level for the whole clip.</a:t>
            </a:r>
          </a:p>
          <a:p>
            <a:pPr algn="l">
              <a:lnSpc>
                <a:spcPct val="105000"/>
              </a:lnSpc>
            </a:pPr>
            <a:r>
              <a:rPr sz="1250" b="0" i="0">
                <a:solidFill>
                  <a:srgbClr val="1F2937"/>
                </a:solidFill>
                <a:latin typeface="Calibri"/>
              </a:rPr>
              <a:t>The model learns to predict a noisy future from a cleaner past → supports causal, frame-by-frame rollouts and keeping context frames slightly noisy at test time.</a:t>
            </a:r>
          </a:p>
          <a:p>
            <a:pPr algn="l">
              <a:lnSpc>
                <a:spcPct val="105000"/>
              </a:lnSpc>
            </a:pPr>
            <a:r>
              <a:rPr sz="1250" b="0" i="0">
                <a:solidFill>
                  <a:srgbClr val="1F2937"/>
                </a:solidFill>
                <a:latin typeface="Calibri"/>
              </a:rPr>
              <a:t>Cost: still tens of denoising steps per frame.</a:t>
            </a:r>
          </a:p>
        </p:txBody>
      </p:sp>
      <p:sp>
        <p:nvSpPr>
          <p:cNvPr id="17" name="Rounded Rectangle 16"/>
          <p:cNvSpPr/>
          <p:nvPr/>
        </p:nvSpPr>
        <p:spPr>
          <a:xfrm>
            <a:off x="6172200" y="3977639"/>
            <a:ext cx="5577840" cy="2240280"/>
          </a:xfrm>
          <a:prstGeom prst="roundRect">
            <a:avLst>
              <a:gd name="adj" fmla="val 8000"/>
            </a:avLst>
          </a:prstGeom>
          <a:solidFill>
            <a:srgbClr val="E4E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81928" y="4050791"/>
            <a:ext cx="5358384" cy="365760"/>
          </a:xfrm>
          <a:prstGeom prst="rect">
            <a:avLst/>
          </a:prstGeom>
          <a:noFill/>
        </p:spPr>
        <p:txBody>
          <a:bodyPr wrap="square" anchor="t" lIns="45720" rIns="45720" tIns="18288" bIns="18288">
            <a:spAutoFit/>
          </a:bodyPr>
          <a:lstStyle/>
          <a:p>
            <a:pPr algn="l">
              <a:lnSpc>
                <a:spcPct val="105000"/>
              </a:lnSpc>
            </a:pPr>
            <a:r>
              <a:rPr sz="1450" b="1" i="0">
                <a:solidFill>
                  <a:srgbClr val="14213D"/>
                </a:solidFill>
                <a:latin typeface="Calibri"/>
              </a:rPr>
              <a:t>Shortcut models (Frans et al., 2024)</a:t>
            </a:r>
          </a:p>
        </p:txBody>
      </p:sp>
      <p:sp>
        <p:nvSpPr>
          <p:cNvPr id="19" name="TextBox 18"/>
          <p:cNvSpPr txBox="1"/>
          <p:nvPr/>
        </p:nvSpPr>
        <p:spPr>
          <a:xfrm>
            <a:off x="6281928" y="4434839"/>
            <a:ext cx="5358384" cy="1737360"/>
          </a:xfrm>
          <a:prstGeom prst="rect">
            <a:avLst/>
          </a:prstGeom>
          <a:noFill/>
        </p:spPr>
        <p:txBody>
          <a:bodyPr wrap="square" anchor="t" lIns="45720" rIns="45720" tIns="18288" bIns="18288">
            <a:spAutoFit/>
          </a:bodyPr>
          <a:lstStyle/>
          <a:p>
            <a:pPr algn="l">
              <a:lnSpc>
                <a:spcPct val="105000"/>
              </a:lnSpc>
            </a:pPr>
            <a:r>
              <a:rPr sz="1250" b="0" i="0">
                <a:solidFill>
                  <a:srgbClr val="1F2937"/>
                </a:solidFill>
                <a:latin typeface="Calibri"/>
              </a:rPr>
              <a:t>Condition the network on the step size d as well as τ.</a:t>
            </a:r>
          </a:p>
          <a:p>
            <a:pPr algn="l">
              <a:lnSpc>
                <a:spcPct val="105000"/>
              </a:lnSpc>
            </a:pPr>
            <a:r>
              <a:rPr sz="1250" b="0" i="0">
                <a:solidFill>
                  <a:srgbClr val="1F2937"/>
                </a:solidFill>
                <a:latin typeface="Calibri"/>
              </a:rPr>
              <a:t>Self-consistency ('bootstrap') loss: one step of size 2d must equal two consecutive steps of size d.</a:t>
            </a:r>
          </a:p>
          <a:p>
            <a:pPr algn="l">
              <a:lnSpc>
                <a:spcPct val="105000"/>
              </a:lnSpc>
            </a:pPr>
            <a:r>
              <a:rPr sz="1250" b="0" i="0">
                <a:solidFill>
                  <a:srgbClr val="1F2937"/>
                </a:solidFill>
                <a:latin typeface="Calibri"/>
              </a:rPr>
              <a:t>Result: the model learns to take large, accurate steps → few-step or even one-step sampling.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Shortcut forcing: the training objective</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Diffusion forcing + shortcut models, with three engineering choices that turn out to matter a lot</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14</a:t>
            </a:r>
          </a:p>
        </p:txBody>
      </p:sp>
      <p:sp>
        <p:nvSpPr>
          <p:cNvPr id="8" name="TextBox 7"/>
          <p:cNvSpPr txBox="1"/>
          <p:nvPr/>
        </p:nvSpPr>
        <p:spPr>
          <a:xfrm>
            <a:off x="548640" y="1417320"/>
            <a:ext cx="6583680" cy="484632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450" b="1" i="0">
                <a:solidFill>
                  <a:srgbClr val="1F2937"/>
                </a:solidFill>
                <a:latin typeface="Calibri"/>
              </a:rPr>
              <a:t>Per-frame noise:</a:t>
            </a:r>
            <a:r>
              <a:rPr sz="1450" b="0" i="0">
                <a:solidFill>
                  <a:srgbClr val="1F2937"/>
                </a:solidFill>
                <a:latin typeface="Calibri"/>
              </a:rPr>
              <a:t> each frame gets an independent signal level τ_t; the model predicts frame t's clean latent from the noisy frame t, past frames, and actions</a:t>
            </a:r>
          </a:p>
          <a:p>
            <a:pPr marL="256032" indent="-219456">
              <a:lnSpc>
                <a:spcPct val="105000"/>
              </a:lnSpc>
              <a:spcAft>
                <a:spcPts val="600"/>
              </a:spcAft>
              <a:buFont typeface="Arial"/>
              <a:buChar char="•"/>
            </a:pPr>
            <a:r>
              <a:rPr sz="1450" b="1" i="0">
                <a:solidFill>
                  <a:srgbClr val="1F2937"/>
                </a:solidFill>
                <a:latin typeface="Calibri"/>
              </a:rPr>
              <a:t>Step-size conditioning:</a:t>
            </a:r>
            <a:r>
              <a:rPr sz="1450" b="0" i="0">
                <a:solidFill>
                  <a:srgbClr val="1F2937"/>
                </a:solidFill>
                <a:latin typeface="Calibri"/>
              </a:rPr>
              <a:t> the network also receives d; for d &gt; d_min the target is the </a:t>
            </a:r>
            <a:r>
              <a:rPr sz="1450" b="0" i="1">
                <a:solidFill>
                  <a:srgbClr val="1F2937"/>
                </a:solidFill>
                <a:latin typeface="Calibri"/>
              </a:rPr>
              <a:t>bootstrap</a:t>
            </a:r>
            <a:r>
              <a:rPr sz="1450" b="0" i="0">
                <a:solidFill>
                  <a:srgbClr val="1F2937"/>
                </a:solidFill>
                <a:latin typeface="Calibri"/>
              </a:rPr>
              <a:t> target — the result of two half-steps computed by the model itself (no gradient through the target)</a:t>
            </a:r>
          </a:p>
          <a:p>
            <a:pPr marL="256032" indent="-219456">
              <a:lnSpc>
                <a:spcPct val="105000"/>
              </a:lnSpc>
              <a:spcAft>
                <a:spcPts val="600"/>
              </a:spcAft>
              <a:buFont typeface="Arial"/>
              <a:buChar char="•"/>
            </a:pPr>
            <a:r>
              <a:rPr sz="1450" b="1" i="0">
                <a:solidFill>
                  <a:srgbClr val="1F2937"/>
                </a:solidFill>
                <a:latin typeface="Calibri"/>
              </a:rPr>
              <a:t>Choice 1 — x-prediction:</a:t>
            </a:r>
            <a:r>
              <a:rPr sz="1450" b="0" i="0">
                <a:solidFill>
                  <a:srgbClr val="1F2937"/>
                </a:solidFill>
                <a:latin typeface="Calibri"/>
              </a:rPr>
              <a:t> the network outputs the clean latent, not the velocity</a:t>
            </a:r>
          </a:p>
          <a:p>
            <a:pPr marL="256032" indent="-219456">
              <a:lnSpc>
                <a:spcPct val="105000"/>
              </a:lnSpc>
              <a:spcAft>
                <a:spcPts val="600"/>
              </a:spcAft>
              <a:buFont typeface="Arial"/>
              <a:buChar char="•"/>
            </a:pPr>
            <a:r>
              <a:rPr sz="1450" b="1" i="0">
                <a:solidFill>
                  <a:srgbClr val="1F2937"/>
                </a:solidFill>
                <a:latin typeface="Calibri"/>
              </a:rPr>
              <a:t>Choice 2 — loss in x-space:</a:t>
            </a:r>
            <a:r>
              <a:rPr sz="1450" b="0" i="0">
                <a:solidFill>
                  <a:srgbClr val="1F2937"/>
                </a:solidFill>
                <a:latin typeface="Calibri"/>
              </a:rPr>
              <a:t> the bootstrap target is formed in v-space (where two half-steps compose cleanly) but the loss is scaled back to x-space by (1 − τ)²</a:t>
            </a:r>
          </a:p>
          <a:p>
            <a:pPr marL="256032" indent="-219456">
              <a:lnSpc>
                <a:spcPct val="105000"/>
              </a:lnSpc>
              <a:spcAft>
                <a:spcPts val="600"/>
              </a:spcAft>
              <a:buFont typeface="Arial"/>
              <a:buChar char="•"/>
            </a:pPr>
            <a:r>
              <a:rPr sz="1450" b="1" i="0">
                <a:solidFill>
                  <a:srgbClr val="1F2937"/>
                </a:solidFill>
                <a:latin typeface="Calibri"/>
              </a:rPr>
              <a:t>Choice 3 — ramp weight:</a:t>
            </a:r>
            <a:r>
              <a:rPr sz="1450" b="0" i="0">
                <a:solidFill>
                  <a:srgbClr val="1F2937"/>
                </a:solidFill>
                <a:latin typeface="Calibri"/>
              </a:rPr>
              <a:t> loss weight w(τ) = 0.9 τ + 0.1 emphasises high-signal (low-noise) levels, where fine detail is decided</a:t>
            </a:r>
          </a:p>
          <a:p>
            <a:pPr marL="256032" indent="-219456">
              <a:lnSpc>
                <a:spcPct val="105000"/>
              </a:lnSpc>
              <a:spcAft>
                <a:spcPts val="600"/>
              </a:spcAft>
              <a:buFont typeface="Arial"/>
              <a:buChar char="•"/>
            </a:pPr>
            <a:r>
              <a:rPr sz="1450" b="1" i="0">
                <a:solidFill>
                  <a:srgbClr val="1F2937"/>
                </a:solidFill>
                <a:latin typeface="Calibri"/>
              </a:rPr>
              <a:t>Inference:</a:t>
            </a:r>
            <a:r>
              <a:rPr sz="1450" b="0" i="0">
                <a:solidFill>
                  <a:srgbClr val="1F2937"/>
                </a:solidFill>
                <a:latin typeface="Calibri"/>
              </a:rPr>
              <a:t> K = 4 steps per frame; context frames at τ_ctx ≈ 0.1; sampling remains stochastic → diverse imagined futures for RL</a:t>
            </a:r>
          </a:p>
        </p:txBody>
      </p:sp>
      <p:sp>
        <p:nvSpPr>
          <p:cNvPr id="9" name="Rounded Rectangle 8"/>
          <p:cNvSpPr/>
          <p:nvPr/>
        </p:nvSpPr>
        <p:spPr>
          <a:xfrm>
            <a:off x="7406640" y="1463040"/>
            <a:ext cx="4297680" cy="2788920"/>
          </a:xfrm>
          <a:prstGeom prst="roundRect">
            <a:avLst>
              <a:gd name="adj" fmla="val 8000"/>
            </a:avLst>
          </a:prstGeom>
          <a:solidFill>
            <a:srgbClr val="E4E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16368" y="1536192"/>
            <a:ext cx="4078224" cy="365760"/>
          </a:xfrm>
          <a:prstGeom prst="rect">
            <a:avLst/>
          </a:prstGeom>
          <a:noFill/>
        </p:spPr>
        <p:txBody>
          <a:bodyPr wrap="square" anchor="t" lIns="45720" rIns="45720" tIns="18288" bIns="18288">
            <a:spAutoFit/>
          </a:bodyPr>
          <a:lstStyle/>
          <a:p>
            <a:pPr algn="l">
              <a:lnSpc>
                <a:spcPct val="105000"/>
              </a:lnSpc>
            </a:pPr>
            <a:r>
              <a:rPr sz="1450" b="1" i="0">
                <a:solidFill>
                  <a:srgbClr val="14213D"/>
                </a:solidFill>
                <a:latin typeface="Calibri"/>
              </a:rPr>
              <a:t>Effect of each piece (Table 2, FVD ↓)</a:t>
            </a:r>
          </a:p>
        </p:txBody>
      </p:sp>
      <p:sp>
        <p:nvSpPr>
          <p:cNvPr id="11" name="TextBox 10"/>
          <p:cNvSpPr txBox="1"/>
          <p:nvPr/>
        </p:nvSpPr>
        <p:spPr>
          <a:xfrm>
            <a:off x="7516368" y="1920240"/>
            <a:ext cx="4078224" cy="2286000"/>
          </a:xfrm>
          <a:prstGeom prst="rect">
            <a:avLst/>
          </a:prstGeom>
          <a:noFill/>
        </p:spPr>
        <p:txBody>
          <a:bodyPr wrap="square" anchor="t" lIns="45720" rIns="45720" tIns="18288" bIns="18288">
            <a:spAutoFit/>
          </a:bodyPr>
          <a:lstStyle/>
          <a:p>
            <a:pPr algn="l">
              <a:lnSpc>
                <a:spcPct val="105000"/>
              </a:lnSpc>
            </a:pPr>
            <a:r>
              <a:rPr sz="1250" b="0" i="0">
                <a:solidFill>
                  <a:srgbClr val="1F2937"/>
                </a:solidFill>
                <a:latin typeface="Calibri"/>
              </a:rPr>
              <a:t>Diffusion forcing, K = 64 steps:  306  (0.8 FPS)</a:t>
            </a:r>
          </a:p>
          <a:p>
            <a:pPr algn="l">
              <a:lnSpc>
                <a:spcPct val="105000"/>
              </a:lnSpc>
            </a:pPr>
            <a:r>
              <a:rPr sz="1250" b="0" i="0">
                <a:solidFill>
                  <a:srgbClr val="1F2937"/>
                </a:solidFill>
                <a:latin typeface="Calibri"/>
              </a:rPr>
              <a:t>Same model, K = 4 steps:  875</a:t>
            </a:r>
          </a:p>
          <a:p>
            <a:pPr algn="l">
              <a:lnSpc>
                <a:spcPct val="105000"/>
              </a:lnSpc>
            </a:pPr>
            <a:r>
              <a:rPr sz="1250" b="0" i="0">
                <a:solidFill>
                  <a:srgbClr val="1F2937"/>
                </a:solidFill>
                <a:latin typeface="Calibri"/>
              </a:rPr>
              <a:t>+ shortcut objective:  329</a:t>
            </a:r>
          </a:p>
          <a:p>
            <a:pPr algn="l">
              <a:lnSpc>
                <a:spcPct val="105000"/>
              </a:lnSpc>
            </a:pPr>
            <a:r>
              <a:rPr sz="1250" b="0" i="0">
                <a:solidFill>
                  <a:srgbClr val="1F2937"/>
                </a:solidFill>
                <a:latin typeface="Calibri"/>
              </a:rPr>
              <a:t>+ x-prediction:  326</a:t>
            </a:r>
          </a:p>
          <a:p>
            <a:pPr algn="l">
              <a:lnSpc>
                <a:spcPct val="105000"/>
              </a:lnSpc>
            </a:pPr>
            <a:r>
              <a:rPr sz="1250" b="0" i="0">
                <a:solidFill>
                  <a:srgbClr val="1F2937"/>
                </a:solidFill>
                <a:latin typeface="Calibri"/>
              </a:rPr>
              <a:t>+ x-space loss:  151</a:t>
            </a:r>
          </a:p>
          <a:p>
            <a:pPr algn="l">
              <a:lnSpc>
                <a:spcPct val="105000"/>
              </a:lnSpc>
            </a:pPr>
            <a:r>
              <a:rPr sz="1250" b="0" i="0">
                <a:solidFill>
                  <a:srgbClr val="1F2937"/>
                </a:solidFill>
                <a:latin typeface="Calibri"/>
              </a:rPr>
              <a:t>+ ramp weight:  102</a:t>
            </a:r>
          </a:p>
          <a:p>
            <a:pPr algn="l">
              <a:lnSpc>
                <a:spcPct val="105000"/>
              </a:lnSpc>
            </a:pPr>
            <a:r>
              <a:rPr sz="1250" b="0" i="0">
                <a:solidFill>
                  <a:srgbClr val="1F2937"/>
                </a:solidFill>
                <a:latin typeface="Calibri"/>
              </a:rPr>
              <a:t>Full architecture but v-space prediction/loss:  124  vs  57</a:t>
            </a:r>
          </a:p>
        </p:txBody>
      </p:sp>
      <p:sp>
        <p:nvSpPr>
          <p:cNvPr id="12" name="Rounded Rectangle 11"/>
          <p:cNvSpPr/>
          <p:nvPr/>
        </p:nvSpPr>
        <p:spPr>
          <a:xfrm>
            <a:off x="7406640" y="4434840"/>
            <a:ext cx="4297680" cy="173736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16368" y="4507992"/>
            <a:ext cx="4078224" cy="365760"/>
          </a:xfrm>
          <a:prstGeom prst="rect">
            <a:avLst/>
          </a:prstGeom>
          <a:noFill/>
        </p:spPr>
        <p:txBody>
          <a:bodyPr wrap="square" anchor="t" lIns="45720" rIns="45720" tIns="18288" bIns="18288">
            <a:spAutoFit/>
          </a:bodyPr>
          <a:lstStyle/>
          <a:p>
            <a:pPr algn="l">
              <a:lnSpc>
                <a:spcPct val="105000"/>
              </a:lnSpc>
            </a:pPr>
            <a:r>
              <a:rPr sz="1450" b="1" i="0">
                <a:solidFill>
                  <a:srgbClr val="14213D"/>
                </a:solidFill>
                <a:latin typeface="Calibri"/>
              </a:rPr>
              <a:t>Why this is the key contribution</a:t>
            </a:r>
          </a:p>
        </p:txBody>
      </p:sp>
      <p:sp>
        <p:nvSpPr>
          <p:cNvPr id="14" name="TextBox 13"/>
          <p:cNvSpPr txBox="1"/>
          <p:nvPr/>
        </p:nvSpPr>
        <p:spPr>
          <a:xfrm>
            <a:off x="7516368" y="4892040"/>
            <a:ext cx="4078224" cy="1234440"/>
          </a:xfrm>
          <a:prstGeom prst="rect">
            <a:avLst/>
          </a:prstGeom>
          <a:noFill/>
        </p:spPr>
        <p:txBody>
          <a:bodyPr wrap="square" anchor="t" lIns="45720" rIns="45720" tIns="18288" bIns="18288">
            <a:spAutoFit/>
          </a:bodyPr>
          <a:lstStyle/>
          <a:p>
            <a:pPr algn="l">
              <a:lnSpc>
                <a:spcPct val="105000"/>
              </a:lnSpc>
            </a:pPr>
            <a:r>
              <a:rPr sz="1250" b="0" i="0">
                <a:solidFill>
                  <a:srgbClr val="1F2937"/>
                </a:solidFill>
                <a:latin typeface="Calibri"/>
              </a:rPr>
              <a:t>4 steps ≈ the quality of 16–32 diffusion-forcing steps (Fig. 8) — roughly 16× fewer network evaluations per frame, which is what makes real-time interaction and large-scale imagination RL feasible.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Why x-prediction matters for autoregressive world models</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Hafner's explanation (TalkRL, Nov 2025) and the numbers</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15</a:t>
            </a:r>
          </a:p>
        </p:txBody>
      </p:sp>
      <p:sp>
        <p:nvSpPr>
          <p:cNvPr id="8" name="TextBox 7"/>
          <p:cNvSpPr txBox="1"/>
          <p:nvPr/>
        </p:nvSpPr>
        <p:spPr>
          <a:xfrm>
            <a:off x="548640" y="1417320"/>
            <a:ext cx="6766560" cy="420624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450" b="1" i="0">
                <a:solidFill>
                  <a:srgbClr val="1F2937"/>
                </a:solidFill>
                <a:latin typeface="Calibri"/>
              </a:rPr>
              <a:t>v-prediction carries the noise:</a:t>
            </a:r>
            <a:r>
              <a:rPr sz="1450" b="0" i="0">
                <a:solidFill>
                  <a:srgbClr val="1F2937"/>
                </a:solidFill>
                <a:latin typeface="Calibri"/>
              </a:rPr>
              <a:t> to output v = x − ε the network must reproduce the </a:t>
            </a:r>
            <a:r>
              <a:rPr sz="1450" b="0" i="1">
                <a:solidFill>
                  <a:srgbClr val="1F2937"/>
                </a:solidFill>
                <a:latin typeface="Calibri"/>
              </a:rPr>
              <a:t>exact</a:t>
            </a:r>
            <a:r>
              <a:rPr sz="1450" b="0" i="0">
                <a:solidFill>
                  <a:srgbClr val="1F2937"/>
                </a:solidFill>
                <a:latin typeface="Calibri"/>
              </a:rPr>
              <a:t> noise pattern of its input through every layer; small mistakes in that noise become errors in the sample</a:t>
            </a:r>
          </a:p>
          <a:p>
            <a:pPr marL="256032" indent="-219456">
              <a:lnSpc>
                <a:spcPct val="105000"/>
              </a:lnSpc>
              <a:spcAft>
                <a:spcPts val="600"/>
              </a:spcAft>
              <a:buFont typeface="Arial"/>
              <a:buChar char="•"/>
            </a:pPr>
            <a:r>
              <a:rPr sz="1450" b="1" i="0">
                <a:solidFill>
                  <a:srgbClr val="1F2937"/>
                </a:solidFill>
                <a:latin typeface="Calibri"/>
              </a:rPr>
              <a:t>In autoregressive use these errors compound:</a:t>
            </a:r>
            <a:r>
              <a:rPr sz="1450" b="0" i="0">
                <a:solidFill>
                  <a:srgbClr val="1F2937"/>
                </a:solidFill>
                <a:latin typeface="Calibri"/>
              </a:rPr>
              <a:t> each generated frame becomes context for the next; velocity errors accumulate as drift, blur or flicker over long rollouts</a:t>
            </a:r>
          </a:p>
          <a:p>
            <a:pPr marL="256032" indent="-219456">
              <a:lnSpc>
                <a:spcPct val="105000"/>
              </a:lnSpc>
              <a:spcAft>
                <a:spcPts val="600"/>
              </a:spcAft>
              <a:buFont typeface="Arial"/>
              <a:buChar char="•"/>
            </a:pPr>
            <a:r>
              <a:rPr sz="1450" b="1" i="0">
                <a:solidFill>
                  <a:srgbClr val="1F2937"/>
                </a:solidFill>
                <a:latin typeface="Calibri"/>
              </a:rPr>
              <a:t>x-prediction is a denoising target:</a:t>
            </a:r>
            <a:r>
              <a:rPr sz="1450" b="0" i="0">
                <a:solidFill>
                  <a:srgbClr val="1F2937"/>
                </a:solidFill>
                <a:latin typeface="Calibri"/>
              </a:rPr>
              <a:t> the network only needs to know what the clean frame should look like — errors are 'pulled back' toward plausible images every step</a:t>
            </a:r>
          </a:p>
          <a:p>
            <a:pPr marL="256032" indent="-219456">
              <a:lnSpc>
                <a:spcPct val="105000"/>
              </a:lnSpc>
              <a:spcAft>
                <a:spcPts val="600"/>
              </a:spcAft>
              <a:buFont typeface="Arial"/>
              <a:buChar char="•"/>
            </a:pPr>
            <a:r>
              <a:rPr sz="1450" b="1" i="0">
                <a:solidFill>
                  <a:srgbClr val="1F2937"/>
                </a:solidFill>
                <a:latin typeface="Calibri"/>
              </a:rPr>
              <a:t>Combined with noised context (τ_ctx ≈ 0.1):</a:t>
            </a:r>
            <a:r>
              <a:rPr sz="1450" b="0" i="0">
                <a:solidFill>
                  <a:srgbClr val="1F2937"/>
                </a:solidFill>
                <a:latin typeface="Calibri"/>
              </a:rPr>
              <a:t> the model is trained and run on slightly corrupted context, so it never sees a distribution it was not trained on</a:t>
            </a:r>
          </a:p>
          <a:p>
            <a:pPr marL="256032" indent="-219456">
              <a:lnSpc>
                <a:spcPct val="105000"/>
              </a:lnSpc>
              <a:spcAft>
                <a:spcPts val="600"/>
              </a:spcAft>
              <a:buFont typeface="Arial"/>
              <a:buChar char="•"/>
            </a:pPr>
            <a:r>
              <a:rPr sz="1450" b="1" i="0">
                <a:solidFill>
                  <a:srgbClr val="1F2937"/>
                </a:solidFill>
                <a:latin typeface="Calibri"/>
              </a:rPr>
              <a:t>Evidence:</a:t>
            </a:r>
            <a:r>
              <a:rPr sz="1450" b="0" i="0">
                <a:solidFill>
                  <a:srgbClr val="1F2937"/>
                </a:solidFill>
                <a:latin typeface="Calibri"/>
              </a:rPr>
              <a:t> full architecture with v-space prediction/loss reaches FVD 124; with x-prediction and x-space loss, 57 (Table 2). Long 384-frame generations were used for FVD precisely to expose compounding error</a:t>
            </a:r>
          </a:p>
        </p:txBody>
      </p:sp>
      <p:pic>
        <p:nvPicPr>
          <p:cNvPr id="9" name="Picture 8" descr="fig8_shortcut_vs_df.png"/>
          <p:cNvPicPr>
            <a:picLocks noChangeAspect="1"/>
          </p:cNvPicPr>
          <p:nvPr/>
        </p:nvPicPr>
        <p:blipFill>
          <a:blip r:embed="rId2"/>
          <a:stretch>
            <a:fillRect/>
          </a:stretch>
        </p:blipFill>
        <p:spPr>
          <a:xfrm>
            <a:off x="7589520" y="1463040"/>
            <a:ext cx="4114800" cy="3413509"/>
          </a:xfrm>
          <a:prstGeom prst="rect">
            <a:avLst/>
          </a:prstGeom>
        </p:spPr>
      </p:pic>
      <p:sp>
        <p:nvSpPr>
          <p:cNvPr id="10" name="TextBox 9"/>
          <p:cNvSpPr txBox="1"/>
          <p:nvPr/>
        </p:nvSpPr>
        <p:spPr>
          <a:xfrm>
            <a:off x="7589520" y="507492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8: FVD vs sampling steps. Shortcut forcing at 4 steps ≈ 60; diffusion forcing needs 16–32 steps to match.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Architecture choices that buy speed without losing quality</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Table 2: each row adds one change to the previous row</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16</a:t>
            </a:r>
          </a:p>
        </p:txBody>
      </p:sp>
      <p:pic>
        <p:nvPicPr>
          <p:cNvPr id="8" name="Picture 7" descr="chart_ablation_cascade.png"/>
          <p:cNvPicPr>
            <a:picLocks noChangeAspect="1"/>
          </p:cNvPicPr>
          <p:nvPr/>
        </p:nvPicPr>
        <p:blipFill>
          <a:blip r:embed="rId2"/>
          <a:stretch>
            <a:fillRect/>
          </a:stretch>
        </p:blipFill>
        <p:spPr>
          <a:xfrm>
            <a:off x="365760" y="1371600"/>
            <a:ext cx="7589520" cy="3863755"/>
          </a:xfrm>
          <a:prstGeom prst="rect">
            <a:avLst/>
          </a:prstGeom>
        </p:spPr>
      </p:pic>
      <p:sp>
        <p:nvSpPr>
          <p:cNvPr id="9" name="TextBox 8"/>
          <p:cNvSpPr txBox="1"/>
          <p:nvPr/>
        </p:nvSpPr>
        <p:spPr>
          <a:xfrm>
            <a:off x="8138160" y="1417320"/>
            <a:ext cx="3749039" cy="493776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400" b="1" i="0">
                <a:solidFill>
                  <a:srgbClr val="1F2937"/>
                </a:solidFill>
                <a:latin typeface="Calibri"/>
              </a:rPr>
              <a:t>Alternating batch lengths</a:t>
            </a:r>
            <a:r>
              <a:rPr sz="1400" b="0" i="0">
                <a:solidFill>
                  <a:srgbClr val="1F2937"/>
                </a:solidFill>
                <a:latin typeface="Calibri"/>
              </a:rPr>
              <a:t> (64 / 256 frames): FVD 102 → 80 and a training step from 9.8 s → 1.5 s</a:t>
            </a:r>
          </a:p>
          <a:p>
            <a:pPr marL="256032" indent="-219456">
              <a:lnSpc>
                <a:spcPct val="105000"/>
              </a:lnSpc>
              <a:spcAft>
                <a:spcPts val="600"/>
              </a:spcAft>
              <a:buFont typeface="Arial"/>
              <a:buChar char="•"/>
            </a:pPr>
            <a:r>
              <a:rPr sz="1400" b="1" i="0">
                <a:solidFill>
                  <a:srgbClr val="1F2937"/>
                </a:solidFill>
                <a:latin typeface="Calibri"/>
              </a:rPr>
              <a:t>Time attention only every 4th layer:</a:t>
            </a:r>
            <a:r>
              <a:rPr sz="1400" b="0" i="0">
                <a:solidFill>
                  <a:srgbClr val="1F2937"/>
                </a:solidFill>
                <a:latin typeface="Calibri"/>
              </a:rPr>
              <a:t> 18.9 FPS at FVD 70</a:t>
            </a:r>
          </a:p>
          <a:p>
            <a:pPr marL="256032" indent="-219456">
              <a:lnSpc>
                <a:spcPct val="105000"/>
              </a:lnSpc>
              <a:spcAft>
                <a:spcPts val="600"/>
              </a:spcAft>
              <a:buFont typeface="Arial"/>
              <a:buChar char="•"/>
            </a:pPr>
            <a:r>
              <a:rPr sz="1400" b="1" i="0">
                <a:solidFill>
                  <a:srgbClr val="1F2937"/>
                </a:solidFill>
                <a:latin typeface="Calibri"/>
              </a:rPr>
              <a:t>Grouped-query attention:</a:t>
            </a:r>
            <a:r>
              <a:rPr sz="1400" b="0" i="0">
                <a:solidFill>
                  <a:srgbClr val="1F2937"/>
                </a:solidFill>
                <a:latin typeface="Calibri"/>
              </a:rPr>
              <a:t> 23.2 FPS, FVD unchanged</a:t>
            </a:r>
          </a:p>
          <a:p>
            <a:pPr marL="256032" indent="-219456">
              <a:lnSpc>
                <a:spcPct val="105000"/>
              </a:lnSpc>
              <a:spcAft>
                <a:spcPts val="600"/>
              </a:spcAft>
              <a:buFont typeface="Arial"/>
              <a:buChar char="•"/>
            </a:pPr>
            <a:r>
              <a:rPr sz="1400" b="1" i="0">
                <a:solidFill>
                  <a:srgbClr val="1F2937"/>
                </a:solidFill>
                <a:latin typeface="Calibri"/>
              </a:rPr>
              <a:t>Time-factorised long context</a:t>
            </a:r>
            <a:r>
              <a:rPr sz="1400" b="0" i="0">
                <a:solidFill>
                  <a:srgbClr val="1F2937"/>
                </a:solidFill>
                <a:latin typeface="Calibri"/>
              </a:rPr>
              <a:t> trades a little quality (91) for 30 FPS; </a:t>
            </a:r>
            <a:r>
              <a:rPr sz="1400" b="1" i="0">
                <a:solidFill>
                  <a:srgbClr val="1F2937"/>
                </a:solidFill>
                <a:latin typeface="Calibri"/>
              </a:rPr>
              <a:t>registers</a:t>
            </a:r>
            <a:r>
              <a:rPr sz="1400" b="0" i="0">
                <a:solidFill>
                  <a:srgbClr val="1F2937"/>
                </a:solidFill>
                <a:latin typeface="Calibri"/>
              </a:rPr>
              <a:t> stabilise attention</a:t>
            </a:r>
          </a:p>
          <a:p>
            <a:pPr marL="256032" indent="-219456">
              <a:lnSpc>
                <a:spcPct val="105000"/>
              </a:lnSpc>
              <a:spcAft>
                <a:spcPts val="600"/>
              </a:spcAft>
              <a:buFont typeface="Arial"/>
              <a:buChar char="•"/>
            </a:pPr>
            <a:r>
              <a:rPr sz="1400" b="1" i="0">
                <a:solidFill>
                  <a:srgbClr val="1F2937"/>
                </a:solidFill>
                <a:latin typeface="Calibri"/>
              </a:rPr>
              <a:t>More latent tokens</a:t>
            </a:r>
            <a:r>
              <a:rPr sz="1400" b="0" i="0">
                <a:solidFill>
                  <a:srgbClr val="1F2937"/>
                </a:solidFill>
                <a:latin typeface="Calibri"/>
              </a:rPr>
              <a:t> (128 → 256) brings FVD to 57 at 21.4 FPS — the final configuration</a:t>
            </a:r>
          </a:p>
          <a:p>
            <a:pPr marL="256032" indent="-219456">
              <a:lnSpc>
                <a:spcPct val="105000"/>
              </a:lnSpc>
              <a:spcAft>
                <a:spcPts val="600"/>
              </a:spcAft>
              <a:buFont typeface="Arial"/>
              <a:buChar char="•"/>
            </a:pPr>
            <a:r>
              <a:rPr sz="1400" b="0" i="0">
                <a:solidFill>
                  <a:srgbClr val="1F2937"/>
                </a:solidFill>
                <a:latin typeface="Calibri"/>
              </a:rPr>
              <a:t>Runs were 48 h each; FVD computed on 1,024 generations of 384 frames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From world model to agent: agent tokens &amp; heads</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Phase 2 — policy and reward live inside the same transformer, but cannot disturb the simulation</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17</a:t>
            </a:r>
          </a:p>
        </p:txBody>
      </p:sp>
      <p:sp>
        <p:nvSpPr>
          <p:cNvPr id="8" name="TextBox 7"/>
          <p:cNvSpPr txBox="1"/>
          <p:nvPr/>
        </p:nvSpPr>
        <p:spPr>
          <a:xfrm>
            <a:off x="548640" y="1417320"/>
            <a:ext cx="6949440" cy="484632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450" b="1" i="0">
                <a:solidFill>
                  <a:srgbClr val="1F2937"/>
                </a:solidFill>
                <a:latin typeface="Calibri"/>
              </a:rPr>
              <a:t>Agent tokens:</a:t>
            </a:r>
            <a:r>
              <a:rPr sz="1450" b="0" i="0">
                <a:solidFill>
                  <a:srgbClr val="1F2937"/>
                </a:solidFill>
                <a:latin typeface="Calibri"/>
              </a:rPr>
              <a:t> extra tokens per frame that carry a task embedding (one-hot over the 20 training tasks) and read out policy and reward</a:t>
            </a:r>
          </a:p>
          <a:p>
            <a:pPr marL="256032" indent="-219456">
              <a:lnSpc>
                <a:spcPct val="105000"/>
              </a:lnSpc>
              <a:spcAft>
                <a:spcPts val="600"/>
              </a:spcAft>
              <a:buFont typeface="Arial"/>
              <a:buChar char="•"/>
            </a:pPr>
            <a:r>
              <a:rPr sz="1450" b="1" i="0">
                <a:solidFill>
                  <a:srgbClr val="1F2937"/>
                </a:solidFill>
                <a:latin typeface="Calibri"/>
              </a:rPr>
              <a:t>One-way attention:</a:t>
            </a:r>
            <a:r>
              <a:rPr sz="1450" b="0" i="0">
                <a:solidFill>
                  <a:srgbClr val="1F2937"/>
                </a:solidFill>
                <a:latin typeface="Calibri"/>
              </a:rPr>
              <a:t> agent tokens attend to actions, latents and past frames — but </a:t>
            </a:r>
            <a:r>
              <a:rPr sz="1450" b="0" i="1">
                <a:solidFill>
                  <a:srgbClr val="1F2937"/>
                </a:solidFill>
                <a:latin typeface="Calibri"/>
              </a:rPr>
              <a:t>nothing attends back to them</a:t>
            </a:r>
            <a:r>
              <a:rPr sz="1450" b="0" i="0">
                <a:solidFill>
                  <a:srgbClr val="1F2937"/>
                </a:solidFill>
                <a:latin typeface="Calibri"/>
              </a:rPr>
              <a:t>, so the world model never conditions on the policy's intentions or reward estimates</a:t>
            </a:r>
          </a:p>
          <a:p>
            <a:pPr marL="256032" indent="-219456">
              <a:lnSpc>
                <a:spcPct val="105000"/>
              </a:lnSpc>
              <a:spcAft>
                <a:spcPts val="600"/>
              </a:spcAft>
              <a:buFont typeface="Arial"/>
              <a:buChar char="•"/>
            </a:pPr>
            <a:r>
              <a:rPr sz="1450" b="1" i="0">
                <a:solidFill>
                  <a:srgbClr val="1F2937"/>
                </a:solidFill>
                <a:latin typeface="Calibri"/>
              </a:rPr>
              <a:t>Policy head — behavioural cloning with multi-token prediction:</a:t>
            </a:r>
            <a:r>
              <a:rPr sz="1450" b="0" i="0">
                <a:solidFill>
                  <a:srgbClr val="1F2937"/>
                </a:solidFill>
                <a:latin typeface="Calibri"/>
              </a:rPr>
              <a:t> predict the next L = 8 actions; the extra horizon regularises the representation and encodes intent</a:t>
            </a:r>
          </a:p>
          <a:p>
            <a:pPr marL="256032" indent="-219456">
              <a:lnSpc>
                <a:spcPct val="105000"/>
              </a:lnSpc>
              <a:spcAft>
                <a:spcPts val="600"/>
              </a:spcAft>
              <a:buFont typeface="Arial"/>
              <a:buChar char="•"/>
            </a:pPr>
            <a:r>
              <a:rPr sz="1450" b="1" i="0">
                <a:solidFill>
                  <a:srgbClr val="1F2937"/>
                </a:solidFill>
                <a:latin typeface="Calibri"/>
              </a:rPr>
              <a:t>Reward head:</a:t>
            </a:r>
            <a:r>
              <a:rPr sz="1450" b="0" i="0">
                <a:solidFill>
                  <a:srgbClr val="1F2937"/>
                </a:solidFill>
                <a:latin typeface="Calibri"/>
              </a:rPr>
              <a:t> predicts task rewards derived from game events (item obtained); a task-conditioned </a:t>
            </a:r>
            <a:r>
              <a:rPr sz="1450" b="0" i="1">
                <a:solidFill>
                  <a:srgbClr val="1F2937"/>
                </a:solidFill>
                <a:latin typeface="Calibri"/>
              </a:rPr>
              <a:t>scalar</a:t>
            </a:r>
            <a:r>
              <a:rPr sz="1450" b="0" i="0">
                <a:solidFill>
                  <a:srgbClr val="1F2937"/>
                </a:solidFill>
                <a:latin typeface="Calibri"/>
              </a:rPr>
              <a:t> reward was chosen over a reward vector so that open-vocabulary tasks remain possible</a:t>
            </a:r>
          </a:p>
          <a:p>
            <a:pPr marL="256032" indent="-219456">
              <a:lnSpc>
                <a:spcPct val="105000"/>
              </a:lnSpc>
              <a:spcAft>
                <a:spcPts val="600"/>
              </a:spcAft>
              <a:buFont typeface="Arial"/>
              <a:buChar char="•"/>
            </a:pPr>
            <a:r>
              <a:rPr sz="1450" b="1" i="0">
                <a:solidFill>
                  <a:srgbClr val="1F2937"/>
                </a:solidFill>
                <a:latin typeface="Calibri"/>
              </a:rPr>
              <a:t>Value head:</a:t>
            </a:r>
            <a:r>
              <a:rPr sz="1450" b="0" i="0">
                <a:solidFill>
                  <a:srgbClr val="1F2937"/>
                </a:solidFill>
                <a:latin typeface="Calibri"/>
              </a:rPr>
              <a:t> added in Phase 3, trained by TD learning on imagined rollouts</a:t>
            </a:r>
          </a:p>
          <a:p>
            <a:pPr marL="256032" indent="-219456">
              <a:lnSpc>
                <a:spcPct val="105000"/>
              </a:lnSpc>
              <a:spcAft>
                <a:spcPts val="600"/>
              </a:spcAft>
              <a:buFont typeface="Arial"/>
              <a:buChar char="•"/>
            </a:pPr>
            <a:r>
              <a:rPr sz="1450" b="1" i="0">
                <a:solidFill>
                  <a:srgbClr val="1F2937"/>
                </a:solidFill>
                <a:latin typeface="Calibri"/>
              </a:rPr>
              <a:t>Result already at this stage:</a:t>
            </a:r>
            <a:r>
              <a:rPr sz="1450" b="0" i="0">
                <a:solidFill>
                  <a:srgbClr val="1F2937"/>
                </a:solidFill>
                <a:latin typeface="Calibri"/>
              </a:rPr>
              <a:t> 'WM + BC' beats BC on every hard milestone (iron pickaxe 16.9 % vs 0.6 %) — the video-prediction representation is a strong prior for control</a:t>
            </a:r>
          </a:p>
        </p:txBody>
      </p:sp>
      <p:pic>
        <p:nvPicPr>
          <p:cNvPr id="9" name="Picture 8" descr="fig_rl.png"/>
          <p:cNvPicPr>
            <a:picLocks noChangeAspect="1"/>
          </p:cNvPicPr>
          <p:nvPr/>
        </p:nvPicPr>
        <p:blipFill>
          <a:blip r:embed="rId2"/>
          <a:stretch>
            <a:fillRect/>
          </a:stretch>
        </p:blipFill>
        <p:spPr>
          <a:xfrm>
            <a:off x="7680960" y="1554480"/>
            <a:ext cx="4023360" cy="1352425"/>
          </a:xfrm>
          <a:prstGeom prst="rect">
            <a:avLst/>
          </a:prstGeom>
        </p:spPr>
      </p:pic>
      <p:sp>
        <p:nvSpPr>
          <p:cNvPr id="10" name="TextBox 9"/>
          <p:cNvSpPr txBox="1"/>
          <p:nvPr/>
        </p:nvSpPr>
        <p:spPr>
          <a:xfrm>
            <a:off x="7680960" y="3703320"/>
            <a:ext cx="40233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3: success rates of agents trained on the same offline data (BC, VLA, WM+BC, Dreamer 4).</a:t>
            </a:r>
          </a:p>
        </p:txBody>
      </p:sp>
      <p:sp>
        <p:nvSpPr>
          <p:cNvPr id="11" name="Rounded Rectangle 10"/>
          <p:cNvSpPr/>
          <p:nvPr/>
        </p:nvSpPr>
        <p:spPr>
          <a:xfrm>
            <a:off x="7680960" y="4297680"/>
            <a:ext cx="4023360" cy="1828800"/>
          </a:xfrm>
          <a:prstGeom prst="roundRect">
            <a:avLst>
              <a:gd name="adj" fmla="val 8000"/>
            </a:avLst>
          </a:prstGeom>
          <a:solidFill>
            <a:srgbClr val="E4E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90688" y="4370832"/>
            <a:ext cx="3803904" cy="365760"/>
          </a:xfrm>
          <a:prstGeom prst="rect">
            <a:avLst/>
          </a:prstGeom>
          <a:noFill/>
        </p:spPr>
        <p:txBody>
          <a:bodyPr wrap="square" anchor="t" lIns="45720" rIns="45720" tIns="18288" bIns="18288">
            <a:spAutoFit/>
          </a:bodyPr>
          <a:lstStyle/>
          <a:p>
            <a:pPr algn="l">
              <a:lnSpc>
                <a:spcPct val="105000"/>
              </a:lnSpc>
            </a:pPr>
            <a:r>
              <a:rPr sz="1450" b="1" i="0">
                <a:solidFill>
                  <a:srgbClr val="14213D"/>
                </a:solidFill>
                <a:latin typeface="Calibri"/>
              </a:rPr>
              <a:t>Why not a separate policy network?</a:t>
            </a:r>
          </a:p>
        </p:txBody>
      </p:sp>
      <p:sp>
        <p:nvSpPr>
          <p:cNvPr id="13" name="TextBox 12"/>
          <p:cNvSpPr txBox="1"/>
          <p:nvPr/>
        </p:nvSpPr>
        <p:spPr>
          <a:xfrm>
            <a:off x="7790688" y="4754880"/>
            <a:ext cx="3803904" cy="1325880"/>
          </a:xfrm>
          <a:prstGeom prst="rect">
            <a:avLst/>
          </a:prstGeom>
          <a:noFill/>
        </p:spPr>
        <p:txBody>
          <a:bodyPr wrap="square" anchor="t" lIns="45720" rIns="45720" tIns="18288" bIns="18288">
            <a:spAutoFit/>
          </a:bodyPr>
          <a:lstStyle/>
          <a:p>
            <a:pPr algn="l">
              <a:lnSpc>
                <a:spcPct val="105000"/>
              </a:lnSpc>
            </a:pPr>
            <a:r>
              <a:rPr sz="1250" b="0" i="0">
                <a:solidFill>
                  <a:srgbClr val="1F2937"/>
                </a:solidFill>
                <a:latin typeface="Calibri"/>
              </a:rPr>
              <a:t>Sharing the backbone gives the policy the world model's representation for free, and keeps everything one model. The one-way attention mask is what makes this safe.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Imagination training with PMPO</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Phase 3 — RL on imagined rollouts, with the transformer frozen</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18</a:t>
            </a:r>
          </a:p>
        </p:txBody>
      </p:sp>
      <p:sp>
        <p:nvSpPr>
          <p:cNvPr id="8" name="TextBox 7"/>
          <p:cNvSpPr txBox="1"/>
          <p:nvPr/>
        </p:nvSpPr>
        <p:spPr>
          <a:xfrm>
            <a:off x="548640" y="1417320"/>
            <a:ext cx="6766560" cy="484632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450" b="1" i="0">
                <a:solidFill>
                  <a:srgbClr val="1F2937"/>
                </a:solidFill>
                <a:latin typeface="Calibri"/>
              </a:rPr>
              <a:t>Rollouts:</a:t>
            </a:r>
            <a:r>
              <a:rPr sz="1450" b="0" i="0">
                <a:solidFill>
                  <a:srgbClr val="1F2937"/>
                </a:solidFill>
                <a:latin typeface="Calibri"/>
              </a:rPr>
              <a:t> start from real context frames, let the policy act, and let the world model generate what happens next; rewards come from the learned reward head; γ = 0.997</a:t>
            </a:r>
          </a:p>
          <a:p>
            <a:pPr marL="256032" indent="-219456">
              <a:lnSpc>
                <a:spcPct val="105000"/>
              </a:lnSpc>
              <a:spcAft>
                <a:spcPts val="600"/>
              </a:spcAft>
              <a:buFont typeface="Arial"/>
              <a:buChar char="•"/>
            </a:pPr>
            <a:r>
              <a:rPr sz="1450" b="1" i="0">
                <a:solidFill>
                  <a:srgbClr val="1F2937"/>
                </a:solidFill>
                <a:latin typeface="Calibri"/>
              </a:rPr>
              <a:t>Frozen transformer:</a:t>
            </a:r>
            <a:r>
              <a:rPr sz="1450" b="0" i="0">
                <a:solidFill>
                  <a:srgbClr val="1F2937"/>
                </a:solidFill>
                <a:latin typeface="Calibri"/>
              </a:rPr>
              <a:t> only policy and value heads are trained → the simulator cannot drift toward the policy</a:t>
            </a:r>
          </a:p>
          <a:p>
            <a:pPr marL="256032" indent="-219456">
              <a:lnSpc>
                <a:spcPct val="105000"/>
              </a:lnSpc>
              <a:spcAft>
                <a:spcPts val="600"/>
              </a:spcAft>
              <a:buFont typeface="Arial"/>
              <a:buChar char="•"/>
            </a:pPr>
            <a:r>
              <a:rPr sz="1450" b="1" i="0">
                <a:solidFill>
                  <a:srgbClr val="1F2937"/>
                </a:solidFill>
                <a:latin typeface="Calibri"/>
              </a:rPr>
              <a:t>PMPO (Preference-style MPO):</a:t>
            </a:r>
            <a:r>
              <a:rPr sz="1450" b="0" i="0">
                <a:solidFill>
                  <a:srgbClr val="1F2937"/>
                </a:solidFill>
                <a:latin typeface="Calibri"/>
              </a:rPr>
              <a:t> instead of scaling the policy gradient by the advantage, use only its </a:t>
            </a:r>
            <a:r>
              <a:rPr sz="1450" b="0" i="1">
                <a:solidFill>
                  <a:srgbClr val="1F2937"/>
                </a:solidFill>
                <a:latin typeface="Calibri"/>
              </a:rPr>
              <a:t>sign</a:t>
            </a:r>
            <a:r>
              <a:rPr sz="1450" b="0" i="0">
                <a:solidFill>
                  <a:srgbClr val="1F2937"/>
                </a:solidFill>
                <a:latin typeface="Calibri"/>
              </a:rPr>
              <a:t> — positive-advantage actions are pushed up, negative ones down, with balanced weight α = 0.5 on each set</a:t>
            </a:r>
          </a:p>
          <a:p>
            <a:pPr marL="256032" indent="-219456">
              <a:lnSpc>
                <a:spcPct val="105000"/>
              </a:lnSpc>
              <a:spcAft>
                <a:spcPts val="600"/>
              </a:spcAft>
              <a:buFont typeface="Arial"/>
              <a:buChar char="•"/>
            </a:pPr>
            <a:r>
              <a:rPr sz="1450" b="1" i="0">
                <a:solidFill>
                  <a:srgbClr val="1F2937"/>
                </a:solidFill>
                <a:latin typeface="Calibri"/>
              </a:rPr>
              <a:t>Reverse-KL to the frozen BC policy</a:t>
            </a:r>
            <a:r>
              <a:rPr sz="1450" b="0" i="0">
                <a:solidFill>
                  <a:srgbClr val="1F2937"/>
                </a:solidFill>
                <a:latin typeface="Calibri"/>
              </a:rPr>
              <a:t> with β = 0.3 keeps the policy on the data manifold — analogous to KL-regularised RLHF; also the main guard against exploiting world-model gaps</a:t>
            </a:r>
          </a:p>
          <a:p>
            <a:pPr marL="256032" indent="-219456">
              <a:lnSpc>
                <a:spcPct val="105000"/>
              </a:lnSpc>
              <a:spcAft>
                <a:spcPts val="600"/>
              </a:spcAft>
              <a:buFont typeface="Arial"/>
              <a:buChar char="•"/>
            </a:pPr>
            <a:r>
              <a:rPr sz="1450" b="1" i="0">
                <a:solidFill>
                  <a:srgbClr val="1F2937"/>
                </a:solidFill>
                <a:latin typeface="Calibri"/>
              </a:rPr>
              <a:t>Why not Dreamer 3's recipe?</a:t>
            </a:r>
            <a:r>
              <a:rPr sz="1450" b="0" i="0">
                <a:solidFill>
                  <a:srgbClr val="1F2937"/>
                </a:solidFill>
                <a:latin typeface="Calibri"/>
              </a:rPr>
              <a:t> Return normalisation + entropy bonus were replaced by the sign-based update: robust to reward scale and to the extremely sparse late-game rewards</a:t>
            </a:r>
          </a:p>
          <a:p>
            <a:pPr marL="256032" indent="-219456">
              <a:lnSpc>
                <a:spcPct val="105000"/>
              </a:lnSpc>
              <a:spcAft>
                <a:spcPts val="600"/>
              </a:spcAft>
              <a:buFont typeface="Arial"/>
              <a:buChar char="•"/>
            </a:pPr>
            <a:r>
              <a:rPr sz="1450" b="1" i="0">
                <a:solidFill>
                  <a:srgbClr val="1F2937"/>
                </a:solidFill>
                <a:latin typeface="Calibri"/>
              </a:rPr>
              <a:t>Effect:</a:t>
            </a:r>
            <a:r>
              <a:rPr sz="1450" b="0" i="0">
                <a:solidFill>
                  <a:srgbClr val="1F2937"/>
                </a:solidFill>
                <a:latin typeface="Calibri"/>
              </a:rPr>
              <a:t> iron pickaxe 16.9 % → 29.0 %, iron ingot 27.8 % → 39.5 %, diamond 0 → 0.7 %; agents also become faster (Table 8)</a:t>
            </a:r>
          </a:p>
        </p:txBody>
      </p:sp>
      <p:pic>
        <p:nvPicPr>
          <p:cNvPr id="9" name="Picture 8" descr="frame_imag_cobble.jpg"/>
          <p:cNvPicPr>
            <a:picLocks noChangeAspect="1"/>
          </p:cNvPicPr>
          <p:nvPr/>
        </p:nvPicPr>
        <p:blipFill>
          <a:blip r:embed="rId2"/>
          <a:stretch>
            <a:fillRect/>
          </a:stretch>
        </p:blipFill>
        <p:spPr>
          <a:xfrm>
            <a:off x="8005108" y="1554480"/>
            <a:ext cx="3283624" cy="2651760"/>
          </a:xfrm>
          <a:prstGeom prst="rect">
            <a:avLst/>
          </a:prstGeom>
        </p:spPr>
      </p:pic>
      <p:sp>
        <p:nvSpPr>
          <p:cNvPr id="10" name="TextBox 9"/>
          <p:cNvSpPr txBox="1"/>
          <p:nvPr/>
        </p:nvSpPr>
        <p:spPr>
          <a:xfrm>
            <a:off x="7589520" y="4224528"/>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Imagined 'mine stone' rollout with reward and value traces (project page).</a:t>
            </a:r>
          </a:p>
        </p:txBody>
      </p:sp>
      <p:sp>
        <p:nvSpPr>
          <p:cNvPr id="11" name="Rounded Rectangle 10"/>
          <p:cNvSpPr/>
          <p:nvPr/>
        </p:nvSpPr>
        <p:spPr>
          <a:xfrm>
            <a:off x="7589520" y="4709160"/>
            <a:ext cx="4114800" cy="1463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99248" y="4782312"/>
            <a:ext cx="3895344" cy="365760"/>
          </a:xfrm>
          <a:prstGeom prst="rect">
            <a:avLst/>
          </a:prstGeom>
          <a:noFill/>
        </p:spPr>
        <p:txBody>
          <a:bodyPr wrap="square" anchor="t" lIns="45720" rIns="45720" tIns="18288" bIns="18288">
            <a:spAutoFit/>
          </a:bodyPr>
          <a:lstStyle/>
          <a:p>
            <a:pPr algn="l">
              <a:lnSpc>
                <a:spcPct val="105000"/>
              </a:lnSpc>
            </a:pPr>
            <a:r>
              <a:rPr sz="1400" b="1" i="0">
                <a:solidFill>
                  <a:srgbClr val="14213D"/>
                </a:solidFill>
                <a:latin typeface="Calibri"/>
              </a:rPr>
              <a:t>Failure mode the KL term addresses</a:t>
            </a:r>
          </a:p>
        </p:txBody>
      </p:sp>
      <p:sp>
        <p:nvSpPr>
          <p:cNvPr id="13" name="TextBox 12"/>
          <p:cNvSpPr txBox="1"/>
          <p:nvPr/>
        </p:nvSpPr>
        <p:spPr>
          <a:xfrm>
            <a:off x="7699248" y="5166360"/>
            <a:ext cx="3895344" cy="960120"/>
          </a:xfrm>
          <a:prstGeom prst="rect">
            <a:avLst/>
          </a:prstGeom>
          <a:noFill/>
        </p:spPr>
        <p:txBody>
          <a:bodyPr wrap="square" anchor="t" lIns="45720" rIns="45720" tIns="18288" bIns="18288">
            <a:spAutoFit/>
          </a:bodyPr>
          <a:lstStyle/>
          <a:p>
            <a:pPr algn="l">
              <a:lnSpc>
                <a:spcPct val="105000"/>
              </a:lnSpc>
            </a:pPr>
            <a:r>
              <a:rPr sz="1200" b="0" i="0">
                <a:solidFill>
                  <a:srgbClr val="1F2937"/>
                </a:solidFill>
                <a:latin typeface="Calibri"/>
              </a:rPr>
              <a:t>Hafner's example: the policy discovers it can 'craft' a pickaxe from invalid materials because the model renders it anyway. The KL to the BC prior limits such exploitation.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88920"/>
            <a:ext cx="1097280" cy="73152"/>
          </a:xfrm>
          <a:prstGeom prst="rect">
            <a:avLst/>
          </a:prstGeom>
          <a:solidFill>
            <a:srgbClr val="1FB5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37360"/>
            <a:ext cx="10058400" cy="914400"/>
          </a:xfrm>
          <a:prstGeom prst="rect">
            <a:avLst/>
          </a:prstGeom>
          <a:noFill/>
        </p:spPr>
        <p:txBody>
          <a:bodyPr wrap="square" anchor="t" lIns="45720" rIns="45720" tIns="18288" bIns="18288">
            <a:spAutoFit/>
          </a:bodyPr>
          <a:lstStyle/>
          <a:p>
            <a:pPr algn="l">
              <a:lnSpc>
                <a:spcPct val="105000"/>
              </a:lnSpc>
            </a:pPr>
            <a:r>
              <a:rPr sz="2000" b="1" i="0">
                <a:solidFill>
                  <a:srgbClr val="1FB5A6"/>
                </a:solidFill>
                <a:latin typeface="Calibri"/>
              </a:rPr>
              <a:t>Part 3</a:t>
            </a:r>
          </a:p>
        </p:txBody>
      </p:sp>
      <p:sp>
        <p:nvSpPr>
          <p:cNvPr id="5" name="TextBox 4"/>
          <p:cNvSpPr txBox="1"/>
          <p:nvPr/>
        </p:nvSpPr>
        <p:spPr>
          <a:xfrm>
            <a:off x="822960" y="2971800"/>
            <a:ext cx="10515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Experiments</a:t>
            </a:r>
          </a:p>
        </p:txBody>
      </p:sp>
      <p:sp>
        <p:nvSpPr>
          <p:cNvPr id="6" name="TextBox 5"/>
          <p:cNvSpPr txBox="1"/>
          <p:nvPr/>
        </p:nvSpPr>
        <p:spPr>
          <a:xfrm>
            <a:off x="822960" y="4114800"/>
            <a:ext cx="10058400" cy="1097280"/>
          </a:xfrm>
          <a:prstGeom prst="rect">
            <a:avLst/>
          </a:prstGeom>
          <a:noFill/>
        </p:spPr>
        <p:txBody>
          <a:bodyPr wrap="square" anchor="t" lIns="45720" rIns="45720" tIns="18288" bIns="18288">
            <a:spAutoFit/>
          </a:bodyPr>
          <a:lstStyle/>
          <a:p>
            <a:pPr algn="l">
              <a:lnSpc>
                <a:spcPct val="105000"/>
              </a:lnSpc>
            </a:pPr>
            <a:r>
              <a:rPr sz="2000" b="0" i="0">
                <a:solidFill>
                  <a:srgbClr val="C9D3E6"/>
                </a:solidFill>
                <a:latin typeface="Calibri"/>
              </a:rPr>
              <a:t>Real-time play-testing, the offline diamond challenge, ablations, label efficiency, robotics</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FFFFFF"/>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Is the world model accurate? Let humans play inside it</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Table 1: real-time interaction on one H100; 16 tasks attempted by human testers from the same starting frame</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20</a:t>
            </a:r>
          </a:p>
        </p:txBody>
      </p:sp>
      <p:graphicFrame>
        <p:nvGraphicFramePr>
          <p:cNvPr id="8" name="Table 7"/>
          <p:cNvGraphicFramePr>
            <a:graphicFrameLocks noGrp="1"/>
          </p:cNvGraphicFramePr>
          <p:nvPr/>
        </p:nvGraphicFramePr>
        <p:xfrm>
          <a:off x="457200" y="1463040"/>
          <a:ext cx="7315200" cy="2304288"/>
        </p:xfrm>
        <a:graphic>
          <a:graphicData uri="http://schemas.openxmlformats.org/drawingml/2006/table">
            <a:tbl>
              <a:tblPr firstRow="1" bandRow="1">
                <a:tableStyleId>{5C22544A-7EE6-4342-B048-85BDC9FD1C3A}</a:tableStyleId>
              </a:tblPr>
              <a:tblGrid>
                <a:gridCol w="1463040"/>
                <a:gridCol w="822960"/>
                <a:gridCol w="1234440"/>
                <a:gridCol w="914400"/>
                <a:gridCol w="685800"/>
                <a:gridCol w="2194560"/>
              </a:tblGrid>
              <a:tr h="384048">
                <a:tc>
                  <a:txBody>
                    <a:bodyPr/>
                    <a:lstStyle/>
                    <a:p>
                      <a:pPr algn="l"/>
                      <a:r>
                        <a:rPr sz="1300" b="1" i="0">
                          <a:solidFill>
                            <a:srgbClr val="FFFFFF"/>
                          </a:solidFill>
                          <a:latin typeface="Calibri"/>
                        </a:rPr>
                        <a:t>Model</a:t>
                      </a:r>
                    </a:p>
                  </a:txBody>
                  <a:tcPr marL="54864" marR="54864" marT="27432" marB="27432">
                    <a:solidFill>
                      <a:srgbClr val="14213D"/>
                    </a:solidFill>
                  </a:tcPr>
                </a:tc>
                <a:tc>
                  <a:txBody>
                    <a:bodyPr/>
                    <a:lstStyle/>
                    <a:p>
                      <a:pPr algn="ctr"/>
                      <a:r>
                        <a:rPr sz="1300" b="1" i="0">
                          <a:solidFill>
                            <a:srgbClr val="FFFFFF"/>
                          </a:solidFill>
                          <a:latin typeface="Calibri"/>
                        </a:rPr>
                        <a:t>Params</a:t>
                      </a:r>
                    </a:p>
                  </a:txBody>
                  <a:tcPr marL="54864" marR="54864" marT="27432" marB="27432">
                    <a:solidFill>
                      <a:srgbClr val="14213D"/>
                    </a:solidFill>
                  </a:tcPr>
                </a:tc>
                <a:tc>
                  <a:txBody>
                    <a:bodyPr/>
                    <a:lstStyle/>
                    <a:p>
                      <a:pPr algn="ctr"/>
                      <a:r>
                        <a:rPr sz="1300" b="1" i="0">
                          <a:solidFill>
                            <a:srgbClr val="FFFFFF"/>
                          </a:solidFill>
                          <a:latin typeface="Calibri"/>
                        </a:rPr>
                        <a:t>Resolution</a:t>
                      </a:r>
                    </a:p>
                  </a:txBody>
                  <a:tcPr marL="54864" marR="54864" marT="27432" marB="27432">
                    <a:solidFill>
                      <a:srgbClr val="14213D"/>
                    </a:solidFill>
                  </a:tcPr>
                </a:tc>
                <a:tc>
                  <a:txBody>
                    <a:bodyPr/>
                    <a:lstStyle/>
                    <a:p>
                      <a:pPr algn="ctr"/>
                      <a:r>
                        <a:rPr sz="1300" b="1" i="0">
                          <a:solidFill>
                            <a:srgbClr val="FFFFFF"/>
                          </a:solidFill>
                          <a:latin typeface="Calibri"/>
                        </a:rPr>
                        <a:t>Context</a:t>
                      </a:r>
                    </a:p>
                  </a:txBody>
                  <a:tcPr marL="54864" marR="54864" marT="27432" marB="27432">
                    <a:solidFill>
                      <a:srgbClr val="14213D"/>
                    </a:solidFill>
                  </a:tcPr>
                </a:tc>
                <a:tc>
                  <a:txBody>
                    <a:bodyPr/>
                    <a:lstStyle/>
                    <a:p>
                      <a:pPr algn="ctr"/>
                      <a:r>
                        <a:rPr sz="1300" b="1" i="0">
                          <a:solidFill>
                            <a:srgbClr val="FFFFFF"/>
                          </a:solidFill>
                          <a:latin typeface="Calibri"/>
                        </a:rPr>
                        <a:t>FPS</a:t>
                      </a:r>
                    </a:p>
                  </a:txBody>
                  <a:tcPr marL="54864" marR="54864" marT="27432" marB="27432">
                    <a:solidFill>
                      <a:srgbClr val="14213D"/>
                    </a:solidFill>
                  </a:tcPr>
                </a:tc>
                <a:tc>
                  <a:txBody>
                    <a:bodyPr/>
                    <a:lstStyle/>
                    <a:p>
                      <a:pPr algn="ctr"/>
                      <a:r>
                        <a:rPr sz="1300" b="1" i="0">
                          <a:solidFill>
                            <a:srgbClr val="FFFFFF"/>
                          </a:solidFill>
                          <a:latin typeface="Calibri"/>
                        </a:rPr>
                        <a:t>Tasks solved</a:t>
                      </a:r>
                    </a:p>
                  </a:txBody>
                  <a:tcPr marL="54864" marR="54864" marT="27432" marB="27432">
                    <a:solidFill>
                      <a:srgbClr val="14213D"/>
                    </a:solidFill>
                  </a:tcPr>
                </a:tc>
              </a:tr>
              <a:tr h="384048">
                <a:tc>
                  <a:txBody>
                    <a:bodyPr/>
                    <a:lstStyle/>
                    <a:p>
                      <a:pPr algn="l"/>
                      <a:r>
                        <a:rPr sz="1300" b="0" i="0">
                          <a:solidFill>
                            <a:srgbClr val="1F2937"/>
                          </a:solidFill>
                          <a:latin typeface="Calibri"/>
                        </a:rPr>
                        <a:t>MineWorld</a:t>
                      </a:r>
                    </a:p>
                  </a:txBody>
                  <a:tcPr marL="54864" marR="54864" marT="27432" marB="27432">
                    <a:solidFill>
                      <a:srgbClr val="FFFFFF"/>
                    </a:solidFill>
                  </a:tcPr>
                </a:tc>
                <a:tc>
                  <a:txBody>
                    <a:bodyPr/>
                    <a:lstStyle/>
                    <a:p>
                      <a:pPr algn="ctr"/>
                      <a:r>
                        <a:rPr sz="1300" b="0" i="0">
                          <a:solidFill>
                            <a:srgbClr val="1F2937"/>
                          </a:solidFill>
                          <a:latin typeface="Calibri"/>
                        </a:rPr>
                        <a:t>1.2 B</a:t>
                      </a:r>
                    </a:p>
                  </a:txBody>
                  <a:tcPr marL="54864" marR="54864" marT="27432" marB="27432">
                    <a:solidFill>
                      <a:srgbClr val="FFFFFF"/>
                    </a:solidFill>
                  </a:tcPr>
                </a:tc>
                <a:tc>
                  <a:txBody>
                    <a:bodyPr/>
                    <a:lstStyle/>
                    <a:p>
                      <a:pPr algn="ctr"/>
                      <a:r>
                        <a:rPr sz="1300" b="0" i="0">
                          <a:solidFill>
                            <a:srgbClr val="1F2937"/>
                          </a:solidFill>
                          <a:latin typeface="Calibri"/>
                        </a:rPr>
                        <a:t>384×224</a:t>
                      </a:r>
                    </a:p>
                  </a:txBody>
                  <a:tcPr marL="54864" marR="54864" marT="27432" marB="27432">
                    <a:solidFill>
                      <a:srgbClr val="FFFFFF"/>
                    </a:solidFill>
                  </a:tcPr>
                </a:tc>
                <a:tc>
                  <a:txBody>
                    <a:bodyPr/>
                    <a:lstStyle/>
                    <a:p>
                      <a:pPr algn="ctr"/>
                      <a:r>
                        <a:rPr sz="1300" b="0" i="0">
                          <a:solidFill>
                            <a:srgbClr val="1F2937"/>
                          </a:solidFill>
                          <a:latin typeface="Calibri"/>
                        </a:rPr>
                        <a:t>0.8 s</a:t>
                      </a:r>
                    </a:p>
                  </a:txBody>
                  <a:tcPr marL="54864" marR="54864" marT="27432" marB="27432">
                    <a:solidFill>
                      <a:srgbClr val="FFFFFF"/>
                    </a:solidFill>
                  </a:tcPr>
                </a:tc>
                <a:tc>
                  <a:txBody>
                    <a:bodyPr/>
                    <a:lstStyle/>
                    <a:p>
                      <a:pPr algn="ctr"/>
                      <a:r>
                        <a:rPr sz="1300" b="0" i="0">
                          <a:solidFill>
                            <a:srgbClr val="1F2937"/>
                          </a:solidFill>
                          <a:latin typeface="Calibri"/>
                        </a:rPr>
                        <a:t>2</a:t>
                      </a:r>
                    </a:p>
                  </a:txBody>
                  <a:tcPr marL="54864" marR="54864" marT="27432" marB="27432">
                    <a:solidFill>
                      <a:srgbClr val="FFFFFF"/>
                    </a:solidFill>
                  </a:tcPr>
                </a:tc>
                <a:tc>
                  <a:txBody>
                    <a:bodyPr/>
                    <a:lstStyle/>
                    <a:p>
                      <a:pPr algn="l"/>
                      <a:r>
                        <a:rPr sz="1300" b="0" i="0">
                          <a:solidFill>
                            <a:srgbClr val="1F2937"/>
                          </a:solidFill>
                          <a:latin typeface="Calibri"/>
                        </a:rPr>
                        <a:t>not evaluable (needs actions in advance)</a:t>
                      </a:r>
                    </a:p>
                  </a:txBody>
                  <a:tcPr marL="54864" marR="54864" marT="27432" marB="27432">
                    <a:solidFill>
                      <a:srgbClr val="FFFFFF"/>
                    </a:solidFill>
                  </a:tcPr>
                </a:tc>
              </a:tr>
              <a:tr h="384048">
                <a:tc>
                  <a:txBody>
                    <a:bodyPr/>
                    <a:lstStyle/>
                    <a:p>
                      <a:pPr algn="l"/>
                      <a:r>
                        <a:rPr sz="1300" b="0" i="0">
                          <a:solidFill>
                            <a:srgbClr val="1F2937"/>
                          </a:solidFill>
                          <a:latin typeface="Calibri"/>
                        </a:rPr>
                        <a:t>Lucid-v1</a:t>
                      </a:r>
                    </a:p>
                  </a:txBody>
                  <a:tcPr marL="54864" marR="54864" marT="27432" marB="27432">
                    <a:solidFill>
                      <a:srgbClr val="F3F5F9"/>
                    </a:solidFill>
                  </a:tcPr>
                </a:tc>
                <a:tc>
                  <a:txBody>
                    <a:bodyPr/>
                    <a:lstStyle/>
                    <a:p>
                      <a:pPr algn="ctr"/>
                      <a:r>
                        <a:rPr sz="1300" b="0" i="0">
                          <a:solidFill>
                            <a:srgbClr val="1F2937"/>
                          </a:solidFill>
                          <a:latin typeface="Calibri"/>
                        </a:rPr>
                        <a:t>1.1 B</a:t>
                      </a:r>
                    </a:p>
                  </a:txBody>
                  <a:tcPr marL="54864" marR="54864" marT="27432" marB="27432">
                    <a:solidFill>
                      <a:srgbClr val="F3F5F9"/>
                    </a:solidFill>
                  </a:tcPr>
                </a:tc>
                <a:tc>
                  <a:txBody>
                    <a:bodyPr/>
                    <a:lstStyle/>
                    <a:p>
                      <a:pPr algn="ctr"/>
                      <a:r>
                        <a:rPr sz="1300" b="0" i="0">
                          <a:solidFill>
                            <a:srgbClr val="1F2937"/>
                          </a:solidFill>
                          <a:latin typeface="Calibri"/>
                        </a:rPr>
                        <a:t>640×360</a:t>
                      </a:r>
                    </a:p>
                  </a:txBody>
                  <a:tcPr marL="54864" marR="54864" marT="27432" marB="27432">
                    <a:solidFill>
                      <a:srgbClr val="F3F5F9"/>
                    </a:solidFill>
                  </a:tcPr>
                </a:tc>
                <a:tc>
                  <a:txBody>
                    <a:bodyPr/>
                    <a:lstStyle/>
                    <a:p>
                      <a:pPr algn="ctr"/>
                      <a:r>
                        <a:rPr sz="1300" b="0" i="0">
                          <a:solidFill>
                            <a:srgbClr val="1F2937"/>
                          </a:solidFill>
                          <a:latin typeface="Calibri"/>
                        </a:rPr>
                        <a:t>1.0 s</a:t>
                      </a:r>
                    </a:p>
                  </a:txBody>
                  <a:tcPr marL="54864" marR="54864" marT="27432" marB="27432">
                    <a:solidFill>
                      <a:srgbClr val="F3F5F9"/>
                    </a:solidFill>
                  </a:tcPr>
                </a:tc>
                <a:tc>
                  <a:txBody>
                    <a:bodyPr/>
                    <a:lstStyle/>
                    <a:p>
                      <a:pPr algn="ctr"/>
                      <a:r>
                        <a:rPr sz="1300" b="0" i="0">
                          <a:solidFill>
                            <a:srgbClr val="1F2937"/>
                          </a:solidFill>
                          <a:latin typeface="Calibri"/>
                        </a:rPr>
                        <a:t>44</a:t>
                      </a:r>
                    </a:p>
                  </a:txBody>
                  <a:tcPr marL="54864" marR="54864" marT="27432" marB="27432">
                    <a:solidFill>
                      <a:srgbClr val="F3F5F9"/>
                    </a:solidFill>
                  </a:tcPr>
                </a:tc>
                <a:tc>
                  <a:txBody>
                    <a:bodyPr/>
                    <a:lstStyle/>
                    <a:p>
                      <a:pPr algn="ctr"/>
                      <a:r>
                        <a:rPr sz="1300" b="0" i="0">
                          <a:solidFill>
                            <a:srgbClr val="1F2937"/>
                          </a:solidFill>
                          <a:latin typeface="Calibri"/>
                        </a:rPr>
                        <a:t>0 / 16</a:t>
                      </a:r>
                    </a:p>
                  </a:txBody>
                  <a:tcPr marL="54864" marR="54864" marT="27432" marB="27432">
                    <a:solidFill>
                      <a:srgbClr val="F3F5F9"/>
                    </a:solidFill>
                  </a:tcPr>
                </a:tc>
              </a:tr>
              <a:tr h="384048">
                <a:tc>
                  <a:txBody>
                    <a:bodyPr/>
                    <a:lstStyle/>
                    <a:p>
                      <a:pPr algn="l"/>
                      <a:r>
                        <a:rPr sz="1300" b="0" i="0">
                          <a:solidFill>
                            <a:srgbClr val="1F2937"/>
                          </a:solidFill>
                          <a:latin typeface="Calibri"/>
                        </a:rPr>
                        <a:t>Oasis (small)</a:t>
                      </a:r>
                    </a:p>
                  </a:txBody>
                  <a:tcPr marL="54864" marR="54864" marT="27432" marB="27432">
                    <a:solidFill>
                      <a:srgbClr val="FFFFFF"/>
                    </a:solidFill>
                  </a:tcPr>
                </a:tc>
                <a:tc>
                  <a:txBody>
                    <a:bodyPr/>
                    <a:lstStyle/>
                    <a:p>
                      <a:pPr algn="ctr"/>
                      <a:r>
                        <a:rPr sz="1300" b="0" i="0">
                          <a:solidFill>
                            <a:srgbClr val="1F2937"/>
                          </a:solidFill>
                          <a:latin typeface="Calibri"/>
                        </a:rPr>
                        <a:t>500 M</a:t>
                      </a:r>
                    </a:p>
                  </a:txBody>
                  <a:tcPr marL="54864" marR="54864" marT="27432" marB="27432">
                    <a:solidFill>
                      <a:srgbClr val="FFFFFF"/>
                    </a:solidFill>
                  </a:tcPr>
                </a:tc>
                <a:tc>
                  <a:txBody>
                    <a:bodyPr/>
                    <a:lstStyle/>
                    <a:p>
                      <a:pPr algn="ctr"/>
                      <a:r>
                        <a:rPr sz="1300" b="0" i="0">
                          <a:solidFill>
                            <a:srgbClr val="1F2937"/>
                          </a:solidFill>
                          <a:latin typeface="Calibri"/>
                        </a:rPr>
                        <a:t>640×360</a:t>
                      </a:r>
                    </a:p>
                  </a:txBody>
                  <a:tcPr marL="54864" marR="54864" marT="27432" marB="27432">
                    <a:solidFill>
                      <a:srgbClr val="FFFFFF"/>
                    </a:solidFill>
                  </a:tcPr>
                </a:tc>
                <a:tc>
                  <a:txBody>
                    <a:bodyPr/>
                    <a:lstStyle/>
                    <a:p>
                      <a:pPr algn="ctr"/>
                      <a:r>
                        <a:rPr sz="1300" b="0" i="0">
                          <a:solidFill>
                            <a:srgbClr val="1F2937"/>
                          </a:solidFill>
                          <a:latin typeface="Calibri"/>
                        </a:rPr>
                        <a:t>1.6 s</a:t>
                      </a:r>
                    </a:p>
                  </a:txBody>
                  <a:tcPr marL="54864" marR="54864" marT="27432" marB="27432">
                    <a:solidFill>
                      <a:srgbClr val="FFFFFF"/>
                    </a:solidFill>
                  </a:tcPr>
                </a:tc>
                <a:tc>
                  <a:txBody>
                    <a:bodyPr/>
                    <a:lstStyle/>
                    <a:p>
                      <a:pPr algn="ctr"/>
                      <a:r>
                        <a:rPr sz="1300" b="0" i="0">
                          <a:solidFill>
                            <a:srgbClr val="1F2937"/>
                          </a:solidFill>
                          <a:latin typeface="Calibri"/>
                        </a:rPr>
                        <a:t>20</a:t>
                      </a:r>
                    </a:p>
                  </a:txBody>
                  <a:tcPr marL="54864" marR="54864" marT="27432" marB="27432">
                    <a:solidFill>
                      <a:srgbClr val="FFFFFF"/>
                    </a:solidFill>
                  </a:tcPr>
                </a:tc>
                <a:tc>
                  <a:txBody>
                    <a:bodyPr/>
                    <a:lstStyle/>
                    <a:p>
                      <a:pPr algn="ctr"/>
                      <a:r>
                        <a:rPr sz="1300" b="0" i="0">
                          <a:solidFill>
                            <a:srgbClr val="1F2937"/>
                          </a:solidFill>
                          <a:latin typeface="Calibri"/>
                        </a:rPr>
                        <a:t>0 / 16</a:t>
                      </a:r>
                    </a:p>
                  </a:txBody>
                  <a:tcPr marL="54864" marR="54864" marT="27432" marB="27432">
                    <a:solidFill>
                      <a:srgbClr val="FFFFFF"/>
                    </a:solidFill>
                  </a:tcPr>
                </a:tc>
              </a:tr>
              <a:tr h="384048">
                <a:tc>
                  <a:txBody>
                    <a:bodyPr/>
                    <a:lstStyle/>
                    <a:p>
                      <a:pPr algn="l"/>
                      <a:r>
                        <a:rPr sz="1300" b="0" i="0">
                          <a:solidFill>
                            <a:srgbClr val="1F2937"/>
                          </a:solidFill>
                          <a:latin typeface="Calibri"/>
                        </a:rPr>
                        <a:t>Oasis (large)</a:t>
                      </a:r>
                    </a:p>
                  </a:txBody>
                  <a:tcPr marL="54864" marR="54864" marT="27432" marB="27432">
                    <a:solidFill>
                      <a:srgbClr val="F3F5F9"/>
                    </a:solidFill>
                  </a:tcPr>
                </a:tc>
                <a:tc>
                  <a:txBody>
                    <a:bodyPr/>
                    <a:lstStyle/>
                    <a:p>
                      <a:pPr algn="ctr"/>
                      <a:r>
                        <a:rPr sz="1300" b="0" i="0">
                          <a:solidFill>
                            <a:srgbClr val="1F2937"/>
                          </a:solidFill>
                          <a:latin typeface="Calibri"/>
                        </a:rPr>
                        <a:t>—</a:t>
                      </a:r>
                    </a:p>
                  </a:txBody>
                  <a:tcPr marL="54864" marR="54864" marT="27432" marB="27432">
                    <a:solidFill>
                      <a:srgbClr val="F3F5F9"/>
                    </a:solidFill>
                  </a:tcPr>
                </a:tc>
                <a:tc>
                  <a:txBody>
                    <a:bodyPr/>
                    <a:lstStyle/>
                    <a:p>
                      <a:pPr algn="ctr"/>
                      <a:r>
                        <a:rPr sz="1300" b="0" i="0">
                          <a:solidFill>
                            <a:srgbClr val="1F2937"/>
                          </a:solidFill>
                          <a:latin typeface="Calibri"/>
                        </a:rPr>
                        <a:t>360×360</a:t>
                      </a:r>
                    </a:p>
                  </a:txBody>
                  <a:tcPr marL="54864" marR="54864" marT="27432" marB="27432">
                    <a:solidFill>
                      <a:srgbClr val="F3F5F9"/>
                    </a:solidFill>
                  </a:tcPr>
                </a:tc>
                <a:tc>
                  <a:txBody>
                    <a:bodyPr/>
                    <a:lstStyle/>
                    <a:p>
                      <a:pPr algn="ctr"/>
                      <a:r>
                        <a:rPr sz="1300" b="0" i="0">
                          <a:solidFill>
                            <a:srgbClr val="1F2937"/>
                          </a:solidFill>
                          <a:latin typeface="Calibri"/>
                        </a:rPr>
                        <a:t>1.6 s</a:t>
                      </a:r>
                    </a:p>
                  </a:txBody>
                  <a:tcPr marL="54864" marR="54864" marT="27432" marB="27432">
                    <a:solidFill>
                      <a:srgbClr val="F3F5F9"/>
                    </a:solidFill>
                  </a:tcPr>
                </a:tc>
                <a:tc>
                  <a:txBody>
                    <a:bodyPr/>
                    <a:lstStyle/>
                    <a:p>
                      <a:pPr algn="ctr"/>
                      <a:r>
                        <a:rPr sz="1300" b="0" i="0">
                          <a:solidFill>
                            <a:srgbClr val="1F2937"/>
                          </a:solidFill>
                          <a:latin typeface="Calibri"/>
                        </a:rPr>
                        <a:t>~5</a:t>
                      </a:r>
                    </a:p>
                  </a:txBody>
                  <a:tcPr marL="54864" marR="54864" marT="27432" marB="27432">
                    <a:solidFill>
                      <a:srgbClr val="F3F5F9"/>
                    </a:solidFill>
                  </a:tcPr>
                </a:tc>
                <a:tc>
                  <a:txBody>
                    <a:bodyPr/>
                    <a:lstStyle/>
                    <a:p>
                      <a:pPr algn="ctr"/>
                      <a:r>
                        <a:rPr sz="1300" b="0" i="0">
                          <a:solidFill>
                            <a:srgbClr val="1F2937"/>
                          </a:solidFill>
                          <a:latin typeface="Calibri"/>
                        </a:rPr>
                        <a:t>5 / 16</a:t>
                      </a:r>
                    </a:p>
                  </a:txBody>
                  <a:tcPr marL="54864" marR="54864" marT="27432" marB="27432">
                    <a:solidFill>
                      <a:srgbClr val="F3F5F9"/>
                    </a:solidFill>
                  </a:tcPr>
                </a:tc>
              </a:tr>
              <a:tr h="384048">
                <a:tc>
                  <a:txBody>
                    <a:bodyPr/>
                    <a:lstStyle/>
                    <a:p>
                      <a:pPr algn="l"/>
                      <a:r>
                        <a:rPr sz="1300" b="1" i="0">
                          <a:solidFill>
                            <a:srgbClr val="1F2937"/>
                          </a:solidFill>
                          <a:latin typeface="Calibri"/>
                        </a:rPr>
                        <a:t>Dreamer 4</a:t>
                      </a:r>
                    </a:p>
                  </a:txBody>
                  <a:tcPr marL="54864" marR="54864" marT="27432" marB="27432">
                    <a:solidFill>
                      <a:srgbClr val="E4EBFC"/>
                    </a:solidFill>
                  </a:tcPr>
                </a:tc>
                <a:tc>
                  <a:txBody>
                    <a:bodyPr/>
                    <a:lstStyle/>
                    <a:p>
                      <a:pPr algn="ctr"/>
                      <a:r>
                        <a:rPr sz="1300" b="1" i="0">
                          <a:solidFill>
                            <a:srgbClr val="1F2937"/>
                          </a:solidFill>
                          <a:latin typeface="Calibri"/>
                        </a:rPr>
                        <a:t>2 B</a:t>
                      </a:r>
                    </a:p>
                  </a:txBody>
                  <a:tcPr marL="54864" marR="54864" marT="27432" marB="27432">
                    <a:solidFill>
                      <a:srgbClr val="E4EBFC"/>
                    </a:solidFill>
                  </a:tcPr>
                </a:tc>
                <a:tc>
                  <a:txBody>
                    <a:bodyPr/>
                    <a:lstStyle/>
                    <a:p>
                      <a:pPr algn="ctr"/>
                      <a:r>
                        <a:rPr sz="1300" b="1" i="0">
                          <a:solidFill>
                            <a:srgbClr val="1F2937"/>
                          </a:solidFill>
                          <a:latin typeface="Calibri"/>
                        </a:rPr>
                        <a:t>640×360</a:t>
                      </a:r>
                    </a:p>
                  </a:txBody>
                  <a:tcPr marL="54864" marR="54864" marT="27432" marB="27432">
                    <a:solidFill>
                      <a:srgbClr val="E4EBFC"/>
                    </a:solidFill>
                  </a:tcPr>
                </a:tc>
                <a:tc>
                  <a:txBody>
                    <a:bodyPr/>
                    <a:lstStyle/>
                    <a:p>
                      <a:pPr algn="ctr"/>
                      <a:r>
                        <a:rPr sz="1300" b="1" i="0">
                          <a:solidFill>
                            <a:srgbClr val="1F2937"/>
                          </a:solidFill>
                          <a:latin typeface="Calibri"/>
                        </a:rPr>
                        <a:t>9.6 s</a:t>
                      </a:r>
                    </a:p>
                  </a:txBody>
                  <a:tcPr marL="54864" marR="54864" marT="27432" marB="27432">
                    <a:solidFill>
                      <a:srgbClr val="E4EBFC"/>
                    </a:solidFill>
                  </a:tcPr>
                </a:tc>
                <a:tc>
                  <a:txBody>
                    <a:bodyPr/>
                    <a:lstStyle/>
                    <a:p>
                      <a:pPr algn="ctr"/>
                      <a:r>
                        <a:rPr sz="1300" b="1" i="0">
                          <a:solidFill>
                            <a:srgbClr val="1F2937"/>
                          </a:solidFill>
                          <a:latin typeface="Calibri"/>
                        </a:rPr>
                        <a:t>21</a:t>
                      </a:r>
                    </a:p>
                  </a:txBody>
                  <a:tcPr marL="54864" marR="54864" marT="27432" marB="27432">
                    <a:solidFill>
                      <a:srgbClr val="E4EBFC"/>
                    </a:solidFill>
                  </a:tcPr>
                </a:tc>
                <a:tc>
                  <a:txBody>
                    <a:bodyPr/>
                    <a:lstStyle/>
                    <a:p>
                      <a:pPr algn="ctr"/>
                      <a:r>
                        <a:rPr sz="1300" b="1" i="0">
                          <a:solidFill>
                            <a:srgbClr val="1F2937"/>
                          </a:solidFill>
                          <a:latin typeface="Calibri"/>
                        </a:rPr>
                        <a:t>14 / 16</a:t>
                      </a:r>
                    </a:p>
                  </a:txBody>
                  <a:tcPr marL="54864" marR="54864" marT="27432" marB="27432">
                    <a:solidFill>
                      <a:srgbClr val="E4EBFC"/>
                    </a:solidFill>
                  </a:tcPr>
                </a:tc>
              </a:tr>
            </a:tbl>
          </a:graphicData>
        </a:graphic>
      </p:graphicFrame>
      <p:sp>
        <p:nvSpPr>
          <p:cNvPr id="9" name="TextBox 8"/>
          <p:cNvSpPr txBox="1"/>
          <p:nvPr/>
        </p:nvSpPr>
        <p:spPr>
          <a:xfrm>
            <a:off x="548640" y="4023360"/>
            <a:ext cx="7223760" cy="228600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350" b="1" i="0">
                <a:solidFill>
                  <a:srgbClr val="1F2937"/>
                </a:solidFill>
                <a:latin typeface="Calibri"/>
              </a:rPr>
              <a:t>The 16 tasks:</a:t>
            </a:r>
            <a:r>
              <a:rPr sz="1350" b="0" i="0">
                <a:solidFill>
                  <a:srgbClr val="1F2937"/>
                </a:solidFill>
                <a:latin typeface="Calibri"/>
              </a:rPr>
              <a:t> eat apple · place 3 torches · chop tree · dig 3×3 pit · craft wooden pickaxe · use furnace · place &amp; open workbench · kill zombies · mine diamonds · complete window · place &amp; ride boat · enter portal · place door · bed &amp; sleep · plant reed &amp; pour water · turn 360° &amp; enter house</a:t>
            </a:r>
          </a:p>
          <a:p>
            <a:pPr marL="256032" indent="-219456">
              <a:lnSpc>
                <a:spcPct val="105000"/>
              </a:lnSpc>
              <a:spcAft>
                <a:spcPts val="600"/>
              </a:spcAft>
              <a:buFont typeface="Arial"/>
              <a:buChar char="•"/>
            </a:pPr>
            <a:r>
              <a:rPr sz="1350" b="1" i="0">
                <a:solidFill>
                  <a:srgbClr val="1F2937"/>
                </a:solidFill>
                <a:latin typeface="Calibri"/>
              </a:rPr>
              <a:t>The two failures</a:t>
            </a:r>
            <a:r>
              <a:rPr sz="1350" b="0" i="0">
                <a:solidFill>
                  <a:srgbClr val="1F2937"/>
                </a:solidFill>
                <a:latin typeface="Calibri"/>
              </a:rPr>
              <a:t> were memory-related: the world changes when you look away for longer than the 9.6 s context, and inventory contents become unclear over time</a:t>
            </a:r>
          </a:p>
          <a:p>
            <a:pPr marL="256032" indent="-219456">
              <a:lnSpc>
                <a:spcPct val="105000"/>
              </a:lnSpc>
              <a:spcAft>
                <a:spcPts val="600"/>
              </a:spcAft>
              <a:buFont typeface="Arial"/>
              <a:buChar char="•"/>
            </a:pPr>
            <a:r>
              <a:rPr sz="1350" b="0" i="0">
                <a:solidFill>
                  <a:srgbClr val="1F2937"/>
                </a:solidFill>
                <a:latin typeface="Calibri"/>
              </a:rPr>
              <a:t>Genie 3 is not compared: it has no fine-grained mouse/keyboard control</a:t>
            </a:r>
          </a:p>
        </p:txBody>
      </p:sp>
      <p:pic>
        <p:nvPicPr>
          <p:cNvPr id="10" name="Picture 9" descr="fig5_human_interaction_pdf.png"/>
          <p:cNvPicPr>
            <a:picLocks noChangeAspect="1"/>
          </p:cNvPicPr>
          <p:nvPr/>
        </p:nvPicPr>
        <p:blipFill>
          <a:blip r:embed="rId2"/>
          <a:stretch>
            <a:fillRect/>
          </a:stretch>
        </p:blipFill>
        <p:spPr>
          <a:xfrm>
            <a:off x="7955279" y="1463040"/>
            <a:ext cx="3840480" cy="1261963"/>
          </a:xfrm>
          <a:prstGeom prst="rect">
            <a:avLst/>
          </a:prstGeom>
        </p:spPr>
      </p:pic>
      <p:sp>
        <p:nvSpPr>
          <p:cNvPr id="11" name="TextBox 10"/>
          <p:cNvSpPr txBox="1"/>
          <p:nvPr/>
        </p:nvSpPr>
        <p:spPr>
          <a:xfrm>
            <a:off x="7955279" y="3566160"/>
            <a:ext cx="384048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5: same task, same start frame — Dreamer 4 (top) builds the wall; Lucid-v1 and Oasis do not.</a:t>
            </a:r>
          </a:p>
        </p:txBody>
      </p:sp>
      <p:sp>
        <p:nvSpPr>
          <p:cNvPr id="12" name="Rounded Rectangle 11"/>
          <p:cNvSpPr/>
          <p:nvPr/>
        </p:nvSpPr>
        <p:spPr>
          <a:xfrm>
            <a:off x="7955279" y="4206240"/>
            <a:ext cx="3840480" cy="1920240"/>
          </a:xfrm>
          <a:prstGeom prst="roundRect">
            <a:avLst>
              <a:gd name="adj" fmla="val 8000"/>
            </a:avLst>
          </a:prstGeom>
          <a:solidFill>
            <a:srgbClr val="E4E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65007" y="4279392"/>
            <a:ext cx="3621024" cy="365760"/>
          </a:xfrm>
          <a:prstGeom prst="rect">
            <a:avLst/>
          </a:prstGeom>
          <a:noFill/>
        </p:spPr>
        <p:txBody>
          <a:bodyPr wrap="square" anchor="t" lIns="45720" rIns="45720" tIns="18288" bIns="18288">
            <a:spAutoFit/>
          </a:bodyPr>
          <a:lstStyle/>
          <a:p>
            <a:pPr algn="l">
              <a:lnSpc>
                <a:spcPct val="105000"/>
              </a:lnSpc>
            </a:pPr>
            <a:r>
              <a:rPr sz="1400" b="1" i="0">
                <a:solidFill>
                  <a:srgbClr val="14213D"/>
                </a:solidFill>
                <a:latin typeface="Calibri"/>
              </a:rPr>
              <a:t>Why this evaluation</a:t>
            </a:r>
          </a:p>
        </p:txBody>
      </p:sp>
      <p:sp>
        <p:nvSpPr>
          <p:cNvPr id="14" name="TextBox 13"/>
          <p:cNvSpPr txBox="1"/>
          <p:nvPr/>
        </p:nvSpPr>
        <p:spPr>
          <a:xfrm>
            <a:off x="8065007" y="4663440"/>
            <a:ext cx="3621024" cy="1417320"/>
          </a:xfrm>
          <a:prstGeom prst="rect">
            <a:avLst/>
          </a:prstGeom>
          <a:noFill/>
        </p:spPr>
        <p:txBody>
          <a:bodyPr wrap="square" anchor="t" lIns="45720" rIns="45720" tIns="18288" bIns="18288">
            <a:spAutoFit/>
          </a:bodyPr>
          <a:lstStyle/>
          <a:p>
            <a:pPr algn="l">
              <a:lnSpc>
                <a:spcPct val="105000"/>
              </a:lnSpc>
            </a:pPr>
            <a:r>
              <a:rPr sz="1200" b="0" i="0">
                <a:solidFill>
                  <a:srgbClr val="1F2937"/>
                </a:solidFill>
                <a:latin typeface="Calibri"/>
              </a:rPr>
              <a:t>FVD and PSNR measure how video </a:t>
            </a:r>
            <a:r>
              <a:rPr sz="1200" b="0" i="1">
                <a:solidFill>
                  <a:srgbClr val="1F2937"/>
                </a:solidFill>
                <a:latin typeface="Calibri"/>
              </a:rPr>
              <a:t>looks</a:t>
            </a:r>
            <a:r>
              <a:rPr sz="1200" b="0" i="0">
                <a:solidFill>
                  <a:srgbClr val="1F2937"/>
                </a:solidFill>
                <a:latin typeface="Calibri"/>
              </a:rPr>
              <a:t>; only interaction tests whether the model got the </a:t>
            </a:r>
            <a:r>
              <a:rPr sz="1200" b="0" i="1">
                <a:solidFill>
                  <a:srgbClr val="1F2937"/>
                </a:solidFill>
                <a:latin typeface="Calibri"/>
              </a:rPr>
              <a:t>mechanics</a:t>
            </a:r>
            <a:r>
              <a:rPr sz="1200" b="0" i="0">
                <a:solidFill>
                  <a:srgbClr val="1F2937"/>
                </a:solidFill>
                <a:latin typeface="Calibri"/>
              </a:rPr>
              <a:t> right. The paper complements it with FVD on 384-frame rollouts, but no long-horizon </a:t>
            </a:r>
            <a:r>
              <a:rPr sz="1200" b="0" i="1">
                <a:solidFill>
                  <a:srgbClr val="1F2937"/>
                </a:solidFill>
                <a:latin typeface="Calibri"/>
              </a:rPr>
              <a:t>quantitative</a:t>
            </a:r>
            <a:r>
              <a:rPr sz="1200" b="0" i="0">
                <a:solidFill>
                  <a:srgbClr val="1F2937"/>
                </a:solidFill>
                <a:latin typeface="Calibri"/>
              </a:rPr>
              <a:t> interaction metric exists yet — a fair critique.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'accurate object interactions' looks like</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Frames from the project page's side-by-side human sessions (same start frame, same human inputs)</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21</a:t>
            </a:r>
          </a:p>
        </p:txBody>
      </p:sp>
      <p:sp>
        <p:nvSpPr>
          <p:cNvPr id="8" name="TextBox 7"/>
          <p:cNvSpPr txBox="1"/>
          <p:nvPr/>
        </p:nvSpPr>
        <p:spPr>
          <a:xfrm>
            <a:off x="155448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2F5BEA"/>
                </a:solidFill>
                <a:latin typeface="Calibri"/>
              </a:rPr>
              <a:t>Dreamer 4</a:t>
            </a:r>
          </a:p>
        </p:txBody>
      </p:sp>
      <p:sp>
        <p:nvSpPr>
          <p:cNvPr id="9" name="TextBox 8"/>
          <p:cNvSpPr txBox="1"/>
          <p:nvPr/>
        </p:nvSpPr>
        <p:spPr>
          <a:xfrm>
            <a:off x="502920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6B7280"/>
                </a:solidFill>
                <a:latin typeface="Calibri"/>
              </a:rPr>
              <a:t>Lucid-v1</a:t>
            </a:r>
          </a:p>
        </p:txBody>
      </p:sp>
      <p:sp>
        <p:nvSpPr>
          <p:cNvPr id="10" name="TextBox 9"/>
          <p:cNvSpPr txBox="1"/>
          <p:nvPr/>
        </p:nvSpPr>
        <p:spPr>
          <a:xfrm>
            <a:off x="850392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6B7280"/>
                </a:solidFill>
                <a:latin typeface="Calibri"/>
              </a:rPr>
              <a:t>Oasis</a:t>
            </a:r>
          </a:p>
        </p:txBody>
      </p:sp>
      <p:sp>
        <p:nvSpPr>
          <p:cNvPr id="11" name="TextBox 10"/>
          <p:cNvSpPr txBox="1"/>
          <p:nvPr/>
        </p:nvSpPr>
        <p:spPr>
          <a:xfrm>
            <a:off x="274320" y="205740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Place and ride boat</a:t>
            </a:r>
          </a:p>
        </p:txBody>
      </p:sp>
      <p:pic>
        <p:nvPicPr>
          <p:cNvPr id="12" name="Picture 11" descr="frame_boat_dreamer.jpg"/>
          <p:cNvPicPr>
            <a:picLocks noChangeAspect="1"/>
          </p:cNvPicPr>
          <p:nvPr/>
        </p:nvPicPr>
        <p:blipFill>
          <a:blip r:embed="rId2"/>
          <a:stretch>
            <a:fillRect/>
          </a:stretch>
        </p:blipFill>
        <p:spPr>
          <a:xfrm>
            <a:off x="2067560" y="1600200"/>
            <a:ext cx="2357120" cy="1325880"/>
          </a:xfrm>
          <a:prstGeom prst="rect">
            <a:avLst/>
          </a:prstGeom>
        </p:spPr>
      </p:pic>
      <p:pic>
        <p:nvPicPr>
          <p:cNvPr id="13" name="Picture 12" descr="frame_boat_lucid.jpg"/>
          <p:cNvPicPr>
            <a:picLocks noChangeAspect="1"/>
          </p:cNvPicPr>
          <p:nvPr/>
        </p:nvPicPr>
        <p:blipFill>
          <a:blip r:embed="rId3"/>
          <a:stretch>
            <a:fillRect/>
          </a:stretch>
        </p:blipFill>
        <p:spPr>
          <a:xfrm>
            <a:off x="5542280" y="1600200"/>
            <a:ext cx="2357120" cy="1325880"/>
          </a:xfrm>
          <a:prstGeom prst="rect">
            <a:avLst/>
          </a:prstGeom>
        </p:spPr>
      </p:pic>
      <p:pic>
        <p:nvPicPr>
          <p:cNvPr id="14" name="Picture 13" descr="frame_boat_oasis.jpg"/>
          <p:cNvPicPr>
            <a:picLocks noChangeAspect="1"/>
          </p:cNvPicPr>
          <p:nvPr/>
        </p:nvPicPr>
        <p:blipFill>
          <a:blip r:embed="rId4"/>
          <a:stretch>
            <a:fillRect/>
          </a:stretch>
        </p:blipFill>
        <p:spPr>
          <a:xfrm>
            <a:off x="9532620" y="1600200"/>
            <a:ext cx="1325880" cy="1325880"/>
          </a:xfrm>
          <a:prstGeom prst="rect">
            <a:avLst/>
          </a:prstGeom>
        </p:spPr>
      </p:pic>
      <p:sp>
        <p:nvSpPr>
          <p:cNvPr id="15" name="TextBox 14"/>
          <p:cNvSpPr txBox="1"/>
          <p:nvPr/>
        </p:nvSpPr>
        <p:spPr>
          <a:xfrm>
            <a:off x="274320" y="347472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Enter portal</a:t>
            </a:r>
          </a:p>
        </p:txBody>
      </p:sp>
      <p:pic>
        <p:nvPicPr>
          <p:cNvPr id="16" name="Picture 15" descr="frame_portal_dreamer.jpg"/>
          <p:cNvPicPr>
            <a:picLocks noChangeAspect="1"/>
          </p:cNvPicPr>
          <p:nvPr/>
        </p:nvPicPr>
        <p:blipFill>
          <a:blip r:embed="rId5"/>
          <a:stretch>
            <a:fillRect/>
          </a:stretch>
        </p:blipFill>
        <p:spPr>
          <a:xfrm>
            <a:off x="2067560" y="3017520"/>
            <a:ext cx="2357120" cy="1325880"/>
          </a:xfrm>
          <a:prstGeom prst="rect">
            <a:avLst/>
          </a:prstGeom>
        </p:spPr>
      </p:pic>
      <p:pic>
        <p:nvPicPr>
          <p:cNvPr id="17" name="Picture 16" descr="frame_portal_lucid.jpg"/>
          <p:cNvPicPr>
            <a:picLocks noChangeAspect="1"/>
          </p:cNvPicPr>
          <p:nvPr/>
        </p:nvPicPr>
        <p:blipFill>
          <a:blip r:embed="rId6"/>
          <a:stretch>
            <a:fillRect/>
          </a:stretch>
        </p:blipFill>
        <p:spPr>
          <a:xfrm>
            <a:off x="5542280" y="3017520"/>
            <a:ext cx="2357120" cy="1325880"/>
          </a:xfrm>
          <a:prstGeom prst="rect">
            <a:avLst/>
          </a:prstGeom>
        </p:spPr>
      </p:pic>
      <p:pic>
        <p:nvPicPr>
          <p:cNvPr id="18" name="Picture 17" descr="frame_portal_oasis.jpg"/>
          <p:cNvPicPr>
            <a:picLocks noChangeAspect="1"/>
          </p:cNvPicPr>
          <p:nvPr/>
        </p:nvPicPr>
        <p:blipFill>
          <a:blip r:embed="rId7"/>
          <a:stretch>
            <a:fillRect/>
          </a:stretch>
        </p:blipFill>
        <p:spPr>
          <a:xfrm>
            <a:off x="9532620" y="3017520"/>
            <a:ext cx="1325880" cy="1325880"/>
          </a:xfrm>
          <a:prstGeom prst="rect">
            <a:avLst/>
          </a:prstGeom>
        </p:spPr>
      </p:pic>
      <p:sp>
        <p:nvSpPr>
          <p:cNvPr id="19" name="TextBox 18"/>
          <p:cNvSpPr txBox="1"/>
          <p:nvPr/>
        </p:nvSpPr>
        <p:spPr>
          <a:xfrm>
            <a:off x="274320" y="489204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Craft wooden pickaxe</a:t>
            </a:r>
          </a:p>
        </p:txBody>
      </p:sp>
      <p:pic>
        <p:nvPicPr>
          <p:cNvPr id="20" name="Picture 19" descr="frame_pickaxe_dreamer.jpg"/>
          <p:cNvPicPr>
            <a:picLocks noChangeAspect="1"/>
          </p:cNvPicPr>
          <p:nvPr/>
        </p:nvPicPr>
        <p:blipFill>
          <a:blip r:embed="rId8"/>
          <a:stretch>
            <a:fillRect/>
          </a:stretch>
        </p:blipFill>
        <p:spPr>
          <a:xfrm>
            <a:off x="2067560" y="4434840"/>
            <a:ext cx="2357120" cy="1325880"/>
          </a:xfrm>
          <a:prstGeom prst="rect">
            <a:avLst/>
          </a:prstGeom>
        </p:spPr>
      </p:pic>
      <p:pic>
        <p:nvPicPr>
          <p:cNvPr id="21" name="Picture 20" descr="frame_pickaxe_lucid.jpg"/>
          <p:cNvPicPr>
            <a:picLocks noChangeAspect="1"/>
          </p:cNvPicPr>
          <p:nvPr/>
        </p:nvPicPr>
        <p:blipFill>
          <a:blip r:embed="rId9"/>
          <a:stretch>
            <a:fillRect/>
          </a:stretch>
        </p:blipFill>
        <p:spPr>
          <a:xfrm>
            <a:off x="5542280" y="4434840"/>
            <a:ext cx="2357120" cy="1325880"/>
          </a:xfrm>
          <a:prstGeom prst="rect">
            <a:avLst/>
          </a:prstGeom>
        </p:spPr>
      </p:pic>
      <p:pic>
        <p:nvPicPr>
          <p:cNvPr id="22" name="Picture 21" descr="frame_pickaxe_oasis.jpg"/>
          <p:cNvPicPr>
            <a:picLocks noChangeAspect="1"/>
          </p:cNvPicPr>
          <p:nvPr/>
        </p:nvPicPr>
        <p:blipFill>
          <a:blip r:embed="rId10"/>
          <a:stretch>
            <a:fillRect/>
          </a:stretch>
        </p:blipFill>
        <p:spPr>
          <a:xfrm>
            <a:off x="9532620" y="4434840"/>
            <a:ext cx="1325880" cy="1325880"/>
          </a:xfrm>
          <a:prstGeom prst="rect">
            <a:avLst/>
          </a:prstGeom>
        </p:spPr>
      </p:pic>
      <p:sp>
        <p:nvSpPr>
          <p:cNvPr id="23" name="TextBox 22"/>
          <p:cNvSpPr txBox="1"/>
          <p:nvPr/>
        </p:nvSpPr>
        <p:spPr>
          <a:xfrm>
            <a:off x="457200" y="5989320"/>
            <a:ext cx="1124712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Single frames sampled from the project-page clips (danijar.com/asset/dreamer4/human/…). Dreamer 4 renders the boat ride, the Nether-portal swirl and a working crafting-table menu; the baselines lose the scene or the 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Offline diamond challenge: results</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Success rate per milestone; 1,000 episodes × 60 min; same 2,541 h of data for all methods (Table 7 / Fig. 3)</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22</a:t>
            </a:r>
          </a:p>
        </p:txBody>
      </p:sp>
      <p:pic>
        <p:nvPicPr>
          <p:cNvPr id="8" name="Picture 7" descr="benchmark.png"/>
          <p:cNvPicPr>
            <a:picLocks noChangeAspect="1"/>
          </p:cNvPicPr>
          <p:nvPr/>
        </p:nvPicPr>
        <p:blipFill>
          <a:blip r:embed="rId2"/>
          <a:stretch>
            <a:fillRect/>
          </a:stretch>
        </p:blipFill>
        <p:spPr>
          <a:xfrm>
            <a:off x="716117" y="1371600"/>
            <a:ext cx="10729285" cy="3291840"/>
          </a:xfrm>
          <a:prstGeom prst="rect">
            <a:avLst/>
          </a:prstGeom>
        </p:spPr>
      </p:pic>
      <p:sp>
        <p:nvSpPr>
          <p:cNvPr id="9" name="TextBox 8"/>
          <p:cNvSpPr txBox="1"/>
          <p:nvPr/>
        </p:nvSpPr>
        <p:spPr>
          <a:xfrm>
            <a:off x="548640" y="4754880"/>
            <a:ext cx="11155680" cy="173736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400" b="1" i="0">
                <a:solidFill>
                  <a:srgbClr val="1F2937"/>
                </a:solidFill>
                <a:latin typeface="Calibri"/>
              </a:rPr>
              <a:t>Dreamer 4:</a:t>
            </a:r>
            <a:r>
              <a:rPr sz="1400" b="0" i="0">
                <a:solidFill>
                  <a:srgbClr val="1F2937"/>
                </a:solidFill>
                <a:latin typeface="Calibri"/>
              </a:rPr>
              <a:t> stone pickaxe 90.1 % · iron ore 66.7 % · furnace 58.1 % · iron ingot 39.5 % · iron pickaxe 29.0 % · </a:t>
            </a:r>
            <a:r>
              <a:rPr sz="1400" b="1" i="0">
                <a:solidFill>
                  <a:srgbClr val="1F2937"/>
                </a:solidFill>
                <a:latin typeface="Calibri"/>
              </a:rPr>
              <a:t>diamond 0.7 %</a:t>
            </a:r>
            <a:r>
              <a:rPr sz="1400" b="0" i="0">
                <a:solidFill>
                  <a:srgbClr val="1F2937"/>
                </a:solidFill>
                <a:latin typeface="Calibri"/>
              </a:rPr>
              <a:t> (≈ 7 of 1,000 episodes)</a:t>
            </a:r>
          </a:p>
          <a:p>
            <a:pPr marL="256032" indent="-219456">
              <a:lnSpc>
                <a:spcPct val="105000"/>
              </a:lnSpc>
              <a:spcAft>
                <a:spcPts val="600"/>
              </a:spcAft>
              <a:buFont typeface="Arial"/>
              <a:buChar char="•"/>
            </a:pPr>
            <a:r>
              <a:rPr sz="1400" b="1" i="0">
                <a:solidFill>
                  <a:srgbClr val="1F2937"/>
                </a:solidFill>
                <a:latin typeface="Calibri"/>
              </a:rPr>
              <a:t>VLA on Gemma 3 (same data):</a:t>
            </a:r>
            <a:r>
              <a:rPr sz="1400" b="0" i="0">
                <a:solidFill>
                  <a:srgbClr val="1F2937"/>
                </a:solidFill>
                <a:latin typeface="Calibri"/>
              </a:rPr>
              <a:t> iron pickaxe 11.2 %, no diamonds · </a:t>
            </a:r>
            <a:r>
              <a:rPr sz="1400" b="1" i="0">
                <a:solidFill>
                  <a:srgbClr val="1F2937"/>
                </a:solidFill>
                <a:latin typeface="Calibri"/>
              </a:rPr>
              <a:t>BC:</a:t>
            </a:r>
            <a:r>
              <a:rPr sz="1400" b="0" i="0">
                <a:solidFill>
                  <a:srgbClr val="1F2937"/>
                </a:solidFill>
                <a:latin typeface="Calibri"/>
              </a:rPr>
              <a:t> 0.6 % · </a:t>
            </a:r>
            <a:r>
              <a:rPr sz="1400" b="1" i="0">
                <a:solidFill>
                  <a:srgbClr val="1F2937"/>
                </a:solidFill>
                <a:latin typeface="Calibri"/>
              </a:rPr>
              <a:t>VPT fine-tuned</a:t>
            </a:r>
            <a:r>
              <a:rPr sz="1400" b="0" i="0">
                <a:solidFill>
                  <a:srgbClr val="1F2937"/>
                </a:solidFill>
                <a:latin typeface="Calibri"/>
              </a:rPr>
              <a:t> (pretrained on 270 K h of web video): only reliably reaches sticks</a:t>
            </a:r>
          </a:p>
          <a:p>
            <a:pPr marL="256032" indent="-219456">
              <a:lnSpc>
                <a:spcPct val="105000"/>
              </a:lnSpc>
              <a:spcAft>
                <a:spcPts val="600"/>
              </a:spcAft>
              <a:buFont typeface="Arial"/>
              <a:buChar char="•"/>
            </a:pPr>
            <a:r>
              <a:rPr sz="1400" b="0" i="0">
                <a:solidFill>
                  <a:srgbClr val="1F2937"/>
                </a:solidFill>
                <a:latin typeface="Calibri"/>
              </a:rPr>
              <a:t>Gap widens along the tech tree: imitation is enough for early items, imagination RL matters where data is thin and horizons are long</a:t>
            </a:r>
          </a:p>
        </p:txBody>
      </p:sp>
      <p:sp>
        <p:nvSpPr>
          <p:cNvPr id="10" name="TextBox 9"/>
          <p:cNvSpPr txBox="1"/>
          <p:nvPr/>
        </p:nvSpPr>
        <p:spPr>
          <a:xfrm>
            <a:off x="457200" y="4526280"/>
            <a:ext cx="10972800" cy="457200"/>
          </a:xfrm>
          <a:prstGeom prst="rect">
            <a:avLst/>
          </a:prstGeom>
          <a:noFill/>
        </p:spPr>
        <p:txBody>
          <a:bodyPr wrap="square" anchor="t" lIns="45720" rIns="45720" tIns="18288" bIns="18288">
            <a:spAutoFit/>
          </a:bodyPr>
          <a:lstStyle/>
          <a:p>
            <a:pPr algn="l">
              <a:lnSpc>
                <a:spcPct val="105000"/>
              </a:lnSpc>
            </a:pPr>
            <a:r>
              <a:rPr sz="950" b="0" i="1">
                <a:solidFill>
                  <a:srgbClr val="6B7280"/>
                </a:solidFill>
                <a:latin typeface="Calibri"/>
              </a:rPr>
              <a:t>Official figure from danijar.com/project/dreamer4 (benchmark.png).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Where do the gains come from? Agent ablations and speed</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Figure 4 / Table 8: representation (WM+BC vs BC) and imagination RL (Dreamer 4 vs WM+BC) both contribute</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23</a:t>
            </a:r>
          </a:p>
        </p:txBody>
      </p:sp>
      <p:pic>
        <p:nvPicPr>
          <p:cNvPr id="8" name="Picture 7" descr="chart_table7_hard.png"/>
          <p:cNvPicPr>
            <a:picLocks noChangeAspect="1"/>
          </p:cNvPicPr>
          <p:nvPr/>
        </p:nvPicPr>
        <p:blipFill>
          <a:blip r:embed="rId2"/>
          <a:stretch>
            <a:fillRect/>
          </a:stretch>
        </p:blipFill>
        <p:spPr>
          <a:xfrm>
            <a:off x="366058" y="1371600"/>
            <a:ext cx="6765963" cy="3108960"/>
          </a:xfrm>
          <a:prstGeom prst="rect">
            <a:avLst/>
          </a:prstGeom>
        </p:spPr>
      </p:pic>
      <p:pic>
        <p:nvPicPr>
          <p:cNvPr id="9" name="Picture 8" descr="chart_time_to_milestone.png"/>
          <p:cNvPicPr>
            <a:picLocks noChangeAspect="1"/>
          </p:cNvPicPr>
          <p:nvPr/>
        </p:nvPicPr>
        <p:blipFill>
          <a:blip r:embed="rId3"/>
          <a:stretch>
            <a:fillRect/>
          </a:stretch>
        </p:blipFill>
        <p:spPr>
          <a:xfrm>
            <a:off x="7315200" y="1371600"/>
            <a:ext cx="4480560" cy="2940367"/>
          </a:xfrm>
          <a:prstGeom prst="rect">
            <a:avLst/>
          </a:prstGeom>
        </p:spPr>
      </p:pic>
      <p:sp>
        <p:nvSpPr>
          <p:cNvPr id="10" name="TextBox 9"/>
          <p:cNvSpPr txBox="1"/>
          <p:nvPr/>
        </p:nvSpPr>
        <p:spPr>
          <a:xfrm>
            <a:off x="548640" y="4617720"/>
            <a:ext cx="11155680" cy="182880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350" b="1" i="0">
                <a:solidFill>
                  <a:srgbClr val="1F2937"/>
                </a:solidFill>
                <a:latin typeface="Calibri"/>
              </a:rPr>
              <a:t>Representation:</a:t>
            </a:r>
            <a:r>
              <a:rPr sz="1350" b="0" i="0">
                <a:solidFill>
                  <a:srgbClr val="1F2937"/>
                </a:solidFill>
                <a:latin typeface="Calibri"/>
              </a:rPr>
              <a:t> BC on the world model's features (WM+BC) vs plain BC — iron pickaxe 16.9 % vs 0.6 %; authors: 'video prediction implicitly learns an understanding of the world that is useful for decision making'</a:t>
            </a:r>
          </a:p>
          <a:p>
            <a:pPr marL="256032" indent="-219456">
              <a:lnSpc>
                <a:spcPct val="105000"/>
              </a:lnSpc>
              <a:spcAft>
                <a:spcPts val="600"/>
              </a:spcAft>
              <a:buFont typeface="Arial"/>
              <a:buChar char="•"/>
            </a:pPr>
            <a:r>
              <a:rPr sz="1350" b="1" i="0">
                <a:solidFill>
                  <a:srgbClr val="1F2937"/>
                </a:solidFill>
                <a:latin typeface="Calibri"/>
              </a:rPr>
              <a:t>Imagination RL:</a:t>
            </a:r>
            <a:r>
              <a:rPr sz="1350" b="0" i="0">
                <a:solidFill>
                  <a:srgbClr val="1F2937"/>
                </a:solidFill>
                <a:latin typeface="Calibri"/>
              </a:rPr>
              <a:t> adds +12 pts on iron pickaxe and +12 pts on iron ingot over WM+BC, and unlocks diamonds</a:t>
            </a:r>
          </a:p>
          <a:p>
            <a:pPr marL="256032" indent="-219456">
              <a:lnSpc>
                <a:spcPct val="105000"/>
              </a:lnSpc>
              <a:spcAft>
                <a:spcPts val="600"/>
              </a:spcAft>
              <a:buFont typeface="Arial"/>
              <a:buChar char="•"/>
            </a:pPr>
            <a:r>
              <a:rPr sz="1350" b="1" i="0">
                <a:solidFill>
                  <a:srgbClr val="1F2937"/>
                </a:solidFill>
                <a:latin typeface="Calibri"/>
              </a:rPr>
              <a:t>Speed:</a:t>
            </a:r>
            <a:r>
              <a:rPr sz="1350" b="0" i="0">
                <a:solidFill>
                  <a:srgbClr val="1F2937"/>
                </a:solidFill>
                <a:latin typeface="Calibri"/>
              </a:rPr>
              <a:t> Dreamer 4 is fastest at every milestone — iron pickaxe in 13.3 min vs 31.1 min for the VLA; diamonds in 20.7 min on average when achieved (human average ≈ 20 min)</a:t>
            </a:r>
          </a:p>
          <a:p>
            <a:pPr marL="256032" indent="-219456">
              <a:lnSpc>
                <a:spcPct val="105000"/>
              </a:lnSpc>
              <a:spcAft>
                <a:spcPts val="600"/>
              </a:spcAft>
              <a:buFont typeface="Arial"/>
              <a:buChar char="•"/>
            </a:pPr>
            <a:r>
              <a:rPr sz="1350" b="1" i="0">
                <a:solidFill>
                  <a:srgbClr val="1F2937"/>
                </a:solidFill>
                <a:latin typeface="Calibri"/>
              </a:rPr>
              <a:t>Task input matters:</a:t>
            </a:r>
            <a:r>
              <a:rPr sz="1350" b="0" i="0">
                <a:solidFill>
                  <a:srgbClr val="1F2937"/>
                </a:solidFill>
                <a:latin typeface="Calibri"/>
              </a:rPr>
              <a:t> BC without the task embedding collapses to 8.8 % stone pickaxe (Table 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Unlabeled video: how many action labels are needed?</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Figure 7 — action conditioning from a small labeled fraction, and transfer to unseen visual domains</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24</a:t>
            </a:r>
          </a:p>
        </p:txBody>
      </p:sp>
      <p:pic>
        <p:nvPicPr>
          <p:cNvPr id="8" name="Picture 7" descr="fig7_action_generalization.png"/>
          <p:cNvPicPr>
            <a:picLocks noChangeAspect="1"/>
          </p:cNvPicPr>
          <p:nvPr/>
        </p:nvPicPr>
        <p:blipFill>
          <a:blip r:embed="rId2"/>
          <a:stretch>
            <a:fillRect/>
          </a:stretch>
        </p:blipFill>
        <p:spPr>
          <a:xfrm>
            <a:off x="365760" y="1371600"/>
            <a:ext cx="7498079" cy="2390513"/>
          </a:xfrm>
          <a:prstGeom prst="rect">
            <a:avLst/>
          </a:prstGeom>
        </p:spPr>
      </p:pic>
      <p:sp>
        <p:nvSpPr>
          <p:cNvPr id="9" name="TextBox 8"/>
          <p:cNvSpPr txBox="1"/>
          <p:nvPr/>
        </p:nvSpPr>
        <p:spPr>
          <a:xfrm>
            <a:off x="548640" y="4160520"/>
            <a:ext cx="11155680" cy="219456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400" b="1" i="0">
                <a:solidFill>
                  <a:srgbClr val="1F2937"/>
                </a:solidFill>
                <a:latin typeface="Calibri"/>
              </a:rPr>
              <a:t>Setup:</a:t>
            </a:r>
            <a:r>
              <a:rPr sz="1400" b="0" i="0">
                <a:solidFill>
                  <a:srgbClr val="1F2937"/>
                </a:solidFill>
                <a:latin typeface="Calibri"/>
              </a:rPr>
              <a:t> train on all 2,541 h of video, but keep actions for only a subset; measure PSNR/SSIM of action-conditioned predictions, normalised between 'no actions' (0 %) and 'all actions' (100 %)</a:t>
            </a:r>
          </a:p>
          <a:p>
            <a:pPr marL="256032" indent="-219456">
              <a:lnSpc>
                <a:spcPct val="105000"/>
              </a:lnSpc>
              <a:spcAft>
                <a:spcPts val="600"/>
              </a:spcAft>
              <a:buFont typeface="Arial"/>
              <a:buChar char="•"/>
            </a:pPr>
            <a:r>
              <a:rPr sz="1400" b="1" i="0">
                <a:solidFill>
                  <a:srgbClr val="1F2937"/>
                </a:solidFill>
                <a:latin typeface="Calibri"/>
              </a:rPr>
              <a:t>10 h of labels → 53 % PSNR / 75 % SSIM; 100 h → 85 % / 100 %; 1,000 h → 100 %</a:t>
            </a:r>
            <a:r>
              <a:rPr sz="1400" b="0" i="0">
                <a:solidFill>
                  <a:srgbClr val="1F2937"/>
                </a:solidFill>
                <a:latin typeface="Calibri"/>
              </a:rPr>
              <a:t> — action understanding saturates with roughly 4 % of the data labeled</a:t>
            </a:r>
          </a:p>
          <a:p>
            <a:pPr marL="256032" indent="-219456">
              <a:lnSpc>
                <a:spcPct val="105000"/>
              </a:lnSpc>
              <a:spcAft>
                <a:spcPts val="600"/>
              </a:spcAft>
              <a:buFont typeface="Arial"/>
              <a:buChar char="•"/>
            </a:pPr>
            <a:r>
              <a:rPr sz="1400" b="1" i="0">
                <a:solidFill>
                  <a:srgbClr val="1F2937"/>
                </a:solidFill>
                <a:latin typeface="Calibri"/>
              </a:rPr>
              <a:t>Domain transfer:</a:t>
            </a:r>
            <a:r>
              <a:rPr sz="1400" b="0" i="0">
                <a:solidFill>
                  <a:srgbClr val="1F2937"/>
                </a:solidFill>
                <a:latin typeface="Calibri"/>
              </a:rPr>
              <a:t> with actions only from the Overworld, predictions in the Nether/End (seen unlabeled) recover 76 % / 80 % — the model separates 'what actions do' from 'what the world looks like'</a:t>
            </a:r>
          </a:p>
          <a:p>
            <a:pPr marL="256032" indent="-219456">
              <a:lnSpc>
                <a:spcPct val="105000"/>
              </a:lnSpc>
              <a:spcAft>
                <a:spcPts val="600"/>
              </a:spcAft>
              <a:buFont typeface="Arial"/>
              <a:buChar char="•"/>
            </a:pPr>
            <a:r>
              <a:rPr sz="1400" b="1" i="0">
                <a:solidFill>
                  <a:srgbClr val="1F2937"/>
                </a:solidFill>
                <a:latin typeface="Calibri"/>
              </a:rPr>
              <a:t>Why it matters:</a:t>
            </a:r>
            <a:r>
              <a:rPr sz="1400" b="0" i="0">
                <a:solidFill>
                  <a:srgbClr val="1F2937"/>
                </a:solidFill>
                <a:latin typeface="Calibri"/>
              </a:rPr>
              <a:t> the road to internet-scale video pretraining, where labels are scarce (VPT needed an inverse-dynamics model for this)</a:t>
            </a:r>
          </a:p>
        </p:txBody>
      </p:sp>
      <p:sp>
        <p:nvSpPr>
          <p:cNvPr id="10" name="Rounded Rectangle 9"/>
          <p:cNvSpPr/>
          <p:nvPr/>
        </p:nvSpPr>
        <p:spPr>
          <a:xfrm>
            <a:off x="8138160" y="1463040"/>
            <a:ext cx="3657600" cy="2468880"/>
          </a:xfrm>
          <a:prstGeom prst="roundRect">
            <a:avLst>
              <a:gd name="adj" fmla="val 8000"/>
            </a:avLst>
          </a:prstGeom>
          <a:solidFill>
            <a:srgbClr val="E4E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7888" y="1536192"/>
            <a:ext cx="3438144" cy="365760"/>
          </a:xfrm>
          <a:prstGeom prst="rect">
            <a:avLst/>
          </a:prstGeom>
          <a:noFill/>
        </p:spPr>
        <p:txBody>
          <a:bodyPr wrap="square" anchor="t" lIns="45720" rIns="45720" tIns="18288" bIns="18288">
            <a:spAutoFit/>
          </a:bodyPr>
          <a:lstStyle/>
          <a:p>
            <a:pPr algn="l">
              <a:lnSpc>
                <a:spcPct val="105000"/>
              </a:lnSpc>
            </a:pPr>
            <a:r>
              <a:rPr sz="1450" b="1" i="0">
                <a:solidFill>
                  <a:srgbClr val="14213D"/>
                </a:solidFill>
                <a:latin typeface="Calibri"/>
              </a:rPr>
              <a:t>Mechanism</a:t>
            </a:r>
          </a:p>
        </p:txBody>
      </p:sp>
      <p:sp>
        <p:nvSpPr>
          <p:cNvPr id="12" name="TextBox 11"/>
          <p:cNvSpPr txBox="1"/>
          <p:nvPr/>
        </p:nvSpPr>
        <p:spPr>
          <a:xfrm>
            <a:off x="8247888" y="1920240"/>
            <a:ext cx="3438144" cy="1965960"/>
          </a:xfrm>
          <a:prstGeom prst="rect">
            <a:avLst/>
          </a:prstGeom>
          <a:noFill/>
        </p:spPr>
        <p:txBody>
          <a:bodyPr wrap="square" anchor="t" lIns="45720" rIns="45720" tIns="18288" bIns="18288">
            <a:spAutoFit/>
          </a:bodyPr>
          <a:lstStyle/>
          <a:p>
            <a:pPr algn="l">
              <a:lnSpc>
                <a:spcPct val="105000"/>
              </a:lnSpc>
            </a:pPr>
            <a:r>
              <a:rPr sz="1250" b="0" i="0">
                <a:solidFill>
                  <a:srgbClr val="1F2937"/>
                </a:solidFill>
                <a:latin typeface="Calibri"/>
              </a:rPr>
              <a:t>Unlabeled frames receive a learned 'no action' embedding; the dynamics loss is the same. The model therefore learns visual dynamics from everything and the action mapping from the labeled slice.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Inside the imagination: decoded training rollouts</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Figure 1 — imagined sequences for four agent tasks, decoded only for visualisation</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25</a:t>
            </a:r>
          </a:p>
        </p:txBody>
      </p:sp>
      <p:pic>
        <p:nvPicPr>
          <p:cNvPr id="8" name="Picture 7" descr="fig1_teaser_pdf_s.jpg"/>
          <p:cNvPicPr>
            <a:picLocks noChangeAspect="1"/>
          </p:cNvPicPr>
          <p:nvPr/>
        </p:nvPicPr>
        <p:blipFill>
          <a:blip r:embed="rId2"/>
          <a:stretch>
            <a:fillRect/>
          </a:stretch>
        </p:blipFill>
        <p:spPr>
          <a:xfrm>
            <a:off x="457200" y="1371600"/>
            <a:ext cx="7863840" cy="4594240"/>
          </a:xfrm>
          <a:prstGeom prst="rect">
            <a:avLst/>
          </a:prstGeom>
        </p:spPr>
      </p:pic>
      <p:sp>
        <p:nvSpPr>
          <p:cNvPr id="9" name="TextBox 8"/>
          <p:cNvSpPr txBox="1"/>
          <p:nvPr/>
        </p:nvSpPr>
        <p:spPr>
          <a:xfrm>
            <a:off x="8503920" y="1463040"/>
            <a:ext cx="3383280" cy="484632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400" b="0" i="0">
                <a:solidFill>
                  <a:srgbClr val="1F2937"/>
                </a:solidFill>
                <a:latin typeface="Calibri"/>
              </a:rPr>
              <a:t>The world model simulates chopping, crafting menus, mining, cave lighting and diamond ore — all generated, not recorded</a:t>
            </a:r>
          </a:p>
          <a:p>
            <a:pPr marL="256032" indent="-219456">
              <a:lnSpc>
                <a:spcPct val="105000"/>
              </a:lnSpc>
              <a:spcAft>
                <a:spcPts val="600"/>
              </a:spcAft>
              <a:buFont typeface="Arial"/>
              <a:buChar char="•"/>
            </a:pPr>
            <a:r>
              <a:rPr sz="1400" b="0" i="0">
                <a:solidFill>
                  <a:srgbClr val="1F2937"/>
                </a:solidFill>
                <a:latin typeface="Calibri"/>
              </a:rPr>
              <a:t>RL never sees pixels: it operates on latents; decoding is for us</a:t>
            </a:r>
          </a:p>
          <a:p>
            <a:pPr marL="256032" indent="-219456">
              <a:lnSpc>
                <a:spcPct val="105000"/>
              </a:lnSpc>
              <a:spcAft>
                <a:spcPts val="600"/>
              </a:spcAft>
              <a:buFont typeface="Arial"/>
              <a:buChar char="•"/>
            </a:pPr>
            <a:r>
              <a:rPr sz="1400" b="0" i="0">
                <a:solidFill>
                  <a:srgbClr val="1F2937"/>
                </a:solidFill>
                <a:latin typeface="Calibri"/>
              </a:rPr>
              <a:t>Each rollout starts from real context frames and follows the </a:t>
            </a:r>
            <a:r>
              <a:rPr sz="1400" b="0" i="1">
                <a:solidFill>
                  <a:srgbClr val="1F2937"/>
                </a:solidFill>
                <a:latin typeface="Calibri"/>
              </a:rPr>
              <a:t>current</a:t>
            </a:r>
            <a:r>
              <a:rPr sz="1400" b="0" i="0">
                <a:solidFill>
                  <a:srgbClr val="1F2937"/>
                </a:solidFill>
                <a:latin typeface="Calibri"/>
              </a:rPr>
              <a:t> policy → training data stays on-policy without touching the game</a:t>
            </a:r>
          </a:p>
          <a:p>
            <a:pPr marL="256032" indent="-219456">
              <a:lnSpc>
                <a:spcPct val="105000"/>
              </a:lnSpc>
              <a:spcAft>
                <a:spcPts val="600"/>
              </a:spcAft>
              <a:buFont typeface="Arial"/>
              <a:buChar char="•"/>
            </a:pPr>
            <a:r>
              <a:rPr sz="1400" b="0" i="0">
                <a:solidFill>
                  <a:srgbClr val="1F2937"/>
                </a:solidFill>
                <a:latin typeface="Calibri"/>
              </a:rPr>
              <a:t>Stochastic sampling gives diverse futures — useful for exploring rare outcomes such as finding ore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Beyond Minecraft: robotics &amp; egocentric video (qualitative)</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Figure 6 and Figure 9 — same recipe, different data; no quantitative benchmark yet</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26</a:t>
            </a:r>
          </a:p>
        </p:txBody>
      </p:sp>
      <p:pic>
        <p:nvPicPr>
          <p:cNvPr id="8" name="Picture 7" descr="fig6_robotics_s.jpg"/>
          <p:cNvPicPr>
            <a:picLocks noChangeAspect="1"/>
          </p:cNvPicPr>
          <p:nvPr/>
        </p:nvPicPr>
        <p:blipFill>
          <a:blip r:embed="rId2"/>
          <a:stretch>
            <a:fillRect/>
          </a:stretch>
        </p:blipFill>
        <p:spPr>
          <a:xfrm>
            <a:off x="365760" y="1371600"/>
            <a:ext cx="7680960" cy="2840124"/>
          </a:xfrm>
          <a:prstGeom prst="rect">
            <a:avLst/>
          </a:prstGeom>
        </p:spPr>
      </p:pic>
      <p:sp>
        <p:nvSpPr>
          <p:cNvPr id="9" name="TextBox 8"/>
          <p:cNvSpPr txBox="1"/>
          <p:nvPr/>
        </p:nvSpPr>
        <p:spPr>
          <a:xfrm>
            <a:off x="365760" y="4297680"/>
            <a:ext cx="76809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6: SOAR robot-arm data — counterfactual actions (pick objects, flip bowl, press ball, move towel, throw bowl) rendered by the world model.</a:t>
            </a:r>
          </a:p>
        </p:txBody>
      </p:sp>
      <p:pic>
        <p:nvPicPr>
          <p:cNvPr id="10" name="Picture 9" descr="frame_realworld_soar1.jpg"/>
          <p:cNvPicPr>
            <a:picLocks noChangeAspect="1"/>
          </p:cNvPicPr>
          <p:nvPr/>
        </p:nvPicPr>
        <p:blipFill>
          <a:blip r:embed="rId3"/>
          <a:stretch>
            <a:fillRect/>
          </a:stretch>
        </p:blipFill>
        <p:spPr>
          <a:xfrm>
            <a:off x="8610600" y="1371600"/>
            <a:ext cx="2804160" cy="2103120"/>
          </a:xfrm>
          <a:prstGeom prst="rect">
            <a:avLst/>
          </a:prstGeom>
        </p:spPr>
      </p:pic>
      <p:sp>
        <p:nvSpPr>
          <p:cNvPr id="11" name="TextBox 10"/>
          <p:cNvSpPr txBox="1"/>
          <p:nvPr/>
        </p:nvSpPr>
        <p:spPr>
          <a:xfrm>
            <a:off x="8229600" y="3493008"/>
            <a:ext cx="35661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Project page: human counterfactual interaction with the robot world model.</a:t>
            </a:r>
          </a:p>
        </p:txBody>
      </p:sp>
      <p:sp>
        <p:nvSpPr>
          <p:cNvPr id="12" name="TextBox 11"/>
          <p:cNvSpPr txBox="1"/>
          <p:nvPr/>
        </p:nvSpPr>
        <p:spPr>
          <a:xfrm>
            <a:off x="548640" y="4754880"/>
            <a:ext cx="11155680" cy="173736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400" b="1" i="0">
                <a:solidFill>
                  <a:srgbClr val="1F2937"/>
                </a:solidFill>
                <a:latin typeface="Calibri"/>
              </a:rPr>
              <a:t>SOAR:</a:t>
            </a:r>
            <a:r>
              <a:rPr sz="1400" b="0" i="0">
                <a:solidFill>
                  <a:srgbClr val="1F2937"/>
                </a:solidFill>
                <a:latin typeface="Calibri"/>
              </a:rPr>
              <a:t> 180 h of teleoperation + online-RL data, 256×256 at 5 FPS, 7-D relative end-effector actions; N_z = 512, context 96 frames</a:t>
            </a:r>
          </a:p>
          <a:p>
            <a:pPr marL="256032" indent="-219456">
              <a:lnSpc>
                <a:spcPct val="105000"/>
              </a:lnSpc>
              <a:spcAft>
                <a:spcPts val="600"/>
              </a:spcAft>
              <a:buFont typeface="Arial"/>
              <a:buChar char="•"/>
            </a:pPr>
            <a:r>
              <a:rPr sz="1400" b="1" i="0">
                <a:solidFill>
                  <a:srgbClr val="1F2937"/>
                </a:solidFill>
                <a:latin typeface="Calibri"/>
              </a:rPr>
              <a:t>Epic Kitchens 100:</a:t>
            </a:r>
            <a:r>
              <a:rPr sz="1400" b="0" i="0">
                <a:solidFill>
                  <a:srgbClr val="1F2937"/>
                </a:solidFill>
                <a:latin typeface="Calibri"/>
              </a:rPr>
              <a:t> 100 h of egocentric kitchen video, no actions — generations from held-out context (Fig. 9) show the recipe works on real, unstructured video</a:t>
            </a:r>
          </a:p>
          <a:p>
            <a:pPr marL="256032" indent="-219456">
              <a:lnSpc>
                <a:spcPct val="105000"/>
              </a:lnSpc>
              <a:spcAft>
                <a:spcPts val="600"/>
              </a:spcAft>
              <a:buFont typeface="Arial"/>
              <a:buChar char="•"/>
            </a:pPr>
            <a:r>
              <a:rPr sz="1400" b="1" i="0">
                <a:solidFill>
                  <a:srgbClr val="1F2937"/>
                </a:solidFill>
                <a:latin typeface="Calibri"/>
              </a:rPr>
              <a:t>Caveat:</a:t>
            </a:r>
            <a:r>
              <a:rPr sz="1400" b="0" i="0">
                <a:solidFill>
                  <a:srgbClr val="1F2937"/>
                </a:solidFill>
                <a:latin typeface="Calibri"/>
              </a:rPr>
              <a:t> no policy was trained and no metrics are reported for these domains — they demonstrate generality of the world model, not of the agent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Dreamer 3 vs Dreamer 4</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Appendix F: what changed, and what the higher-fidelity model costs</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27</a:t>
            </a:r>
          </a:p>
        </p:txBody>
      </p:sp>
      <p:graphicFrame>
        <p:nvGraphicFramePr>
          <p:cNvPr id="8" name="Table 7"/>
          <p:cNvGraphicFramePr>
            <a:graphicFrameLocks noGrp="1"/>
          </p:cNvGraphicFramePr>
          <p:nvPr/>
        </p:nvGraphicFramePr>
        <p:xfrm>
          <a:off x="457200" y="1417320"/>
          <a:ext cx="6949440" cy="3127248"/>
        </p:xfrm>
        <a:graphic>
          <a:graphicData uri="http://schemas.openxmlformats.org/drawingml/2006/table">
            <a:tbl>
              <a:tblPr firstRow="1" bandRow="1">
                <a:tableStyleId>{5C22544A-7EE6-4342-B048-85BDC9FD1C3A}</a:tableStyleId>
              </a:tblPr>
              <a:tblGrid>
                <a:gridCol w="1371600"/>
                <a:gridCol w="2743200"/>
                <a:gridCol w="2834640"/>
              </a:tblGrid>
              <a:tr h="384048">
                <a:tc>
                  <a:txBody>
                    <a:bodyPr/>
                    <a:lstStyle/>
                    <a:p>
                      <a:pPr algn="l"/>
                      <a:r>
                        <a:rPr sz="1200" b="1" i="0">
                          <a:solidFill>
                            <a:srgbClr val="FFFFFF"/>
                          </a:solidFill>
                          <a:latin typeface="Calibri"/>
                        </a:rPr>
                        <a:t/>
                      </a:r>
                    </a:p>
                  </a:txBody>
                  <a:tcPr marL="54864" marR="54864" marT="27432" marB="27432">
                    <a:solidFill>
                      <a:srgbClr val="14213D"/>
                    </a:solidFill>
                  </a:tcPr>
                </a:tc>
                <a:tc>
                  <a:txBody>
                    <a:bodyPr/>
                    <a:lstStyle/>
                    <a:p>
                      <a:pPr algn="ctr"/>
                      <a:r>
                        <a:rPr sz="1200" b="1" i="0">
                          <a:solidFill>
                            <a:srgbClr val="FFFFFF"/>
                          </a:solidFill>
                          <a:latin typeface="Calibri"/>
                        </a:rPr>
                        <a:t>Dreamer 3 (Nature 2025)</a:t>
                      </a:r>
                    </a:p>
                  </a:txBody>
                  <a:tcPr marL="54864" marR="54864" marT="27432" marB="27432">
                    <a:solidFill>
                      <a:srgbClr val="14213D"/>
                    </a:solidFill>
                  </a:tcPr>
                </a:tc>
                <a:tc>
                  <a:txBody>
                    <a:bodyPr/>
                    <a:lstStyle/>
                    <a:p>
                      <a:pPr algn="ctr"/>
                      <a:r>
                        <a:rPr sz="1200" b="1" i="0">
                          <a:solidFill>
                            <a:srgbClr val="FFFFFF"/>
                          </a:solidFill>
                          <a:latin typeface="Calibri"/>
                        </a:rPr>
                        <a:t>Dreamer 4</a:t>
                      </a:r>
                    </a:p>
                  </a:txBody>
                  <a:tcPr marL="54864" marR="54864" marT="27432" marB="27432">
                    <a:solidFill>
                      <a:srgbClr val="14213D"/>
                    </a:solidFill>
                  </a:tcPr>
                </a:tc>
              </a:tr>
              <a:tr h="548639">
                <a:tc>
                  <a:txBody>
                    <a:bodyPr/>
                    <a:lstStyle/>
                    <a:p>
                      <a:pPr algn="l"/>
                      <a:r>
                        <a:rPr sz="1200" b="0" i="0">
                          <a:solidFill>
                            <a:srgbClr val="1F2937"/>
                          </a:solidFill>
                          <a:latin typeface="Calibri"/>
                        </a:rPr>
                        <a:t>World model</a:t>
                      </a:r>
                    </a:p>
                  </a:txBody>
                  <a:tcPr marL="54864" marR="54864" marT="27432" marB="27432">
                    <a:solidFill>
                      <a:srgbClr val="FFFFFF"/>
                    </a:solidFill>
                  </a:tcPr>
                </a:tc>
                <a:tc>
                  <a:txBody>
                    <a:bodyPr/>
                    <a:lstStyle/>
                    <a:p>
                      <a:pPr algn="l"/>
                      <a:r>
                        <a:rPr sz="1200" b="0" i="0">
                          <a:solidFill>
                            <a:srgbClr val="1F2937"/>
                          </a:solidFill>
                          <a:latin typeface="Calibri"/>
                        </a:rPr>
                        <a:t>RSSM (recurrent + variational latent)</a:t>
                      </a:r>
                    </a:p>
                  </a:txBody>
                  <a:tcPr marL="54864" marR="54864" marT="27432" marB="27432">
                    <a:solidFill>
                      <a:srgbClr val="FFFFFF"/>
                    </a:solidFill>
                  </a:tcPr>
                </a:tc>
                <a:tc>
                  <a:txBody>
                    <a:bodyPr/>
                    <a:lstStyle/>
                    <a:p>
                      <a:pPr algn="l"/>
                      <a:r>
                        <a:rPr sz="1200" b="1" i="0">
                          <a:solidFill>
                            <a:srgbClr val="1F2937"/>
                          </a:solidFill>
                          <a:latin typeface="Calibri"/>
                        </a:rPr>
                        <a:t>Block-causal diffusion/flow transformer, shortcut forcing</a:t>
                      </a:r>
                    </a:p>
                  </a:txBody>
                  <a:tcPr marL="54864" marR="54864" marT="27432" marB="27432">
                    <a:solidFill>
                      <a:srgbClr val="E4EBFC"/>
                    </a:solidFill>
                  </a:tcPr>
                </a:tc>
              </a:tr>
              <a:tr h="548639">
                <a:tc>
                  <a:txBody>
                    <a:bodyPr/>
                    <a:lstStyle/>
                    <a:p>
                      <a:pPr algn="l"/>
                      <a:r>
                        <a:rPr sz="1200" b="0" i="0">
                          <a:solidFill>
                            <a:srgbClr val="1F2937"/>
                          </a:solidFill>
                          <a:latin typeface="Calibri"/>
                        </a:rPr>
                        <a:t>Minecraft input</a:t>
                      </a:r>
                    </a:p>
                  </a:txBody>
                  <a:tcPr marL="54864" marR="54864" marT="27432" marB="27432">
                    <a:solidFill>
                      <a:srgbClr val="F3F5F9"/>
                    </a:solidFill>
                  </a:tcPr>
                </a:tc>
                <a:tc>
                  <a:txBody>
                    <a:bodyPr/>
                    <a:lstStyle/>
                    <a:p>
                      <a:pPr algn="l"/>
                      <a:r>
                        <a:rPr sz="1200" b="0" i="0">
                          <a:solidFill>
                            <a:srgbClr val="1F2937"/>
                          </a:solidFill>
                          <a:latin typeface="Calibri"/>
                        </a:rPr>
                        <a:t>64×64 pixels + inventory state; abstract crafting actions</a:t>
                      </a:r>
                    </a:p>
                  </a:txBody>
                  <a:tcPr marL="54864" marR="54864" marT="27432" marB="27432">
                    <a:solidFill>
                      <a:srgbClr val="F3F5F9"/>
                    </a:solidFill>
                  </a:tcPr>
                </a:tc>
                <a:tc>
                  <a:txBody>
                    <a:bodyPr/>
                    <a:lstStyle/>
                    <a:p>
                      <a:pPr algn="l"/>
                      <a:r>
                        <a:rPr sz="1200" b="1" i="0">
                          <a:solidFill>
                            <a:srgbClr val="1F2937"/>
                          </a:solidFill>
                          <a:latin typeface="Calibri"/>
                        </a:rPr>
                        <a:t>360×640 pixels only; raw mouse &amp; keyboard</a:t>
                      </a:r>
                    </a:p>
                  </a:txBody>
                  <a:tcPr marL="54864" marR="54864" marT="27432" marB="27432">
                    <a:solidFill>
                      <a:srgbClr val="E4EBFC"/>
                    </a:solidFill>
                  </a:tcPr>
                </a:tc>
              </a:tr>
              <a:tr h="548639">
                <a:tc>
                  <a:txBody>
                    <a:bodyPr/>
                    <a:lstStyle/>
                    <a:p>
                      <a:pPr algn="l"/>
                      <a:r>
                        <a:rPr sz="1200" b="0" i="0">
                          <a:solidFill>
                            <a:srgbClr val="1F2937"/>
                          </a:solidFill>
                          <a:latin typeface="Calibri"/>
                        </a:rPr>
                        <a:t>Data</a:t>
                      </a:r>
                    </a:p>
                  </a:txBody>
                  <a:tcPr marL="54864" marR="54864" marT="27432" marB="27432">
                    <a:solidFill>
                      <a:srgbClr val="FFFFFF"/>
                    </a:solidFill>
                  </a:tcPr>
                </a:tc>
                <a:tc>
                  <a:txBody>
                    <a:bodyPr/>
                    <a:lstStyle/>
                    <a:p>
                      <a:pPr algn="l"/>
                      <a:r>
                        <a:rPr sz="1200" b="0" i="0">
                          <a:solidFill>
                            <a:srgbClr val="1F2937"/>
                          </a:solidFill>
                          <a:latin typeface="Calibri"/>
                        </a:rPr>
                        <a:t>1.4 K h of </a:t>
                      </a:r>
                      <a:r>
                        <a:rPr sz="1200" b="0" i="1">
                          <a:solidFill>
                            <a:srgbClr val="1F2937"/>
                          </a:solidFill>
                          <a:latin typeface="Calibri"/>
                        </a:rPr>
                        <a:t>online</a:t>
                      </a:r>
                      <a:r>
                        <a:rPr sz="1200" b="0" i="0">
                          <a:solidFill>
                            <a:srgbClr val="1F2937"/>
                          </a:solidFill>
                          <a:latin typeface="Calibri"/>
                        </a:rPr>
                        <a:t> interaction, no human data</a:t>
                      </a:r>
                    </a:p>
                  </a:txBody>
                  <a:tcPr marL="54864" marR="54864" marT="27432" marB="27432">
                    <a:solidFill>
                      <a:srgbClr val="FFFFFF"/>
                    </a:solidFill>
                  </a:tcPr>
                </a:tc>
                <a:tc>
                  <a:txBody>
                    <a:bodyPr/>
                    <a:lstStyle/>
                    <a:p>
                      <a:pPr algn="l"/>
                      <a:r>
                        <a:rPr sz="1200" b="1" i="0">
                          <a:solidFill>
                            <a:srgbClr val="1F2937"/>
                          </a:solidFill>
                          <a:latin typeface="Calibri"/>
                        </a:rPr>
                        <a:t>2.5 K h of </a:t>
                      </a:r>
                      <a:r>
                        <a:rPr sz="1200" b="1" i="1">
                          <a:solidFill>
                            <a:srgbClr val="1F2937"/>
                          </a:solidFill>
                          <a:latin typeface="Calibri"/>
                        </a:rPr>
                        <a:t>offline</a:t>
                      </a:r>
                      <a:r>
                        <a:rPr sz="1200" b="1" i="0">
                          <a:solidFill>
                            <a:srgbClr val="1F2937"/>
                          </a:solidFill>
                          <a:latin typeface="Calibri"/>
                        </a:rPr>
                        <a:t> human data, no interaction</a:t>
                      </a:r>
                    </a:p>
                  </a:txBody>
                  <a:tcPr marL="54864" marR="54864" marT="27432" marB="27432">
                    <a:solidFill>
                      <a:srgbClr val="E4EBFC"/>
                    </a:solidFill>
                  </a:tcPr>
                </a:tc>
              </a:tr>
              <a:tr h="548639">
                <a:tc>
                  <a:txBody>
                    <a:bodyPr/>
                    <a:lstStyle/>
                    <a:p>
                      <a:pPr algn="l"/>
                      <a:r>
                        <a:rPr sz="1200" b="0" i="0">
                          <a:solidFill>
                            <a:srgbClr val="1F2937"/>
                          </a:solidFill>
                          <a:latin typeface="Calibri"/>
                        </a:rPr>
                        <a:t>RL</a:t>
                      </a:r>
                    </a:p>
                  </a:txBody>
                  <a:tcPr marL="54864" marR="54864" marT="27432" marB="27432">
                    <a:solidFill>
                      <a:srgbClr val="F3F5F9"/>
                    </a:solidFill>
                  </a:tcPr>
                </a:tc>
                <a:tc>
                  <a:txBody>
                    <a:bodyPr/>
                    <a:lstStyle/>
                    <a:p>
                      <a:pPr algn="l"/>
                      <a:r>
                        <a:rPr sz="1200" b="0" i="0">
                          <a:solidFill>
                            <a:srgbClr val="1F2937"/>
                          </a:solidFill>
                          <a:latin typeface="Calibri"/>
                        </a:rPr>
                        <a:t>Return normalisation + entropy bonus</a:t>
                      </a:r>
                    </a:p>
                  </a:txBody>
                  <a:tcPr marL="54864" marR="54864" marT="27432" marB="27432">
                    <a:solidFill>
                      <a:srgbClr val="F3F5F9"/>
                    </a:solidFill>
                  </a:tcPr>
                </a:tc>
                <a:tc>
                  <a:txBody>
                    <a:bodyPr/>
                    <a:lstStyle/>
                    <a:p>
                      <a:pPr algn="l"/>
                      <a:r>
                        <a:rPr sz="1200" b="1" i="0">
                          <a:solidFill>
                            <a:srgbClr val="1F2937"/>
                          </a:solidFill>
                          <a:latin typeface="Calibri"/>
                        </a:rPr>
                        <a:t>PMPO (advantage sign) + KL to BC prior</a:t>
                      </a:r>
                    </a:p>
                  </a:txBody>
                  <a:tcPr marL="54864" marR="54864" marT="27432" marB="27432">
                    <a:solidFill>
                      <a:srgbClr val="E4EBFC"/>
                    </a:solidFill>
                  </a:tcPr>
                </a:tc>
              </a:tr>
              <a:tr h="548644">
                <a:tc>
                  <a:txBody>
                    <a:bodyPr/>
                    <a:lstStyle/>
                    <a:p>
                      <a:pPr algn="l"/>
                      <a:r>
                        <a:rPr sz="1200" b="0" i="0">
                          <a:solidFill>
                            <a:srgbClr val="1F2937"/>
                          </a:solidFill>
                          <a:latin typeface="Calibri"/>
                        </a:rPr>
                        <a:t>Speed</a:t>
                      </a:r>
                    </a:p>
                  </a:txBody>
                  <a:tcPr marL="54864" marR="54864" marT="27432" marB="27432">
                    <a:solidFill>
                      <a:srgbClr val="FFFFFF"/>
                    </a:solidFill>
                  </a:tcPr>
                </a:tc>
                <a:tc>
                  <a:txBody>
                    <a:bodyPr/>
                    <a:lstStyle/>
                    <a:p>
                      <a:pPr algn="l"/>
                      <a:r>
                        <a:rPr sz="1200" b="0" i="0">
                          <a:solidFill>
                            <a:srgbClr val="1F2937"/>
                          </a:solidFill>
                          <a:latin typeface="Calibri"/>
                        </a:rPr>
                        <a:t>~1,000× faster than a diffusion transformer</a:t>
                      </a:r>
                    </a:p>
                  </a:txBody>
                  <a:tcPr marL="54864" marR="54864" marT="27432" marB="27432">
                    <a:solidFill>
                      <a:srgbClr val="FFFFFF"/>
                    </a:solidFill>
                  </a:tcPr>
                </a:tc>
                <a:tc>
                  <a:txBody>
                    <a:bodyPr/>
                    <a:lstStyle/>
                    <a:p>
                      <a:pPr algn="l"/>
                      <a:r>
                        <a:rPr sz="1200" b="1" i="0">
                          <a:solidFill>
                            <a:srgbClr val="1F2937"/>
                          </a:solidFill>
                          <a:latin typeface="Calibri"/>
                        </a:rPr>
                        <a:t>~30× faster than diffusion forcing; ~40× slower than the RSSM</a:t>
                      </a:r>
                    </a:p>
                  </a:txBody>
                  <a:tcPr marL="54864" marR="54864" marT="27432" marB="27432">
                    <a:solidFill>
                      <a:srgbClr val="E4EBFC"/>
                    </a:solidFill>
                  </a:tcPr>
                </a:tc>
              </a:tr>
            </a:tbl>
          </a:graphicData>
        </a:graphic>
      </p:graphicFrame>
      <p:pic>
        <p:nvPicPr>
          <p:cNvPr id="9" name="Picture 8" descr="fig11_dreamer3_vs_4_s.jpg"/>
          <p:cNvPicPr>
            <a:picLocks noChangeAspect="1"/>
          </p:cNvPicPr>
          <p:nvPr/>
        </p:nvPicPr>
        <p:blipFill>
          <a:blip r:embed="rId2"/>
          <a:stretch>
            <a:fillRect/>
          </a:stretch>
        </p:blipFill>
        <p:spPr>
          <a:xfrm>
            <a:off x="7850532" y="1417320"/>
            <a:ext cx="3775655" cy="1737360"/>
          </a:xfrm>
          <a:prstGeom prst="rect">
            <a:avLst/>
          </a:prstGeom>
        </p:spPr>
      </p:pic>
      <p:sp>
        <p:nvSpPr>
          <p:cNvPr id="10" name="TextBox 9"/>
          <p:cNvSpPr txBox="1"/>
          <p:nvPr/>
        </p:nvSpPr>
        <p:spPr>
          <a:xfrm>
            <a:off x="7680960" y="320040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11: multi-step generations, Dreamer 4 (top) vs Dreamer 3 (bottom).</a:t>
            </a:r>
          </a:p>
        </p:txBody>
      </p:sp>
      <p:pic>
        <p:nvPicPr>
          <p:cNvPr id="11" name="Picture 10" descr="chart_speed_fidelity.png"/>
          <p:cNvPicPr>
            <a:picLocks noChangeAspect="1"/>
          </p:cNvPicPr>
          <p:nvPr/>
        </p:nvPicPr>
        <p:blipFill>
          <a:blip r:embed="rId3"/>
          <a:stretch>
            <a:fillRect/>
          </a:stretch>
        </p:blipFill>
        <p:spPr>
          <a:xfrm>
            <a:off x="7612380" y="3566160"/>
            <a:ext cx="4251960" cy="283464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Data, compute and scale</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Appendix A and Table 3</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28</a:t>
            </a:r>
          </a:p>
        </p:txBody>
      </p:sp>
      <p:graphicFrame>
        <p:nvGraphicFramePr>
          <p:cNvPr id="8" name="Table 7"/>
          <p:cNvGraphicFramePr>
            <a:graphicFrameLocks noGrp="1"/>
          </p:cNvGraphicFramePr>
          <p:nvPr/>
        </p:nvGraphicFramePr>
        <p:xfrm>
          <a:off x="457200" y="1417320"/>
          <a:ext cx="11247120" cy="2212848"/>
        </p:xfrm>
        <a:graphic>
          <a:graphicData uri="http://schemas.openxmlformats.org/drawingml/2006/table">
            <a:tbl>
              <a:tblPr firstRow="1" bandRow="1">
                <a:tableStyleId>{5C22544A-7EE6-4342-B048-85BDC9FD1C3A}</a:tableStyleId>
              </a:tblPr>
              <a:tblGrid>
                <a:gridCol w="2377440"/>
                <a:gridCol w="914400"/>
                <a:gridCol w="2651760"/>
                <a:gridCol w="2926080"/>
                <a:gridCol w="2377440"/>
              </a:tblGrid>
              <a:tr h="384048">
                <a:tc>
                  <a:txBody>
                    <a:bodyPr/>
                    <a:lstStyle/>
                    <a:p>
                      <a:pPr algn="l"/>
                      <a:r>
                        <a:rPr sz="1200" b="1" i="0">
                          <a:solidFill>
                            <a:srgbClr val="FFFFFF"/>
                          </a:solidFill>
                          <a:latin typeface="Calibri"/>
                        </a:rPr>
                        <a:t>Dataset</a:t>
                      </a:r>
                    </a:p>
                  </a:txBody>
                  <a:tcPr marL="54864" marR="54864" marT="27432" marB="27432">
                    <a:solidFill>
                      <a:srgbClr val="14213D"/>
                    </a:solidFill>
                  </a:tcPr>
                </a:tc>
                <a:tc>
                  <a:txBody>
                    <a:bodyPr/>
                    <a:lstStyle/>
                    <a:p>
                      <a:pPr algn="ctr"/>
                      <a:r>
                        <a:rPr sz="1200" b="1" i="0">
                          <a:solidFill>
                            <a:srgbClr val="FFFFFF"/>
                          </a:solidFill>
                          <a:latin typeface="Calibri"/>
                        </a:rPr>
                        <a:t>Size</a:t>
                      </a:r>
                    </a:p>
                  </a:txBody>
                  <a:tcPr marL="54864" marR="54864" marT="27432" marB="27432">
                    <a:solidFill>
                      <a:srgbClr val="14213D"/>
                    </a:solidFill>
                  </a:tcPr>
                </a:tc>
                <a:tc>
                  <a:txBody>
                    <a:bodyPr/>
                    <a:lstStyle/>
                    <a:p>
                      <a:pPr algn="ctr"/>
                      <a:r>
                        <a:rPr sz="1200" b="1" i="0">
                          <a:solidFill>
                            <a:srgbClr val="FFFFFF"/>
                          </a:solidFill>
                          <a:latin typeface="Calibri"/>
                        </a:rPr>
                        <a:t>Resolution / FPS</a:t>
                      </a:r>
                    </a:p>
                  </a:txBody>
                  <a:tcPr marL="54864" marR="54864" marT="27432" marB="27432">
                    <a:solidFill>
                      <a:srgbClr val="14213D"/>
                    </a:solidFill>
                  </a:tcPr>
                </a:tc>
                <a:tc>
                  <a:txBody>
                    <a:bodyPr/>
                    <a:lstStyle/>
                    <a:p>
                      <a:pPr algn="ctr"/>
                      <a:r>
                        <a:rPr sz="1200" b="1" i="0">
                          <a:solidFill>
                            <a:srgbClr val="FFFFFF"/>
                          </a:solidFill>
                          <a:latin typeface="Calibri"/>
                        </a:rPr>
                        <a:t>Actions</a:t>
                      </a:r>
                    </a:p>
                  </a:txBody>
                  <a:tcPr marL="54864" marR="54864" marT="27432" marB="27432">
                    <a:solidFill>
                      <a:srgbClr val="14213D"/>
                    </a:solidFill>
                  </a:tcPr>
                </a:tc>
                <a:tc>
                  <a:txBody>
                    <a:bodyPr/>
                    <a:lstStyle/>
                    <a:p>
                      <a:pPr algn="ctr"/>
                      <a:r>
                        <a:rPr sz="1200" b="1" i="0">
                          <a:solidFill>
                            <a:srgbClr val="FFFFFF"/>
                          </a:solidFill>
                          <a:latin typeface="Calibri"/>
                        </a:rPr>
                        <a:t>Dynamics config</a:t>
                      </a:r>
                    </a:p>
                  </a:txBody>
                  <a:tcPr marL="54864" marR="54864" marT="27432" marB="27432">
                    <a:solidFill>
                      <a:srgbClr val="14213D"/>
                    </a:solidFill>
                  </a:tcPr>
                </a:tc>
              </a:tr>
              <a:tr h="457200">
                <a:tc>
                  <a:txBody>
                    <a:bodyPr/>
                    <a:lstStyle/>
                    <a:p>
                      <a:pPr algn="l"/>
                      <a:r>
                        <a:rPr sz="1200" b="0" i="0">
                          <a:solidFill>
                            <a:srgbClr val="1F2937"/>
                          </a:solidFill>
                          <a:latin typeface="Calibri"/>
                        </a:rPr>
                        <a:t>Minecraft (VPT contractor 6–10)</a:t>
                      </a:r>
                    </a:p>
                  </a:txBody>
                  <a:tcPr marL="54864" marR="54864" marT="27432" marB="27432">
                    <a:solidFill>
                      <a:srgbClr val="FFFFFF"/>
                    </a:solidFill>
                  </a:tcPr>
                </a:tc>
                <a:tc>
                  <a:txBody>
                    <a:bodyPr/>
                    <a:lstStyle/>
                    <a:p>
                      <a:pPr algn="ctr"/>
                      <a:r>
                        <a:rPr sz="1200" b="0" i="0">
                          <a:solidFill>
                            <a:srgbClr val="1F2937"/>
                          </a:solidFill>
                          <a:latin typeface="Calibri"/>
                        </a:rPr>
                        <a:t>2,541 h</a:t>
                      </a:r>
                    </a:p>
                  </a:txBody>
                  <a:tcPr marL="54864" marR="54864" marT="27432" marB="27432">
                    <a:solidFill>
                      <a:srgbClr val="FFFFFF"/>
                    </a:solidFill>
                  </a:tcPr>
                </a:tc>
                <a:tc>
                  <a:txBody>
                    <a:bodyPr/>
                    <a:lstStyle/>
                    <a:p>
                      <a:pPr algn="l"/>
                      <a:r>
                        <a:rPr sz="1200" b="0" i="0">
                          <a:solidFill>
                            <a:srgbClr val="1F2937"/>
                          </a:solidFill>
                          <a:latin typeface="Calibri"/>
                        </a:rPr>
                        <a:t>360×640 → 384×640 padded, 20 FPS</a:t>
                      </a:r>
                    </a:p>
                  </a:txBody>
                  <a:tcPr marL="54864" marR="54864" marT="27432" marB="27432">
                    <a:solidFill>
                      <a:srgbClr val="FFFFFF"/>
                    </a:solidFill>
                  </a:tcPr>
                </a:tc>
                <a:tc>
                  <a:txBody>
                    <a:bodyPr/>
                    <a:lstStyle/>
                    <a:p>
                      <a:pPr algn="l"/>
                      <a:r>
                        <a:rPr sz="1200" b="0" i="0">
                          <a:solidFill>
                            <a:srgbClr val="1F2937"/>
                          </a:solidFill>
                          <a:latin typeface="Calibri"/>
                        </a:rPr>
                        <a:t>23 keys + 121-way mouse; item events → rewards</a:t>
                      </a:r>
                    </a:p>
                  </a:txBody>
                  <a:tcPr marL="54864" marR="54864" marT="27432" marB="27432">
                    <a:solidFill>
                      <a:srgbClr val="FFFFFF"/>
                    </a:solidFill>
                  </a:tcPr>
                </a:tc>
                <a:tc>
                  <a:txBody>
                    <a:bodyPr/>
                    <a:lstStyle/>
                    <a:p>
                      <a:pPr algn="ctr"/>
                      <a:r>
                        <a:rPr sz="1200" b="0" i="0">
                          <a:solidFill>
                            <a:srgbClr val="1F2937"/>
                          </a:solidFill>
                          <a:latin typeface="Calibri"/>
                        </a:rPr>
                        <a:t>N_z 256 · C 192 · T 64/256</a:t>
                      </a:r>
                    </a:p>
                  </a:txBody>
                  <a:tcPr marL="54864" marR="54864" marT="27432" marB="27432">
                    <a:solidFill>
                      <a:srgbClr val="FFFFFF"/>
                    </a:solidFill>
                  </a:tcPr>
                </a:tc>
              </a:tr>
              <a:tr h="457200">
                <a:tc>
                  <a:txBody>
                    <a:bodyPr/>
                    <a:lstStyle/>
                    <a:p>
                      <a:pPr algn="l"/>
                      <a:r>
                        <a:rPr sz="1200" b="0" i="0">
                          <a:solidFill>
                            <a:srgbClr val="1F2937"/>
                          </a:solidFill>
                          <a:latin typeface="Calibri"/>
                        </a:rPr>
                        <a:t>Overworld vs Nether/End split</a:t>
                      </a:r>
                    </a:p>
                  </a:txBody>
                  <a:tcPr marL="54864" marR="54864" marT="27432" marB="27432">
                    <a:solidFill>
                      <a:srgbClr val="F3F5F9"/>
                    </a:solidFill>
                  </a:tcPr>
                </a:tc>
                <a:tc>
                  <a:txBody>
                    <a:bodyPr/>
                    <a:lstStyle/>
                    <a:p>
                      <a:pPr algn="ctr"/>
                      <a:r>
                        <a:rPr sz="1200" b="0" i="0">
                          <a:solidFill>
                            <a:srgbClr val="1F2937"/>
                          </a:solidFill>
                          <a:latin typeface="Calibri"/>
                        </a:rPr>
                        <a:t>subset</a:t>
                      </a:r>
                    </a:p>
                  </a:txBody>
                  <a:tcPr marL="54864" marR="54864" marT="27432" marB="27432">
                    <a:solidFill>
                      <a:srgbClr val="F3F5F9"/>
                    </a:solidFill>
                  </a:tcPr>
                </a:tc>
                <a:tc>
                  <a:txBody>
                    <a:bodyPr/>
                    <a:lstStyle/>
                    <a:p>
                      <a:pPr algn="ctr"/>
                      <a:r>
                        <a:rPr sz="1200" b="0" i="0">
                          <a:solidFill>
                            <a:srgbClr val="1F2937"/>
                          </a:solidFill>
                          <a:latin typeface="Calibri"/>
                        </a:rPr>
                        <a:t>same</a:t>
                      </a:r>
                    </a:p>
                  </a:txBody>
                  <a:tcPr marL="54864" marR="54864" marT="27432" marB="27432">
                    <a:solidFill>
                      <a:srgbClr val="F3F5F9"/>
                    </a:solidFill>
                  </a:tcPr>
                </a:tc>
                <a:tc>
                  <a:txBody>
                    <a:bodyPr/>
                    <a:lstStyle/>
                    <a:p>
                      <a:pPr algn="ctr"/>
                      <a:r>
                        <a:rPr sz="1200" b="0" i="0">
                          <a:solidFill>
                            <a:srgbClr val="1F2937"/>
                          </a:solidFill>
                          <a:latin typeface="Calibri"/>
                        </a:rPr>
                        <a:t>labels only for Overworld</a:t>
                      </a:r>
                    </a:p>
                  </a:txBody>
                  <a:tcPr marL="54864" marR="54864" marT="27432" marB="27432">
                    <a:solidFill>
                      <a:srgbClr val="F3F5F9"/>
                    </a:solidFill>
                  </a:tcPr>
                </a:tc>
                <a:tc>
                  <a:txBody>
                    <a:bodyPr/>
                    <a:lstStyle/>
                    <a:p>
                      <a:pPr algn="ctr"/>
                      <a:r>
                        <a:rPr sz="1200" b="0" i="0">
                          <a:solidFill>
                            <a:srgbClr val="1F2937"/>
                          </a:solidFill>
                          <a:latin typeface="Calibri"/>
                        </a:rPr>
                        <a:t>action-generalisation study</a:t>
                      </a:r>
                    </a:p>
                  </a:txBody>
                  <a:tcPr marL="54864" marR="54864" marT="27432" marB="27432">
                    <a:solidFill>
                      <a:srgbClr val="F3F5F9"/>
                    </a:solidFill>
                  </a:tcPr>
                </a:tc>
              </a:tr>
              <a:tr h="457200">
                <a:tc>
                  <a:txBody>
                    <a:bodyPr/>
                    <a:lstStyle/>
                    <a:p>
                      <a:pPr algn="l"/>
                      <a:r>
                        <a:rPr sz="1200" b="0" i="0">
                          <a:solidFill>
                            <a:srgbClr val="1F2937"/>
                          </a:solidFill>
                          <a:latin typeface="Calibri"/>
                        </a:rPr>
                        <a:t>SOAR robotics</a:t>
                      </a:r>
                    </a:p>
                  </a:txBody>
                  <a:tcPr marL="54864" marR="54864" marT="27432" marB="27432">
                    <a:solidFill>
                      <a:srgbClr val="FFFFFF"/>
                    </a:solidFill>
                  </a:tcPr>
                </a:tc>
                <a:tc>
                  <a:txBody>
                    <a:bodyPr/>
                    <a:lstStyle/>
                    <a:p>
                      <a:pPr algn="ctr"/>
                      <a:r>
                        <a:rPr sz="1200" b="0" i="0">
                          <a:solidFill>
                            <a:srgbClr val="1F2937"/>
                          </a:solidFill>
                          <a:latin typeface="Calibri"/>
                        </a:rPr>
                        <a:t>180 h</a:t>
                      </a:r>
                    </a:p>
                  </a:txBody>
                  <a:tcPr marL="54864" marR="54864" marT="27432" marB="27432">
                    <a:solidFill>
                      <a:srgbClr val="FFFFFF"/>
                    </a:solidFill>
                  </a:tcPr>
                </a:tc>
                <a:tc>
                  <a:txBody>
                    <a:bodyPr/>
                    <a:lstStyle/>
                    <a:p>
                      <a:pPr algn="ctr"/>
                      <a:r>
                        <a:rPr sz="1200" b="0" i="0">
                          <a:solidFill>
                            <a:srgbClr val="1F2937"/>
                          </a:solidFill>
                          <a:latin typeface="Calibri"/>
                        </a:rPr>
                        <a:t>256×256, 5 FPS</a:t>
                      </a:r>
                    </a:p>
                  </a:txBody>
                  <a:tcPr marL="54864" marR="54864" marT="27432" marB="27432">
                    <a:solidFill>
                      <a:srgbClr val="FFFFFF"/>
                    </a:solidFill>
                  </a:tcPr>
                </a:tc>
                <a:tc>
                  <a:txBody>
                    <a:bodyPr/>
                    <a:lstStyle/>
                    <a:p>
                      <a:pPr algn="ctr"/>
                      <a:r>
                        <a:rPr sz="1200" b="0" i="0">
                          <a:solidFill>
                            <a:srgbClr val="1F2937"/>
                          </a:solidFill>
                          <a:latin typeface="Calibri"/>
                        </a:rPr>
                        <a:t>7-D relative end-effector</a:t>
                      </a:r>
                    </a:p>
                  </a:txBody>
                  <a:tcPr marL="54864" marR="54864" marT="27432" marB="27432">
                    <a:solidFill>
                      <a:srgbClr val="FFFFFF"/>
                    </a:solidFill>
                  </a:tcPr>
                </a:tc>
                <a:tc>
                  <a:txBody>
                    <a:bodyPr/>
                    <a:lstStyle/>
                    <a:p>
                      <a:pPr algn="ctr"/>
                      <a:r>
                        <a:rPr sz="1200" b="0" i="0">
                          <a:solidFill>
                            <a:srgbClr val="1F2937"/>
                          </a:solidFill>
                          <a:latin typeface="Calibri"/>
                        </a:rPr>
                        <a:t>N_z 512 · C 96 · T 32/128</a:t>
                      </a:r>
                    </a:p>
                  </a:txBody>
                  <a:tcPr marL="54864" marR="54864" marT="27432" marB="27432">
                    <a:solidFill>
                      <a:srgbClr val="FFFFFF"/>
                    </a:solidFill>
                  </a:tcPr>
                </a:tc>
              </a:tr>
              <a:tr h="457200">
                <a:tc>
                  <a:txBody>
                    <a:bodyPr/>
                    <a:lstStyle/>
                    <a:p>
                      <a:pPr algn="l"/>
                      <a:r>
                        <a:rPr sz="1200" b="0" i="0">
                          <a:solidFill>
                            <a:srgbClr val="1F2937"/>
                          </a:solidFill>
                          <a:latin typeface="Calibri"/>
                        </a:rPr>
                        <a:t>Epic Kitchens 100</a:t>
                      </a:r>
                    </a:p>
                  </a:txBody>
                  <a:tcPr marL="54864" marR="54864" marT="27432" marB="27432">
                    <a:solidFill>
                      <a:srgbClr val="F3F5F9"/>
                    </a:solidFill>
                  </a:tcPr>
                </a:tc>
                <a:tc>
                  <a:txBody>
                    <a:bodyPr/>
                    <a:lstStyle/>
                    <a:p>
                      <a:pPr algn="ctr"/>
                      <a:r>
                        <a:rPr sz="1200" b="0" i="0">
                          <a:solidFill>
                            <a:srgbClr val="1F2937"/>
                          </a:solidFill>
                          <a:latin typeface="Calibri"/>
                        </a:rPr>
                        <a:t>100 h</a:t>
                      </a:r>
                    </a:p>
                  </a:txBody>
                  <a:tcPr marL="54864" marR="54864" marT="27432" marB="27432">
                    <a:solidFill>
                      <a:srgbClr val="F3F5F9"/>
                    </a:solidFill>
                  </a:tcPr>
                </a:tc>
                <a:tc>
                  <a:txBody>
                    <a:bodyPr/>
                    <a:lstStyle/>
                    <a:p>
                      <a:pPr algn="ctr"/>
                      <a:r>
                        <a:rPr sz="1200" b="0" i="0">
                          <a:solidFill>
                            <a:srgbClr val="1F2937"/>
                          </a:solidFill>
                          <a:latin typeface="Calibri"/>
                        </a:rPr>
                        <a:t>256×256, 10 FPS</a:t>
                      </a:r>
                    </a:p>
                  </a:txBody>
                  <a:tcPr marL="54864" marR="54864" marT="27432" marB="27432">
                    <a:solidFill>
                      <a:srgbClr val="F3F5F9"/>
                    </a:solidFill>
                  </a:tcPr>
                </a:tc>
                <a:tc>
                  <a:txBody>
                    <a:bodyPr/>
                    <a:lstStyle/>
                    <a:p>
                      <a:pPr algn="ctr"/>
                      <a:r>
                        <a:rPr sz="1200" b="0" i="0">
                          <a:solidFill>
                            <a:srgbClr val="1F2937"/>
                          </a:solidFill>
                          <a:latin typeface="Calibri"/>
                        </a:rPr>
                        <a:t>none</a:t>
                      </a:r>
                    </a:p>
                  </a:txBody>
                  <a:tcPr marL="54864" marR="54864" marT="27432" marB="27432">
                    <a:solidFill>
                      <a:srgbClr val="F3F5F9"/>
                    </a:solidFill>
                  </a:tcPr>
                </a:tc>
                <a:tc>
                  <a:txBody>
                    <a:bodyPr/>
                    <a:lstStyle/>
                    <a:p>
                      <a:pPr algn="ctr"/>
                      <a:r>
                        <a:rPr sz="1200" b="0" i="0">
                          <a:solidFill>
                            <a:srgbClr val="1F2937"/>
                          </a:solidFill>
                          <a:latin typeface="Calibri"/>
                        </a:rPr>
                        <a:t>same as SOAR</a:t>
                      </a:r>
                    </a:p>
                  </a:txBody>
                  <a:tcPr marL="54864" marR="54864" marT="27432" marB="27432">
                    <a:solidFill>
                      <a:srgbClr val="F3F5F9"/>
                    </a:solidFill>
                  </a:tcPr>
                </a:tc>
              </a:tr>
            </a:tbl>
          </a:graphicData>
        </a:graphic>
      </p:graphicFrame>
      <p:graphicFrame>
        <p:nvGraphicFramePr>
          <p:cNvPr id="9" name="Table 8"/>
          <p:cNvGraphicFramePr>
            <a:graphicFrameLocks noGrp="1"/>
          </p:cNvGraphicFramePr>
          <p:nvPr/>
        </p:nvGraphicFramePr>
        <p:xfrm>
          <a:off x="457200" y="3977639"/>
          <a:ext cx="6035040" cy="1828800"/>
        </p:xfrm>
        <a:graphic>
          <a:graphicData uri="http://schemas.openxmlformats.org/drawingml/2006/table">
            <a:tbl>
              <a:tblPr firstRow="1" bandRow="1">
                <a:tableStyleId>{5C22544A-7EE6-4342-B048-85BDC9FD1C3A}</a:tableStyleId>
              </a:tblPr>
              <a:tblGrid>
                <a:gridCol w="2011680"/>
                <a:gridCol w="1280160"/>
                <a:gridCol w="1280160"/>
                <a:gridCol w="1463040"/>
              </a:tblGrid>
              <a:tr h="365760">
                <a:tc>
                  <a:txBody>
                    <a:bodyPr/>
                    <a:lstStyle/>
                    <a:p>
                      <a:pPr algn="l"/>
                      <a:r>
                        <a:rPr sz="1200" b="1" i="0">
                          <a:solidFill>
                            <a:srgbClr val="FFFFFF"/>
                          </a:solidFill>
                          <a:latin typeface="Calibri"/>
                        </a:rPr>
                        <a:t>Agent (Table 3)</a:t>
                      </a:r>
                    </a:p>
                  </a:txBody>
                  <a:tcPr marL="54864" marR="54864" marT="27432" marB="27432">
                    <a:solidFill>
                      <a:srgbClr val="14213D"/>
                    </a:solidFill>
                  </a:tcPr>
                </a:tc>
                <a:tc>
                  <a:txBody>
                    <a:bodyPr/>
                    <a:lstStyle/>
                    <a:p>
                      <a:pPr algn="ctr"/>
                      <a:r>
                        <a:rPr sz="1200" b="1" i="0">
                          <a:solidFill>
                            <a:srgbClr val="FFFFFF"/>
                          </a:solidFill>
                          <a:latin typeface="Calibri"/>
                        </a:rPr>
                        <a:t>Human data</a:t>
                      </a:r>
                    </a:p>
                  </a:txBody>
                  <a:tcPr marL="54864" marR="54864" marT="27432" marB="27432">
                    <a:solidFill>
                      <a:srgbClr val="14213D"/>
                    </a:solidFill>
                  </a:tcPr>
                </a:tc>
                <a:tc>
                  <a:txBody>
                    <a:bodyPr/>
                    <a:lstStyle/>
                    <a:p>
                      <a:pPr algn="ctr"/>
                      <a:r>
                        <a:rPr sz="1200" b="1" i="0">
                          <a:solidFill>
                            <a:srgbClr val="FFFFFF"/>
                          </a:solidFill>
                          <a:latin typeface="Calibri"/>
                        </a:rPr>
                        <a:t>Web video</a:t>
                      </a:r>
                    </a:p>
                  </a:txBody>
                  <a:tcPr marL="54864" marR="54864" marT="27432" marB="27432">
                    <a:solidFill>
                      <a:srgbClr val="14213D"/>
                    </a:solidFill>
                  </a:tcPr>
                </a:tc>
                <a:tc>
                  <a:txBody>
                    <a:bodyPr/>
                    <a:lstStyle/>
                    <a:p>
                      <a:pPr algn="ctr"/>
                      <a:r>
                        <a:rPr sz="1200" b="1" i="0">
                          <a:solidFill>
                            <a:srgbClr val="FFFFFF"/>
                          </a:solidFill>
                          <a:latin typeface="Calibri"/>
                        </a:rPr>
                        <a:t>Online interaction</a:t>
                      </a:r>
                    </a:p>
                  </a:txBody>
                  <a:tcPr marL="54864" marR="54864" marT="27432" marB="27432">
                    <a:solidFill>
                      <a:srgbClr val="14213D"/>
                    </a:solidFill>
                  </a:tcPr>
                </a:tc>
              </a:tr>
              <a:tr h="365760">
                <a:tc>
                  <a:txBody>
                    <a:bodyPr/>
                    <a:lstStyle/>
                    <a:p>
                      <a:pPr algn="l"/>
                      <a:r>
                        <a:rPr sz="1200" b="0" i="0">
                          <a:solidFill>
                            <a:srgbClr val="1F2937"/>
                          </a:solidFill>
                          <a:latin typeface="Calibri"/>
                        </a:rPr>
                        <a:t>VPT (RL fine-tuned)</a:t>
                      </a:r>
                    </a:p>
                  </a:txBody>
                  <a:tcPr marL="54864" marR="54864" marT="27432" marB="27432">
                    <a:solidFill>
                      <a:srgbClr val="FFFFFF"/>
                    </a:solidFill>
                  </a:tcPr>
                </a:tc>
                <a:tc>
                  <a:txBody>
                    <a:bodyPr/>
                    <a:lstStyle/>
                    <a:p>
                      <a:pPr algn="ctr"/>
                      <a:r>
                        <a:rPr sz="1200" b="0" i="0">
                          <a:solidFill>
                            <a:srgbClr val="1F2937"/>
                          </a:solidFill>
                          <a:latin typeface="Calibri"/>
                        </a:rPr>
                        <a:t>2.5 K h</a:t>
                      </a:r>
                    </a:p>
                  </a:txBody>
                  <a:tcPr marL="54864" marR="54864" marT="27432" marB="27432">
                    <a:solidFill>
                      <a:srgbClr val="FFFFFF"/>
                    </a:solidFill>
                  </a:tcPr>
                </a:tc>
                <a:tc>
                  <a:txBody>
                    <a:bodyPr/>
                    <a:lstStyle/>
                    <a:p>
                      <a:pPr algn="ctr"/>
                      <a:r>
                        <a:rPr sz="1200" b="0" i="0">
                          <a:solidFill>
                            <a:srgbClr val="1F2937"/>
                          </a:solidFill>
                          <a:latin typeface="Calibri"/>
                        </a:rPr>
                        <a:t>270 K h</a:t>
                      </a:r>
                    </a:p>
                  </a:txBody>
                  <a:tcPr marL="54864" marR="54864" marT="27432" marB="27432">
                    <a:solidFill>
                      <a:srgbClr val="FFFFFF"/>
                    </a:solidFill>
                  </a:tcPr>
                </a:tc>
                <a:tc>
                  <a:txBody>
                    <a:bodyPr/>
                    <a:lstStyle/>
                    <a:p>
                      <a:pPr algn="ctr"/>
                      <a:r>
                        <a:rPr sz="1200" b="0" i="0">
                          <a:solidFill>
                            <a:srgbClr val="1F2937"/>
                          </a:solidFill>
                          <a:latin typeface="Calibri"/>
                        </a:rPr>
                        <a:t>194 K h</a:t>
                      </a:r>
                    </a:p>
                  </a:txBody>
                  <a:tcPr marL="54864" marR="54864" marT="27432" marB="27432">
                    <a:solidFill>
                      <a:srgbClr val="FFFFFF"/>
                    </a:solidFill>
                  </a:tcPr>
                </a:tc>
              </a:tr>
              <a:tr h="365760">
                <a:tc>
                  <a:txBody>
                    <a:bodyPr/>
                    <a:lstStyle/>
                    <a:p>
                      <a:pPr algn="l"/>
                      <a:r>
                        <a:rPr sz="1200" b="0" i="0">
                          <a:solidFill>
                            <a:srgbClr val="1F2937"/>
                          </a:solidFill>
                          <a:latin typeface="Calibri"/>
                        </a:rPr>
                        <a:t>VPT (BC)</a:t>
                      </a:r>
                    </a:p>
                  </a:txBody>
                  <a:tcPr marL="54864" marR="54864" marT="27432" marB="27432">
                    <a:solidFill>
                      <a:srgbClr val="F3F5F9"/>
                    </a:solidFill>
                  </a:tcPr>
                </a:tc>
                <a:tc>
                  <a:txBody>
                    <a:bodyPr/>
                    <a:lstStyle/>
                    <a:p>
                      <a:pPr algn="ctr"/>
                      <a:r>
                        <a:rPr sz="1200" b="0" i="0">
                          <a:solidFill>
                            <a:srgbClr val="1F2937"/>
                          </a:solidFill>
                          <a:latin typeface="Calibri"/>
                        </a:rPr>
                        <a:t>2.5 K h</a:t>
                      </a:r>
                    </a:p>
                  </a:txBody>
                  <a:tcPr marL="54864" marR="54864" marT="27432" marB="27432">
                    <a:solidFill>
                      <a:srgbClr val="F3F5F9"/>
                    </a:solidFill>
                  </a:tcPr>
                </a:tc>
                <a:tc>
                  <a:txBody>
                    <a:bodyPr/>
                    <a:lstStyle/>
                    <a:p>
                      <a:pPr algn="ctr"/>
                      <a:r>
                        <a:rPr sz="1200" b="0" i="0">
                          <a:solidFill>
                            <a:srgbClr val="1F2937"/>
                          </a:solidFill>
                          <a:latin typeface="Calibri"/>
                        </a:rPr>
                        <a:t>270 K h</a:t>
                      </a:r>
                    </a:p>
                  </a:txBody>
                  <a:tcPr marL="54864" marR="54864" marT="27432" marB="27432">
                    <a:solidFill>
                      <a:srgbClr val="F3F5F9"/>
                    </a:solidFill>
                  </a:tcPr>
                </a:tc>
                <a:tc>
                  <a:txBody>
                    <a:bodyPr/>
                    <a:lstStyle/>
                    <a:p>
                      <a:pPr algn="ctr"/>
                      <a:r>
                        <a:rPr sz="1200" b="0" i="0">
                          <a:solidFill>
                            <a:srgbClr val="1F2937"/>
                          </a:solidFill>
                          <a:latin typeface="Calibri"/>
                        </a:rPr>
                        <a:t>—</a:t>
                      </a:r>
                    </a:p>
                  </a:txBody>
                  <a:tcPr marL="54864" marR="54864" marT="27432" marB="27432">
                    <a:solidFill>
                      <a:srgbClr val="F3F5F9"/>
                    </a:solidFill>
                  </a:tcPr>
                </a:tc>
              </a:tr>
              <a:tr h="365760">
                <a:tc>
                  <a:txBody>
                    <a:bodyPr/>
                    <a:lstStyle/>
                    <a:p>
                      <a:pPr algn="l"/>
                      <a:r>
                        <a:rPr sz="1200" b="0" i="0">
                          <a:solidFill>
                            <a:srgbClr val="1F2937"/>
                          </a:solidFill>
                          <a:latin typeface="Calibri"/>
                        </a:rPr>
                        <a:t>Dreamer 3</a:t>
                      </a:r>
                    </a:p>
                  </a:txBody>
                  <a:tcPr marL="54864" marR="54864" marT="27432" marB="27432">
                    <a:solidFill>
                      <a:srgbClr val="FFFFFF"/>
                    </a:solidFill>
                  </a:tcPr>
                </a:tc>
                <a:tc>
                  <a:txBody>
                    <a:bodyPr/>
                    <a:lstStyle/>
                    <a:p>
                      <a:pPr algn="ctr"/>
                      <a:r>
                        <a:rPr sz="1200" b="0" i="0">
                          <a:solidFill>
                            <a:srgbClr val="1F2937"/>
                          </a:solidFill>
                          <a:latin typeface="Calibri"/>
                        </a:rPr>
                        <a:t>—</a:t>
                      </a:r>
                    </a:p>
                  </a:txBody>
                  <a:tcPr marL="54864" marR="54864" marT="27432" marB="27432">
                    <a:solidFill>
                      <a:srgbClr val="FFFFFF"/>
                    </a:solidFill>
                  </a:tcPr>
                </a:tc>
                <a:tc>
                  <a:txBody>
                    <a:bodyPr/>
                    <a:lstStyle/>
                    <a:p>
                      <a:pPr algn="ctr"/>
                      <a:r>
                        <a:rPr sz="1200" b="0" i="0">
                          <a:solidFill>
                            <a:srgbClr val="1F2937"/>
                          </a:solidFill>
                          <a:latin typeface="Calibri"/>
                        </a:rPr>
                        <a:t>—</a:t>
                      </a:r>
                    </a:p>
                  </a:txBody>
                  <a:tcPr marL="54864" marR="54864" marT="27432" marB="27432">
                    <a:solidFill>
                      <a:srgbClr val="FFFFFF"/>
                    </a:solidFill>
                  </a:tcPr>
                </a:tc>
                <a:tc>
                  <a:txBody>
                    <a:bodyPr/>
                    <a:lstStyle/>
                    <a:p>
                      <a:pPr algn="ctr"/>
                      <a:r>
                        <a:rPr sz="1200" b="0" i="0">
                          <a:solidFill>
                            <a:srgbClr val="1F2937"/>
                          </a:solidFill>
                          <a:latin typeface="Calibri"/>
                        </a:rPr>
                        <a:t>1.4 K h</a:t>
                      </a:r>
                    </a:p>
                  </a:txBody>
                  <a:tcPr marL="54864" marR="54864" marT="27432" marB="27432">
                    <a:solidFill>
                      <a:srgbClr val="FFFFFF"/>
                    </a:solidFill>
                  </a:tcPr>
                </a:tc>
              </a:tr>
              <a:tr h="365760">
                <a:tc>
                  <a:txBody>
                    <a:bodyPr/>
                    <a:lstStyle/>
                    <a:p>
                      <a:pPr algn="l"/>
                      <a:r>
                        <a:rPr sz="1200" b="1" i="0">
                          <a:solidFill>
                            <a:srgbClr val="1F2937"/>
                          </a:solidFill>
                          <a:latin typeface="Calibri"/>
                        </a:rPr>
                        <a:t>Dreamer 4</a:t>
                      </a:r>
                    </a:p>
                  </a:txBody>
                  <a:tcPr marL="54864" marR="54864" marT="27432" marB="27432">
                    <a:solidFill>
                      <a:srgbClr val="E4EBFC"/>
                    </a:solidFill>
                  </a:tcPr>
                </a:tc>
                <a:tc>
                  <a:txBody>
                    <a:bodyPr/>
                    <a:lstStyle/>
                    <a:p>
                      <a:pPr algn="ctr"/>
                      <a:r>
                        <a:rPr sz="1200" b="1" i="0">
                          <a:solidFill>
                            <a:srgbClr val="1F2937"/>
                          </a:solidFill>
                          <a:latin typeface="Calibri"/>
                        </a:rPr>
                        <a:t>2.5 K h</a:t>
                      </a:r>
                    </a:p>
                  </a:txBody>
                  <a:tcPr marL="54864" marR="54864" marT="27432" marB="27432">
                    <a:solidFill>
                      <a:srgbClr val="E4EBFC"/>
                    </a:solidFill>
                  </a:tcPr>
                </a:tc>
                <a:tc>
                  <a:txBody>
                    <a:bodyPr/>
                    <a:lstStyle/>
                    <a:p>
                      <a:pPr algn="ctr"/>
                      <a:r>
                        <a:rPr sz="1200" b="1" i="0">
                          <a:solidFill>
                            <a:srgbClr val="1F2937"/>
                          </a:solidFill>
                          <a:latin typeface="Calibri"/>
                        </a:rPr>
                        <a:t>—</a:t>
                      </a:r>
                    </a:p>
                  </a:txBody>
                  <a:tcPr marL="54864" marR="54864" marT="27432" marB="27432">
                    <a:solidFill>
                      <a:srgbClr val="E4EBFC"/>
                    </a:solidFill>
                  </a:tcPr>
                </a:tc>
                <a:tc>
                  <a:txBody>
                    <a:bodyPr/>
                    <a:lstStyle/>
                    <a:p>
                      <a:pPr algn="ctr"/>
                      <a:r>
                        <a:rPr sz="1200" b="1" i="0">
                          <a:solidFill>
                            <a:srgbClr val="1F2937"/>
                          </a:solidFill>
                          <a:latin typeface="Calibri"/>
                        </a:rPr>
                        <a:t>—</a:t>
                      </a:r>
                    </a:p>
                  </a:txBody>
                  <a:tcPr marL="54864" marR="54864" marT="27432" marB="27432">
                    <a:solidFill>
                      <a:srgbClr val="E4EBFC"/>
                    </a:solidFill>
                  </a:tcPr>
                </a:tc>
              </a:tr>
            </a:tbl>
          </a:graphicData>
        </a:graphic>
      </p:graphicFrame>
      <p:sp>
        <p:nvSpPr>
          <p:cNvPr id="10" name="TextBox 9"/>
          <p:cNvSpPr txBox="1"/>
          <p:nvPr/>
        </p:nvSpPr>
        <p:spPr>
          <a:xfrm>
            <a:off x="6766560" y="4023360"/>
            <a:ext cx="5029200" cy="237744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350" b="1" i="0">
                <a:solidFill>
                  <a:srgbClr val="1F2937"/>
                </a:solidFill>
                <a:latin typeface="Calibri"/>
              </a:rPr>
              <a:t>Compute:</a:t>
            </a:r>
            <a:r>
              <a:rPr sz="1350" b="0" i="0">
                <a:solidFill>
                  <a:srgbClr val="1F2937"/>
                </a:solidFill>
                <a:latin typeface="Calibri"/>
              </a:rPr>
              <a:t> 256–1,024 TPU v5p chips per run (exact chip-hours not disclosed)</a:t>
            </a:r>
          </a:p>
          <a:p>
            <a:pPr marL="256032" indent="-219456">
              <a:lnSpc>
                <a:spcPct val="105000"/>
              </a:lnSpc>
              <a:spcAft>
                <a:spcPts val="600"/>
              </a:spcAft>
              <a:buFont typeface="Arial"/>
              <a:buChar char="•"/>
            </a:pPr>
            <a:r>
              <a:rPr sz="1350" b="1" i="0">
                <a:solidFill>
                  <a:srgbClr val="1F2937"/>
                </a:solidFill>
                <a:latin typeface="Calibri"/>
              </a:rPr>
              <a:t>Ablations:</a:t>
            </a:r>
            <a:r>
              <a:rPr sz="1350" b="0" i="0">
                <a:solidFill>
                  <a:srgbClr val="1F2937"/>
                </a:solidFill>
                <a:latin typeface="Calibri"/>
              </a:rPr>
              <a:t> 48 h runs per configuration</a:t>
            </a:r>
          </a:p>
          <a:p>
            <a:pPr marL="256032" indent="-219456">
              <a:lnSpc>
                <a:spcPct val="105000"/>
              </a:lnSpc>
              <a:spcAft>
                <a:spcPts val="600"/>
              </a:spcAft>
              <a:buFont typeface="Arial"/>
              <a:buChar char="•"/>
            </a:pPr>
            <a:r>
              <a:rPr sz="1350" b="1" i="0">
                <a:solidFill>
                  <a:srgbClr val="1F2937"/>
                </a:solidFill>
                <a:latin typeface="Calibri"/>
              </a:rPr>
              <a:t>Model:</a:t>
            </a:r>
            <a:r>
              <a:rPr sz="1350" b="0" i="0">
                <a:solidFill>
                  <a:srgbClr val="1F2937"/>
                </a:solidFill>
                <a:latin typeface="Calibri"/>
              </a:rPr>
              <a:t> ≈ 2 B parameters total; inference 21 FPS on one H100</a:t>
            </a:r>
          </a:p>
          <a:p>
            <a:pPr marL="256032" indent="-219456">
              <a:lnSpc>
                <a:spcPct val="105000"/>
              </a:lnSpc>
              <a:spcAft>
                <a:spcPts val="600"/>
              </a:spcAft>
              <a:buFont typeface="Arial"/>
              <a:buChar char="•"/>
            </a:pPr>
            <a:r>
              <a:rPr sz="1350" b="1" i="0">
                <a:solidFill>
                  <a:srgbClr val="1F2937"/>
                </a:solidFill>
                <a:latin typeface="Calibri"/>
              </a:rPr>
              <a:t>Not released:</a:t>
            </a:r>
            <a:r>
              <a:rPr sz="1350" b="0" i="0">
                <a:solidFill>
                  <a:srgbClr val="1F2937"/>
                </a:solidFill>
                <a:latin typeface="Calibri"/>
              </a:rPr>
              <a:t> code, weights or data recipe (Hafner: 'probably not') — reproductions exist (Open Dreamer, Dreamer-MC, Hansen's PyTorch 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88920"/>
            <a:ext cx="1097280" cy="73152"/>
          </a:xfrm>
          <a:prstGeom prst="rect">
            <a:avLst/>
          </a:prstGeom>
          <a:solidFill>
            <a:srgbClr val="1FB5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37360"/>
            <a:ext cx="10058400" cy="914400"/>
          </a:xfrm>
          <a:prstGeom prst="rect">
            <a:avLst/>
          </a:prstGeom>
          <a:noFill/>
        </p:spPr>
        <p:txBody>
          <a:bodyPr wrap="square" anchor="t" lIns="45720" rIns="45720" tIns="18288" bIns="18288">
            <a:spAutoFit/>
          </a:bodyPr>
          <a:lstStyle/>
          <a:p>
            <a:pPr algn="l">
              <a:lnSpc>
                <a:spcPct val="105000"/>
              </a:lnSpc>
            </a:pPr>
            <a:r>
              <a:rPr sz="2000" b="1" i="0">
                <a:solidFill>
                  <a:srgbClr val="1FB5A6"/>
                </a:solidFill>
                <a:latin typeface="Calibri"/>
              </a:rPr>
              <a:t>Part 4</a:t>
            </a:r>
          </a:p>
        </p:txBody>
      </p:sp>
      <p:sp>
        <p:nvSpPr>
          <p:cNvPr id="5" name="TextBox 4"/>
          <p:cNvSpPr txBox="1"/>
          <p:nvPr/>
        </p:nvSpPr>
        <p:spPr>
          <a:xfrm>
            <a:off x="822960" y="2971800"/>
            <a:ext cx="10515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Discussion</a:t>
            </a:r>
          </a:p>
        </p:txBody>
      </p:sp>
      <p:sp>
        <p:nvSpPr>
          <p:cNvPr id="6" name="TextBox 5"/>
          <p:cNvSpPr txBox="1"/>
          <p:nvPr/>
        </p:nvSpPr>
        <p:spPr>
          <a:xfrm>
            <a:off x="822960" y="4114800"/>
            <a:ext cx="10058400" cy="1097280"/>
          </a:xfrm>
          <a:prstGeom prst="rect">
            <a:avLst/>
          </a:prstGeom>
          <a:noFill/>
        </p:spPr>
        <p:txBody>
          <a:bodyPr wrap="square" anchor="t" lIns="45720" rIns="45720" tIns="18288" bIns="18288">
            <a:spAutoFit/>
          </a:bodyPr>
          <a:lstStyle/>
          <a:p>
            <a:pPr algn="l">
              <a:lnSpc>
                <a:spcPct val="105000"/>
              </a:lnSpc>
            </a:pPr>
            <a:r>
              <a:rPr sz="2000" b="0" i="0">
                <a:solidFill>
                  <a:srgbClr val="C9D3E6"/>
                </a:solidFill>
                <a:latin typeface="Calibri"/>
              </a:rPr>
              <a:t>Limitations, critical reading, future work, takeaways</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FFFFFF"/>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Limitations the paper itself states</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From the discussion section and the authors' talks</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30</a:t>
            </a:r>
          </a:p>
        </p:txBody>
      </p:sp>
      <p:sp>
        <p:nvSpPr>
          <p:cNvPr id="8" name="TextBox 7"/>
          <p:cNvSpPr txBox="1"/>
          <p:nvPr/>
        </p:nvSpPr>
        <p:spPr>
          <a:xfrm>
            <a:off x="548640" y="1417320"/>
            <a:ext cx="11155680" cy="493776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550" b="1" i="0">
                <a:solidFill>
                  <a:srgbClr val="1F2937"/>
                </a:solidFill>
                <a:latin typeface="Calibri"/>
              </a:rPr>
              <a:t>Diamonds are rare:</a:t>
            </a:r>
            <a:r>
              <a:rPr sz="1550" b="0" i="0">
                <a:solidFill>
                  <a:srgbClr val="1F2937"/>
                </a:solidFill>
                <a:latin typeface="Calibri"/>
              </a:rPr>
              <a:t> 0.7 % success; the authors call the pipeline a 'reliable and performant starting point', not a solved task</a:t>
            </a:r>
          </a:p>
          <a:p>
            <a:pPr marL="256032" indent="-219456">
              <a:lnSpc>
                <a:spcPct val="105000"/>
              </a:lnSpc>
              <a:spcAft>
                <a:spcPts val="600"/>
              </a:spcAft>
              <a:buFont typeface="Arial"/>
              <a:buChar char="•"/>
            </a:pPr>
            <a:r>
              <a:rPr sz="1550" b="1" i="0">
                <a:solidFill>
                  <a:srgbClr val="1F2937"/>
                </a:solidFill>
                <a:latin typeface="Calibri"/>
              </a:rPr>
              <a:t>Memory:</a:t>
            </a:r>
            <a:r>
              <a:rPr sz="1550" b="0" i="0">
                <a:solidFill>
                  <a:srgbClr val="1F2937"/>
                </a:solidFill>
                <a:latin typeface="Calibri"/>
              </a:rPr>
              <a:t> 9.6 s of context; walk into a house for 30 s and the outside is regenerated — long-term memory is the number-one item on the roadmap</a:t>
            </a:r>
          </a:p>
          <a:p>
            <a:pPr marL="256032" indent="-219456">
              <a:lnSpc>
                <a:spcPct val="105000"/>
              </a:lnSpc>
              <a:spcAft>
                <a:spcPts val="600"/>
              </a:spcAft>
              <a:buFont typeface="Arial"/>
              <a:buChar char="•"/>
            </a:pPr>
            <a:r>
              <a:rPr sz="1550" b="1" i="0">
                <a:solidFill>
                  <a:srgbClr val="1F2937"/>
                </a:solidFill>
                <a:latin typeface="Calibri"/>
              </a:rPr>
              <a:t>Inventory drift:</a:t>
            </a:r>
            <a:r>
              <a:rPr sz="1550" b="0" i="0">
                <a:solidFill>
                  <a:srgbClr val="1F2937"/>
                </a:solidFill>
                <a:latin typeface="Calibri"/>
              </a:rPr>
              <a:t> small UI elements and item counts blur over long horizons; small objects and long-range semantic correlations are what video models learn last</a:t>
            </a:r>
          </a:p>
          <a:p>
            <a:pPr marL="256032" indent="-219456">
              <a:lnSpc>
                <a:spcPct val="105000"/>
              </a:lnSpc>
              <a:spcAft>
                <a:spcPts val="600"/>
              </a:spcAft>
              <a:buFont typeface="Arial"/>
              <a:buChar char="•"/>
            </a:pPr>
            <a:r>
              <a:rPr sz="1550" b="1" i="0">
                <a:solidFill>
                  <a:srgbClr val="1F2937"/>
                </a:solidFill>
                <a:latin typeface="Calibri"/>
              </a:rPr>
              <a:t>Frozen, exploitable simulator:</a:t>
            </a:r>
            <a:r>
              <a:rPr sz="1550" b="0" i="0">
                <a:solidFill>
                  <a:srgbClr val="1F2937"/>
                </a:solidFill>
                <a:latin typeface="Calibri"/>
              </a:rPr>
              <a:t> no epistemic-uncertainty estimate; the policy can exploit model errors (invalid crafting) — currently mitigated only by the KL constraint</a:t>
            </a:r>
          </a:p>
          <a:p>
            <a:pPr marL="256032" indent="-219456">
              <a:lnSpc>
                <a:spcPct val="105000"/>
              </a:lnSpc>
              <a:spcAft>
                <a:spcPts val="600"/>
              </a:spcAft>
              <a:buFont typeface="Arial"/>
              <a:buChar char="•"/>
            </a:pPr>
            <a:r>
              <a:rPr sz="1550" b="1" i="0">
                <a:solidFill>
                  <a:srgbClr val="1F2937"/>
                </a:solidFill>
                <a:latin typeface="Calibri"/>
              </a:rPr>
              <a:t>Two-stage training:</a:t>
            </a:r>
            <a:r>
              <a:rPr sz="1550" b="0" i="0">
                <a:solidFill>
                  <a:srgbClr val="1F2937"/>
                </a:solidFill>
                <a:latin typeface="Calibri"/>
              </a:rPr>
              <a:t> tokenizer is trained separately and frozen; the authors expect end-to-end training eventually</a:t>
            </a:r>
          </a:p>
          <a:p>
            <a:pPr marL="256032" indent="-219456">
              <a:lnSpc>
                <a:spcPct val="105000"/>
              </a:lnSpc>
              <a:spcAft>
                <a:spcPts val="600"/>
              </a:spcAft>
              <a:buFont typeface="Arial"/>
              <a:buChar char="•"/>
            </a:pPr>
            <a:r>
              <a:rPr sz="1550" b="1" i="0">
                <a:solidFill>
                  <a:srgbClr val="1F2937"/>
                </a:solidFill>
                <a:latin typeface="Calibri"/>
              </a:rPr>
              <a:t>Single domain for the agent:</a:t>
            </a:r>
            <a:r>
              <a:rPr sz="1550" b="0" i="0">
                <a:solidFill>
                  <a:srgbClr val="1F2937"/>
                </a:solidFill>
                <a:latin typeface="Calibri"/>
              </a:rPr>
              <a:t> RL results exist only for Minecraft; robotics and kitchen video are qualitative world-model demos</a:t>
            </a:r>
          </a:p>
          <a:p>
            <a:pPr marL="256032" indent="-219456">
              <a:lnSpc>
                <a:spcPct val="105000"/>
              </a:lnSpc>
              <a:spcAft>
                <a:spcPts val="600"/>
              </a:spcAft>
              <a:buFont typeface="Arial"/>
              <a:buChar char="•"/>
            </a:pPr>
            <a:r>
              <a:rPr sz="1550" b="1" i="0">
                <a:solidFill>
                  <a:srgbClr val="1F2937"/>
                </a:solidFill>
                <a:latin typeface="Calibri"/>
              </a:rPr>
              <a:t>Compute:</a:t>
            </a:r>
            <a:r>
              <a:rPr sz="1550" b="0" i="0">
                <a:solidFill>
                  <a:srgbClr val="1F2937"/>
                </a:solidFill>
                <a:latin typeface="Calibri"/>
              </a:rPr>
              <a:t> hundreds of TPU v5p chips per run; not a recipe individuals can reproduce at full scale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 critical reading: established vs. open</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What a reviewer would push on (and what independent groups later found)</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31</a:t>
            </a:r>
          </a:p>
        </p:txBody>
      </p:sp>
      <p:sp>
        <p:nvSpPr>
          <p:cNvPr id="8" name="Rounded Rectangle 7"/>
          <p:cNvSpPr/>
          <p:nvPr/>
        </p:nvSpPr>
        <p:spPr>
          <a:xfrm>
            <a:off x="457200" y="1463040"/>
            <a:ext cx="5577840" cy="4754880"/>
          </a:xfrm>
          <a:prstGeom prst="roundRect">
            <a:avLst>
              <a:gd name="adj" fmla="val 8000"/>
            </a:avLst>
          </a:prstGeom>
          <a:solidFill>
            <a:srgbClr val="E6F7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536192"/>
            <a:ext cx="5358384" cy="365760"/>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Well supported</a:t>
            </a:r>
          </a:p>
        </p:txBody>
      </p:sp>
      <p:sp>
        <p:nvSpPr>
          <p:cNvPr id="10" name="TextBox 9"/>
          <p:cNvSpPr txBox="1"/>
          <p:nvPr/>
        </p:nvSpPr>
        <p:spPr>
          <a:xfrm>
            <a:off x="566928" y="1920240"/>
            <a:ext cx="5358384" cy="4251960"/>
          </a:xfrm>
          <a:prstGeom prst="rect">
            <a:avLst/>
          </a:prstGeom>
          <a:noFill/>
        </p:spPr>
        <p:txBody>
          <a:bodyPr wrap="square" anchor="t" lIns="45720" rIns="45720" tIns="18288" bIns="18288">
            <a:spAutoFit/>
          </a:bodyPr>
          <a:lstStyle/>
          <a:p>
            <a:pPr algn="l">
              <a:lnSpc>
                <a:spcPct val="105000"/>
              </a:lnSpc>
            </a:pPr>
            <a:r>
              <a:rPr sz="1300" b="0" i="0">
                <a:solidFill>
                  <a:srgbClr val="1F2937"/>
                </a:solidFill>
                <a:latin typeface="Calibri"/>
              </a:rPr>
              <a:t>• Shortcut forcing + x-prediction gives a large speed/quality win — a clean 12-step ablation cascade, and reproduced by Open Dreamer at 1.6 B scale (JAX, 2026).</a:t>
            </a:r>
          </a:p>
          <a:p>
            <a:pPr algn="l">
              <a:lnSpc>
                <a:spcPct val="105000"/>
              </a:lnSpc>
            </a:pPr>
            <a:r>
              <a:rPr sz="1300" b="0" i="0">
                <a:solidFill>
                  <a:srgbClr val="1F2937"/>
                </a:solidFill>
                <a:latin typeface="Calibri"/>
              </a:rPr>
              <a:t>• The world model handles object interactions far better than Oasis / Lucid-v1 — consistent human play-tests plus long-rollout FVD.</a:t>
            </a:r>
          </a:p>
          <a:p>
            <a:pPr algn="l">
              <a:lnSpc>
                <a:spcPct val="105000"/>
              </a:lnSpc>
            </a:pPr>
            <a:r>
              <a:rPr sz="1300" b="0" i="0">
                <a:solidFill>
                  <a:srgbClr val="1F2937"/>
                </a:solidFill>
                <a:latin typeface="Calibri"/>
              </a:rPr>
              <a:t>• World-model features are a strong prior for imitation (WM+BC ≫ BC on the same data).</a:t>
            </a:r>
          </a:p>
          <a:p>
            <a:pPr algn="l">
              <a:lnSpc>
                <a:spcPct val="105000"/>
              </a:lnSpc>
            </a:pPr>
            <a:r>
              <a:rPr sz="1300" b="0" i="0">
                <a:solidFill>
                  <a:srgbClr val="1F2937"/>
                </a:solidFill>
                <a:latin typeface="Calibri"/>
              </a:rPr>
              <a:t>• Action conditioning from ~4 % labeled data works and transfers across visual domains.</a:t>
            </a:r>
          </a:p>
        </p:txBody>
      </p:sp>
      <p:sp>
        <p:nvSpPr>
          <p:cNvPr id="11" name="Rounded Rectangle 10"/>
          <p:cNvSpPr/>
          <p:nvPr/>
        </p:nvSpPr>
        <p:spPr>
          <a:xfrm>
            <a:off x="6172200" y="1463040"/>
            <a:ext cx="5577840" cy="4754880"/>
          </a:xfrm>
          <a:prstGeom prst="roundRect">
            <a:avLst>
              <a:gd name="adj" fmla="val 8000"/>
            </a:avLst>
          </a:prstGeom>
          <a:solidFill>
            <a:srgbClr val="FDF1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81928" y="1536192"/>
            <a:ext cx="5358384" cy="365760"/>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Open or thinly supported</a:t>
            </a:r>
          </a:p>
        </p:txBody>
      </p:sp>
      <p:sp>
        <p:nvSpPr>
          <p:cNvPr id="13" name="TextBox 12"/>
          <p:cNvSpPr txBox="1"/>
          <p:nvPr/>
        </p:nvSpPr>
        <p:spPr>
          <a:xfrm>
            <a:off x="6281928" y="1920240"/>
            <a:ext cx="5358384" cy="4251960"/>
          </a:xfrm>
          <a:prstGeom prst="rect">
            <a:avLst/>
          </a:prstGeom>
          <a:noFill/>
        </p:spPr>
        <p:txBody>
          <a:bodyPr wrap="square" anchor="t" lIns="45720" rIns="45720" tIns="18288" bIns="18288">
            <a:spAutoFit/>
          </a:bodyPr>
          <a:lstStyle/>
          <a:p>
            <a:pPr algn="l">
              <a:lnSpc>
                <a:spcPct val="105000"/>
              </a:lnSpc>
            </a:pPr>
            <a:r>
              <a:rPr sz="1300" b="0" i="0">
                <a:solidFill>
                  <a:srgbClr val="1F2937"/>
                </a:solidFill>
                <a:latin typeface="Calibri"/>
              </a:rPr>
              <a:t>• Diamond result: 0.7 % without confidence intervals or per-seed variance; success criterion is a game event, protocol details are in the appendix only.</a:t>
            </a:r>
          </a:p>
          <a:p>
            <a:pPr algn="l">
              <a:lnSpc>
                <a:spcPct val="105000"/>
              </a:lnSpc>
            </a:pPr>
            <a:r>
              <a:rPr sz="1300" b="0" i="0">
                <a:solidFill>
                  <a:srgbClr val="1F2937"/>
                </a:solidFill>
                <a:latin typeface="Calibri"/>
              </a:rPr>
              <a:t>• No direct quantitative long-horizon accuracy metric — interaction accuracy is human-judged on 16 tasks (Pith/EmergentMind critique).</a:t>
            </a:r>
          </a:p>
          <a:p>
            <a:pPr algn="l">
              <a:lnSpc>
                <a:spcPct val="105000"/>
              </a:lnSpc>
            </a:pPr>
            <a:r>
              <a:rPr sz="1300" b="0" i="0">
                <a:solidFill>
                  <a:srgbClr val="1F2937"/>
                </a:solidFill>
                <a:latin typeface="Calibri"/>
              </a:rPr>
              <a:t>• RL gains over WM+BC are modest on most items; small-scale reproductions report high seed variance in the RL phase and reward-hacking of the frozen reward head.</a:t>
            </a:r>
          </a:p>
          <a:p>
            <a:pPr algn="l">
              <a:lnSpc>
                <a:spcPct val="105000"/>
              </a:lnSpc>
            </a:pPr>
            <a:r>
              <a:rPr sz="1300" b="0" i="0">
                <a:solidFill>
                  <a:srgbClr val="1F2937"/>
                </a:solidFill>
                <a:latin typeface="Calibri"/>
              </a:rPr>
              <a:t>• No peer review as of Sept 2026 (arXiv v1 only); no code or weights; nobody outside DeepMind has reproduced offline diamonds.</a:t>
            </a:r>
          </a:p>
          <a:p>
            <a:pPr algn="l">
              <a:lnSpc>
                <a:spcPct val="105000"/>
              </a:lnSpc>
            </a:pPr>
            <a:r>
              <a:rPr sz="1300" b="0" i="0">
                <a:solidFill>
                  <a:srgbClr val="1F2937"/>
                </a:solidFill>
                <a:latin typeface="Calibri"/>
              </a:rPr>
              <a:t>• Generality of the </a:t>
            </a:r>
            <a:r>
              <a:rPr sz="1300" b="0" i="1">
                <a:solidFill>
                  <a:srgbClr val="1F2937"/>
                </a:solidFill>
                <a:latin typeface="Calibri"/>
              </a:rPr>
              <a:t>agent</a:t>
            </a:r>
            <a:r>
              <a:rPr sz="1300" b="0" i="0">
                <a:solidFill>
                  <a:srgbClr val="1F2937"/>
                </a:solidFill>
                <a:latin typeface="Calibri"/>
              </a:rPr>
              <a:t> beyond Minecraft is untested.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Where the authors want to take it</a:t>
            </a:r>
          </a:p>
        </p:txBody>
      </p:sp>
      <p:sp>
        <p:nvSpPr>
          <p:cNvPr id="5" name="TextBox 4"/>
          <p:cNvSpPr txBox="1"/>
          <p:nvPr/>
        </p:nvSpPr>
        <p:spPr>
          <a:xfrm>
            <a:off x="475488" y="896112"/>
            <a:ext cx="11247120" cy="411480"/>
          </a:xfrm>
          <a:prstGeom prst="rect">
            <a:avLst/>
          </a:prstGeom>
          <a:noFill/>
        </p:spPr>
        <p:txBody>
          <a:bodyPr wrap="square" anchor="t" lIns="45720" rIns="45720" tIns="18288" bIns="18288">
            <a:spAutoFit/>
          </a:bodyPr>
          <a:lstStyle/>
          <a:p>
            <a:pPr algn="l">
              <a:lnSpc>
                <a:spcPct val="105000"/>
              </a:lnSpc>
            </a:pPr>
            <a:r>
              <a:rPr sz="1500" b="0" i="0">
                <a:solidFill>
                  <a:srgbClr val="6B7280"/>
                </a:solidFill>
                <a:latin typeface="Calibri"/>
              </a:rPr>
              <a:t>Future work listed in the paper and expanded in the TalkRL interview (Nov 2025)</a:t>
            </a:r>
          </a:p>
        </p:txBody>
      </p:sp>
      <p:sp>
        <p:nvSpPr>
          <p:cNvPr id="6" name="TextBox 5"/>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7" name="TextBox 6"/>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32</a:t>
            </a:r>
          </a:p>
        </p:txBody>
      </p:sp>
      <p:sp>
        <p:nvSpPr>
          <p:cNvPr id="8" name="Rounded Rectangle 7"/>
          <p:cNvSpPr/>
          <p:nvPr/>
        </p:nvSpPr>
        <p:spPr>
          <a:xfrm>
            <a:off x="457200" y="1463040"/>
            <a:ext cx="3657600" cy="2194560"/>
          </a:xfrm>
          <a:prstGeom prst="roundRect">
            <a:avLst>
              <a:gd name="adj" fmla="val 8000"/>
            </a:avLst>
          </a:prstGeom>
          <a:solidFill>
            <a:srgbClr val="E4E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536192"/>
            <a:ext cx="3438144" cy="365760"/>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Internet-video pretraining</a:t>
            </a:r>
          </a:p>
        </p:txBody>
      </p:sp>
      <p:sp>
        <p:nvSpPr>
          <p:cNvPr id="10" name="TextBox 9"/>
          <p:cNvSpPr txBox="1"/>
          <p:nvPr/>
        </p:nvSpPr>
        <p:spPr>
          <a:xfrm>
            <a:off x="566928" y="1920240"/>
            <a:ext cx="3438144" cy="1691640"/>
          </a:xfrm>
          <a:prstGeom prst="rect">
            <a:avLst/>
          </a:prstGeom>
          <a:noFill/>
        </p:spPr>
        <p:txBody>
          <a:bodyPr wrap="square" anchor="t" lIns="45720" rIns="45720" tIns="18288" bIns="18288">
            <a:spAutoFit/>
          </a:bodyPr>
          <a:lstStyle/>
          <a:p>
            <a:pPr algn="l">
              <a:lnSpc>
                <a:spcPct val="105000"/>
              </a:lnSpc>
            </a:pPr>
            <a:r>
              <a:rPr sz="1300" b="0" i="0">
                <a:solidFill>
                  <a:srgbClr val="1F2937"/>
                </a:solidFill>
                <a:latin typeface="Calibri"/>
              </a:rPr>
              <a:t>Learn dynamics from unlabeled web video; label only a small slice with actions (Fig. 7 is the proof of concept).</a:t>
            </a:r>
          </a:p>
        </p:txBody>
      </p:sp>
      <p:sp>
        <p:nvSpPr>
          <p:cNvPr id="11" name="Rounded Rectangle 10"/>
          <p:cNvSpPr/>
          <p:nvPr/>
        </p:nvSpPr>
        <p:spPr>
          <a:xfrm>
            <a:off x="4270248" y="1463040"/>
            <a:ext cx="3657600" cy="219456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9976" y="1536192"/>
            <a:ext cx="3438144" cy="365760"/>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Long-term memory</a:t>
            </a:r>
          </a:p>
        </p:txBody>
      </p:sp>
      <p:sp>
        <p:nvSpPr>
          <p:cNvPr id="13" name="TextBox 12"/>
          <p:cNvSpPr txBox="1"/>
          <p:nvPr/>
        </p:nvSpPr>
        <p:spPr>
          <a:xfrm>
            <a:off x="4379976" y="1920240"/>
            <a:ext cx="3438144" cy="1691640"/>
          </a:xfrm>
          <a:prstGeom prst="rect">
            <a:avLst/>
          </a:prstGeom>
          <a:noFill/>
        </p:spPr>
        <p:txBody>
          <a:bodyPr wrap="square" anchor="t" lIns="45720" rIns="45720" tIns="18288" bIns="18288">
            <a:spAutoFit/>
          </a:bodyPr>
          <a:lstStyle/>
          <a:p>
            <a:pPr algn="l">
              <a:lnSpc>
                <a:spcPct val="105000"/>
              </a:lnSpc>
            </a:pPr>
            <a:r>
              <a:rPr sz="1300" b="0" i="0">
                <a:solidFill>
                  <a:srgbClr val="1F2937"/>
                </a:solidFill>
                <a:latin typeface="Calibri"/>
              </a:rPr>
              <a:t>Beyond 9.6 s: retrieval or compressed memory so the world stays consistent when you look away.</a:t>
            </a:r>
          </a:p>
        </p:txBody>
      </p:sp>
      <p:sp>
        <p:nvSpPr>
          <p:cNvPr id="14" name="Rounded Rectangle 13"/>
          <p:cNvSpPr/>
          <p:nvPr/>
        </p:nvSpPr>
        <p:spPr>
          <a:xfrm>
            <a:off x="8083296" y="1463040"/>
            <a:ext cx="3657600" cy="2194560"/>
          </a:xfrm>
          <a:prstGeom prst="roundRect">
            <a:avLst>
              <a:gd name="adj" fmla="val 8000"/>
            </a:avLst>
          </a:prstGeom>
          <a:solidFill>
            <a:srgbClr val="E4E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3024" y="1536192"/>
            <a:ext cx="3438144" cy="365760"/>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Language conditioning</a:t>
            </a:r>
          </a:p>
        </p:txBody>
      </p:sp>
      <p:sp>
        <p:nvSpPr>
          <p:cNvPr id="16" name="TextBox 15"/>
          <p:cNvSpPr txBox="1"/>
          <p:nvPr/>
        </p:nvSpPr>
        <p:spPr>
          <a:xfrm>
            <a:off x="8193024" y="1920240"/>
            <a:ext cx="3438144" cy="1691640"/>
          </a:xfrm>
          <a:prstGeom prst="rect">
            <a:avLst/>
          </a:prstGeom>
          <a:noFill/>
        </p:spPr>
        <p:txBody>
          <a:bodyPr wrap="square" anchor="t" lIns="45720" rIns="45720" tIns="18288" bIns="18288">
            <a:spAutoFit/>
          </a:bodyPr>
          <a:lstStyle/>
          <a:p>
            <a:pPr algn="l">
              <a:lnSpc>
                <a:spcPct val="105000"/>
              </a:lnSpc>
            </a:pPr>
            <a:r>
              <a:rPr sz="1300" b="0" i="0">
                <a:solidFill>
                  <a:srgbClr val="1F2937"/>
                </a:solidFill>
                <a:latin typeface="Calibri"/>
              </a:rPr>
              <a:t>Replace one-hot task IDs with text embeddings; scalar task-conditioned reward already anticipates open-vocabulary tasks.</a:t>
            </a:r>
          </a:p>
        </p:txBody>
      </p:sp>
      <p:sp>
        <p:nvSpPr>
          <p:cNvPr id="17" name="Rounded Rectangle 16"/>
          <p:cNvSpPr/>
          <p:nvPr/>
        </p:nvSpPr>
        <p:spPr>
          <a:xfrm>
            <a:off x="457200" y="3840480"/>
            <a:ext cx="3657600" cy="219456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913632"/>
            <a:ext cx="3438144" cy="365760"/>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A little online data</a:t>
            </a:r>
          </a:p>
        </p:txBody>
      </p:sp>
      <p:sp>
        <p:nvSpPr>
          <p:cNvPr id="19" name="TextBox 18"/>
          <p:cNvSpPr txBox="1"/>
          <p:nvPr/>
        </p:nvSpPr>
        <p:spPr>
          <a:xfrm>
            <a:off x="566928" y="4297680"/>
            <a:ext cx="3438144" cy="1691640"/>
          </a:xfrm>
          <a:prstGeom prst="rect">
            <a:avLst/>
          </a:prstGeom>
          <a:noFill/>
        </p:spPr>
        <p:txBody>
          <a:bodyPr wrap="square" anchor="t" lIns="45720" rIns="45720" tIns="18288" bIns="18288">
            <a:spAutoFit/>
          </a:bodyPr>
          <a:lstStyle/>
          <a:p>
            <a:pPr algn="l">
              <a:lnSpc>
                <a:spcPct val="105000"/>
              </a:lnSpc>
            </a:pPr>
            <a:r>
              <a:rPr sz="1300" b="0" i="0">
                <a:solidFill>
                  <a:srgbClr val="1F2937"/>
                </a:solidFill>
                <a:latin typeface="Calibri"/>
              </a:rPr>
              <a:t>Small rounds of </a:t>
            </a:r>
            <a:r>
              <a:rPr sz="1300" b="0" i="1">
                <a:solidFill>
                  <a:srgbClr val="1F2937"/>
                </a:solidFill>
                <a:latin typeface="Calibri"/>
              </a:rPr>
              <a:t>corrective</a:t>
            </a:r>
            <a:r>
              <a:rPr sz="1300" b="0" i="0">
                <a:solidFill>
                  <a:srgbClr val="1F2937"/>
                </a:solidFill>
                <a:latin typeface="Calibri"/>
              </a:rPr>
              <a:t> interaction to fix the errors the policy exploits — then the KL constraint can be relaxed.</a:t>
            </a:r>
          </a:p>
        </p:txBody>
      </p:sp>
      <p:sp>
        <p:nvSpPr>
          <p:cNvPr id="20" name="Rounded Rectangle 19"/>
          <p:cNvSpPr/>
          <p:nvPr/>
        </p:nvSpPr>
        <p:spPr>
          <a:xfrm>
            <a:off x="4270248" y="3840480"/>
            <a:ext cx="3657600" cy="2194560"/>
          </a:xfrm>
          <a:prstGeom prst="roundRect">
            <a:avLst>
              <a:gd name="adj" fmla="val 8000"/>
            </a:avLst>
          </a:prstGeom>
          <a:solidFill>
            <a:srgbClr val="E4E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9976" y="3913632"/>
            <a:ext cx="3438144" cy="365760"/>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Automatic goal discovery</a:t>
            </a:r>
          </a:p>
        </p:txBody>
      </p:sp>
      <p:sp>
        <p:nvSpPr>
          <p:cNvPr id="22" name="TextBox 21"/>
          <p:cNvSpPr txBox="1"/>
          <p:nvPr/>
        </p:nvSpPr>
        <p:spPr>
          <a:xfrm>
            <a:off x="4379976" y="4297680"/>
            <a:ext cx="3438144" cy="1691640"/>
          </a:xfrm>
          <a:prstGeom prst="rect">
            <a:avLst/>
          </a:prstGeom>
          <a:noFill/>
        </p:spPr>
        <p:txBody>
          <a:bodyPr wrap="square" anchor="t" lIns="45720" rIns="45720" tIns="18288" bIns="18288">
            <a:spAutoFit/>
          </a:bodyPr>
          <a:lstStyle/>
          <a:p>
            <a:pPr algn="l">
              <a:lnSpc>
                <a:spcPct val="105000"/>
              </a:lnSpc>
            </a:pPr>
            <a:r>
              <a:rPr sz="1300" b="0" i="0">
                <a:solidFill>
                  <a:srgbClr val="1F2937"/>
                </a:solidFill>
                <a:latin typeface="Calibri"/>
              </a:rPr>
              <a:t>Empowerment / exploration objectives (APD, Plan2Explore, Director) so agents propose their own tasks inside the model.</a:t>
            </a:r>
          </a:p>
        </p:txBody>
      </p:sp>
      <p:sp>
        <p:nvSpPr>
          <p:cNvPr id="23" name="Rounded Rectangle 22"/>
          <p:cNvSpPr/>
          <p:nvPr/>
        </p:nvSpPr>
        <p:spPr>
          <a:xfrm>
            <a:off x="8083296" y="3840480"/>
            <a:ext cx="3657600" cy="219456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93024" y="3913632"/>
            <a:ext cx="3438144" cy="365760"/>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End-to-end training</a:t>
            </a:r>
          </a:p>
        </p:txBody>
      </p:sp>
      <p:sp>
        <p:nvSpPr>
          <p:cNvPr id="25" name="TextBox 24"/>
          <p:cNvSpPr txBox="1"/>
          <p:nvPr/>
        </p:nvSpPr>
        <p:spPr>
          <a:xfrm>
            <a:off x="8193024" y="4297680"/>
            <a:ext cx="3438144" cy="1691640"/>
          </a:xfrm>
          <a:prstGeom prst="rect">
            <a:avLst/>
          </a:prstGeom>
          <a:noFill/>
        </p:spPr>
        <p:txBody>
          <a:bodyPr wrap="square" anchor="t" lIns="45720" rIns="45720" tIns="18288" bIns="18288">
            <a:spAutoFit/>
          </a:bodyPr>
          <a:lstStyle/>
          <a:p>
            <a:pPr algn="l">
              <a:lnSpc>
                <a:spcPct val="105000"/>
              </a:lnSpc>
            </a:pPr>
            <a:r>
              <a:rPr sz="1300" b="0" i="0">
                <a:solidFill>
                  <a:srgbClr val="1F2937"/>
                </a:solidFill>
                <a:latin typeface="Calibri"/>
              </a:rPr>
              <a:t>Fold the tokenizer into the dynamics model; scale parameters and context together.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Key takeaways</a:t>
            </a:r>
          </a:p>
        </p:txBody>
      </p:sp>
      <p:sp>
        <p:nvSpPr>
          <p:cNvPr id="5" name="TextBox 4"/>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6" name="TextBox 5"/>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33</a:t>
            </a:r>
          </a:p>
        </p:txBody>
      </p:sp>
      <p:sp>
        <p:nvSpPr>
          <p:cNvPr id="7" name="TextBox 6"/>
          <p:cNvSpPr txBox="1"/>
          <p:nvPr/>
        </p:nvSpPr>
        <p:spPr>
          <a:xfrm>
            <a:off x="640080" y="1463040"/>
            <a:ext cx="10972800" cy="4846320"/>
          </a:xfrm>
          <a:prstGeom prst="rect">
            <a:avLst/>
          </a:prstGeom>
          <a:noFill/>
        </p:spPr>
        <p:txBody>
          <a:bodyPr wrap="square" lIns="45720" rIns="45720">
            <a:spAutoFit/>
          </a:bodyPr>
          <a:lstStyle/>
          <a:p>
            <a:pPr marL="256032" indent="-219456">
              <a:lnSpc>
                <a:spcPct val="105000"/>
              </a:lnSpc>
              <a:spcAft>
                <a:spcPts val="1000"/>
              </a:spcAft>
              <a:buFont typeface="Arial"/>
              <a:buChar char="•"/>
            </a:pPr>
            <a:r>
              <a:rPr sz="1600" b="1" i="0">
                <a:solidFill>
                  <a:srgbClr val="1F2937"/>
                </a:solidFill>
                <a:latin typeface="Calibri"/>
              </a:rPr>
              <a:t>1. Imagination training now works from raw pixels and raw inputs, offline.</a:t>
            </a:r>
            <a:r>
              <a:rPr sz="1600" b="0" i="0">
                <a:solidFill>
                  <a:srgbClr val="1F2937"/>
                </a:solidFill>
                <a:latin typeface="Calibri"/>
              </a:rPr>
              <a:t> Dreamer 4 reaches diamonds in Minecraft with zero environment interaction and ~100× less data than VPT.</a:t>
            </a:r>
          </a:p>
          <a:p>
            <a:pPr marL="256032" indent="-219456">
              <a:lnSpc>
                <a:spcPct val="105000"/>
              </a:lnSpc>
              <a:spcAft>
                <a:spcPts val="1000"/>
              </a:spcAft>
              <a:buFont typeface="Arial"/>
              <a:buChar char="•"/>
            </a:pPr>
            <a:r>
              <a:rPr sz="1600" b="1" i="0">
                <a:solidFill>
                  <a:srgbClr val="1F2937"/>
                </a:solidFill>
                <a:latin typeface="Calibri"/>
              </a:rPr>
              <a:t>2. The enabling contribution is speed at quality:</a:t>
            </a:r>
            <a:r>
              <a:rPr sz="1600" b="0" i="0">
                <a:solidFill>
                  <a:srgbClr val="1F2937"/>
                </a:solidFill>
                <a:latin typeface="Calibri"/>
              </a:rPr>
              <a:t> shortcut forcing (4 sampling steps), x-prediction with x-space loss, and an architecture that attends across time only every 4th layer — 21 FPS on one GPU with a 9.6 s context.</a:t>
            </a:r>
          </a:p>
          <a:p>
            <a:pPr marL="256032" indent="-219456">
              <a:lnSpc>
                <a:spcPct val="105000"/>
              </a:lnSpc>
              <a:spcAft>
                <a:spcPts val="1000"/>
              </a:spcAft>
              <a:buFont typeface="Arial"/>
              <a:buChar char="•"/>
            </a:pPr>
            <a:r>
              <a:rPr sz="1600" b="1" i="0">
                <a:solidFill>
                  <a:srgbClr val="1F2937"/>
                </a:solidFill>
                <a:latin typeface="Calibri"/>
              </a:rPr>
              <a:t>3. Accuracy of interactions, not visual polish, is the bar</a:t>
            </a:r>
            <a:r>
              <a:rPr sz="1600" b="0" i="0">
                <a:solidFill>
                  <a:srgbClr val="1F2937"/>
                </a:solidFill>
                <a:latin typeface="Calibri"/>
              </a:rPr>
              <a:t> — validated by humans playing inside the model (14/16 tasks vs 5/16 for the best prior model).</a:t>
            </a:r>
          </a:p>
          <a:p>
            <a:pPr marL="256032" indent="-219456">
              <a:lnSpc>
                <a:spcPct val="105000"/>
              </a:lnSpc>
              <a:spcAft>
                <a:spcPts val="1000"/>
              </a:spcAft>
              <a:buFont typeface="Arial"/>
              <a:buChar char="•"/>
            </a:pPr>
            <a:r>
              <a:rPr sz="1600" b="1" i="0">
                <a:solidFill>
                  <a:srgbClr val="1F2937"/>
                </a:solidFill>
                <a:latin typeface="Calibri"/>
              </a:rPr>
              <a:t>4. Video pretraining is a strong prior for control:</a:t>
            </a:r>
            <a:r>
              <a:rPr sz="1600" b="0" i="0">
                <a:solidFill>
                  <a:srgbClr val="1F2937"/>
                </a:solidFill>
                <a:latin typeface="Calibri"/>
              </a:rPr>
              <a:t> most of the gain over BC comes from the world-model representation; RL adds the rest on the hardest, longest-horizon items.</a:t>
            </a:r>
          </a:p>
          <a:p>
            <a:pPr marL="256032" indent="-219456">
              <a:lnSpc>
                <a:spcPct val="105000"/>
              </a:lnSpc>
              <a:spcAft>
                <a:spcPts val="1000"/>
              </a:spcAft>
              <a:buFont typeface="Arial"/>
              <a:buChar char="•"/>
            </a:pPr>
            <a:r>
              <a:rPr sz="1600" b="1" i="0">
                <a:solidFill>
                  <a:srgbClr val="1F2937"/>
                </a:solidFill>
                <a:latin typeface="Calibri"/>
              </a:rPr>
              <a:t>5. Labels are cheap:</a:t>
            </a:r>
            <a:r>
              <a:rPr sz="1600" b="0" i="0">
                <a:solidFill>
                  <a:srgbClr val="1F2937"/>
                </a:solidFill>
                <a:latin typeface="Calibri"/>
              </a:rPr>
              <a:t> ~100 h of actions on top of thousands of unlabeled hours suffice, and action semantics transfer to unseen visual domains.</a:t>
            </a:r>
          </a:p>
          <a:p>
            <a:pPr marL="256032" indent="-219456">
              <a:lnSpc>
                <a:spcPct val="105000"/>
              </a:lnSpc>
              <a:spcAft>
                <a:spcPts val="1000"/>
              </a:spcAft>
              <a:buFont typeface="Arial"/>
              <a:buChar char="•"/>
            </a:pPr>
            <a:r>
              <a:rPr sz="1600" b="1" i="0">
                <a:solidFill>
                  <a:srgbClr val="1F2937"/>
                </a:solidFill>
                <a:latin typeface="Calibri"/>
              </a:rPr>
              <a:t>6. Open problems remain:</a:t>
            </a:r>
            <a:r>
              <a:rPr sz="1600" b="0" i="0">
                <a:solidFill>
                  <a:srgbClr val="1F2937"/>
                </a:solidFill>
                <a:latin typeface="Calibri"/>
              </a:rPr>
              <a:t> short memory, exploitable frozen simulators, thin statistics on the headline result, no official release.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Questions for discussion</a:t>
            </a:r>
          </a:p>
        </p:txBody>
      </p:sp>
      <p:sp>
        <p:nvSpPr>
          <p:cNvPr id="5" name="TextBox 4"/>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6" name="TextBox 5"/>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34</a:t>
            </a:r>
          </a:p>
        </p:txBody>
      </p:sp>
      <p:sp>
        <p:nvSpPr>
          <p:cNvPr id="7" name="TextBox 6"/>
          <p:cNvSpPr txBox="1"/>
          <p:nvPr/>
        </p:nvSpPr>
        <p:spPr>
          <a:xfrm>
            <a:off x="640080" y="1463040"/>
            <a:ext cx="10972800" cy="4846320"/>
          </a:xfrm>
          <a:prstGeom prst="rect">
            <a:avLst/>
          </a:prstGeom>
          <a:noFill/>
        </p:spPr>
        <p:txBody>
          <a:bodyPr wrap="square" lIns="45720" rIns="45720">
            <a:spAutoFit/>
          </a:bodyPr>
          <a:lstStyle/>
          <a:p>
            <a:pPr marL="256032" indent="-219456">
              <a:lnSpc>
                <a:spcPct val="105000"/>
              </a:lnSpc>
              <a:spcAft>
                <a:spcPts val="1200"/>
              </a:spcAft>
              <a:buFont typeface="Arial"/>
              <a:buChar char="•"/>
            </a:pPr>
            <a:r>
              <a:rPr sz="1600" b="0" i="0">
                <a:solidFill>
                  <a:srgbClr val="1F2937"/>
                </a:solidFill>
                <a:latin typeface="Calibri"/>
              </a:rPr>
              <a:t>How much of the diamond result is the world model versus PMPO? Would a stronger offline-RL baseline on world-model features (no imagination) close the gap?</a:t>
            </a:r>
          </a:p>
          <a:p>
            <a:pPr marL="256032" indent="-219456">
              <a:lnSpc>
                <a:spcPct val="105000"/>
              </a:lnSpc>
              <a:spcAft>
                <a:spcPts val="1200"/>
              </a:spcAft>
              <a:buFont typeface="Arial"/>
              <a:buChar char="•"/>
            </a:pPr>
            <a:r>
              <a:rPr sz="1600" b="0" i="0">
                <a:solidFill>
                  <a:srgbClr val="1F2937"/>
                </a:solidFill>
                <a:latin typeface="Calibri"/>
              </a:rPr>
              <a:t>Is human play-testing on 16 tasks a sufficient measure of 'accurate simulation'? What automated long-horizon metric would you propose?</a:t>
            </a:r>
          </a:p>
          <a:p>
            <a:pPr marL="256032" indent="-219456">
              <a:lnSpc>
                <a:spcPct val="105000"/>
              </a:lnSpc>
              <a:spcAft>
                <a:spcPts val="1200"/>
              </a:spcAft>
              <a:buFont typeface="Arial"/>
              <a:buChar char="•"/>
            </a:pPr>
            <a:r>
              <a:rPr sz="1600" b="0" i="0">
                <a:solidFill>
                  <a:srgbClr val="1F2937"/>
                </a:solidFill>
                <a:latin typeface="Calibri"/>
              </a:rPr>
              <a:t>The transformer is frozen during RL and the reward head is learned: where would you expect exploitation to appear first, and how would you detect it offline?</a:t>
            </a:r>
          </a:p>
          <a:p>
            <a:pPr marL="256032" indent="-219456">
              <a:lnSpc>
                <a:spcPct val="105000"/>
              </a:lnSpc>
              <a:spcAft>
                <a:spcPts val="1200"/>
              </a:spcAft>
              <a:buFont typeface="Arial"/>
              <a:buChar char="•"/>
            </a:pPr>
            <a:r>
              <a:rPr sz="1600" b="0" i="0">
                <a:solidFill>
                  <a:srgbClr val="1F2937"/>
                </a:solidFill>
                <a:latin typeface="Calibri"/>
              </a:rPr>
              <a:t>9.6 s of context: which memory mechanism (retrieval, state-space layers, compressed summaries) fits a block-causal diffusion transformer best?</a:t>
            </a:r>
          </a:p>
          <a:p>
            <a:pPr marL="256032" indent="-219456">
              <a:lnSpc>
                <a:spcPct val="105000"/>
              </a:lnSpc>
              <a:spcAft>
                <a:spcPts val="1200"/>
              </a:spcAft>
              <a:buFont typeface="Arial"/>
              <a:buChar char="•"/>
            </a:pPr>
            <a:r>
              <a:rPr sz="1600" b="0" i="0">
                <a:solidFill>
                  <a:srgbClr val="1F2937"/>
                </a:solidFill>
                <a:latin typeface="Calibri"/>
              </a:rPr>
              <a:t>The recipe needs ~100 h of action labels per domain. What does the path to internet-scale video look like — inverse dynamics models, or Dreamer 4's 'no-action' embedding at scale?</a:t>
            </a:r>
          </a:p>
          <a:p>
            <a:pPr marL="256032" indent="-219456">
              <a:lnSpc>
                <a:spcPct val="105000"/>
              </a:lnSpc>
              <a:spcAft>
                <a:spcPts val="1200"/>
              </a:spcAft>
              <a:buFont typeface="Arial"/>
              <a:buChar char="•"/>
            </a:pPr>
            <a:r>
              <a:rPr sz="1600" b="0" i="0">
                <a:solidFill>
                  <a:srgbClr val="1F2937"/>
                </a:solidFill>
                <a:latin typeface="Calibri"/>
              </a:rPr>
              <a:t>What would convince you that this transfers to real robots — and what evaluation would you run first?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References &amp; resources</a:t>
            </a:r>
          </a:p>
        </p:txBody>
      </p:sp>
      <p:sp>
        <p:nvSpPr>
          <p:cNvPr id="5" name="TextBox 4"/>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6" name="TextBox 5"/>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35</a:t>
            </a:r>
          </a:p>
        </p:txBody>
      </p:sp>
      <p:sp>
        <p:nvSpPr>
          <p:cNvPr id="7" name="TextBox 6"/>
          <p:cNvSpPr txBox="1"/>
          <p:nvPr/>
        </p:nvSpPr>
        <p:spPr>
          <a:xfrm>
            <a:off x="548640" y="1371600"/>
            <a:ext cx="11247120" cy="5120640"/>
          </a:xfrm>
          <a:prstGeom prst="rect">
            <a:avLst/>
          </a:prstGeom>
          <a:noFill/>
        </p:spPr>
        <p:txBody>
          <a:bodyPr wrap="square" lIns="45720" rIns="45720">
            <a:spAutoFit/>
          </a:bodyPr>
          <a:lstStyle/>
          <a:p>
            <a:pPr marL="256032" indent="-219456">
              <a:lnSpc>
                <a:spcPct val="105000"/>
              </a:lnSpc>
              <a:spcAft>
                <a:spcPts val="900"/>
              </a:spcAft>
              <a:buFont typeface="Arial"/>
              <a:buChar char="•"/>
            </a:pPr>
            <a:r>
              <a:rPr sz="1400" b="1" i="0">
                <a:solidFill>
                  <a:srgbClr val="1F2937"/>
                </a:solidFill>
                <a:latin typeface="Calibri"/>
              </a:rPr>
              <a:t>Paper:</a:t>
            </a:r>
            <a:r>
              <a:rPr sz="1400" b="0" i="0">
                <a:solidFill>
                  <a:srgbClr val="1F2937"/>
                </a:solidFill>
                <a:latin typeface="Calibri"/>
              </a:rPr>
              <a:t> Hafner*, Yan*, Lillicrap. Training Agents Inside of Scalable World Models. arXiv:2509.24527 (29 Sep 2025). https://arxiv.org/abs/2509.24527</a:t>
            </a:r>
          </a:p>
          <a:p>
            <a:pPr marL="256032" indent="-219456">
              <a:lnSpc>
                <a:spcPct val="105000"/>
              </a:lnSpc>
              <a:spcAft>
                <a:spcPts val="900"/>
              </a:spcAft>
              <a:buFont typeface="Arial"/>
              <a:buChar char="•"/>
            </a:pPr>
            <a:r>
              <a:rPr sz="1400" b="1" i="0">
                <a:solidFill>
                  <a:srgbClr val="1F2937"/>
                </a:solidFill>
                <a:latin typeface="Calibri"/>
              </a:rPr>
              <a:t>Project page &amp; videos:</a:t>
            </a:r>
            <a:r>
              <a:rPr sz="1400" b="0" i="0">
                <a:solidFill>
                  <a:srgbClr val="1F2937"/>
                </a:solidFill>
                <a:latin typeface="Calibri"/>
              </a:rPr>
              <a:t> https://danijar.com/project/dreamer4/ — overview video (youtube.com/watch?v=oDlBtTcX0g0), four uncut 60-min 'Diamond Challenge' evaluation episodes, 51 human-interaction clips</a:t>
            </a:r>
          </a:p>
          <a:p>
            <a:pPr marL="256032" indent="-219456">
              <a:lnSpc>
                <a:spcPct val="105000"/>
              </a:lnSpc>
              <a:spcAft>
                <a:spcPts val="900"/>
              </a:spcAft>
              <a:buFont typeface="Arial"/>
              <a:buChar char="•"/>
            </a:pPr>
            <a:r>
              <a:rPr sz="1400" b="1" i="0">
                <a:solidFill>
                  <a:srgbClr val="1F2937"/>
                </a:solidFill>
                <a:latin typeface="Calibri"/>
              </a:rPr>
              <a:t>Authors in conversation:</a:t>
            </a:r>
            <a:r>
              <a:rPr sz="1400" b="0" i="0">
                <a:solidFill>
                  <a:srgbClr val="1F2937"/>
                </a:solidFill>
                <a:latin typeface="Calibri"/>
              </a:rPr>
              <a:t> TalkRL E73 'Danijar Hafner on Dreamer v4' (10 Nov 2025), transcript available; Hack Club AMA (Dec 2025)</a:t>
            </a:r>
          </a:p>
          <a:p>
            <a:pPr marL="256032" indent="-219456">
              <a:lnSpc>
                <a:spcPct val="105000"/>
              </a:lnSpc>
              <a:spcAft>
                <a:spcPts val="900"/>
              </a:spcAft>
              <a:buFont typeface="Arial"/>
              <a:buChar char="•"/>
            </a:pPr>
            <a:r>
              <a:rPr sz="1400" b="1" i="0">
                <a:solidFill>
                  <a:srgbClr val="1F2937"/>
                </a:solidFill>
                <a:latin typeface="Calibri"/>
              </a:rPr>
              <a:t>Ingredients:</a:t>
            </a:r>
            <a:r>
              <a:rPr sz="1400" b="0" i="0">
                <a:solidFill>
                  <a:srgbClr val="1F2937"/>
                </a:solidFill>
                <a:latin typeface="Calibri"/>
              </a:rPr>
              <a:t> Chen et al., Diffusion Forcing (2407.01392) · Frans, Hafner, Levine, Abbeel, Shortcut Models (2410.12557) · Chen et al., MAETok (2502.03444) · Baker et al., VPT (2206.11795) · Hafner et al., DreamerV3 (2301.04104)</a:t>
            </a:r>
          </a:p>
          <a:p>
            <a:pPr marL="256032" indent="-219456">
              <a:lnSpc>
                <a:spcPct val="105000"/>
              </a:lnSpc>
              <a:spcAft>
                <a:spcPts val="900"/>
              </a:spcAft>
              <a:buFont typeface="Arial"/>
              <a:buChar char="•"/>
            </a:pPr>
            <a:r>
              <a:rPr sz="1400" b="1" i="0">
                <a:solidFill>
                  <a:srgbClr val="1F2937"/>
                </a:solidFill>
                <a:latin typeface="Calibri"/>
              </a:rPr>
              <a:t>Independent reproductions / follow-ups:</a:t>
            </a:r>
            <a:r>
              <a:rPr sz="1400" b="0" i="0">
                <a:solidFill>
                  <a:srgbClr val="1F2937"/>
                </a:solidFill>
                <a:latin typeface="Calibri"/>
              </a:rPr>
              <a:t> next-state/open-dreamer (JAX, 1.6 B Minecraft world model, Jul 2026) · IamCreateAI/Dreamerv4-MC (weights on HF) · nicklashansen/dreamer4 &amp; MMBench2 (Hansen &amp; Wang, 2606.27326) · lucidrains/dreamer4 (PyTorch)</a:t>
            </a:r>
          </a:p>
          <a:p>
            <a:pPr marL="256032" indent="-219456">
              <a:lnSpc>
                <a:spcPct val="105000"/>
              </a:lnSpc>
              <a:spcAft>
                <a:spcPts val="900"/>
              </a:spcAft>
              <a:buFont typeface="Arial"/>
              <a:buChar char="•"/>
            </a:pPr>
            <a:r>
              <a:rPr sz="1400" b="1" i="0">
                <a:solidFill>
                  <a:srgbClr val="1F2937"/>
                </a:solidFill>
                <a:latin typeface="Calibri"/>
              </a:rPr>
              <a:t>Everything above, archived:</a:t>
            </a:r>
            <a:r>
              <a:rPr sz="1400" b="0" i="0">
                <a:solidFill>
                  <a:srgbClr val="1F2937"/>
                </a:solidFill>
                <a:latin typeface="Calibri"/>
              </a:rPr>
              <a:t> https://github.com/HarmannBitte/Dreamer-4 — PDFs, repo snapshots, articles, transcripts, the official clips used in this deck, and a MEDIA_INDEX.md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A — Configuration &amp; hyper-parameters</a:t>
            </a:r>
          </a:p>
        </p:txBody>
      </p:sp>
      <p:sp>
        <p:nvSpPr>
          <p:cNvPr id="5" name="TextBox 4"/>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6" name="TextBox 5"/>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36</a:t>
            </a:r>
          </a:p>
        </p:txBody>
      </p:sp>
      <p:graphicFrame>
        <p:nvGraphicFramePr>
          <p:cNvPr id="7" name="Table 6"/>
          <p:cNvGraphicFramePr>
            <a:graphicFrameLocks noGrp="1"/>
          </p:cNvGraphicFramePr>
          <p:nvPr/>
        </p:nvGraphicFramePr>
        <p:xfrm>
          <a:off x="457200" y="1325880"/>
          <a:ext cx="11247120" cy="4773168"/>
        </p:xfrm>
        <a:graphic>
          <a:graphicData uri="http://schemas.openxmlformats.org/drawingml/2006/table">
            <a:tbl>
              <a:tblPr firstRow="1" bandRow="1">
                <a:tableStyleId>{5C22544A-7EE6-4342-B048-85BDC9FD1C3A}</a:tableStyleId>
              </a:tblPr>
              <a:tblGrid>
                <a:gridCol w="1920240"/>
                <a:gridCol w="9326880"/>
              </a:tblGrid>
              <a:tr h="384048">
                <a:tc>
                  <a:txBody>
                    <a:bodyPr/>
                    <a:lstStyle/>
                    <a:p>
                      <a:pPr algn="l"/>
                      <a:r>
                        <a:rPr sz="1100" b="1" i="0">
                          <a:solidFill>
                            <a:srgbClr val="FFFFFF"/>
                          </a:solidFill>
                          <a:latin typeface="Calibri"/>
                        </a:rPr>
                        <a:t>Component</a:t>
                      </a:r>
                    </a:p>
                  </a:txBody>
                  <a:tcPr marL="54864" marR="54864" marT="27432" marB="27432">
                    <a:solidFill>
                      <a:srgbClr val="14213D"/>
                    </a:solidFill>
                  </a:tcPr>
                </a:tc>
                <a:tc>
                  <a:txBody>
                    <a:bodyPr/>
                    <a:lstStyle/>
                    <a:p>
                      <a:pPr algn="ctr"/>
                      <a:r>
                        <a:rPr sz="1100" b="1" i="0">
                          <a:solidFill>
                            <a:srgbClr val="FFFFFF"/>
                          </a:solidFill>
                          <a:latin typeface="Calibri"/>
                        </a:rPr>
                        <a:t>Setting</a:t>
                      </a:r>
                    </a:p>
                  </a:txBody>
                  <a:tcPr marL="54864" marR="54864" marT="27432" marB="27432">
                    <a:solidFill>
                      <a:srgbClr val="14213D"/>
                    </a:solidFill>
                  </a:tcPr>
                </a:tc>
              </a:tr>
              <a:tr h="548639">
                <a:tc>
                  <a:txBody>
                    <a:bodyPr/>
                    <a:lstStyle/>
                    <a:p>
                      <a:pPr algn="l"/>
                      <a:r>
                        <a:rPr sz="1100" b="0" i="0">
                          <a:solidFill>
                            <a:srgbClr val="1F2937"/>
                          </a:solidFill>
                          <a:latin typeface="Calibri"/>
                        </a:rPr>
                        <a:t>Tokenizer</a:t>
                      </a:r>
                    </a:p>
                  </a:txBody>
                  <a:tcPr marL="54864" marR="54864" marT="27432" marB="27432">
                    <a:solidFill>
                      <a:srgbClr val="FFFFFF"/>
                    </a:solidFill>
                  </a:tcPr>
                </a:tc>
                <a:tc>
                  <a:txBody>
                    <a:bodyPr/>
                    <a:lstStyle/>
                    <a:p>
                      <a:pPr algn="l"/>
                      <a:r>
                        <a:rPr sz="1100" b="0" i="0">
                          <a:solidFill>
                            <a:srgbClr val="1F2937"/>
                          </a:solidFill>
                          <a:latin typeface="Calibri"/>
                        </a:rPr>
                        <a:t>Masked autoencoder; 16×16 patches; patch dropout ~ U(0, 0.9); loss MSE + 0.2·LPIPS; bottleneck 512×16 with tanh → N_z = 256 tokens × 32 dims; causal in time; ≈ 400 M params; frozen after pretraining</a:t>
                      </a:r>
                    </a:p>
                  </a:txBody>
                  <a:tcPr marL="54864" marR="54864" marT="27432" marB="27432">
                    <a:solidFill>
                      <a:srgbClr val="FFFFFF"/>
                    </a:solidFill>
                  </a:tcPr>
                </a:tc>
              </a:tr>
              <a:tr h="548639">
                <a:tc>
                  <a:txBody>
                    <a:bodyPr/>
                    <a:lstStyle/>
                    <a:p>
                      <a:pPr algn="l"/>
                      <a:r>
                        <a:rPr sz="1100" b="0" i="0">
                          <a:solidFill>
                            <a:srgbClr val="1F2937"/>
                          </a:solidFill>
                          <a:latin typeface="Calibri"/>
                        </a:rPr>
                        <a:t>Dynamics model</a:t>
                      </a:r>
                    </a:p>
                  </a:txBody>
                  <a:tcPr marL="54864" marR="54864" marT="27432" marB="27432">
                    <a:solidFill>
                      <a:srgbClr val="F3F5F9"/>
                    </a:solidFill>
                  </a:tcPr>
                </a:tc>
                <a:tc>
                  <a:txBody>
                    <a:bodyPr/>
                    <a:lstStyle/>
                    <a:p>
                      <a:pPr algn="l"/>
                      <a:r>
                        <a:rPr sz="1100" b="0" i="0">
                          <a:solidFill>
                            <a:srgbClr val="1F2937"/>
                          </a:solidFill>
                          <a:latin typeface="Calibri"/>
                        </a:rPr>
                        <a:t>≈ 1.6 B params; pre-RMSNorm, RoPE, SwiGLU, QK-norm, logit soft-capping, register tokens; space attention in 3/4 layers, causal time attention every 4th layer; GQA; context C = 192 frames (9.6 s); alternating batch lengths T1/T2 = 64/256</a:t>
                      </a:r>
                    </a:p>
                  </a:txBody>
                  <a:tcPr marL="54864" marR="54864" marT="27432" marB="27432">
                    <a:solidFill>
                      <a:srgbClr val="F3F5F9"/>
                    </a:solidFill>
                  </a:tcPr>
                </a:tc>
              </a:tr>
              <a:tr h="548639">
                <a:tc>
                  <a:txBody>
                    <a:bodyPr/>
                    <a:lstStyle/>
                    <a:p>
                      <a:pPr algn="l"/>
                      <a:r>
                        <a:rPr sz="1100" b="0" i="0">
                          <a:solidFill>
                            <a:srgbClr val="1F2937"/>
                          </a:solidFill>
                          <a:latin typeface="Calibri"/>
                        </a:rPr>
                        <a:t>Shortcut forcing</a:t>
                      </a:r>
                    </a:p>
                  </a:txBody>
                  <a:tcPr marL="54864" marR="54864" marT="27432" marB="27432">
                    <a:solidFill>
                      <a:srgbClr val="FFFFFF"/>
                    </a:solidFill>
                  </a:tcPr>
                </a:tc>
                <a:tc>
                  <a:txBody>
                    <a:bodyPr/>
                    <a:lstStyle/>
                    <a:p>
                      <a:pPr algn="l"/>
                      <a:r>
                        <a:rPr sz="1100" b="0" i="0">
                          <a:solidFill>
                            <a:srgbClr val="1F2937"/>
                          </a:solidFill>
                          <a:latin typeface="Calibri"/>
                        </a:rPr>
                        <a:t>per-frame signal level τ, step size d; x-prediction; bootstrap target formed in v-space, loss scaled to x-space by (1−τ)²; ramp weight w(τ) = 0.9τ + 0.1; K = 4 sampling steps; context noise τ_ctx ≈ 0.1</a:t>
                      </a:r>
                    </a:p>
                  </a:txBody>
                  <a:tcPr marL="54864" marR="54864" marT="27432" marB="27432">
                    <a:solidFill>
                      <a:srgbClr val="FFFFFF"/>
                    </a:solidFill>
                  </a:tcPr>
                </a:tc>
              </a:tr>
              <a:tr h="548639">
                <a:tc>
                  <a:txBody>
                    <a:bodyPr/>
                    <a:lstStyle/>
                    <a:p>
                      <a:pPr algn="l"/>
                      <a:r>
                        <a:rPr sz="1100" b="0" i="0">
                          <a:solidFill>
                            <a:srgbClr val="1F2937"/>
                          </a:solidFill>
                          <a:latin typeface="Calibri"/>
                        </a:rPr>
                        <a:t>Actions</a:t>
                      </a:r>
                    </a:p>
                  </a:txBody>
                  <a:tcPr marL="54864" marR="54864" marT="27432" marB="27432">
                    <a:solidFill>
                      <a:srgbClr val="F3F5F9"/>
                    </a:solidFill>
                  </a:tcPr>
                </a:tc>
                <a:tc>
                  <a:txBody>
                    <a:bodyPr/>
                    <a:lstStyle/>
                    <a:p>
                      <a:pPr algn="l"/>
                      <a:r>
                        <a:rPr sz="1100" b="0" i="0">
                          <a:solidFill>
                            <a:srgbClr val="1F2937"/>
                          </a:solidFill>
                          <a:latin typeface="Calibri"/>
                        </a:rPr>
                        <a:t>23 binary keys + 121-way mouse (μ-law, 11×11 foveated bins, VPT convention); learned 'no action' embedding for unlabeled video</a:t>
                      </a:r>
                    </a:p>
                  </a:txBody>
                  <a:tcPr marL="54864" marR="54864" marT="27432" marB="27432">
                    <a:solidFill>
                      <a:srgbClr val="F3F5F9"/>
                    </a:solidFill>
                  </a:tcPr>
                </a:tc>
              </a:tr>
              <a:tr h="548639">
                <a:tc>
                  <a:txBody>
                    <a:bodyPr/>
                    <a:lstStyle/>
                    <a:p>
                      <a:pPr algn="l"/>
                      <a:r>
                        <a:rPr sz="1100" b="0" i="0">
                          <a:solidFill>
                            <a:srgbClr val="1F2937"/>
                          </a:solidFill>
                          <a:latin typeface="Calibri"/>
                        </a:rPr>
                        <a:t>Agent (phase 2)</a:t>
                      </a:r>
                    </a:p>
                  </a:txBody>
                  <a:tcPr marL="54864" marR="54864" marT="27432" marB="27432">
                    <a:solidFill>
                      <a:srgbClr val="FFFFFF"/>
                    </a:solidFill>
                  </a:tcPr>
                </a:tc>
                <a:tc>
                  <a:txBody>
                    <a:bodyPr/>
                    <a:lstStyle/>
                    <a:p>
                      <a:pPr algn="l"/>
                      <a:r>
                        <a:rPr sz="1100" b="0" i="0">
                          <a:solidFill>
                            <a:srgbClr val="1F2937"/>
                          </a:solidFill>
                          <a:latin typeface="Calibri"/>
                        </a:rPr>
                        <a:t>agent tokens with one-hot task (20 tasks), one-way attention; BC with multi-token prediction L = 8; task-conditioned scalar reward head; data mix 50 % uniform / 50 % task-relevant</a:t>
                      </a:r>
                    </a:p>
                  </a:txBody>
                  <a:tcPr marL="54864" marR="54864" marT="27432" marB="27432">
                    <a:solidFill>
                      <a:srgbClr val="FFFFFF"/>
                    </a:solidFill>
                  </a:tcPr>
                </a:tc>
              </a:tr>
              <a:tr h="548639">
                <a:tc>
                  <a:txBody>
                    <a:bodyPr/>
                    <a:lstStyle/>
                    <a:p>
                      <a:pPr algn="l"/>
                      <a:r>
                        <a:rPr sz="1100" b="0" i="0">
                          <a:solidFill>
                            <a:srgbClr val="1F2937"/>
                          </a:solidFill>
                          <a:latin typeface="Calibri"/>
                        </a:rPr>
                        <a:t>Imagination RL (phase 3)</a:t>
                      </a:r>
                    </a:p>
                  </a:txBody>
                  <a:tcPr marL="54864" marR="54864" marT="27432" marB="27432">
                    <a:solidFill>
                      <a:srgbClr val="F3F5F9"/>
                    </a:solidFill>
                  </a:tcPr>
                </a:tc>
                <a:tc>
                  <a:txBody>
                    <a:bodyPr/>
                    <a:lstStyle/>
                    <a:p>
                      <a:pPr algn="l"/>
                      <a:r>
                        <a:rPr sz="1100" b="0" i="0">
                          <a:solidFill>
                            <a:srgbClr val="1F2937"/>
                          </a:solidFill>
                          <a:latin typeface="Calibri"/>
                        </a:rPr>
                        <a:t>transformer frozen; policy + TD value heads; PMPO with advantage sign, α = 0.5, reverse-KL β = 0.3 to frozen BC policy; γ = 0.997</a:t>
                      </a:r>
                    </a:p>
                  </a:txBody>
                  <a:tcPr marL="54864" marR="54864" marT="27432" marB="27432">
                    <a:solidFill>
                      <a:srgbClr val="F3F5F9"/>
                    </a:solidFill>
                  </a:tcPr>
                </a:tc>
              </a:tr>
              <a:tr h="548639">
                <a:tc>
                  <a:txBody>
                    <a:bodyPr/>
                    <a:lstStyle/>
                    <a:p>
                      <a:pPr algn="l"/>
                      <a:r>
                        <a:rPr sz="1100" b="0" i="0">
                          <a:solidFill>
                            <a:srgbClr val="1F2937"/>
                          </a:solidFill>
                          <a:latin typeface="Calibri"/>
                        </a:rPr>
                        <a:t>Evaluation</a:t>
                      </a:r>
                    </a:p>
                  </a:txBody>
                  <a:tcPr marL="54864" marR="54864" marT="27432" marB="27432">
                    <a:solidFill>
                      <a:srgbClr val="FFFFFF"/>
                    </a:solidFill>
                  </a:tcPr>
                </a:tc>
                <a:tc>
                  <a:txBody>
                    <a:bodyPr/>
                    <a:lstStyle/>
                    <a:p>
                      <a:pPr algn="l"/>
                      <a:r>
                        <a:rPr sz="1100" b="0" i="0">
                          <a:solidFill>
                            <a:srgbClr val="1F2937"/>
                          </a:solidFill>
                          <a:latin typeface="Calibri"/>
                        </a:rPr>
                        <a:t>1,000 episodes × 60 min, empty inventory, random worlds, fixed prompt sequence; human interaction: 16 tasks on one H100 at 21 FPS</a:t>
                      </a:r>
                    </a:p>
                  </a:txBody>
                  <a:tcPr marL="54864" marR="54864" marT="27432" marB="27432">
                    <a:solidFill>
                      <a:srgbClr val="FFFFFF"/>
                    </a:solidFill>
                  </a:tcPr>
                </a:tc>
              </a:tr>
              <a:tr h="548647">
                <a:tc>
                  <a:txBody>
                    <a:bodyPr/>
                    <a:lstStyle/>
                    <a:p>
                      <a:pPr algn="l"/>
                      <a:r>
                        <a:rPr sz="1100" b="0" i="0">
                          <a:solidFill>
                            <a:srgbClr val="1F2937"/>
                          </a:solidFill>
                          <a:latin typeface="Calibri"/>
                        </a:rPr>
                        <a:t>Compute / data</a:t>
                      </a:r>
                    </a:p>
                  </a:txBody>
                  <a:tcPr marL="54864" marR="54864" marT="27432" marB="27432">
                    <a:solidFill>
                      <a:srgbClr val="F3F5F9"/>
                    </a:solidFill>
                  </a:tcPr>
                </a:tc>
                <a:tc>
                  <a:txBody>
                    <a:bodyPr/>
                    <a:lstStyle/>
                    <a:p>
                      <a:pPr algn="l"/>
                      <a:r>
                        <a:rPr sz="1100" b="0" i="0">
                          <a:solidFill>
                            <a:srgbClr val="1F2937"/>
                          </a:solidFill>
                          <a:latin typeface="Calibri"/>
                        </a:rPr>
                        <a:t>256–1,024 TPU v5p; 2,541 h VPT contractor video (subsets 6–10), 90/10 split by 5-min chunk; ablations: 48 h runs, FVD on 1,024 × 384-frame generations</a:t>
                      </a:r>
                    </a:p>
                  </a:txBody>
                  <a:tcPr marL="54864" marR="54864" marT="27432" marB="27432">
                    <a:solidFill>
                      <a:srgbClr val="F3F5F9"/>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B — Full design cascade (Table 2)</a:t>
            </a:r>
          </a:p>
        </p:txBody>
      </p:sp>
      <p:sp>
        <p:nvSpPr>
          <p:cNvPr id="5" name="TextBox 4"/>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6" name="TextBox 5"/>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37</a:t>
            </a:r>
          </a:p>
        </p:txBody>
      </p:sp>
      <p:graphicFrame>
        <p:nvGraphicFramePr>
          <p:cNvPr id="7" name="Table 6"/>
          <p:cNvGraphicFramePr>
            <a:graphicFrameLocks noGrp="1"/>
          </p:cNvGraphicFramePr>
          <p:nvPr/>
        </p:nvGraphicFramePr>
        <p:xfrm>
          <a:off x="457200" y="1325880"/>
          <a:ext cx="6858000" cy="4608576"/>
        </p:xfrm>
        <a:graphic>
          <a:graphicData uri="http://schemas.openxmlformats.org/drawingml/2006/table">
            <a:tbl>
              <a:tblPr firstRow="1" bandRow="1">
                <a:tableStyleId>{5C22544A-7EE6-4342-B048-85BDC9FD1C3A}</a:tableStyleId>
              </a:tblPr>
              <a:tblGrid>
                <a:gridCol w="4846320"/>
                <a:gridCol w="914400"/>
                <a:gridCol w="1097280"/>
              </a:tblGrid>
              <a:tr h="329184">
                <a:tc>
                  <a:txBody>
                    <a:bodyPr/>
                    <a:lstStyle/>
                    <a:p>
                      <a:pPr algn="l"/>
                      <a:r>
                        <a:rPr sz="1150" b="1" i="0">
                          <a:solidFill>
                            <a:srgbClr val="FFFFFF"/>
                          </a:solidFill>
                          <a:latin typeface="Calibri"/>
                        </a:rPr>
                        <a:t>Change (cumulative)</a:t>
                      </a:r>
                    </a:p>
                  </a:txBody>
                  <a:tcPr marL="54864" marR="54864" marT="27432" marB="27432">
                    <a:solidFill>
                      <a:srgbClr val="14213D"/>
                    </a:solidFill>
                  </a:tcPr>
                </a:tc>
                <a:tc>
                  <a:txBody>
                    <a:bodyPr/>
                    <a:lstStyle/>
                    <a:p>
                      <a:pPr algn="ctr"/>
                      <a:r>
                        <a:rPr sz="1150" b="1" i="0">
                          <a:solidFill>
                            <a:srgbClr val="FFFFFF"/>
                          </a:solidFill>
                          <a:latin typeface="Calibri"/>
                        </a:rPr>
                        <a:t>FPS</a:t>
                      </a:r>
                    </a:p>
                  </a:txBody>
                  <a:tcPr marL="54864" marR="54864" marT="27432" marB="27432">
                    <a:solidFill>
                      <a:srgbClr val="14213D"/>
                    </a:solidFill>
                  </a:tcPr>
                </a:tc>
                <a:tc>
                  <a:txBody>
                    <a:bodyPr/>
                    <a:lstStyle/>
                    <a:p>
                      <a:pPr algn="ctr"/>
                      <a:r>
                        <a:rPr sz="1150" b="1" i="0">
                          <a:solidFill>
                            <a:srgbClr val="FFFFFF"/>
                          </a:solidFill>
                          <a:latin typeface="Calibri"/>
                        </a:rPr>
                        <a:t>FVD ↓</a:t>
                      </a:r>
                    </a:p>
                  </a:txBody>
                  <a:tcPr marL="54864" marR="54864" marT="27432" marB="27432">
                    <a:solidFill>
                      <a:srgbClr val="14213D"/>
                    </a:solidFill>
                  </a:tcPr>
                </a:tc>
              </a:tr>
              <a:tr h="329184">
                <a:tc>
                  <a:txBody>
                    <a:bodyPr/>
                    <a:lstStyle/>
                    <a:p>
                      <a:pPr algn="l"/>
                      <a:r>
                        <a:rPr sz="1150" b="0" i="0">
                          <a:solidFill>
                            <a:srgbClr val="1F2937"/>
                          </a:solidFill>
                          <a:latin typeface="Calibri"/>
                        </a:rPr>
                        <a:t>Diffusion-forcing transformer, K = 64</a:t>
                      </a:r>
                    </a:p>
                  </a:txBody>
                  <a:tcPr marL="54864" marR="54864" marT="27432" marB="27432">
                    <a:solidFill>
                      <a:srgbClr val="FFFFFF"/>
                    </a:solidFill>
                  </a:tcPr>
                </a:tc>
                <a:tc>
                  <a:txBody>
                    <a:bodyPr/>
                    <a:lstStyle/>
                    <a:p>
                      <a:pPr algn="ctr"/>
                      <a:r>
                        <a:rPr sz="1150" b="0" i="0">
                          <a:solidFill>
                            <a:srgbClr val="1F2937"/>
                          </a:solidFill>
                          <a:latin typeface="Calibri"/>
                        </a:rPr>
                        <a:t>0.8</a:t>
                      </a:r>
                    </a:p>
                  </a:txBody>
                  <a:tcPr marL="54864" marR="54864" marT="27432" marB="27432">
                    <a:solidFill>
                      <a:srgbClr val="FFFFFF"/>
                    </a:solidFill>
                  </a:tcPr>
                </a:tc>
                <a:tc>
                  <a:txBody>
                    <a:bodyPr/>
                    <a:lstStyle/>
                    <a:p>
                      <a:pPr algn="ctr"/>
                      <a:r>
                        <a:rPr sz="1150" b="0" i="0">
                          <a:solidFill>
                            <a:srgbClr val="1F2937"/>
                          </a:solidFill>
                          <a:latin typeface="Calibri"/>
                        </a:rPr>
                        <a:t>306</a:t>
                      </a:r>
                    </a:p>
                  </a:txBody>
                  <a:tcPr marL="54864" marR="54864" marT="27432" marB="27432">
                    <a:solidFill>
                      <a:srgbClr val="FFFFFF"/>
                    </a:solidFill>
                  </a:tcPr>
                </a:tc>
              </a:tr>
              <a:tr h="329184">
                <a:tc>
                  <a:txBody>
                    <a:bodyPr/>
                    <a:lstStyle/>
                    <a:p>
                      <a:pPr algn="l"/>
                      <a:r>
                        <a:rPr sz="1150" b="0" i="0">
                          <a:solidFill>
                            <a:srgbClr val="1F2937"/>
                          </a:solidFill>
                          <a:latin typeface="Calibri"/>
                        </a:rPr>
                        <a:t>K = 4 sampling steps</a:t>
                      </a:r>
                    </a:p>
                  </a:txBody>
                  <a:tcPr marL="54864" marR="54864" marT="27432" marB="27432">
                    <a:solidFill>
                      <a:srgbClr val="F3F5F9"/>
                    </a:solidFill>
                  </a:tcPr>
                </a:tc>
                <a:tc>
                  <a:txBody>
                    <a:bodyPr/>
                    <a:lstStyle/>
                    <a:p>
                      <a:pPr algn="ctr"/>
                      <a:r>
                        <a:rPr sz="1150" b="0" i="0">
                          <a:solidFill>
                            <a:srgbClr val="1F2937"/>
                          </a:solidFill>
                          <a:latin typeface="Calibri"/>
                        </a:rPr>
                        <a:t>9.1</a:t>
                      </a:r>
                    </a:p>
                  </a:txBody>
                  <a:tcPr marL="54864" marR="54864" marT="27432" marB="27432">
                    <a:solidFill>
                      <a:srgbClr val="F3F5F9"/>
                    </a:solidFill>
                  </a:tcPr>
                </a:tc>
                <a:tc>
                  <a:txBody>
                    <a:bodyPr/>
                    <a:lstStyle/>
                    <a:p>
                      <a:pPr algn="ctr"/>
                      <a:r>
                        <a:rPr sz="1150" b="0" i="0">
                          <a:solidFill>
                            <a:srgbClr val="1F2937"/>
                          </a:solidFill>
                          <a:latin typeface="Calibri"/>
                        </a:rPr>
                        <a:t>875</a:t>
                      </a:r>
                    </a:p>
                  </a:txBody>
                  <a:tcPr marL="54864" marR="54864" marT="27432" marB="27432">
                    <a:solidFill>
                      <a:srgbClr val="F3F5F9"/>
                    </a:solidFill>
                  </a:tcPr>
                </a:tc>
              </a:tr>
              <a:tr h="329184">
                <a:tc>
                  <a:txBody>
                    <a:bodyPr/>
                    <a:lstStyle/>
                    <a:p>
                      <a:pPr algn="l"/>
                      <a:r>
                        <a:rPr sz="1150" b="0" i="0">
                          <a:solidFill>
                            <a:srgbClr val="1F2937"/>
                          </a:solidFill>
                          <a:latin typeface="Calibri"/>
                        </a:rPr>
                        <a:t>+ shortcut objective (→ shortcut forcing)</a:t>
                      </a:r>
                    </a:p>
                  </a:txBody>
                  <a:tcPr marL="54864" marR="54864" marT="27432" marB="27432">
                    <a:solidFill>
                      <a:srgbClr val="FFFFFF"/>
                    </a:solidFill>
                  </a:tcPr>
                </a:tc>
                <a:tc>
                  <a:txBody>
                    <a:bodyPr/>
                    <a:lstStyle/>
                    <a:p>
                      <a:pPr algn="ctr"/>
                      <a:r>
                        <a:rPr sz="1150" b="0" i="0">
                          <a:solidFill>
                            <a:srgbClr val="1F2937"/>
                          </a:solidFill>
                          <a:latin typeface="Calibri"/>
                        </a:rPr>
                        <a:t/>
                      </a:r>
                    </a:p>
                  </a:txBody>
                  <a:tcPr marL="54864" marR="54864" marT="27432" marB="27432">
                    <a:solidFill>
                      <a:srgbClr val="FFFFFF"/>
                    </a:solidFill>
                  </a:tcPr>
                </a:tc>
                <a:tc>
                  <a:txBody>
                    <a:bodyPr/>
                    <a:lstStyle/>
                    <a:p>
                      <a:pPr algn="ctr"/>
                      <a:r>
                        <a:rPr sz="1150" b="0" i="0">
                          <a:solidFill>
                            <a:srgbClr val="1F2937"/>
                          </a:solidFill>
                          <a:latin typeface="Calibri"/>
                        </a:rPr>
                        <a:t>329</a:t>
                      </a:r>
                    </a:p>
                  </a:txBody>
                  <a:tcPr marL="54864" marR="54864" marT="27432" marB="27432">
                    <a:solidFill>
                      <a:srgbClr val="FFFFFF"/>
                    </a:solidFill>
                  </a:tcPr>
                </a:tc>
              </a:tr>
              <a:tr h="329184">
                <a:tc>
                  <a:txBody>
                    <a:bodyPr/>
                    <a:lstStyle/>
                    <a:p>
                      <a:pPr algn="l"/>
                      <a:r>
                        <a:rPr sz="1150" b="0" i="0">
                          <a:solidFill>
                            <a:srgbClr val="1F2937"/>
                          </a:solidFill>
                          <a:latin typeface="Calibri"/>
                        </a:rPr>
                        <a:t>+ x-prediction</a:t>
                      </a:r>
                    </a:p>
                  </a:txBody>
                  <a:tcPr marL="54864" marR="54864" marT="27432" marB="27432">
                    <a:solidFill>
                      <a:srgbClr val="F3F5F9"/>
                    </a:solidFill>
                  </a:tcPr>
                </a:tc>
                <a:tc>
                  <a:txBody>
                    <a:bodyPr/>
                    <a:lstStyle/>
                    <a:p>
                      <a:pPr algn="ctr"/>
                      <a:r>
                        <a:rPr sz="1150" b="0" i="0">
                          <a:solidFill>
                            <a:srgbClr val="1F2937"/>
                          </a:solidFill>
                          <a:latin typeface="Calibri"/>
                        </a:rPr>
                        <a:t/>
                      </a:r>
                    </a:p>
                  </a:txBody>
                  <a:tcPr marL="54864" marR="54864" marT="27432" marB="27432">
                    <a:solidFill>
                      <a:srgbClr val="F3F5F9"/>
                    </a:solidFill>
                  </a:tcPr>
                </a:tc>
                <a:tc>
                  <a:txBody>
                    <a:bodyPr/>
                    <a:lstStyle/>
                    <a:p>
                      <a:pPr algn="ctr"/>
                      <a:r>
                        <a:rPr sz="1150" b="0" i="0">
                          <a:solidFill>
                            <a:srgbClr val="1F2937"/>
                          </a:solidFill>
                          <a:latin typeface="Calibri"/>
                        </a:rPr>
                        <a:t>326</a:t>
                      </a:r>
                    </a:p>
                  </a:txBody>
                  <a:tcPr marL="54864" marR="54864" marT="27432" marB="27432">
                    <a:solidFill>
                      <a:srgbClr val="F3F5F9"/>
                    </a:solidFill>
                  </a:tcPr>
                </a:tc>
              </a:tr>
              <a:tr h="329184">
                <a:tc>
                  <a:txBody>
                    <a:bodyPr/>
                    <a:lstStyle/>
                    <a:p>
                      <a:pPr algn="l"/>
                      <a:r>
                        <a:rPr sz="1150" b="0" i="0">
                          <a:solidFill>
                            <a:srgbClr val="1F2937"/>
                          </a:solidFill>
                          <a:latin typeface="Calibri"/>
                        </a:rPr>
                        <a:t>+ x-space loss</a:t>
                      </a:r>
                    </a:p>
                  </a:txBody>
                  <a:tcPr marL="54864" marR="54864" marT="27432" marB="27432">
                    <a:solidFill>
                      <a:srgbClr val="FFFFFF"/>
                    </a:solidFill>
                  </a:tcPr>
                </a:tc>
                <a:tc>
                  <a:txBody>
                    <a:bodyPr/>
                    <a:lstStyle/>
                    <a:p>
                      <a:pPr algn="ctr"/>
                      <a:r>
                        <a:rPr sz="1150" b="0" i="0">
                          <a:solidFill>
                            <a:srgbClr val="1F2937"/>
                          </a:solidFill>
                          <a:latin typeface="Calibri"/>
                        </a:rPr>
                        <a:t/>
                      </a:r>
                    </a:p>
                  </a:txBody>
                  <a:tcPr marL="54864" marR="54864" marT="27432" marB="27432">
                    <a:solidFill>
                      <a:srgbClr val="FFFFFF"/>
                    </a:solidFill>
                  </a:tcPr>
                </a:tc>
                <a:tc>
                  <a:txBody>
                    <a:bodyPr/>
                    <a:lstStyle/>
                    <a:p>
                      <a:pPr algn="ctr"/>
                      <a:r>
                        <a:rPr sz="1150" b="0" i="0">
                          <a:solidFill>
                            <a:srgbClr val="1F2937"/>
                          </a:solidFill>
                          <a:latin typeface="Calibri"/>
                        </a:rPr>
                        <a:t>151</a:t>
                      </a:r>
                    </a:p>
                  </a:txBody>
                  <a:tcPr marL="54864" marR="54864" marT="27432" marB="27432">
                    <a:solidFill>
                      <a:srgbClr val="FFFFFF"/>
                    </a:solidFill>
                  </a:tcPr>
                </a:tc>
              </a:tr>
              <a:tr h="329184">
                <a:tc>
                  <a:txBody>
                    <a:bodyPr/>
                    <a:lstStyle/>
                    <a:p>
                      <a:pPr algn="l"/>
                      <a:r>
                        <a:rPr sz="1150" b="0" i="0">
                          <a:solidFill>
                            <a:srgbClr val="1F2937"/>
                          </a:solidFill>
                          <a:latin typeface="Calibri"/>
                        </a:rPr>
                        <a:t>+ ramp weight</a:t>
                      </a:r>
                    </a:p>
                  </a:txBody>
                  <a:tcPr marL="54864" marR="54864" marT="27432" marB="27432">
                    <a:solidFill>
                      <a:srgbClr val="F3F5F9"/>
                    </a:solidFill>
                  </a:tcPr>
                </a:tc>
                <a:tc>
                  <a:txBody>
                    <a:bodyPr/>
                    <a:lstStyle/>
                    <a:p>
                      <a:pPr algn="ctr"/>
                      <a:r>
                        <a:rPr sz="1150" b="0" i="0">
                          <a:solidFill>
                            <a:srgbClr val="1F2937"/>
                          </a:solidFill>
                          <a:latin typeface="Calibri"/>
                        </a:rPr>
                        <a:t/>
                      </a:r>
                    </a:p>
                  </a:txBody>
                  <a:tcPr marL="54864" marR="54864" marT="27432" marB="27432">
                    <a:solidFill>
                      <a:srgbClr val="F3F5F9"/>
                    </a:solidFill>
                  </a:tcPr>
                </a:tc>
                <a:tc>
                  <a:txBody>
                    <a:bodyPr/>
                    <a:lstStyle/>
                    <a:p>
                      <a:pPr algn="ctr"/>
                      <a:r>
                        <a:rPr sz="1150" b="0" i="0">
                          <a:solidFill>
                            <a:srgbClr val="1F2937"/>
                          </a:solidFill>
                          <a:latin typeface="Calibri"/>
                        </a:rPr>
                        <a:t>102</a:t>
                      </a:r>
                    </a:p>
                  </a:txBody>
                  <a:tcPr marL="54864" marR="54864" marT="27432" marB="27432">
                    <a:solidFill>
                      <a:srgbClr val="F3F5F9"/>
                    </a:solidFill>
                  </a:tcPr>
                </a:tc>
              </a:tr>
              <a:tr h="329184">
                <a:tc>
                  <a:txBody>
                    <a:bodyPr/>
                    <a:lstStyle/>
                    <a:p>
                      <a:pPr algn="l"/>
                      <a:r>
                        <a:rPr sz="1150" b="0" i="0">
                          <a:solidFill>
                            <a:srgbClr val="1F2937"/>
                          </a:solidFill>
                          <a:latin typeface="Calibri"/>
                        </a:rPr>
                        <a:t>+ alternating batch lengths (step 9.8 s → 1.5 s)</a:t>
                      </a:r>
                    </a:p>
                  </a:txBody>
                  <a:tcPr marL="54864" marR="54864" marT="27432" marB="27432">
                    <a:solidFill>
                      <a:srgbClr val="FFFFFF"/>
                    </a:solidFill>
                  </a:tcPr>
                </a:tc>
                <a:tc>
                  <a:txBody>
                    <a:bodyPr/>
                    <a:lstStyle/>
                    <a:p>
                      <a:pPr algn="ctr"/>
                      <a:r>
                        <a:rPr sz="1150" b="0" i="0">
                          <a:solidFill>
                            <a:srgbClr val="1F2937"/>
                          </a:solidFill>
                          <a:latin typeface="Calibri"/>
                        </a:rPr>
                        <a:t/>
                      </a:r>
                    </a:p>
                  </a:txBody>
                  <a:tcPr marL="54864" marR="54864" marT="27432" marB="27432">
                    <a:solidFill>
                      <a:srgbClr val="FFFFFF"/>
                    </a:solidFill>
                  </a:tcPr>
                </a:tc>
                <a:tc>
                  <a:txBody>
                    <a:bodyPr/>
                    <a:lstStyle/>
                    <a:p>
                      <a:pPr algn="ctr"/>
                      <a:r>
                        <a:rPr sz="1150" b="0" i="0">
                          <a:solidFill>
                            <a:srgbClr val="1F2937"/>
                          </a:solidFill>
                          <a:latin typeface="Calibri"/>
                        </a:rPr>
                        <a:t>80</a:t>
                      </a:r>
                    </a:p>
                  </a:txBody>
                  <a:tcPr marL="54864" marR="54864" marT="27432" marB="27432">
                    <a:solidFill>
                      <a:srgbClr val="FFFFFF"/>
                    </a:solidFill>
                  </a:tcPr>
                </a:tc>
              </a:tr>
              <a:tr h="329184">
                <a:tc>
                  <a:txBody>
                    <a:bodyPr/>
                    <a:lstStyle/>
                    <a:p>
                      <a:pPr algn="l"/>
                      <a:r>
                        <a:rPr sz="1150" b="0" i="0">
                          <a:solidFill>
                            <a:srgbClr val="1F2937"/>
                          </a:solidFill>
                          <a:latin typeface="Calibri"/>
                        </a:rPr>
                        <a:t>+ long context only every 4th layer</a:t>
                      </a:r>
                    </a:p>
                  </a:txBody>
                  <a:tcPr marL="54864" marR="54864" marT="27432" marB="27432">
                    <a:solidFill>
                      <a:srgbClr val="F3F5F9"/>
                    </a:solidFill>
                  </a:tcPr>
                </a:tc>
                <a:tc>
                  <a:txBody>
                    <a:bodyPr/>
                    <a:lstStyle/>
                    <a:p>
                      <a:pPr algn="ctr"/>
                      <a:r>
                        <a:rPr sz="1150" b="0" i="0">
                          <a:solidFill>
                            <a:srgbClr val="1F2937"/>
                          </a:solidFill>
                          <a:latin typeface="Calibri"/>
                        </a:rPr>
                        <a:t>18.9</a:t>
                      </a:r>
                    </a:p>
                  </a:txBody>
                  <a:tcPr marL="54864" marR="54864" marT="27432" marB="27432">
                    <a:solidFill>
                      <a:srgbClr val="F3F5F9"/>
                    </a:solidFill>
                  </a:tcPr>
                </a:tc>
                <a:tc>
                  <a:txBody>
                    <a:bodyPr/>
                    <a:lstStyle/>
                    <a:p>
                      <a:pPr algn="ctr"/>
                      <a:r>
                        <a:rPr sz="1150" b="0" i="0">
                          <a:solidFill>
                            <a:srgbClr val="1F2937"/>
                          </a:solidFill>
                          <a:latin typeface="Calibri"/>
                        </a:rPr>
                        <a:t>70</a:t>
                      </a:r>
                    </a:p>
                  </a:txBody>
                  <a:tcPr marL="54864" marR="54864" marT="27432" marB="27432">
                    <a:solidFill>
                      <a:srgbClr val="F3F5F9"/>
                    </a:solidFill>
                  </a:tcPr>
                </a:tc>
              </a:tr>
              <a:tr h="329184">
                <a:tc>
                  <a:txBody>
                    <a:bodyPr/>
                    <a:lstStyle/>
                    <a:p>
                      <a:pPr algn="l"/>
                      <a:r>
                        <a:rPr sz="1150" b="0" i="0">
                          <a:solidFill>
                            <a:srgbClr val="1F2937"/>
                          </a:solidFill>
                          <a:latin typeface="Calibri"/>
                        </a:rPr>
                        <a:t>+ grouped-query attention</a:t>
                      </a:r>
                    </a:p>
                  </a:txBody>
                  <a:tcPr marL="54864" marR="54864" marT="27432" marB="27432">
                    <a:solidFill>
                      <a:srgbClr val="FFFFFF"/>
                    </a:solidFill>
                  </a:tcPr>
                </a:tc>
                <a:tc>
                  <a:txBody>
                    <a:bodyPr/>
                    <a:lstStyle/>
                    <a:p>
                      <a:pPr algn="ctr"/>
                      <a:r>
                        <a:rPr sz="1150" b="0" i="0">
                          <a:solidFill>
                            <a:srgbClr val="1F2937"/>
                          </a:solidFill>
                          <a:latin typeface="Calibri"/>
                        </a:rPr>
                        <a:t>23.2</a:t>
                      </a:r>
                    </a:p>
                  </a:txBody>
                  <a:tcPr marL="54864" marR="54864" marT="27432" marB="27432">
                    <a:solidFill>
                      <a:srgbClr val="FFFFFF"/>
                    </a:solidFill>
                  </a:tcPr>
                </a:tc>
                <a:tc>
                  <a:txBody>
                    <a:bodyPr/>
                    <a:lstStyle/>
                    <a:p>
                      <a:pPr algn="ctr"/>
                      <a:r>
                        <a:rPr sz="1150" b="0" i="0">
                          <a:solidFill>
                            <a:srgbClr val="1F2937"/>
                          </a:solidFill>
                          <a:latin typeface="Calibri"/>
                        </a:rPr>
                        <a:t>71</a:t>
                      </a:r>
                    </a:p>
                  </a:txBody>
                  <a:tcPr marL="54864" marR="54864" marT="27432" marB="27432">
                    <a:solidFill>
                      <a:srgbClr val="FFFFFF"/>
                    </a:solidFill>
                  </a:tcPr>
                </a:tc>
              </a:tr>
              <a:tr h="329184">
                <a:tc>
                  <a:txBody>
                    <a:bodyPr/>
                    <a:lstStyle/>
                    <a:p>
                      <a:pPr algn="l"/>
                      <a:r>
                        <a:rPr sz="1150" b="0" i="0">
                          <a:solidFill>
                            <a:srgbClr val="1F2937"/>
                          </a:solidFill>
                          <a:latin typeface="Calibri"/>
                        </a:rPr>
                        <a:t>+ time-factorised long context</a:t>
                      </a:r>
                    </a:p>
                  </a:txBody>
                  <a:tcPr marL="54864" marR="54864" marT="27432" marB="27432">
                    <a:solidFill>
                      <a:srgbClr val="F3F5F9"/>
                    </a:solidFill>
                  </a:tcPr>
                </a:tc>
                <a:tc>
                  <a:txBody>
                    <a:bodyPr/>
                    <a:lstStyle/>
                    <a:p>
                      <a:pPr algn="ctr"/>
                      <a:r>
                        <a:rPr sz="1150" b="0" i="0">
                          <a:solidFill>
                            <a:srgbClr val="1F2937"/>
                          </a:solidFill>
                          <a:latin typeface="Calibri"/>
                        </a:rPr>
                        <a:t>30.1</a:t>
                      </a:r>
                    </a:p>
                  </a:txBody>
                  <a:tcPr marL="54864" marR="54864" marT="27432" marB="27432">
                    <a:solidFill>
                      <a:srgbClr val="F3F5F9"/>
                    </a:solidFill>
                  </a:tcPr>
                </a:tc>
                <a:tc>
                  <a:txBody>
                    <a:bodyPr/>
                    <a:lstStyle/>
                    <a:p>
                      <a:pPr algn="ctr"/>
                      <a:r>
                        <a:rPr sz="1150" b="0" i="0">
                          <a:solidFill>
                            <a:srgbClr val="1F2937"/>
                          </a:solidFill>
                          <a:latin typeface="Calibri"/>
                        </a:rPr>
                        <a:t>91</a:t>
                      </a:r>
                    </a:p>
                  </a:txBody>
                  <a:tcPr marL="54864" marR="54864" marT="27432" marB="27432">
                    <a:solidFill>
                      <a:srgbClr val="F3F5F9"/>
                    </a:solidFill>
                  </a:tcPr>
                </a:tc>
              </a:tr>
              <a:tr h="329184">
                <a:tc>
                  <a:txBody>
                    <a:bodyPr/>
                    <a:lstStyle/>
                    <a:p>
                      <a:pPr algn="l"/>
                      <a:r>
                        <a:rPr sz="1150" b="0" i="0">
                          <a:solidFill>
                            <a:srgbClr val="1F2937"/>
                          </a:solidFill>
                          <a:latin typeface="Calibri"/>
                        </a:rPr>
                        <a:t>+ register tokens</a:t>
                      </a:r>
                    </a:p>
                  </a:txBody>
                  <a:tcPr marL="54864" marR="54864" marT="27432" marB="27432">
                    <a:solidFill>
                      <a:srgbClr val="FFFFFF"/>
                    </a:solidFill>
                  </a:tcPr>
                </a:tc>
                <a:tc>
                  <a:txBody>
                    <a:bodyPr/>
                    <a:lstStyle/>
                    <a:p>
                      <a:pPr algn="ctr"/>
                      <a:r>
                        <a:rPr sz="1150" b="0" i="0">
                          <a:solidFill>
                            <a:srgbClr val="1F2937"/>
                          </a:solidFill>
                          <a:latin typeface="Calibri"/>
                        </a:rPr>
                        <a:t/>
                      </a:r>
                    </a:p>
                  </a:txBody>
                  <a:tcPr marL="54864" marR="54864" marT="27432" marB="27432">
                    <a:solidFill>
                      <a:srgbClr val="FFFFFF"/>
                    </a:solidFill>
                  </a:tcPr>
                </a:tc>
                <a:tc>
                  <a:txBody>
                    <a:bodyPr/>
                    <a:lstStyle/>
                    <a:p>
                      <a:pPr algn="ctr"/>
                      <a:r>
                        <a:rPr sz="1150" b="0" i="0">
                          <a:solidFill>
                            <a:srgbClr val="1F2937"/>
                          </a:solidFill>
                          <a:latin typeface="Calibri"/>
                        </a:rPr>
                        <a:t>91</a:t>
                      </a:r>
                    </a:p>
                  </a:txBody>
                  <a:tcPr marL="54864" marR="54864" marT="27432" marB="27432">
                    <a:solidFill>
                      <a:srgbClr val="FFFFFF"/>
                    </a:solidFill>
                  </a:tcPr>
                </a:tc>
              </a:tr>
              <a:tr h="329184">
                <a:tc>
                  <a:txBody>
                    <a:bodyPr/>
                    <a:lstStyle/>
                    <a:p>
                      <a:pPr algn="l"/>
                      <a:r>
                        <a:rPr sz="1150" b="1" i="0">
                          <a:solidFill>
                            <a:srgbClr val="1F2937"/>
                          </a:solidFill>
                          <a:latin typeface="Calibri"/>
                        </a:rPr>
                        <a:t>N_z 128 → 256 (final)</a:t>
                      </a:r>
                    </a:p>
                  </a:txBody>
                  <a:tcPr marL="54864" marR="54864" marT="27432" marB="27432">
                    <a:solidFill>
                      <a:srgbClr val="E4EBFC"/>
                    </a:solidFill>
                  </a:tcPr>
                </a:tc>
                <a:tc>
                  <a:txBody>
                    <a:bodyPr/>
                    <a:lstStyle/>
                    <a:p>
                      <a:pPr algn="ctr"/>
                      <a:r>
                        <a:rPr sz="1150" b="1" i="0">
                          <a:solidFill>
                            <a:srgbClr val="1F2937"/>
                          </a:solidFill>
                          <a:latin typeface="Calibri"/>
                        </a:rPr>
                        <a:t>21.4</a:t>
                      </a:r>
                    </a:p>
                  </a:txBody>
                  <a:tcPr marL="54864" marR="54864" marT="27432" marB="27432">
                    <a:solidFill>
                      <a:srgbClr val="E4EBFC"/>
                    </a:solidFill>
                  </a:tcPr>
                </a:tc>
                <a:tc>
                  <a:txBody>
                    <a:bodyPr/>
                    <a:lstStyle/>
                    <a:p>
                      <a:pPr algn="ctr"/>
                      <a:r>
                        <a:rPr sz="1150" b="1" i="0">
                          <a:solidFill>
                            <a:srgbClr val="1F2937"/>
                          </a:solidFill>
                          <a:latin typeface="Calibri"/>
                        </a:rPr>
                        <a:t>57</a:t>
                      </a:r>
                    </a:p>
                  </a:txBody>
                  <a:tcPr marL="54864" marR="54864" marT="27432" marB="27432">
                    <a:solidFill>
                      <a:srgbClr val="E4EBFC"/>
                    </a:solidFill>
                  </a:tcPr>
                </a:tc>
              </a:tr>
              <a:tr h="329184">
                <a:tc>
                  <a:txBody>
                    <a:bodyPr/>
                    <a:lstStyle/>
                    <a:p>
                      <a:pPr algn="l"/>
                      <a:r>
                        <a:rPr sz="1150" b="0" i="0">
                          <a:solidFill>
                            <a:srgbClr val="1F2937"/>
                          </a:solidFill>
                          <a:latin typeface="Calibri"/>
                        </a:rPr>
                        <a:t>(reference) full architecture, v-space prediction &amp; loss</a:t>
                      </a:r>
                    </a:p>
                  </a:txBody>
                  <a:tcPr marL="54864" marR="54864" marT="27432" marB="27432">
                    <a:solidFill>
                      <a:srgbClr val="FFFFFF"/>
                    </a:solidFill>
                  </a:tcPr>
                </a:tc>
                <a:tc>
                  <a:txBody>
                    <a:bodyPr/>
                    <a:lstStyle/>
                    <a:p>
                      <a:pPr algn="ctr"/>
                      <a:r>
                        <a:rPr sz="1150" b="0" i="0">
                          <a:solidFill>
                            <a:srgbClr val="1F2937"/>
                          </a:solidFill>
                          <a:latin typeface="Calibri"/>
                        </a:rPr>
                        <a:t/>
                      </a:r>
                    </a:p>
                  </a:txBody>
                  <a:tcPr marL="54864" marR="54864" marT="27432" marB="27432">
                    <a:solidFill>
                      <a:srgbClr val="FFFFFF"/>
                    </a:solidFill>
                  </a:tcPr>
                </a:tc>
                <a:tc>
                  <a:txBody>
                    <a:bodyPr/>
                    <a:lstStyle/>
                    <a:p>
                      <a:pPr algn="ctr"/>
                      <a:r>
                        <a:rPr sz="1150" b="0" i="0">
                          <a:solidFill>
                            <a:srgbClr val="1F2937"/>
                          </a:solidFill>
                          <a:latin typeface="Calibri"/>
                        </a:rPr>
                        <a:t>124</a:t>
                      </a:r>
                    </a:p>
                  </a:txBody>
                  <a:tcPr marL="54864" marR="54864" marT="27432" marB="27432">
                    <a:solidFill>
                      <a:srgbClr val="FFFFFF"/>
                    </a:solidFill>
                  </a:tcPr>
                </a:tc>
              </a:tr>
            </a:tbl>
          </a:graphicData>
        </a:graphic>
      </p:graphicFrame>
      <p:sp>
        <p:nvSpPr>
          <p:cNvPr id="8" name="TextBox 7"/>
          <p:cNvSpPr txBox="1"/>
          <p:nvPr/>
        </p:nvSpPr>
        <p:spPr>
          <a:xfrm>
            <a:off x="7589520" y="1463040"/>
            <a:ext cx="4206240" cy="4114800"/>
          </a:xfrm>
          <a:prstGeom prst="rect">
            <a:avLst/>
          </a:prstGeom>
          <a:noFill/>
        </p:spPr>
        <p:txBody>
          <a:bodyPr wrap="square" lIns="45720" rIns="45720">
            <a:spAutoFit/>
          </a:bodyPr>
          <a:lstStyle/>
          <a:p>
            <a:pPr marL="256032" indent="-219456">
              <a:lnSpc>
                <a:spcPct val="105000"/>
              </a:lnSpc>
              <a:spcAft>
                <a:spcPts val="600"/>
              </a:spcAft>
              <a:buFont typeface="Arial"/>
              <a:buChar char="•"/>
            </a:pPr>
            <a:r>
              <a:rPr sz="1350" b="0" i="0">
                <a:solidFill>
                  <a:srgbClr val="1F2937"/>
                </a:solidFill>
                <a:latin typeface="Calibri"/>
              </a:rPr>
              <a:t>48-hour training runs per row</a:t>
            </a:r>
          </a:p>
          <a:p>
            <a:pPr marL="256032" indent="-219456">
              <a:lnSpc>
                <a:spcPct val="105000"/>
              </a:lnSpc>
              <a:spcAft>
                <a:spcPts val="600"/>
              </a:spcAft>
              <a:buFont typeface="Arial"/>
              <a:buChar char="•"/>
            </a:pPr>
            <a:r>
              <a:rPr sz="1350" b="0" i="0">
                <a:solidFill>
                  <a:srgbClr val="1F2937"/>
                </a:solidFill>
                <a:latin typeface="Calibri"/>
              </a:rPr>
              <a:t>FVD on 1,024 generations of 384 frames (long rollouts to expose compounding error)</a:t>
            </a:r>
          </a:p>
          <a:p>
            <a:pPr marL="256032" indent="-219456">
              <a:lnSpc>
                <a:spcPct val="105000"/>
              </a:lnSpc>
              <a:spcAft>
                <a:spcPts val="600"/>
              </a:spcAft>
              <a:buFont typeface="Arial"/>
              <a:buChar char="•"/>
            </a:pPr>
            <a:r>
              <a:rPr sz="1350" b="0" i="0">
                <a:solidFill>
                  <a:srgbClr val="1F2937"/>
                </a:solidFill>
                <a:latin typeface="Calibri"/>
              </a:rPr>
              <a:t>FPS measured for generation on one H100 where reported</a:t>
            </a:r>
          </a:p>
          <a:p>
            <a:pPr marL="256032" indent="-219456">
              <a:lnSpc>
                <a:spcPct val="105000"/>
              </a:lnSpc>
              <a:spcAft>
                <a:spcPts val="600"/>
              </a:spcAft>
              <a:buFont typeface="Arial"/>
              <a:buChar char="•"/>
            </a:pPr>
            <a:r>
              <a:rPr sz="1350" b="0" i="0">
                <a:solidFill>
                  <a:srgbClr val="1F2937"/>
                </a:solidFill>
                <a:latin typeface="Calibri"/>
              </a:rPr>
              <a:t>Fig. 8 adds the steps sweep: shortcut forcing FVD ≈ 160/85/60/50 at 1/2/4/8 steps vs ≈ 1,020/830/530/220 for diffusion forcing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C — Full success-rate table (Table 7, %)</a:t>
            </a:r>
          </a:p>
        </p:txBody>
      </p:sp>
      <p:sp>
        <p:nvSpPr>
          <p:cNvPr id="5" name="TextBox 4"/>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6" name="TextBox 5"/>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38</a:t>
            </a:r>
          </a:p>
        </p:txBody>
      </p:sp>
      <p:graphicFrame>
        <p:nvGraphicFramePr>
          <p:cNvPr id="7" name="Table 6"/>
          <p:cNvGraphicFramePr>
            <a:graphicFrameLocks noGrp="1"/>
          </p:cNvGraphicFramePr>
          <p:nvPr/>
        </p:nvGraphicFramePr>
        <p:xfrm>
          <a:off x="457200" y="1325880"/>
          <a:ext cx="11247120" cy="4517136"/>
        </p:xfrm>
        <a:graphic>
          <a:graphicData uri="http://schemas.openxmlformats.org/drawingml/2006/table">
            <a:tbl>
              <a:tblPr firstRow="1" bandRow="1">
                <a:tableStyleId>{5C22544A-7EE6-4342-B048-85BDC9FD1C3A}</a:tableStyleId>
              </a:tblPr>
              <a:tblGrid>
                <a:gridCol w="2103120"/>
                <a:gridCol w="1371600"/>
                <a:gridCol w="1554480"/>
                <a:gridCol w="1280160"/>
                <a:gridCol w="1828800"/>
                <a:gridCol w="1463040"/>
                <a:gridCol w="1645920"/>
              </a:tblGrid>
              <a:tr h="347472">
                <a:tc>
                  <a:txBody>
                    <a:bodyPr/>
                    <a:lstStyle/>
                    <a:p>
                      <a:pPr algn="l"/>
                      <a:r>
                        <a:rPr sz="1200" b="1" i="0">
                          <a:solidFill>
                            <a:srgbClr val="FFFFFF"/>
                          </a:solidFill>
                          <a:latin typeface="Calibri"/>
                        </a:rPr>
                        <a:t>Milestone</a:t>
                      </a:r>
                    </a:p>
                  </a:txBody>
                  <a:tcPr marL="54864" marR="54864" marT="27432" marB="27432">
                    <a:solidFill>
                      <a:srgbClr val="14213D"/>
                    </a:solidFill>
                  </a:tcPr>
                </a:tc>
                <a:tc>
                  <a:txBody>
                    <a:bodyPr/>
                    <a:lstStyle/>
                    <a:p>
                      <a:pPr algn="ctr"/>
                      <a:r>
                        <a:rPr sz="1200" b="1" i="0">
                          <a:solidFill>
                            <a:srgbClr val="FFFFFF"/>
                          </a:solidFill>
                          <a:latin typeface="Calibri"/>
                        </a:rPr>
                        <a:t>VPT (ft)</a:t>
                      </a:r>
                    </a:p>
                  </a:txBody>
                  <a:tcPr marL="54864" marR="54864" marT="27432" marB="27432">
                    <a:solidFill>
                      <a:srgbClr val="14213D"/>
                    </a:solidFill>
                  </a:tcPr>
                </a:tc>
                <a:tc>
                  <a:txBody>
                    <a:bodyPr/>
                    <a:lstStyle/>
                    <a:p>
                      <a:pPr algn="ctr"/>
                      <a:r>
                        <a:rPr sz="1200" b="1" i="0">
                          <a:solidFill>
                            <a:srgbClr val="FFFFFF"/>
                          </a:solidFill>
                          <a:latin typeface="Calibri"/>
                        </a:rPr>
                        <a:t>BC (no task)</a:t>
                      </a:r>
                    </a:p>
                  </a:txBody>
                  <a:tcPr marL="54864" marR="54864" marT="27432" marB="27432">
                    <a:solidFill>
                      <a:srgbClr val="14213D"/>
                    </a:solidFill>
                  </a:tcPr>
                </a:tc>
                <a:tc>
                  <a:txBody>
                    <a:bodyPr/>
                    <a:lstStyle/>
                    <a:p>
                      <a:pPr algn="ctr"/>
                      <a:r>
                        <a:rPr sz="1200" b="1" i="0">
                          <a:solidFill>
                            <a:srgbClr val="FFFFFF"/>
                          </a:solidFill>
                          <a:latin typeface="Calibri"/>
                        </a:rPr>
                        <a:t>BC</a:t>
                      </a:r>
                    </a:p>
                  </a:txBody>
                  <a:tcPr marL="54864" marR="54864" marT="27432" marB="27432">
                    <a:solidFill>
                      <a:srgbClr val="14213D"/>
                    </a:solidFill>
                  </a:tcPr>
                </a:tc>
                <a:tc>
                  <a:txBody>
                    <a:bodyPr/>
                    <a:lstStyle/>
                    <a:p>
                      <a:pPr algn="ctr"/>
                      <a:r>
                        <a:rPr sz="1200" b="1" i="0">
                          <a:solidFill>
                            <a:srgbClr val="FFFFFF"/>
                          </a:solidFill>
                          <a:latin typeface="Calibri"/>
                        </a:rPr>
                        <a:t>VLA (Gemma 3)</a:t>
                      </a:r>
                    </a:p>
                  </a:txBody>
                  <a:tcPr marL="54864" marR="54864" marT="27432" marB="27432">
                    <a:solidFill>
                      <a:srgbClr val="14213D"/>
                    </a:solidFill>
                  </a:tcPr>
                </a:tc>
                <a:tc>
                  <a:txBody>
                    <a:bodyPr/>
                    <a:lstStyle/>
                    <a:p>
                      <a:pPr algn="ctr"/>
                      <a:r>
                        <a:rPr sz="1200" b="1" i="0">
                          <a:solidFill>
                            <a:srgbClr val="FFFFFF"/>
                          </a:solidFill>
                          <a:latin typeface="Calibri"/>
                        </a:rPr>
                        <a:t>WM + BC</a:t>
                      </a:r>
                    </a:p>
                  </a:txBody>
                  <a:tcPr marL="54864" marR="54864" marT="27432" marB="27432">
                    <a:solidFill>
                      <a:srgbClr val="14213D"/>
                    </a:solidFill>
                  </a:tcPr>
                </a:tc>
                <a:tc>
                  <a:txBody>
                    <a:bodyPr/>
                    <a:lstStyle/>
                    <a:p>
                      <a:pPr algn="ctr"/>
                      <a:r>
                        <a:rPr sz="1200" b="1" i="0">
                          <a:solidFill>
                            <a:srgbClr val="FFFFFF"/>
                          </a:solidFill>
                          <a:latin typeface="Calibri"/>
                        </a:rPr>
                        <a:t>Dreamer 4</a:t>
                      </a:r>
                    </a:p>
                  </a:txBody>
                  <a:tcPr marL="54864" marR="54864" marT="27432" marB="27432">
                    <a:solidFill>
                      <a:srgbClr val="14213D"/>
                    </a:solidFill>
                  </a:tcPr>
                </a:tc>
              </a:tr>
              <a:tr h="347472">
                <a:tc>
                  <a:txBody>
                    <a:bodyPr/>
                    <a:lstStyle/>
                    <a:p>
                      <a:pPr algn="l"/>
                      <a:r>
                        <a:rPr sz="1200" b="0" i="0">
                          <a:solidFill>
                            <a:srgbClr val="1F2937"/>
                          </a:solidFill>
                          <a:latin typeface="Calibri"/>
                        </a:rPr>
                        <a:t>Log</a:t>
                      </a:r>
                    </a:p>
                  </a:txBody>
                  <a:tcPr marL="54864" marR="54864" marT="27432" marB="27432">
                    <a:solidFill>
                      <a:srgbClr val="FFFFFF"/>
                    </a:solidFill>
                  </a:tcPr>
                </a:tc>
                <a:tc>
                  <a:txBody>
                    <a:bodyPr/>
                    <a:lstStyle/>
                    <a:p>
                      <a:pPr algn="ctr"/>
                      <a:r>
                        <a:rPr sz="1200" b="0" i="0">
                          <a:solidFill>
                            <a:srgbClr val="1F2937"/>
                          </a:solidFill>
                          <a:latin typeface="Calibri"/>
                        </a:rPr>
                        <a:t>84.3</a:t>
                      </a:r>
                    </a:p>
                  </a:txBody>
                  <a:tcPr marL="54864" marR="54864" marT="27432" marB="27432">
                    <a:solidFill>
                      <a:srgbClr val="FFFFFF"/>
                    </a:solidFill>
                  </a:tcPr>
                </a:tc>
                <a:tc>
                  <a:txBody>
                    <a:bodyPr/>
                    <a:lstStyle/>
                    <a:p>
                      <a:pPr algn="ctr"/>
                      <a:r>
                        <a:rPr sz="1200" b="0" i="0">
                          <a:solidFill>
                            <a:srgbClr val="1F2937"/>
                          </a:solidFill>
                          <a:latin typeface="Calibri"/>
                        </a:rPr>
                        <a:t>71.4</a:t>
                      </a:r>
                    </a:p>
                  </a:txBody>
                  <a:tcPr marL="54864" marR="54864" marT="27432" marB="27432">
                    <a:solidFill>
                      <a:srgbClr val="FFFFFF"/>
                    </a:solidFill>
                  </a:tcPr>
                </a:tc>
                <a:tc>
                  <a:txBody>
                    <a:bodyPr/>
                    <a:lstStyle/>
                    <a:p>
                      <a:pPr algn="ctr"/>
                      <a:r>
                        <a:rPr sz="1200" b="0" i="0">
                          <a:solidFill>
                            <a:srgbClr val="1F2937"/>
                          </a:solidFill>
                          <a:latin typeface="Calibri"/>
                        </a:rPr>
                        <a:t>97.3</a:t>
                      </a:r>
                    </a:p>
                  </a:txBody>
                  <a:tcPr marL="54864" marR="54864" marT="27432" marB="27432">
                    <a:solidFill>
                      <a:srgbClr val="FFFFFF"/>
                    </a:solidFill>
                  </a:tcPr>
                </a:tc>
                <a:tc>
                  <a:txBody>
                    <a:bodyPr/>
                    <a:lstStyle/>
                    <a:p>
                      <a:pPr algn="ctr"/>
                      <a:r>
                        <a:rPr sz="1200" b="0" i="0">
                          <a:solidFill>
                            <a:srgbClr val="1F2937"/>
                          </a:solidFill>
                          <a:latin typeface="Calibri"/>
                        </a:rPr>
                        <a:t>98.5</a:t>
                      </a:r>
                    </a:p>
                  </a:txBody>
                  <a:tcPr marL="54864" marR="54864" marT="27432" marB="27432">
                    <a:solidFill>
                      <a:srgbClr val="FFFFFF"/>
                    </a:solidFill>
                  </a:tcPr>
                </a:tc>
                <a:tc>
                  <a:txBody>
                    <a:bodyPr/>
                    <a:lstStyle/>
                    <a:p>
                      <a:pPr algn="ctr"/>
                      <a:r>
                        <a:rPr sz="1200" b="0" i="0">
                          <a:solidFill>
                            <a:srgbClr val="1F2937"/>
                          </a:solidFill>
                          <a:latin typeface="Calibri"/>
                        </a:rPr>
                        <a:t>99.6</a:t>
                      </a:r>
                    </a:p>
                  </a:txBody>
                  <a:tcPr marL="54864" marR="54864" marT="27432" marB="27432">
                    <a:solidFill>
                      <a:srgbClr val="FFFFFF"/>
                    </a:solidFill>
                  </a:tcPr>
                </a:tc>
                <a:tc>
                  <a:txBody>
                    <a:bodyPr/>
                    <a:lstStyle/>
                    <a:p>
                      <a:pPr algn="ctr"/>
                      <a:r>
                        <a:rPr sz="1200" b="1" i="0">
                          <a:solidFill>
                            <a:srgbClr val="1F2937"/>
                          </a:solidFill>
                          <a:latin typeface="Calibri"/>
                        </a:rPr>
                        <a:t>99.1</a:t>
                      </a:r>
                    </a:p>
                  </a:txBody>
                  <a:tcPr marL="54864" marR="54864" marT="27432" marB="27432">
                    <a:solidFill>
                      <a:srgbClr val="E4EBFC"/>
                    </a:solidFill>
                  </a:tcPr>
                </a:tc>
              </a:tr>
              <a:tr h="347472">
                <a:tc>
                  <a:txBody>
                    <a:bodyPr/>
                    <a:lstStyle/>
                    <a:p>
                      <a:pPr algn="l"/>
                      <a:r>
                        <a:rPr sz="1200" b="0" i="0">
                          <a:solidFill>
                            <a:srgbClr val="1F2937"/>
                          </a:solidFill>
                          <a:latin typeface="Calibri"/>
                        </a:rPr>
                        <a:t>Planks</a:t>
                      </a:r>
                    </a:p>
                  </a:txBody>
                  <a:tcPr marL="54864" marR="54864" marT="27432" marB="27432">
                    <a:solidFill>
                      <a:srgbClr val="F3F5F9"/>
                    </a:solidFill>
                  </a:tcPr>
                </a:tc>
                <a:tc>
                  <a:txBody>
                    <a:bodyPr/>
                    <a:lstStyle/>
                    <a:p>
                      <a:pPr algn="ctr"/>
                      <a:r>
                        <a:rPr sz="1200" b="0" i="0">
                          <a:solidFill>
                            <a:srgbClr val="1F2937"/>
                          </a:solidFill>
                          <a:latin typeface="Calibri"/>
                        </a:rPr>
                        <a:t>65.3</a:t>
                      </a:r>
                    </a:p>
                  </a:txBody>
                  <a:tcPr marL="54864" marR="54864" marT="27432" marB="27432">
                    <a:solidFill>
                      <a:srgbClr val="F3F5F9"/>
                    </a:solidFill>
                  </a:tcPr>
                </a:tc>
                <a:tc>
                  <a:txBody>
                    <a:bodyPr/>
                    <a:lstStyle/>
                    <a:p>
                      <a:pPr algn="ctr"/>
                      <a:r>
                        <a:rPr sz="1200" b="0" i="0">
                          <a:solidFill>
                            <a:srgbClr val="1F2937"/>
                          </a:solidFill>
                          <a:latin typeface="Calibri"/>
                        </a:rPr>
                        <a:t>68.6</a:t>
                      </a:r>
                    </a:p>
                  </a:txBody>
                  <a:tcPr marL="54864" marR="54864" marT="27432" marB="27432">
                    <a:solidFill>
                      <a:srgbClr val="F3F5F9"/>
                    </a:solidFill>
                  </a:tcPr>
                </a:tc>
                <a:tc>
                  <a:txBody>
                    <a:bodyPr/>
                    <a:lstStyle/>
                    <a:p>
                      <a:pPr algn="ctr"/>
                      <a:r>
                        <a:rPr sz="1200" b="0" i="0">
                          <a:solidFill>
                            <a:srgbClr val="1F2937"/>
                          </a:solidFill>
                          <a:latin typeface="Calibri"/>
                        </a:rPr>
                        <a:t>95.7</a:t>
                      </a:r>
                    </a:p>
                  </a:txBody>
                  <a:tcPr marL="54864" marR="54864" marT="27432" marB="27432">
                    <a:solidFill>
                      <a:srgbClr val="F3F5F9"/>
                    </a:solidFill>
                  </a:tcPr>
                </a:tc>
                <a:tc>
                  <a:txBody>
                    <a:bodyPr/>
                    <a:lstStyle/>
                    <a:p>
                      <a:pPr algn="ctr"/>
                      <a:r>
                        <a:rPr sz="1200" b="0" i="0">
                          <a:solidFill>
                            <a:srgbClr val="1F2937"/>
                          </a:solidFill>
                          <a:latin typeface="Calibri"/>
                        </a:rPr>
                        <a:t>98.3</a:t>
                      </a:r>
                    </a:p>
                  </a:txBody>
                  <a:tcPr marL="54864" marR="54864" marT="27432" marB="27432">
                    <a:solidFill>
                      <a:srgbClr val="F3F5F9"/>
                    </a:solidFill>
                  </a:tcPr>
                </a:tc>
                <a:tc>
                  <a:txBody>
                    <a:bodyPr/>
                    <a:lstStyle/>
                    <a:p>
                      <a:pPr algn="ctr"/>
                      <a:r>
                        <a:rPr sz="1200" b="0" i="0">
                          <a:solidFill>
                            <a:srgbClr val="1F2937"/>
                          </a:solidFill>
                          <a:latin typeface="Calibri"/>
                        </a:rPr>
                        <a:t>99.6</a:t>
                      </a:r>
                    </a:p>
                  </a:txBody>
                  <a:tcPr marL="54864" marR="54864" marT="27432" marB="27432">
                    <a:solidFill>
                      <a:srgbClr val="F3F5F9"/>
                    </a:solidFill>
                  </a:tcPr>
                </a:tc>
                <a:tc>
                  <a:txBody>
                    <a:bodyPr/>
                    <a:lstStyle/>
                    <a:p>
                      <a:pPr algn="ctr"/>
                      <a:r>
                        <a:rPr sz="1200" b="1" i="0">
                          <a:solidFill>
                            <a:srgbClr val="1F2937"/>
                          </a:solidFill>
                          <a:latin typeface="Calibri"/>
                        </a:rPr>
                        <a:t>98.9</a:t>
                      </a:r>
                    </a:p>
                  </a:txBody>
                  <a:tcPr marL="54864" marR="54864" marT="27432" marB="27432">
                    <a:solidFill>
                      <a:srgbClr val="E4EBFC"/>
                    </a:solidFill>
                  </a:tcPr>
                </a:tc>
              </a:tr>
              <a:tr h="347472">
                <a:tc>
                  <a:txBody>
                    <a:bodyPr/>
                    <a:lstStyle/>
                    <a:p>
                      <a:pPr algn="l"/>
                      <a:r>
                        <a:rPr sz="1200" b="0" i="0">
                          <a:solidFill>
                            <a:srgbClr val="1F2937"/>
                          </a:solidFill>
                          <a:latin typeface="Calibri"/>
                        </a:rPr>
                        <a:t>Crafting table</a:t>
                      </a:r>
                    </a:p>
                  </a:txBody>
                  <a:tcPr marL="54864" marR="54864" marT="27432" marB="27432">
                    <a:solidFill>
                      <a:srgbClr val="FFFFFF"/>
                    </a:solidFill>
                  </a:tcPr>
                </a:tc>
                <a:tc>
                  <a:txBody>
                    <a:bodyPr/>
                    <a:lstStyle/>
                    <a:p>
                      <a:pPr algn="ctr"/>
                      <a:r>
                        <a:rPr sz="1200" b="0" i="0">
                          <a:solidFill>
                            <a:srgbClr val="1F2937"/>
                          </a:solidFill>
                          <a:latin typeface="Calibri"/>
                        </a:rPr>
                        <a:t>4.7</a:t>
                      </a:r>
                    </a:p>
                  </a:txBody>
                  <a:tcPr marL="54864" marR="54864" marT="27432" marB="27432">
                    <a:solidFill>
                      <a:srgbClr val="FFFFFF"/>
                    </a:solidFill>
                  </a:tcPr>
                </a:tc>
                <a:tc>
                  <a:txBody>
                    <a:bodyPr/>
                    <a:lstStyle/>
                    <a:p>
                      <a:pPr algn="ctr"/>
                      <a:r>
                        <a:rPr sz="1200" b="0" i="0">
                          <a:solidFill>
                            <a:srgbClr val="1F2937"/>
                          </a:solidFill>
                          <a:latin typeface="Calibri"/>
                        </a:rPr>
                        <a:t>63.8</a:t>
                      </a:r>
                    </a:p>
                  </a:txBody>
                  <a:tcPr marL="54864" marR="54864" marT="27432" marB="27432">
                    <a:solidFill>
                      <a:srgbClr val="FFFFFF"/>
                    </a:solidFill>
                  </a:tcPr>
                </a:tc>
                <a:tc>
                  <a:txBody>
                    <a:bodyPr/>
                    <a:lstStyle/>
                    <a:p>
                      <a:pPr algn="ctr"/>
                      <a:r>
                        <a:rPr sz="1200" b="0" i="0">
                          <a:solidFill>
                            <a:srgbClr val="1F2937"/>
                          </a:solidFill>
                          <a:latin typeface="Calibri"/>
                        </a:rPr>
                        <a:t>93.5</a:t>
                      </a:r>
                    </a:p>
                  </a:txBody>
                  <a:tcPr marL="54864" marR="54864" marT="27432" marB="27432">
                    <a:solidFill>
                      <a:srgbClr val="FFFFFF"/>
                    </a:solidFill>
                  </a:tcPr>
                </a:tc>
                <a:tc>
                  <a:txBody>
                    <a:bodyPr/>
                    <a:lstStyle/>
                    <a:p>
                      <a:pPr algn="ctr"/>
                      <a:r>
                        <a:rPr sz="1200" b="0" i="0">
                          <a:solidFill>
                            <a:srgbClr val="1F2937"/>
                          </a:solidFill>
                          <a:latin typeface="Calibri"/>
                        </a:rPr>
                        <a:t>97.2</a:t>
                      </a:r>
                    </a:p>
                  </a:txBody>
                  <a:tcPr marL="54864" marR="54864" marT="27432" marB="27432">
                    <a:solidFill>
                      <a:srgbClr val="FFFFFF"/>
                    </a:solidFill>
                  </a:tcPr>
                </a:tc>
                <a:tc>
                  <a:txBody>
                    <a:bodyPr/>
                    <a:lstStyle/>
                    <a:p>
                      <a:pPr algn="ctr"/>
                      <a:r>
                        <a:rPr sz="1200" b="0" i="0">
                          <a:solidFill>
                            <a:srgbClr val="1F2937"/>
                          </a:solidFill>
                          <a:latin typeface="Calibri"/>
                        </a:rPr>
                        <a:t>99.1</a:t>
                      </a:r>
                    </a:p>
                  </a:txBody>
                  <a:tcPr marL="54864" marR="54864" marT="27432" marB="27432">
                    <a:solidFill>
                      <a:srgbClr val="FFFFFF"/>
                    </a:solidFill>
                  </a:tcPr>
                </a:tc>
                <a:tc>
                  <a:txBody>
                    <a:bodyPr/>
                    <a:lstStyle/>
                    <a:p>
                      <a:pPr algn="ctr"/>
                      <a:r>
                        <a:rPr sz="1200" b="1" i="0">
                          <a:solidFill>
                            <a:srgbClr val="1F2937"/>
                          </a:solidFill>
                          <a:latin typeface="Calibri"/>
                        </a:rPr>
                        <a:t>98.5</a:t>
                      </a:r>
                    </a:p>
                  </a:txBody>
                  <a:tcPr marL="54864" marR="54864" marT="27432" marB="27432">
                    <a:solidFill>
                      <a:srgbClr val="E4EBFC"/>
                    </a:solidFill>
                  </a:tcPr>
                </a:tc>
              </a:tr>
              <a:tr h="347472">
                <a:tc>
                  <a:txBody>
                    <a:bodyPr/>
                    <a:lstStyle/>
                    <a:p>
                      <a:pPr algn="l"/>
                      <a:r>
                        <a:rPr sz="1200" b="0" i="0">
                          <a:solidFill>
                            <a:srgbClr val="1F2937"/>
                          </a:solidFill>
                          <a:latin typeface="Calibri"/>
                        </a:rPr>
                        <a:t>Stick</a:t>
                      </a:r>
                    </a:p>
                  </a:txBody>
                  <a:tcPr marL="54864" marR="54864" marT="27432" marB="27432">
                    <a:solidFill>
                      <a:srgbClr val="F3F5F9"/>
                    </a:solidFill>
                  </a:tcPr>
                </a:tc>
                <a:tc>
                  <a:txBody>
                    <a:bodyPr/>
                    <a:lstStyle/>
                    <a:p>
                      <a:pPr algn="ctr"/>
                      <a:r>
                        <a:rPr sz="1200" b="0" i="0">
                          <a:solidFill>
                            <a:srgbClr val="1F2937"/>
                          </a:solidFill>
                          <a:latin typeface="Calibri"/>
                        </a:rPr>
                        <a:t>52.6</a:t>
                      </a:r>
                    </a:p>
                  </a:txBody>
                  <a:tcPr marL="54864" marR="54864" marT="27432" marB="27432">
                    <a:solidFill>
                      <a:srgbClr val="F3F5F9"/>
                    </a:solidFill>
                  </a:tcPr>
                </a:tc>
                <a:tc>
                  <a:txBody>
                    <a:bodyPr/>
                    <a:lstStyle/>
                    <a:p>
                      <a:pPr algn="ctr"/>
                      <a:r>
                        <a:rPr sz="1200" b="0" i="0">
                          <a:solidFill>
                            <a:srgbClr val="1F2937"/>
                          </a:solidFill>
                          <a:latin typeface="Calibri"/>
                        </a:rPr>
                        <a:t>62.4</a:t>
                      </a:r>
                    </a:p>
                  </a:txBody>
                  <a:tcPr marL="54864" marR="54864" marT="27432" marB="27432">
                    <a:solidFill>
                      <a:srgbClr val="F3F5F9"/>
                    </a:solidFill>
                  </a:tcPr>
                </a:tc>
                <a:tc>
                  <a:txBody>
                    <a:bodyPr/>
                    <a:lstStyle/>
                    <a:p>
                      <a:pPr algn="ctr"/>
                      <a:r>
                        <a:rPr sz="1200" b="0" i="0">
                          <a:solidFill>
                            <a:srgbClr val="1F2937"/>
                          </a:solidFill>
                          <a:latin typeface="Calibri"/>
                        </a:rPr>
                        <a:t>95.0</a:t>
                      </a:r>
                    </a:p>
                  </a:txBody>
                  <a:tcPr marL="54864" marR="54864" marT="27432" marB="27432">
                    <a:solidFill>
                      <a:srgbClr val="F3F5F9"/>
                    </a:solidFill>
                  </a:tcPr>
                </a:tc>
                <a:tc>
                  <a:txBody>
                    <a:bodyPr/>
                    <a:lstStyle/>
                    <a:p>
                      <a:pPr algn="ctr"/>
                      <a:r>
                        <a:rPr sz="1200" b="0" i="0">
                          <a:solidFill>
                            <a:srgbClr val="1F2937"/>
                          </a:solidFill>
                          <a:latin typeface="Calibri"/>
                        </a:rPr>
                        <a:t>97.7</a:t>
                      </a:r>
                    </a:p>
                  </a:txBody>
                  <a:tcPr marL="54864" marR="54864" marT="27432" marB="27432">
                    <a:solidFill>
                      <a:srgbClr val="F3F5F9"/>
                    </a:solidFill>
                  </a:tcPr>
                </a:tc>
                <a:tc>
                  <a:txBody>
                    <a:bodyPr/>
                    <a:lstStyle/>
                    <a:p>
                      <a:pPr algn="ctr"/>
                      <a:r>
                        <a:rPr sz="1200" b="0" i="0">
                          <a:solidFill>
                            <a:srgbClr val="1F2937"/>
                          </a:solidFill>
                          <a:latin typeface="Calibri"/>
                        </a:rPr>
                        <a:t>98.9</a:t>
                      </a:r>
                    </a:p>
                  </a:txBody>
                  <a:tcPr marL="54864" marR="54864" marT="27432" marB="27432">
                    <a:solidFill>
                      <a:srgbClr val="F3F5F9"/>
                    </a:solidFill>
                  </a:tcPr>
                </a:tc>
                <a:tc>
                  <a:txBody>
                    <a:bodyPr/>
                    <a:lstStyle/>
                    <a:p>
                      <a:pPr algn="ctr"/>
                      <a:r>
                        <a:rPr sz="1200" b="1" i="0">
                          <a:solidFill>
                            <a:srgbClr val="1F2937"/>
                          </a:solidFill>
                          <a:latin typeface="Calibri"/>
                        </a:rPr>
                        <a:t>98.7</a:t>
                      </a:r>
                    </a:p>
                  </a:txBody>
                  <a:tcPr marL="54864" marR="54864" marT="27432" marB="27432">
                    <a:solidFill>
                      <a:srgbClr val="E4EBFC"/>
                    </a:solidFill>
                  </a:tcPr>
                </a:tc>
              </a:tr>
              <a:tr h="347472">
                <a:tc>
                  <a:txBody>
                    <a:bodyPr/>
                    <a:lstStyle/>
                    <a:p>
                      <a:pPr algn="l"/>
                      <a:r>
                        <a:rPr sz="1200" b="0" i="0">
                          <a:solidFill>
                            <a:srgbClr val="1F2937"/>
                          </a:solidFill>
                          <a:latin typeface="Calibri"/>
                        </a:rPr>
                        <a:t>Wooden pickaxe</a:t>
                      </a:r>
                    </a:p>
                  </a:txBody>
                  <a:tcPr marL="54864" marR="54864" marT="27432" marB="27432">
                    <a:solidFill>
                      <a:srgbClr val="FFFFFF"/>
                    </a:solidFill>
                  </a:tcPr>
                </a:tc>
                <a:tc>
                  <a:txBody>
                    <a:bodyPr/>
                    <a:lstStyle/>
                    <a:p>
                      <a:pPr algn="ctr"/>
                      <a:r>
                        <a:rPr sz="1200" b="0" i="0">
                          <a:solidFill>
                            <a:srgbClr val="1F2937"/>
                          </a:solidFill>
                          <a:latin typeface="Calibri"/>
                        </a:rPr>
                        <a:t>0.0</a:t>
                      </a:r>
                    </a:p>
                  </a:txBody>
                  <a:tcPr marL="54864" marR="54864" marT="27432" marB="27432">
                    <a:solidFill>
                      <a:srgbClr val="FFFFFF"/>
                    </a:solidFill>
                  </a:tcPr>
                </a:tc>
                <a:tc>
                  <a:txBody>
                    <a:bodyPr/>
                    <a:lstStyle/>
                    <a:p>
                      <a:pPr algn="ctr"/>
                      <a:r>
                        <a:rPr sz="1200" b="0" i="0">
                          <a:solidFill>
                            <a:srgbClr val="1F2937"/>
                          </a:solidFill>
                          <a:latin typeface="Calibri"/>
                        </a:rPr>
                        <a:t>33.8</a:t>
                      </a:r>
                    </a:p>
                  </a:txBody>
                  <a:tcPr marL="54864" marR="54864" marT="27432" marB="27432">
                    <a:solidFill>
                      <a:srgbClr val="FFFFFF"/>
                    </a:solidFill>
                  </a:tcPr>
                </a:tc>
                <a:tc>
                  <a:txBody>
                    <a:bodyPr/>
                    <a:lstStyle/>
                    <a:p>
                      <a:pPr algn="ctr"/>
                      <a:r>
                        <a:rPr sz="1200" b="0" i="0">
                          <a:solidFill>
                            <a:srgbClr val="1F2937"/>
                          </a:solidFill>
                          <a:latin typeface="Calibri"/>
                        </a:rPr>
                        <a:t>86.5</a:t>
                      </a:r>
                    </a:p>
                  </a:txBody>
                  <a:tcPr marL="54864" marR="54864" marT="27432" marB="27432">
                    <a:solidFill>
                      <a:srgbClr val="FFFFFF"/>
                    </a:solidFill>
                  </a:tcPr>
                </a:tc>
                <a:tc>
                  <a:txBody>
                    <a:bodyPr/>
                    <a:lstStyle/>
                    <a:p>
                      <a:pPr algn="ctr"/>
                      <a:r>
                        <a:rPr sz="1200" b="0" i="0">
                          <a:solidFill>
                            <a:srgbClr val="1F2937"/>
                          </a:solidFill>
                          <a:latin typeface="Calibri"/>
                        </a:rPr>
                        <a:t>94.1</a:t>
                      </a:r>
                    </a:p>
                  </a:txBody>
                  <a:tcPr marL="54864" marR="54864" marT="27432" marB="27432">
                    <a:solidFill>
                      <a:srgbClr val="FFFFFF"/>
                    </a:solidFill>
                  </a:tcPr>
                </a:tc>
                <a:tc>
                  <a:txBody>
                    <a:bodyPr/>
                    <a:lstStyle/>
                    <a:p>
                      <a:pPr algn="ctr"/>
                      <a:r>
                        <a:rPr sz="1200" b="0" i="0">
                          <a:solidFill>
                            <a:srgbClr val="1F2937"/>
                          </a:solidFill>
                          <a:latin typeface="Calibri"/>
                        </a:rPr>
                        <a:t>97.3</a:t>
                      </a:r>
                    </a:p>
                  </a:txBody>
                  <a:tcPr marL="54864" marR="54864" marT="27432" marB="27432">
                    <a:solidFill>
                      <a:srgbClr val="FFFFFF"/>
                    </a:solidFill>
                  </a:tcPr>
                </a:tc>
                <a:tc>
                  <a:txBody>
                    <a:bodyPr/>
                    <a:lstStyle/>
                    <a:p>
                      <a:pPr algn="ctr"/>
                      <a:r>
                        <a:rPr sz="1200" b="1" i="0">
                          <a:solidFill>
                            <a:srgbClr val="1F2937"/>
                          </a:solidFill>
                          <a:latin typeface="Calibri"/>
                        </a:rPr>
                        <a:t>96.6</a:t>
                      </a:r>
                    </a:p>
                  </a:txBody>
                  <a:tcPr marL="54864" marR="54864" marT="27432" marB="27432">
                    <a:solidFill>
                      <a:srgbClr val="E4EBFC"/>
                    </a:solidFill>
                  </a:tcPr>
                </a:tc>
              </a:tr>
              <a:tr h="347472">
                <a:tc>
                  <a:txBody>
                    <a:bodyPr/>
                    <a:lstStyle/>
                    <a:p>
                      <a:pPr algn="l"/>
                      <a:r>
                        <a:rPr sz="1200" b="0" i="0">
                          <a:solidFill>
                            <a:srgbClr val="1F2937"/>
                          </a:solidFill>
                          <a:latin typeface="Calibri"/>
                        </a:rPr>
                        <a:t>Cobblestone</a:t>
                      </a:r>
                    </a:p>
                  </a:txBody>
                  <a:tcPr marL="54864" marR="54864" marT="27432" marB="27432">
                    <a:solidFill>
                      <a:srgbClr val="F3F5F9"/>
                    </a:solidFill>
                  </a:tcPr>
                </a:tc>
                <a:tc>
                  <a:txBody>
                    <a:bodyPr/>
                    <a:lstStyle/>
                    <a:p>
                      <a:pPr algn="ctr"/>
                      <a:r>
                        <a:rPr sz="1200" b="0" i="0">
                          <a:solidFill>
                            <a:srgbClr val="1F2937"/>
                          </a:solidFill>
                          <a:latin typeface="Calibri"/>
                        </a:rPr>
                        <a:t>6.9</a:t>
                      </a:r>
                    </a:p>
                  </a:txBody>
                  <a:tcPr marL="54864" marR="54864" marT="27432" marB="27432">
                    <a:solidFill>
                      <a:srgbClr val="F3F5F9"/>
                    </a:solidFill>
                  </a:tcPr>
                </a:tc>
                <a:tc>
                  <a:txBody>
                    <a:bodyPr/>
                    <a:lstStyle/>
                    <a:p>
                      <a:pPr algn="ctr"/>
                      <a:r>
                        <a:rPr sz="1200" b="0" i="0">
                          <a:solidFill>
                            <a:srgbClr val="1F2937"/>
                          </a:solidFill>
                          <a:latin typeface="Calibri"/>
                        </a:rPr>
                        <a:t>32.0</a:t>
                      </a:r>
                    </a:p>
                  </a:txBody>
                  <a:tcPr marL="54864" marR="54864" marT="27432" marB="27432">
                    <a:solidFill>
                      <a:srgbClr val="F3F5F9"/>
                    </a:solidFill>
                  </a:tcPr>
                </a:tc>
                <a:tc>
                  <a:txBody>
                    <a:bodyPr/>
                    <a:lstStyle/>
                    <a:p>
                      <a:pPr algn="ctr"/>
                      <a:r>
                        <a:rPr sz="1200" b="0" i="0">
                          <a:solidFill>
                            <a:srgbClr val="1F2937"/>
                          </a:solidFill>
                          <a:latin typeface="Calibri"/>
                        </a:rPr>
                        <a:t>83.9</a:t>
                      </a:r>
                    </a:p>
                  </a:txBody>
                  <a:tcPr marL="54864" marR="54864" marT="27432" marB="27432">
                    <a:solidFill>
                      <a:srgbClr val="F3F5F9"/>
                    </a:solidFill>
                  </a:tcPr>
                </a:tc>
                <a:tc>
                  <a:txBody>
                    <a:bodyPr/>
                    <a:lstStyle/>
                    <a:p>
                      <a:pPr algn="ctr"/>
                      <a:r>
                        <a:rPr sz="1200" b="0" i="0">
                          <a:solidFill>
                            <a:srgbClr val="1F2937"/>
                          </a:solidFill>
                          <a:latin typeface="Calibri"/>
                        </a:rPr>
                        <a:t>91.6</a:t>
                      </a:r>
                    </a:p>
                  </a:txBody>
                  <a:tcPr marL="54864" marR="54864" marT="27432" marB="27432">
                    <a:solidFill>
                      <a:srgbClr val="F3F5F9"/>
                    </a:solidFill>
                  </a:tcPr>
                </a:tc>
                <a:tc>
                  <a:txBody>
                    <a:bodyPr/>
                    <a:lstStyle/>
                    <a:p>
                      <a:pPr algn="ctr"/>
                      <a:r>
                        <a:rPr sz="1200" b="0" i="0">
                          <a:solidFill>
                            <a:srgbClr val="1F2937"/>
                          </a:solidFill>
                          <a:latin typeface="Calibri"/>
                        </a:rPr>
                        <a:t>97.2</a:t>
                      </a:r>
                    </a:p>
                  </a:txBody>
                  <a:tcPr marL="54864" marR="54864" marT="27432" marB="27432">
                    <a:solidFill>
                      <a:srgbClr val="F3F5F9"/>
                    </a:solidFill>
                  </a:tcPr>
                </a:tc>
                <a:tc>
                  <a:txBody>
                    <a:bodyPr/>
                    <a:lstStyle/>
                    <a:p>
                      <a:pPr algn="ctr"/>
                      <a:r>
                        <a:rPr sz="1200" b="1" i="0">
                          <a:solidFill>
                            <a:srgbClr val="1F2937"/>
                          </a:solidFill>
                          <a:latin typeface="Calibri"/>
                        </a:rPr>
                        <a:t>95.9</a:t>
                      </a:r>
                    </a:p>
                  </a:txBody>
                  <a:tcPr marL="54864" marR="54864" marT="27432" marB="27432">
                    <a:solidFill>
                      <a:srgbClr val="E4EBFC"/>
                    </a:solidFill>
                  </a:tcPr>
                </a:tc>
              </a:tr>
              <a:tr h="347472">
                <a:tc>
                  <a:txBody>
                    <a:bodyPr/>
                    <a:lstStyle/>
                    <a:p>
                      <a:pPr algn="l"/>
                      <a:r>
                        <a:rPr sz="1200" b="0" i="0">
                          <a:solidFill>
                            <a:srgbClr val="1F2937"/>
                          </a:solidFill>
                          <a:latin typeface="Calibri"/>
                        </a:rPr>
                        <a:t>Stone pickaxe</a:t>
                      </a:r>
                    </a:p>
                  </a:txBody>
                  <a:tcPr marL="54864" marR="54864" marT="27432" marB="27432">
                    <a:solidFill>
                      <a:srgbClr val="FFFFFF"/>
                    </a:solidFill>
                  </a:tcPr>
                </a:tc>
                <a:tc>
                  <a:txBody>
                    <a:bodyPr/>
                    <a:lstStyle/>
                    <a:p>
                      <a:pPr algn="ctr"/>
                      <a:r>
                        <a:rPr sz="1200" b="0" i="0">
                          <a:solidFill>
                            <a:srgbClr val="1F2937"/>
                          </a:solidFill>
                          <a:latin typeface="Calibri"/>
                        </a:rPr>
                        <a:t>0.0</a:t>
                      </a:r>
                    </a:p>
                  </a:txBody>
                  <a:tcPr marL="54864" marR="54864" marT="27432" marB="27432">
                    <a:solidFill>
                      <a:srgbClr val="FFFFFF"/>
                    </a:solidFill>
                  </a:tcPr>
                </a:tc>
                <a:tc>
                  <a:txBody>
                    <a:bodyPr/>
                    <a:lstStyle/>
                    <a:p>
                      <a:pPr algn="ctr"/>
                      <a:r>
                        <a:rPr sz="1200" b="0" i="0">
                          <a:solidFill>
                            <a:srgbClr val="1F2937"/>
                          </a:solidFill>
                          <a:latin typeface="Calibri"/>
                        </a:rPr>
                        <a:t>8.8</a:t>
                      </a:r>
                    </a:p>
                  </a:txBody>
                  <a:tcPr marL="54864" marR="54864" marT="27432" marB="27432">
                    <a:solidFill>
                      <a:srgbClr val="FFFFFF"/>
                    </a:solidFill>
                  </a:tcPr>
                </a:tc>
                <a:tc>
                  <a:txBody>
                    <a:bodyPr/>
                    <a:lstStyle/>
                    <a:p>
                      <a:pPr algn="ctr"/>
                      <a:r>
                        <a:rPr sz="1200" b="0" i="0">
                          <a:solidFill>
                            <a:srgbClr val="1F2937"/>
                          </a:solidFill>
                          <a:latin typeface="Calibri"/>
                        </a:rPr>
                        <a:t>53.8</a:t>
                      </a:r>
                    </a:p>
                  </a:txBody>
                  <a:tcPr marL="54864" marR="54864" marT="27432" marB="27432">
                    <a:solidFill>
                      <a:srgbClr val="FFFFFF"/>
                    </a:solidFill>
                  </a:tcPr>
                </a:tc>
                <a:tc>
                  <a:txBody>
                    <a:bodyPr/>
                    <a:lstStyle/>
                    <a:p>
                      <a:pPr algn="ctr"/>
                      <a:r>
                        <a:rPr sz="1200" b="0" i="0">
                          <a:solidFill>
                            <a:srgbClr val="1F2937"/>
                          </a:solidFill>
                          <a:latin typeface="Calibri"/>
                        </a:rPr>
                        <a:t>76.7</a:t>
                      </a:r>
                    </a:p>
                  </a:txBody>
                  <a:tcPr marL="54864" marR="54864" marT="27432" marB="27432">
                    <a:solidFill>
                      <a:srgbClr val="FFFFFF"/>
                    </a:solidFill>
                  </a:tcPr>
                </a:tc>
                <a:tc>
                  <a:txBody>
                    <a:bodyPr/>
                    <a:lstStyle/>
                    <a:p>
                      <a:pPr algn="ctr"/>
                      <a:r>
                        <a:rPr sz="1200" b="0" i="0">
                          <a:solidFill>
                            <a:srgbClr val="1F2937"/>
                          </a:solidFill>
                          <a:latin typeface="Calibri"/>
                        </a:rPr>
                        <a:t>89.4</a:t>
                      </a:r>
                    </a:p>
                  </a:txBody>
                  <a:tcPr marL="54864" marR="54864" marT="27432" marB="27432">
                    <a:solidFill>
                      <a:srgbClr val="FFFFFF"/>
                    </a:solidFill>
                  </a:tcPr>
                </a:tc>
                <a:tc>
                  <a:txBody>
                    <a:bodyPr/>
                    <a:lstStyle/>
                    <a:p>
                      <a:pPr algn="ctr"/>
                      <a:r>
                        <a:rPr sz="1200" b="1" i="0">
                          <a:solidFill>
                            <a:srgbClr val="1F2937"/>
                          </a:solidFill>
                          <a:latin typeface="Calibri"/>
                        </a:rPr>
                        <a:t>90.1</a:t>
                      </a:r>
                    </a:p>
                  </a:txBody>
                  <a:tcPr marL="54864" marR="54864" marT="27432" marB="27432">
                    <a:solidFill>
                      <a:srgbClr val="E4EBFC"/>
                    </a:solidFill>
                  </a:tcPr>
                </a:tc>
              </a:tr>
              <a:tr h="347472">
                <a:tc>
                  <a:txBody>
                    <a:bodyPr/>
                    <a:lstStyle/>
                    <a:p>
                      <a:pPr algn="l"/>
                      <a:r>
                        <a:rPr sz="1200" b="0" i="0">
                          <a:solidFill>
                            <a:srgbClr val="1F2937"/>
                          </a:solidFill>
                          <a:latin typeface="Calibri"/>
                        </a:rPr>
                        <a:t>Iron ore</a:t>
                      </a:r>
                    </a:p>
                  </a:txBody>
                  <a:tcPr marL="54864" marR="54864" marT="27432" marB="27432">
                    <a:solidFill>
                      <a:srgbClr val="F3F5F9"/>
                    </a:solidFill>
                  </a:tcPr>
                </a:tc>
                <a:tc>
                  <a:txBody>
                    <a:bodyPr/>
                    <a:lstStyle/>
                    <a:p>
                      <a:pPr algn="ctr"/>
                      <a:r>
                        <a:rPr sz="1200" b="0" i="0">
                          <a:solidFill>
                            <a:srgbClr val="1F2937"/>
                          </a:solidFill>
                          <a:latin typeface="Calibri"/>
                        </a:rPr>
                        <a:t>0.1</a:t>
                      </a:r>
                    </a:p>
                  </a:txBody>
                  <a:tcPr marL="54864" marR="54864" marT="27432" marB="27432">
                    <a:solidFill>
                      <a:srgbClr val="F3F5F9"/>
                    </a:solidFill>
                  </a:tcPr>
                </a:tc>
                <a:tc>
                  <a:txBody>
                    <a:bodyPr/>
                    <a:lstStyle/>
                    <a:p>
                      <a:pPr algn="ctr"/>
                      <a:r>
                        <a:rPr sz="1200" b="0" i="0">
                          <a:solidFill>
                            <a:srgbClr val="1F2937"/>
                          </a:solidFill>
                          <a:latin typeface="Calibri"/>
                        </a:rPr>
                        <a:t>3.6</a:t>
                      </a:r>
                    </a:p>
                  </a:txBody>
                  <a:tcPr marL="54864" marR="54864" marT="27432" marB="27432">
                    <a:solidFill>
                      <a:srgbClr val="F3F5F9"/>
                    </a:solidFill>
                  </a:tcPr>
                </a:tc>
                <a:tc>
                  <a:txBody>
                    <a:bodyPr/>
                    <a:lstStyle/>
                    <a:p>
                      <a:pPr algn="ctr"/>
                      <a:r>
                        <a:rPr sz="1200" b="0" i="0">
                          <a:solidFill>
                            <a:srgbClr val="1F2937"/>
                          </a:solidFill>
                          <a:latin typeface="Calibri"/>
                        </a:rPr>
                        <a:t>26.5</a:t>
                      </a:r>
                    </a:p>
                  </a:txBody>
                  <a:tcPr marL="54864" marR="54864" marT="27432" marB="27432">
                    <a:solidFill>
                      <a:srgbClr val="F3F5F9"/>
                    </a:solidFill>
                  </a:tcPr>
                </a:tc>
                <a:tc>
                  <a:txBody>
                    <a:bodyPr/>
                    <a:lstStyle/>
                    <a:p>
                      <a:pPr algn="ctr"/>
                      <a:r>
                        <a:rPr sz="1200" b="0" i="0">
                          <a:solidFill>
                            <a:srgbClr val="1F2937"/>
                          </a:solidFill>
                          <a:latin typeface="Calibri"/>
                        </a:rPr>
                        <a:t>46.3</a:t>
                      </a:r>
                    </a:p>
                  </a:txBody>
                  <a:tcPr marL="54864" marR="54864" marT="27432" marB="27432">
                    <a:solidFill>
                      <a:srgbClr val="F3F5F9"/>
                    </a:solidFill>
                  </a:tcPr>
                </a:tc>
                <a:tc>
                  <a:txBody>
                    <a:bodyPr/>
                    <a:lstStyle/>
                    <a:p>
                      <a:pPr algn="ctr"/>
                      <a:r>
                        <a:rPr sz="1200" b="0" i="0">
                          <a:solidFill>
                            <a:srgbClr val="1F2937"/>
                          </a:solidFill>
                          <a:latin typeface="Calibri"/>
                        </a:rPr>
                        <a:t>62.9</a:t>
                      </a:r>
                    </a:p>
                  </a:txBody>
                  <a:tcPr marL="54864" marR="54864" marT="27432" marB="27432">
                    <a:solidFill>
                      <a:srgbClr val="F3F5F9"/>
                    </a:solidFill>
                  </a:tcPr>
                </a:tc>
                <a:tc>
                  <a:txBody>
                    <a:bodyPr/>
                    <a:lstStyle/>
                    <a:p>
                      <a:pPr algn="ctr"/>
                      <a:r>
                        <a:rPr sz="1200" b="1" i="0">
                          <a:solidFill>
                            <a:srgbClr val="1F2937"/>
                          </a:solidFill>
                          <a:latin typeface="Calibri"/>
                        </a:rPr>
                        <a:t>66.7</a:t>
                      </a:r>
                    </a:p>
                  </a:txBody>
                  <a:tcPr marL="54864" marR="54864" marT="27432" marB="27432">
                    <a:solidFill>
                      <a:srgbClr val="E4EBFC"/>
                    </a:solidFill>
                  </a:tcPr>
                </a:tc>
              </a:tr>
              <a:tr h="347472">
                <a:tc>
                  <a:txBody>
                    <a:bodyPr/>
                    <a:lstStyle/>
                    <a:p>
                      <a:pPr algn="l"/>
                      <a:r>
                        <a:rPr sz="1200" b="0" i="0">
                          <a:solidFill>
                            <a:srgbClr val="1F2937"/>
                          </a:solidFill>
                          <a:latin typeface="Calibri"/>
                        </a:rPr>
                        <a:t>Furnace</a:t>
                      </a:r>
                    </a:p>
                  </a:txBody>
                  <a:tcPr marL="54864" marR="54864" marT="27432" marB="27432">
                    <a:solidFill>
                      <a:srgbClr val="FFFFFF"/>
                    </a:solidFill>
                  </a:tcPr>
                </a:tc>
                <a:tc>
                  <a:txBody>
                    <a:bodyPr/>
                    <a:lstStyle/>
                    <a:p>
                      <a:pPr algn="ctr"/>
                      <a:r>
                        <a:rPr sz="1200" b="0" i="0">
                          <a:solidFill>
                            <a:srgbClr val="1F2937"/>
                          </a:solidFill>
                          <a:latin typeface="Calibri"/>
                        </a:rPr>
                        <a:t>0.0</a:t>
                      </a:r>
                    </a:p>
                  </a:txBody>
                  <a:tcPr marL="54864" marR="54864" marT="27432" marB="27432">
                    <a:solidFill>
                      <a:srgbClr val="FFFFFF"/>
                    </a:solidFill>
                  </a:tcPr>
                </a:tc>
                <a:tc>
                  <a:txBody>
                    <a:bodyPr/>
                    <a:lstStyle/>
                    <a:p>
                      <a:pPr algn="ctr"/>
                      <a:r>
                        <a:rPr sz="1200" b="0" i="0">
                          <a:solidFill>
                            <a:srgbClr val="1F2937"/>
                          </a:solidFill>
                          <a:latin typeface="Calibri"/>
                        </a:rPr>
                        <a:t>4.0</a:t>
                      </a:r>
                    </a:p>
                  </a:txBody>
                  <a:tcPr marL="54864" marR="54864" marT="27432" marB="27432">
                    <a:solidFill>
                      <a:srgbClr val="FFFFFF"/>
                    </a:solidFill>
                  </a:tcPr>
                </a:tc>
                <a:tc>
                  <a:txBody>
                    <a:bodyPr/>
                    <a:lstStyle/>
                    <a:p>
                      <a:pPr algn="ctr"/>
                      <a:r>
                        <a:rPr sz="1200" b="0" i="0">
                          <a:solidFill>
                            <a:srgbClr val="1F2937"/>
                          </a:solidFill>
                          <a:latin typeface="Calibri"/>
                        </a:rPr>
                        <a:t>16.2</a:t>
                      </a:r>
                    </a:p>
                  </a:txBody>
                  <a:tcPr marL="54864" marR="54864" marT="27432" marB="27432">
                    <a:solidFill>
                      <a:srgbClr val="FFFFFF"/>
                    </a:solidFill>
                  </a:tcPr>
                </a:tc>
                <a:tc>
                  <a:txBody>
                    <a:bodyPr/>
                    <a:lstStyle/>
                    <a:p>
                      <a:pPr algn="ctr"/>
                      <a:r>
                        <a:rPr sz="1200" b="0" i="0">
                          <a:solidFill>
                            <a:srgbClr val="1F2937"/>
                          </a:solidFill>
                          <a:latin typeface="Calibri"/>
                        </a:rPr>
                        <a:t>42.4</a:t>
                      </a:r>
                    </a:p>
                  </a:txBody>
                  <a:tcPr marL="54864" marR="54864" marT="27432" marB="27432">
                    <a:solidFill>
                      <a:srgbClr val="FFFFFF"/>
                    </a:solidFill>
                  </a:tcPr>
                </a:tc>
                <a:tc>
                  <a:txBody>
                    <a:bodyPr/>
                    <a:lstStyle/>
                    <a:p>
                      <a:pPr algn="ctr"/>
                      <a:r>
                        <a:rPr sz="1200" b="0" i="0">
                          <a:solidFill>
                            <a:srgbClr val="1F2937"/>
                          </a:solidFill>
                          <a:latin typeface="Calibri"/>
                        </a:rPr>
                        <a:t>51.1</a:t>
                      </a:r>
                    </a:p>
                  </a:txBody>
                  <a:tcPr marL="54864" marR="54864" marT="27432" marB="27432">
                    <a:solidFill>
                      <a:srgbClr val="FFFFFF"/>
                    </a:solidFill>
                  </a:tcPr>
                </a:tc>
                <a:tc>
                  <a:txBody>
                    <a:bodyPr/>
                    <a:lstStyle/>
                    <a:p>
                      <a:pPr algn="ctr"/>
                      <a:r>
                        <a:rPr sz="1200" b="1" i="0">
                          <a:solidFill>
                            <a:srgbClr val="1F2937"/>
                          </a:solidFill>
                          <a:latin typeface="Calibri"/>
                        </a:rPr>
                        <a:t>58.1</a:t>
                      </a:r>
                    </a:p>
                  </a:txBody>
                  <a:tcPr marL="54864" marR="54864" marT="27432" marB="27432">
                    <a:solidFill>
                      <a:srgbClr val="E4EBFC"/>
                    </a:solidFill>
                  </a:tcPr>
                </a:tc>
              </a:tr>
              <a:tr h="347472">
                <a:tc>
                  <a:txBody>
                    <a:bodyPr/>
                    <a:lstStyle/>
                    <a:p>
                      <a:pPr algn="l"/>
                      <a:r>
                        <a:rPr sz="1200" b="0" i="0">
                          <a:solidFill>
                            <a:srgbClr val="1F2937"/>
                          </a:solidFill>
                          <a:latin typeface="Calibri"/>
                        </a:rPr>
                        <a:t>Iron ingot</a:t>
                      </a:r>
                    </a:p>
                  </a:txBody>
                  <a:tcPr marL="54864" marR="54864" marT="27432" marB="27432">
                    <a:solidFill>
                      <a:srgbClr val="F3F5F9"/>
                    </a:solidFill>
                  </a:tcPr>
                </a:tc>
                <a:tc>
                  <a:txBody>
                    <a:bodyPr/>
                    <a:lstStyle/>
                    <a:p>
                      <a:pPr algn="ctr"/>
                      <a:r>
                        <a:rPr sz="1200" b="0" i="0">
                          <a:solidFill>
                            <a:srgbClr val="1F2937"/>
                          </a:solidFill>
                          <a:latin typeface="Calibri"/>
                        </a:rPr>
                        <a:t>0.1</a:t>
                      </a:r>
                    </a:p>
                  </a:txBody>
                  <a:tcPr marL="54864" marR="54864" marT="27432" marB="27432">
                    <a:solidFill>
                      <a:srgbClr val="F3F5F9"/>
                    </a:solidFill>
                  </a:tcPr>
                </a:tc>
                <a:tc>
                  <a:txBody>
                    <a:bodyPr/>
                    <a:lstStyle/>
                    <a:p>
                      <a:pPr algn="ctr"/>
                      <a:r>
                        <a:rPr sz="1200" b="0" i="0">
                          <a:solidFill>
                            <a:srgbClr val="1F2937"/>
                          </a:solidFill>
                          <a:latin typeface="Calibri"/>
                        </a:rPr>
                        <a:t>0.2</a:t>
                      </a:r>
                    </a:p>
                  </a:txBody>
                  <a:tcPr marL="54864" marR="54864" marT="27432" marB="27432">
                    <a:solidFill>
                      <a:srgbClr val="F3F5F9"/>
                    </a:solidFill>
                  </a:tcPr>
                </a:tc>
                <a:tc>
                  <a:txBody>
                    <a:bodyPr/>
                    <a:lstStyle/>
                    <a:p>
                      <a:pPr algn="ctr"/>
                      <a:r>
                        <a:rPr sz="1200" b="0" i="0">
                          <a:solidFill>
                            <a:srgbClr val="1F2937"/>
                          </a:solidFill>
                          <a:latin typeface="Calibri"/>
                        </a:rPr>
                        <a:t>4.3</a:t>
                      </a:r>
                    </a:p>
                  </a:txBody>
                  <a:tcPr marL="54864" marR="54864" marT="27432" marB="27432">
                    <a:solidFill>
                      <a:srgbClr val="F3F5F9"/>
                    </a:solidFill>
                  </a:tcPr>
                </a:tc>
                <a:tc>
                  <a:txBody>
                    <a:bodyPr/>
                    <a:lstStyle/>
                    <a:p>
                      <a:pPr algn="ctr"/>
                      <a:r>
                        <a:rPr sz="1200" b="0" i="0">
                          <a:solidFill>
                            <a:srgbClr val="1F2937"/>
                          </a:solidFill>
                          <a:latin typeface="Calibri"/>
                        </a:rPr>
                        <a:t>22.5</a:t>
                      </a:r>
                    </a:p>
                  </a:txBody>
                  <a:tcPr marL="54864" marR="54864" marT="27432" marB="27432">
                    <a:solidFill>
                      <a:srgbClr val="F3F5F9"/>
                    </a:solidFill>
                  </a:tcPr>
                </a:tc>
                <a:tc>
                  <a:txBody>
                    <a:bodyPr/>
                    <a:lstStyle/>
                    <a:p>
                      <a:pPr algn="ctr"/>
                      <a:r>
                        <a:rPr sz="1200" b="0" i="0">
                          <a:solidFill>
                            <a:srgbClr val="1F2937"/>
                          </a:solidFill>
                          <a:latin typeface="Calibri"/>
                        </a:rPr>
                        <a:t>27.8</a:t>
                      </a:r>
                    </a:p>
                  </a:txBody>
                  <a:tcPr marL="54864" marR="54864" marT="27432" marB="27432">
                    <a:solidFill>
                      <a:srgbClr val="F3F5F9"/>
                    </a:solidFill>
                  </a:tcPr>
                </a:tc>
                <a:tc>
                  <a:txBody>
                    <a:bodyPr/>
                    <a:lstStyle/>
                    <a:p>
                      <a:pPr algn="ctr"/>
                      <a:r>
                        <a:rPr sz="1200" b="1" i="0">
                          <a:solidFill>
                            <a:srgbClr val="1F2937"/>
                          </a:solidFill>
                          <a:latin typeface="Calibri"/>
                        </a:rPr>
                        <a:t>39.5</a:t>
                      </a:r>
                    </a:p>
                  </a:txBody>
                  <a:tcPr marL="54864" marR="54864" marT="27432" marB="27432">
                    <a:solidFill>
                      <a:srgbClr val="E4EBFC"/>
                    </a:solidFill>
                  </a:tcPr>
                </a:tc>
              </a:tr>
              <a:tr h="347472">
                <a:tc>
                  <a:txBody>
                    <a:bodyPr/>
                    <a:lstStyle/>
                    <a:p>
                      <a:pPr algn="l"/>
                      <a:r>
                        <a:rPr sz="1200" b="0" i="0">
                          <a:solidFill>
                            <a:srgbClr val="1F2937"/>
                          </a:solidFill>
                          <a:latin typeface="Calibri"/>
                        </a:rPr>
                        <a:t>Iron pickaxe</a:t>
                      </a:r>
                    </a:p>
                  </a:txBody>
                  <a:tcPr marL="54864" marR="54864" marT="27432" marB="27432">
                    <a:solidFill>
                      <a:srgbClr val="FFFFFF"/>
                    </a:solidFill>
                  </a:tcPr>
                </a:tc>
                <a:tc>
                  <a:txBody>
                    <a:bodyPr/>
                    <a:lstStyle/>
                    <a:p>
                      <a:pPr algn="ctr"/>
                      <a:r>
                        <a:rPr sz="1200" b="0" i="0">
                          <a:solidFill>
                            <a:srgbClr val="1F2937"/>
                          </a:solidFill>
                          <a:latin typeface="Calibri"/>
                        </a:rPr>
                        <a:t>0.0</a:t>
                      </a:r>
                    </a:p>
                  </a:txBody>
                  <a:tcPr marL="54864" marR="54864" marT="27432" marB="27432">
                    <a:solidFill>
                      <a:srgbClr val="FFFFFF"/>
                    </a:solidFill>
                  </a:tcPr>
                </a:tc>
                <a:tc>
                  <a:txBody>
                    <a:bodyPr/>
                    <a:lstStyle/>
                    <a:p>
                      <a:pPr algn="ctr"/>
                      <a:r>
                        <a:rPr sz="1200" b="0" i="0">
                          <a:solidFill>
                            <a:srgbClr val="1F2937"/>
                          </a:solidFill>
                          <a:latin typeface="Calibri"/>
                        </a:rPr>
                        <a:t>0.0</a:t>
                      </a:r>
                    </a:p>
                  </a:txBody>
                  <a:tcPr marL="54864" marR="54864" marT="27432" marB="27432">
                    <a:solidFill>
                      <a:srgbClr val="FFFFFF"/>
                    </a:solidFill>
                  </a:tcPr>
                </a:tc>
                <a:tc>
                  <a:txBody>
                    <a:bodyPr/>
                    <a:lstStyle/>
                    <a:p>
                      <a:pPr algn="ctr"/>
                      <a:r>
                        <a:rPr sz="1200" b="0" i="0">
                          <a:solidFill>
                            <a:srgbClr val="1F2937"/>
                          </a:solidFill>
                          <a:latin typeface="Calibri"/>
                        </a:rPr>
                        <a:t>0.6</a:t>
                      </a:r>
                    </a:p>
                  </a:txBody>
                  <a:tcPr marL="54864" marR="54864" marT="27432" marB="27432">
                    <a:solidFill>
                      <a:srgbClr val="FFFFFF"/>
                    </a:solidFill>
                  </a:tcPr>
                </a:tc>
                <a:tc>
                  <a:txBody>
                    <a:bodyPr/>
                    <a:lstStyle/>
                    <a:p>
                      <a:pPr algn="ctr"/>
                      <a:r>
                        <a:rPr sz="1200" b="0" i="0">
                          <a:solidFill>
                            <a:srgbClr val="1F2937"/>
                          </a:solidFill>
                          <a:latin typeface="Calibri"/>
                        </a:rPr>
                        <a:t>11.2</a:t>
                      </a:r>
                    </a:p>
                  </a:txBody>
                  <a:tcPr marL="54864" marR="54864" marT="27432" marB="27432">
                    <a:solidFill>
                      <a:srgbClr val="FFFFFF"/>
                    </a:solidFill>
                  </a:tcPr>
                </a:tc>
                <a:tc>
                  <a:txBody>
                    <a:bodyPr/>
                    <a:lstStyle/>
                    <a:p>
                      <a:pPr algn="ctr"/>
                      <a:r>
                        <a:rPr sz="1200" b="0" i="0">
                          <a:solidFill>
                            <a:srgbClr val="1F2937"/>
                          </a:solidFill>
                          <a:latin typeface="Calibri"/>
                        </a:rPr>
                        <a:t>16.9</a:t>
                      </a:r>
                    </a:p>
                  </a:txBody>
                  <a:tcPr marL="54864" marR="54864" marT="27432" marB="27432">
                    <a:solidFill>
                      <a:srgbClr val="FFFFFF"/>
                    </a:solidFill>
                  </a:tcPr>
                </a:tc>
                <a:tc>
                  <a:txBody>
                    <a:bodyPr/>
                    <a:lstStyle/>
                    <a:p>
                      <a:pPr algn="ctr"/>
                      <a:r>
                        <a:rPr sz="1200" b="1" i="0">
                          <a:solidFill>
                            <a:srgbClr val="1F2937"/>
                          </a:solidFill>
                          <a:latin typeface="Calibri"/>
                        </a:rPr>
                        <a:t>29.0</a:t>
                      </a:r>
                    </a:p>
                  </a:txBody>
                  <a:tcPr marL="54864" marR="54864" marT="27432" marB="27432">
                    <a:solidFill>
                      <a:srgbClr val="E4EBFC"/>
                    </a:solidFill>
                  </a:tcPr>
                </a:tc>
              </a:tr>
              <a:tr h="347472">
                <a:tc>
                  <a:txBody>
                    <a:bodyPr/>
                    <a:lstStyle/>
                    <a:p>
                      <a:pPr algn="l"/>
                      <a:r>
                        <a:rPr sz="1200" b="0" i="0">
                          <a:solidFill>
                            <a:srgbClr val="1F2937"/>
                          </a:solidFill>
                          <a:latin typeface="Calibri"/>
                        </a:rPr>
                        <a:t>Diamond</a:t>
                      </a:r>
                    </a:p>
                  </a:txBody>
                  <a:tcPr marL="54864" marR="54864" marT="27432" marB="27432">
                    <a:solidFill>
                      <a:srgbClr val="F3F5F9"/>
                    </a:solidFill>
                  </a:tcPr>
                </a:tc>
                <a:tc>
                  <a:txBody>
                    <a:bodyPr/>
                    <a:lstStyle/>
                    <a:p>
                      <a:pPr algn="ctr"/>
                      <a:r>
                        <a:rPr sz="1200" b="0" i="0">
                          <a:solidFill>
                            <a:srgbClr val="1F2937"/>
                          </a:solidFill>
                          <a:latin typeface="Calibri"/>
                        </a:rPr>
                        <a:t>0.0</a:t>
                      </a:r>
                    </a:p>
                  </a:txBody>
                  <a:tcPr marL="54864" marR="54864" marT="27432" marB="27432">
                    <a:solidFill>
                      <a:srgbClr val="F3F5F9"/>
                    </a:solidFill>
                  </a:tcPr>
                </a:tc>
                <a:tc>
                  <a:txBody>
                    <a:bodyPr/>
                    <a:lstStyle/>
                    <a:p>
                      <a:pPr algn="ctr"/>
                      <a:r>
                        <a:rPr sz="1200" b="0" i="0">
                          <a:solidFill>
                            <a:srgbClr val="1F2937"/>
                          </a:solidFill>
                          <a:latin typeface="Calibri"/>
                        </a:rPr>
                        <a:t>0.0</a:t>
                      </a:r>
                    </a:p>
                  </a:txBody>
                  <a:tcPr marL="54864" marR="54864" marT="27432" marB="27432">
                    <a:solidFill>
                      <a:srgbClr val="F3F5F9"/>
                    </a:solidFill>
                  </a:tcPr>
                </a:tc>
                <a:tc>
                  <a:txBody>
                    <a:bodyPr/>
                    <a:lstStyle/>
                    <a:p>
                      <a:pPr algn="ctr"/>
                      <a:r>
                        <a:rPr sz="1200" b="0" i="0">
                          <a:solidFill>
                            <a:srgbClr val="1F2937"/>
                          </a:solidFill>
                          <a:latin typeface="Calibri"/>
                        </a:rPr>
                        <a:t>0.0</a:t>
                      </a:r>
                    </a:p>
                  </a:txBody>
                  <a:tcPr marL="54864" marR="54864" marT="27432" marB="27432">
                    <a:solidFill>
                      <a:srgbClr val="F3F5F9"/>
                    </a:solidFill>
                  </a:tcPr>
                </a:tc>
                <a:tc>
                  <a:txBody>
                    <a:bodyPr/>
                    <a:lstStyle/>
                    <a:p>
                      <a:pPr algn="ctr"/>
                      <a:r>
                        <a:rPr sz="1200" b="0" i="0">
                          <a:solidFill>
                            <a:srgbClr val="1F2937"/>
                          </a:solidFill>
                          <a:latin typeface="Calibri"/>
                        </a:rPr>
                        <a:t>0.0</a:t>
                      </a:r>
                    </a:p>
                  </a:txBody>
                  <a:tcPr marL="54864" marR="54864" marT="27432" marB="27432">
                    <a:solidFill>
                      <a:srgbClr val="F3F5F9"/>
                    </a:solidFill>
                  </a:tcPr>
                </a:tc>
                <a:tc>
                  <a:txBody>
                    <a:bodyPr/>
                    <a:lstStyle/>
                    <a:p>
                      <a:pPr algn="ctr"/>
                      <a:r>
                        <a:rPr sz="1200" b="0" i="0">
                          <a:solidFill>
                            <a:srgbClr val="1F2937"/>
                          </a:solidFill>
                          <a:latin typeface="Calibri"/>
                        </a:rPr>
                        <a:t>0.0</a:t>
                      </a:r>
                    </a:p>
                  </a:txBody>
                  <a:tcPr marL="54864" marR="54864" marT="27432" marB="27432">
                    <a:solidFill>
                      <a:srgbClr val="F3F5F9"/>
                    </a:solidFill>
                  </a:tcPr>
                </a:tc>
                <a:tc>
                  <a:txBody>
                    <a:bodyPr/>
                    <a:lstStyle/>
                    <a:p>
                      <a:pPr algn="ctr"/>
                      <a:r>
                        <a:rPr sz="1200" b="1" i="0">
                          <a:solidFill>
                            <a:srgbClr val="1F2937"/>
                          </a:solidFill>
                          <a:latin typeface="Calibri"/>
                        </a:rPr>
                        <a:t>0.7</a:t>
                      </a:r>
                    </a:p>
                  </a:txBody>
                  <a:tcPr marL="54864" marR="54864" marT="27432" marB="27432">
                    <a:solidFill>
                      <a:srgbClr val="E4EBFC"/>
                    </a:solidFill>
                  </a:tcPr>
                </a:tc>
              </a:tr>
            </a:tbl>
          </a:graphicData>
        </a:graphic>
      </p:graphicFrame>
      <p:sp>
        <p:nvSpPr>
          <p:cNvPr id="8" name="TextBox 7"/>
          <p:cNvSpPr txBox="1"/>
          <p:nvPr/>
        </p:nvSpPr>
        <p:spPr>
          <a:xfrm>
            <a:off x="457200" y="5943600"/>
            <a:ext cx="10972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1,000 evaluation episodes of 60 minutes each; all agents trained on the same 2,541 h of contractor data (VPT additionally pretrained on 270 K h of web video).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463040" cy="45720"/>
          </a:xfrm>
          <a:prstGeom prst="rect">
            <a:avLst/>
          </a:prstGeom>
          <a:solidFill>
            <a:srgbClr val="2F5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D — Glossary</a:t>
            </a:r>
          </a:p>
        </p:txBody>
      </p:sp>
      <p:sp>
        <p:nvSpPr>
          <p:cNvPr id="5" name="TextBox 4"/>
          <p:cNvSpPr txBox="1"/>
          <p:nvPr/>
        </p:nvSpPr>
        <p:spPr>
          <a:xfrm>
            <a:off x="457200" y="6446520"/>
            <a:ext cx="9144000" cy="320040"/>
          </a:xfrm>
          <a:prstGeom prst="rect">
            <a:avLst/>
          </a:prstGeom>
          <a:noFill/>
        </p:spPr>
        <p:txBody>
          <a:bodyPr wrap="square" anchor="t" lIns="45720" rIns="45720" tIns="18288" bIns="18288">
            <a:spAutoFit/>
          </a:bodyPr>
          <a:lstStyle/>
          <a:p>
            <a:pPr algn="l">
              <a:lnSpc>
                <a:spcPct val="105000"/>
              </a:lnSpc>
            </a:pPr>
            <a:r>
              <a:rPr sz="950" b="0" i="0">
                <a:solidFill>
                  <a:srgbClr val="6B7280"/>
                </a:solidFill>
                <a:latin typeface="Calibri"/>
              </a:rPr>
              <a:t>Dreamer 4 — Hafner*, Yan*, Lillicrap (Google DeepMind), arXiv 2509.24527, Sep 2025</a:t>
            </a:r>
          </a:p>
        </p:txBody>
      </p:sp>
      <p:sp>
        <p:nvSpPr>
          <p:cNvPr id="6" name="TextBox 5"/>
          <p:cNvSpPr txBox="1"/>
          <p:nvPr/>
        </p:nvSpPr>
        <p:spPr>
          <a:xfrm>
            <a:off x="11155680" y="6446520"/>
            <a:ext cx="731520" cy="320040"/>
          </a:xfrm>
          <a:prstGeom prst="rect">
            <a:avLst/>
          </a:prstGeom>
          <a:noFill/>
        </p:spPr>
        <p:txBody>
          <a:bodyPr wrap="square" anchor="t" lIns="45720" rIns="45720" tIns="18288" bIns="18288">
            <a:spAutoFit/>
          </a:bodyPr>
          <a:lstStyle/>
          <a:p>
            <a:pPr algn="r">
              <a:lnSpc>
                <a:spcPct val="105000"/>
              </a:lnSpc>
            </a:pPr>
            <a:r>
              <a:rPr sz="1000" b="0" i="0">
                <a:solidFill>
                  <a:srgbClr val="6B7280"/>
                </a:solidFill>
                <a:latin typeface="Calibri"/>
              </a:rPr>
              <a:t>39</a:t>
            </a:r>
          </a:p>
        </p:txBody>
      </p:sp>
      <p:graphicFrame>
        <p:nvGraphicFramePr>
          <p:cNvPr id="7" name="Table 6"/>
          <p:cNvGraphicFramePr>
            <a:graphicFrameLocks noGrp="1"/>
          </p:cNvGraphicFramePr>
          <p:nvPr/>
        </p:nvGraphicFramePr>
        <p:xfrm>
          <a:off x="457200" y="1325880"/>
          <a:ext cx="11247120" cy="4526280"/>
        </p:xfrm>
        <a:graphic>
          <a:graphicData uri="http://schemas.openxmlformats.org/drawingml/2006/table">
            <a:tbl>
              <a:tblPr firstRow="1" bandRow="1">
                <a:tableStyleId>{5C22544A-7EE6-4342-B048-85BDC9FD1C3A}</a:tableStyleId>
              </a:tblPr>
              <a:tblGrid>
                <a:gridCol w="2194560"/>
                <a:gridCol w="9052560"/>
              </a:tblGrid>
              <a:tr h="411480">
                <a:tc>
                  <a:txBody>
                    <a:bodyPr/>
                    <a:lstStyle/>
                    <a:p>
                      <a:pPr algn="l"/>
                      <a:r>
                        <a:rPr sz="1150" b="1" i="0">
                          <a:solidFill>
                            <a:srgbClr val="FFFFFF"/>
                          </a:solidFill>
                          <a:latin typeface="Calibri"/>
                        </a:rPr>
                        <a:t>Term</a:t>
                      </a:r>
                    </a:p>
                  </a:txBody>
                  <a:tcPr marL="54864" marR="54864" marT="27432" marB="27432">
                    <a:solidFill>
                      <a:srgbClr val="14213D"/>
                    </a:solidFill>
                  </a:tcPr>
                </a:tc>
                <a:tc>
                  <a:txBody>
                    <a:bodyPr/>
                    <a:lstStyle/>
                    <a:p>
                      <a:pPr algn="ctr"/>
                      <a:r>
                        <a:rPr sz="1150" b="1" i="0">
                          <a:solidFill>
                            <a:srgbClr val="FFFFFF"/>
                          </a:solidFill>
                          <a:latin typeface="Calibri"/>
                        </a:rPr>
                        <a:t>Meaning in this paper</a:t>
                      </a:r>
                    </a:p>
                  </a:txBody>
                  <a:tcPr marL="54864" marR="54864" marT="27432" marB="27432">
                    <a:solidFill>
                      <a:srgbClr val="14213D"/>
                    </a:solidFill>
                  </a:tcPr>
                </a:tc>
              </a:tr>
              <a:tr h="411480">
                <a:tc>
                  <a:txBody>
                    <a:bodyPr/>
                    <a:lstStyle/>
                    <a:p>
                      <a:pPr algn="l"/>
                      <a:r>
                        <a:rPr sz="1150" b="0" i="0">
                          <a:solidFill>
                            <a:srgbClr val="1F2937"/>
                          </a:solidFill>
                          <a:latin typeface="Calibri"/>
                        </a:rPr>
                        <a:t>World model</a:t>
                      </a:r>
                    </a:p>
                  </a:txBody>
                  <a:tcPr marL="54864" marR="54864" marT="27432" marB="27432">
                    <a:solidFill>
                      <a:srgbClr val="FFFFFF"/>
                    </a:solidFill>
                  </a:tcPr>
                </a:tc>
                <a:tc>
                  <a:txBody>
                    <a:bodyPr/>
                    <a:lstStyle/>
                    <a:p>
                      <a:pPr algn="l"/>
                      <a:r>
                        <a:rPr sz="1150" b="0" i="0">
                          <a:solidFill>
                            <a:srgbClr val="1F2937"/>
                          </a:solidFill>
                          <a:latin typeface="Calibri"/>
                        </a:rPr>
                        <a:t>Learned model that predicts future observations (here: latent frames) given past observations and actions</a:t>
                      </a:r>
                    </a:p>
                  </a:txBody>
                  <a:tcPr marL="54864" marR="54864" marT="27432" marB="27432">
                    <a:solidFill>
                      <a:srgbClr val="FFFFFF"/>
                    </a:solidFill>
                  </a:tcPr>
                </a:tc>
              </a:tr>
              <a:tr h="411480">
                <a:tc>
                  <a:txBody>
                    <a:bodyPr/>
                    <a:lstStyle/>
                    <a:p>
                      <a:pPr algn="l"/>
                      <a:r>
                        <a:rPr sz="1150" b="0" i="0">
                          <a:solidFill>
                            <a:srgbClr val="1F2937"/>
                          </a:solidFill>
                          <a:latin typeface="Calibri"/>
                        </a:rPr>
                        <a:t>Imagination training</a:t>
                      </a:r>
                    </a:p>
                  </a:txBody>
                  <a:tcPr marL="54864" marR="54864" marT="27432" marB="27432">
                    <a:solidFill>
                      <a:srgbClr val="F3F5F9"/>
                    </a:solidFill>
                  </a:tcPr>
                </a:tc>
                <a:tc>
                  <a:txBody>
                    <a:bodyPr/>
                    <a:lstStyle/>
                    <a:p>
                      <a:pPr algn="l"/>
                      <a:r>
                        <a:rPr sz="1150" b="0" i="0">
                          <a:solidFill>
                            <a:srgbClr val="1F2937"/>
                          </a:solidFill>
                          <a:latin typeface="Calibri"/>
                        </a:rPr>
                        <a:t>Training the policy on rollouts generated by the world model instead of the real environment</a:t>
                      </a:r>
                    </a:p>
                  </a:txBody>
                  <a:tcPr marL="54864" marR="54864" marT="27432" marB="27432">
                    <a:solidFill>
                      <a:srgbClr val="F3F5F9"/>
                    </a:solidFill>
                  </a:tcPr>
                </a:tc>
              </a:tr>
              <a:tr h="411480">
                <a:tc>
                  <a:txBody>
                    <a:bodyPr/>
                    <a:lstStyle/>
                    <a:p>
                      <a:pPr algn="l"/>
                      <a:r>
                        <a:rPr sz="1150" b="0" i="0">
                          <a:solidFill>
                            <a:srgbClr val="1F2937"/>
                          </a:solidFill>
                          <a:latin typeface="Calibri"/>
                        </a:rPr>
                        <a:t>Tokenizer / latents</a:t>
                      </a:r>
                    </a:p>
                  </a:txBody>
                  <a:tcPr marL="54864" marR="54864" marT="27432" marB="27432">
                    <a:solidFill>
                      <a:srgbClr val="FFFFFF"/>
                    </a:solidFill>
                  </a:tcPr>
                </a:tc>
                <a:tc>
                  <a:txBody>
                    <a:bodyPr/>
                    <a:lstStyle/>
                    <a:p>
                      <a:pPr algn="l"/>
                      <a:r>
                        <a:rPr sz="1150" b="0" i="0">
                          <a:solidFill>
                            <a:srgbClr val="1F2937"/>
                          </a:solidFill>
                          <a:latin typeface="Calibri"/>
                        </a:rPr>
                        <a:t>Encoder–decoder mapping each frame to 256 continuous tokens the dynamics model operates on</a:t>
                      </a:r>
                    </a:p>
                  </a:txBody>
                  <a:tcPr marL="54864" marR="54864" marT="27432" marB="27432">
                    <a:solidFill>
                      <a:srgbClr val="FFFFFF"/>
                    </a:solidFill>
                  </a:tcPr>
                </a:tc>
              </a:tr>
              <a:tr h="411480">
                <a:tc>
                  <a:txBody>
                    <a:bodyPr/>
                    <a:lstStyle/>
                    <a:p>
                      <a:pPr algn="l"/>
                      <a:r>
                        <a:rPr sz="1150" b="0" i="0">
                          <a:solidFill>
                            <a:srgbClr val="1F2937"/>
                          </a:solidFill>
                          <a:latin typeface="Calibri"/>
                        </a:rPr>
                        <a:t>Block-causal attention</a:t>
                      </a:r>
                    </a:p>
                  </a:txBody>
                  <a:tcPr marL="54864" marR="54864" marT="27432" marB="27432">
                    <a:solidFill>
                      <a:srgbClr val="F3F5F9"/>
                    </a:solidFill>
                  </a:tcPr>
                </a:tc>
                <a:tc>
                  <a:txBody>
                    <a:bodyPr/>
                    <a:lstStyle/>
                    <a:p>
                      <a:pPr algn="l"/>
                      <a:r>
                        <a:rPr sz="1150" b="0" i="0">
                          <a:solidFill>
                            <a:srgbClr val="1F2937"/>
                          </a:solidFill>
                          <a:latin typeface="Calibri"/>
                        </a:rPr>
                        <a:t>Full attention within a frame, causal across frames — enables frame-by-frame online generation</a:t>
                      </a:r>
                    </a:p>
                  </a:txBody>
                  <a:tcPr marL="54864" marR="54864" marT="27432" marB="27432">
                    <a:solidFill>
                      <a:srgbClr val="F3F5F9"/>
                    </a:solidFill>
                  </a:tcPr>
                </a:tc>
              </a:tr>
              <a:tr h="411480">
                <a:tc>
                  <a:txBody>
                    <a:bodyPr/>
                    <a:lstStyle/>
                    <a:p>
                      <a:pPr algn="l"/>
                      <a:r>
                        <a:rPr sz="1150" b="0" i="0">
                          <a:solidFill>
                            <a:srgbClr val="1F2937"/>
                          </a:solidFill>
                          <a:latin typeface="Calibri"/>
                        </a:rPr>
                        <a:t>Diffusion forcing</a:t>
                      </a:r>
                    </a:p>
                  </a:txBody>
                  <a:tcPr marL="54864" marR="54864" marT="27432" marB="27432">
                    <a:solidFill>
                      <a:srgbClr val="FFFFFF"/>
                    </a:solidFill>
                  </a:tcPr>
                </a:tc>
                <a:tc>
                  <a:txBody>
                    <a:bodyPr/>
                    <a:lstStyle/>
                    <a:p>
                      <a:pPr algn="l"/>
                      <a:r>
                        <a:rPr sz="1150" b="0" i="0">
                          <a:solidFill>
                            <a:srgbClr val="1F2937"/>
                          </a:solidFill>
                          <a:latin typeface="Calibri"/>
                        </a:rPr>
                        <a:t>Diffusion training with an independent noise level per frame in a sequence</a:t>
                      </a:r>
                    </a:p>
                  </a:txBody>
                  <a:tcPr marL="54864" marR="54864" marT="27432" marB="27432">
                    <a:solidFill>
                      <a:srgbClr val="FFFFFF"/>
                    </a:solidFill>
                  </a:tcPr>
                </a:tc>
              </a:tr>
              <a:tr h="411480">
                <a:tc>
                  <a:txBody>
                    <a:bodyPr/>
                    <a:lstStyle/>
                    <a:p>
                      <a:pPr algn="l"/>
                      <a:r>
                        <a:rPr sz="1150" b="0" i="0">
                          <a:solidFill>
                            <a:srgbClr val="1F2937"/>
                          </a:solidFill>
                          <a:latin typeface="Calibri"/>
                        </a:rPr>
                        <a:t>Shortcut model</a:t>
                      </a:r>
                    </a:p>
                  </a:txBody>
                  <a:tcPr marL="54864" marR="54864" marT="27432" marB="27432">
                    <a:solidFill>
                      <a:srgbClr val="F3F5F9"/>
                    </a:solidFill>
                  </a:tcPr>
                </a:tc>
                <a:tc>
                  <a:txBody>
                    <a:bodyPr/>
                    <a:lstStyle/>
                    <a:p>
                      <a:pPr algn="l"/>
                      <a:r>
                        <a:rPr sz="1150" b="0" i="0">
                          <a:solidFill>
                            <a:srgbClr val="1F2937"/>
                          </a:solidFill>
                          <a:latin typeface="Calibri"/>
                        </a:rPr>
                        <a:t>Diffusion/flow model conditioned on step size, trained to be self-consistent across step sizes → few-step sampling</a:t>
                      </a:r>
                    </a:p>
                  </a:txBody>
                  <a:tcPr marL="54864" marR="54864" marT="27432" marB="27432">
                    <a:solidFill>
                      <a:srgbClr val="F3F5F9"/>
                    </a:solidFill>
                  </a:tcPr>
                </a:tc>
              </a:tr>
              <a:tr h="411480">
                <a:tc>
                  <a:txBody>
                    <a:bodyPr/>
                    <a:lstStyle/>
                    <a:p>
                      <a:pPr algn="l"/>
                      <a:r>
                        <a:rPr sz="1150" b="0" i="0">
                          <a:solidFill>
                            <a:srgbClr val="1F2937"/>
                          </a:solidFill>
                          <a:latin typeface="Calibri"/>
                        </a:rPr>
                        <a:t>x- vs v-prediction</a:t>
                      </a:r>
                    </a:p>
                  </a:txBody>
                  <a:tcPr marL="54864" marR="54864" marT="27432" marB="27432">
                    <a:solidFill>
                      <a:srgbClr val="FFFFFF"/>
                    </a:solidFill>
                  </a:tcPr>
                </a:tc>
                <a:tc>
                  <a:txBody>
                    <a:bodyPr/>
                    <a:lstStyle/>
                    <a:p>
                      <a:pPr algn="l"/>
                      <a:r>
                        <a:rPr sz="1150" b="0" i="0">
                          <a:solidFill>
                            <a:srgbClr val="1F2937"/>
                          </a:solidFill>
                          <a:latin typeface="Calibri"/>
                        </a:rPr>
                        <a:t>Network predicts the clean latent (x) vs the velocity x − ε (v); Dreamer 4 uses x-prediction</a:t>
                      </a:r>
                    </a:p>
                  </a:txBody>
                  <a:tcPr marL="54864" marR="54864" marT="27432" marB="27432">
                    <a:solidFill>
                      <a:srgbClr val="FFFFFF"/>
                    </a:solidFill>
                  </a:tcPr>
                </a:tc>
              </a:tr>
              <a:tr h="411480">
                <a:tc>
                  <a:txBody>
                    <a:bodyPr/>
                    <a:lstStyle/>
                    <a:p>
                      <a:pPr algn="l"/>
                      <a:r>
                        <a:rPr sz="1150" b="0" i="0">
                          <a:solidFill>
                            <a:srgbClr val="1F2937"/>
                          </a:solidFill>
                          <a:latin typeface="Calibri"/>
                        </a:rPr>
                        <a:t>FVD / PSNR / SSIM</a:t>
                      </a:r>
                    </a:p>
                  </a:txBody>
                  <a:tcPr marL="54864" marR="54864" marT="27432" marB="27432">
                    <a:solidFill>
                      <a:srgbClr val="F3F5F9"/>
                    </a:solidFill>
                  </a:tcPr>
                </a:tc>
                <a:tc>
                  <a:txBody>
                    <a:bodyPr/>
                    <a:lstStyle/>
                    <a:p>
                      <a:pPr algn="l"/>
                      <a:r>
                        <a:rPr sz="1150" b="0" i="0">
                          <a:solidFill>
                            <a:srgbClr val="1F2937"/>
                          </a:solidFill>
                          <a:latin typeface="Calibri"/>
                        </a:rPr>
                        <a:t>Fréchet Video Distance (distribution-level video quality, lower is better) / per-frame reconstruction fidelity metrics</a:t>
                      </a:r>
                    </a:p>
                  </a:txBody>
                  <a:tcPr marL="54864" marR="54864" marT="27432" marB="27432">
                    <a:solidFill>
                      <a:srgbClr val="F3F5F9"/>
                    </a:solidFill>
                  </a:tcPr>
                </a:tc>
              </a:tr>
              <a:tr h="411480">
                <a:tc>
                  <a:txBody>
                    <a:bodyPr/>
                    <a:lstStyle/>
                    <a:p>
                      <a:pPr algn="l"/>
                      <a:r>
                        <a:rPr sz="1150" b="0" i="0">
                          <a:solidFill>
                            <a:srgbClr val="1F2937"/>
                          </a:solidFill>
                          <a:latin typeface="Calibri"/>
                        </a:rPr>
                        <a:t>GQA, RoPE, registers</a:t>
                      </a:r>
                    </a:p>
                  </a:txBody>
                  <a:tcPr marL="54864" marR="54864" marT="27432" marB="27432">
                    <a:solidFill>
                      <a:srgbClr val="FFFFFF"/>
                    </a:solidFill>
                  </a:tcPr>
                </a:tc>
                <a:tc>
                  <a:txBody>
                    <a:bodyPr/>
                    <a:lstStyle/>
                    <a:p>
                      <a:pPr algn="l"/>
                      <a:r>
                        <a:rPr sz="1150" b="0" i="0">
                          <a:solidFill>
                            <a:srgbClr val="1F2937"/>
                          </a:solidFill>
                          <a:latin typeface="Calibri"/>
                        </a:rPr>
                        <a:t>Grouped-query attention (fewer KV heads), rotary position embeddings, extra learnable tokens that absorb attention mass</a:t>
                      </a:r>
                    </a:p>
                  </a:txBody>
                  <a:tcPr marL="54864" marR="54864" marT="27432" marB="27432">
                    <a:solidFill>
                      <a:srgbClr val="FFFFFF"/>
                    </a:solidFill>
                  </a:tcPr>
                </a:tc>
              </a:tr>
              <a:tr h="411480">
                <a:tc>
                  <a:txBody>
                    <a:bodyPr/>
                    <a:lstStyle/>
                    <a:p>
                      <a:pPr algn="l"/>
                      <a:r>
                        <a:rPr sz="1150" b="0" i="0">
                          <a:solidFill>
                            <a:srgbClr val="1F2937"/>
                          </a:solidFill>
                          <a:latin typeface="Calibri"/>
                        </a:rPr>
                        <a:t>BC, VLA, PMPO</a:t>
                      </a:r>
                    </a:p>
                  </a:txBody>
                  <a:tcPr marL="54864" marR="54864" marT="27432" marB="27432">
                    <a:solidFill>
                      <a:srgbClr val="F3F5F9"/>
                    </a:solidFill>
                  </a:tcPr>
                </a:tc>
                <a:tc>
                  <a:txBody>
                    <a:bodyPr/>
                    <a:lstStyle/>
                    <a:p>
                      <a:pPr algn="l"/>
                      <a:r>
                        <a:rPr sz="1150" b="0" i="0">
                          <a:solidFill>
                            <a:srgbClr val="1F2937"/>
                          </a:solidFill>
                          <a:latin typeface="Calibri"/>
                        </a:rPr>
                        <a:t>Behavioural cloning; vision-language-action model (here built on Gemma 3); the sign-based, KL-regularised policy-gradient update used for RL</a:t>
                      </a:r>
                    </a:p>
                  </a:txBody>
                  <a:tcPr marL="54864" marR="54864" marT="27432" marB="27432">
                    <a:solidFill>
                      <a:srgbClr val="F3F5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