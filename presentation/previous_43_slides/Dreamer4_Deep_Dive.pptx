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a deep dive into Dreamer 4, the September 2025 DeepMind paper by Danijar Hafner, Wilson Yan and Tim Lillicrap. Headline: an agent that learns to obtain diamonds in Minecraft purely from offline video, by training inside a learned world model that runs in real time on a single GPU. The three frames on the right are all generated by the world model: an imagined training rollout, a human play-testing session, and the robot-arm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plus an appendix. For a mixed audience I'll spend most time on the method intuition and on what the experiments do and do not show.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it's this one. Five claims, each tied to a table or figure. Note the honesty in the numbers: diamonds are rare (0.7 %), but every earlier milestone is reached far more reliably and faster than by the baselines, all without a single environment step.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has been constant since the first Dreamer in 2019: learn a model of the environment, then train the policy on imagined trajectories. What changed in Dreamer 4 is the simulator: a 2-billion-parameter block-causal transformer trained with a diffusion-style objective, accurate enough that a human can play inside it. The frame on the right is an imagined rollout, not the real game.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tensions: fidelity versus speed versus stability over long horizons. Prior Minecraft world models chose speed and looked plausible, but a human trying to craft a pickaxe inside them fails. The recurrent Dreamer 3 model was fast but low-resolution and relied on privileged state. Dreamer 4 tries to get all three at once.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means offline: the agent never touches Minecraft during training. The only signal is human gameplay video with logged inputs. Diamonds need a long chain of subgoals, each executed with raw mouse and keyboard at 20 Hz. That is why success rates fall off steeply along the tech tree for every method.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phases. First a world model is trained on all video. Second, agent tokens and heads are added and trained by behavioural cloning while the dynamics loss keeps running. Third, the transformer is frozen and only the policy and value heads are trained by RL on imagined rollouts. Keeping the dynamics loss on uniform data rather than task-relevant data is a small but deliberate choice to avoid a world model that is optimistic about task success.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system view before we go component by component. Read it left to right: video frames enter the tokenizer encoder and become 256 latent tokens per frame; those latents, noised to a per-frame signal level, go into the big transformer together with the actions, the register tokens and, from phase 2 on, the agent tokens that carry the task id. The transformer has one output for the world model, the clean latents of the frame, and three outputs for the agent: policy, reward, value. The italic tags say which phase trains which output. Two things to point out: the decoder is only used to make videos and figures, the agent never sees pixels after the encoder; and the agent tokens can read everything but nothing reads them, which is what keeps the agent from biasing its own simulator.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half of the system view. On the right, the imagination loop: rollouts start from real contexts, the policy proposes actions, the frozen dynamics model predicts what happens in latent space with four forward passes per frame, the learned reward and value heads score the outcome and PMPO nudges the policy toward positive-advantage actions and away from negative ones, with a reverse KL to the frozen behavioural-cloning copy as prior. Gradients only reach the policy and value heads. On the left, evaluation: in the real game the same transformer runs once per frame as a feature extractor for the policy head; nothing is imagined at test time. The numbers at the end are the case for doing RL inside the model at 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halves use the same transformer block. Block-causal means every token in frame t can see all tokens of frames up to t, which is exactly what you need for online, frame-by-frame generation with a human or a policy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tokenizer is a masked autoencoder over 16×16 patches with a small continuous bottleneck. Two properties matter downstream: it is causal in time, and its latent space is smooth because of the heavy random masking during training. Everything after this operates on 256 latent tokens per frame instead of 960 patches. The schematic on the left is an illustration built from a real frame, not a visualisation of the trained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dynamics model reads the interleaved sequence of actions and latents. Only every fourth layer attends across time; the rest work within one frame. That is what makes a 9.6 s context affordable. Alternating short and long batches is a training-cost trick: it cut a training step from 9.8 s to 1.5 s in the ablation (Table 2). A wording note: the paper says the past inputs are 'slightly corrupted to signal level τ_ctx = 0.1' — read that as a small amount of noise on the context, not 90 % noise.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non-diffusion people: think of a dial τ from 0 (pure noise) to 1 (clean latent). Training corrupts a clean latent to a random position on the dial and asks the network for the way back, either as a direction (velocity) or as the clean end point. Sampling turns the dial from 0 to 1 in K steps. The strip at the top is a real world-model frame mixed with Gaussian noise at five signal levels. The problem for a real-time simulator is K: standard models need dozens of steps per frame.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Diffusion forcing is the trick that turns a video diffusion model into a causal simulator: every frame gets its own noise level, so the model learns to predict a noisy future from a cleaner past. That is precisely the situation at inference, where the past is what the model generated a moment ago. What it does not solve is speed; that is what shortcut models are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models teach the network to take big steps consistently. The extra input is the step size; the extra loss says that one big step must agree with two half steps that the model computes itself. Because the target is deterministic it is easier to fit than the noisy flow-matching target, which is one reason the bootstrap term works well. Dreamer 4 combines this with diffusion forcing into shortcut forcing.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objective in words. Combining the two prior ideas gets you from 875 back to 329 FVD at 4 steps — but the big wins come from the parameterisation details: predicting x instead of v, computing the loss in x-space, and the ramp weight together take FVD from 329 to 102. These are the kind of choices you only discover with a careful cascade of ablations, which the paper provides.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transferable lesson of the paper for anyone building autoregressive generative models: predict the clean signal, not the velocity, when your own outputs become your inputs. Open Dreamer, the open-source reproduction, independently confirmed this — they report the same instability with v-prediction at scale.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bars top to bottom. The two dark bars at the top are the starting point: a diffusion-forcing transformer that is either slow or bad. The grey bars are the objective changes from the previous slides; the blue bar is the final model. The architectural changes on the lower half mostly move FPS, not FVD — exactly what you want.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tokens are the interface between simulation and decision making. The one-directional mask is subtle but important: if latents could attend to agent tokens, the model could 'cheat' by predicting frames consistent with what the policy intends rather than with the physics of the game. Notice how much of the gain over BC comes from this phase alone — the representation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PMPO is deliberately simple. Using only the sign of the advantage makes the update invariant to reward scale, which matters when rewards are rare item events. The KL term to the BC policy is doing two jobs: stabilising RL and preventing the policy from wandering into regions the world model gets wrong. Hafner mentioned in a talk that a few rounds of corrective online data would allow a much weaker KL — but that is not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paper's most convincing evidence about the world model. Real people sit down with a mouse and keyboard and try to do things. Dreamer 4 is the only model in which crafting, riding a boat or entering a portal work. The caveat is on the right: this is a small, human-judged protocol; I'd like to see automated long-horizon metrics in follow-ups.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sixteen tasks. In the boat task Lucid shows only blue; in the portal task the baselines never enter; in the crafting task Dreamer 4 opens a functional crafting menu. The clips themselves are in the resource archive if you want to play them during the talk.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official results figure. Every method nails the first items; the interesting region is the right half. Dreamer 4 roughly doubles or triples the VLA on iron-age items and is the only one reaching diamonds — rarely, but from zero interaction. Remember this is a 60-minute budget per episode; humans need about 20 minutes on average.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separable effects. First, using the world model as the representation for imitation already gives a large jump — that's a statement about video pretraining. Second, RL inside the model adds a further, smaller but consistent gain on the hardest items and makes the agent faster, which is a hallmark of RL over imitation.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experiment is easy to overlook but strategically important. Only about a hundred hours of labeled actions are needed on top of thousands of unlabeled hours, and the learned action semantics transfer to visual domains that were never labeled. That is the argument for scaling to internet video later.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from the paper. All of these frames are generated by the model while the policy is being trained. Worth stressing to a mixed audience: the agent learns in latent space; decoding is purely for visualisation.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positions Dreamer 4 as a step toward robotics. The evidence here is qualitative: plausible counterfactual generations on real robot and kitchen video. Hafner left DeepMind shortly after the paper to work on humanoid robotics, which tells you where the authors think this goes.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family, different regime. Dreamer 3 solved diamonds with online interaction and privileged state at 64×64; Dreamer 4 does it offline from raw pixels and inputs. The price is speed: the transformer is still about forty times slower than the recurrent model, according to Hafner.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context. The Minecraft data is the public VPT contractor set, which makes the comparison with VPT clean: Dreamer 4 uses about a hundred times less data and no interaction. Compute is disclosed only as a TPU range. Nothing was open-sourced, which shaped the follow-up ecosystem.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are quite candid. The two that matter most for the agenda of the paper are memory and exploitability: both limit how far imagination training can be pushed before the policy learns things that are only true inside the model.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Balance sheet. The methodological contribution — how to make a fast, accurate autoregressive video world model — is robust and has been independently reproduced. The headline agent result is real but statistically thin and has not been reproduced outside DeepMind. For a reading group, this split is where the discussion usually starts.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directions, three of which — memory, corrective data, and language — directly address the limitations we just discussed. Note that the authors' next steps are toward physical robots, not more Minecraft.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takeaways, ordered from result to method to caveats.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two or three depending on the room.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sources, plus the GitHub archive that contains local copies of every item used to build this deck.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not meant to be presented in full.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transcribed from Table 2 and read off Figure 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table for reference.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Glossary for the mixed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22.jpg"/><Relationship Id="rId6" Type="http://schemas.openxmlformats.org/officeDocument/2006/relationships/image" Target="../media/image23.jpg"/><Relationship Id="rId7" Type="http://schemas.openxmlformats.org/officeDocument/2006/relationships/image" Target="../media/image24.jpg"/><Relationship Id="rId8" Type="http://schemas.openxmlformats.org/officeDocument/2006/relationships/image" Target="../media/image25.jpg"/><Relationship Id="rId9" Type="http://schemas.openxmlformats.org/officeDocument/2006/relationships/image" Target="../media/image26.jpg"/><Relationship Id="rId10" Type="http://schemas.openxmlformats.org/officeDocument/2006/relationships/image" Target="../media/image27.jpg"/><Relationship Id="rId11"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jpg"/><Relationship Id="rId4"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image" Target="../media/image36.png"/><Relationship Id="rId4"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itle_strip_0.jpg"/>
          <p:cNvPicPr>
            <a:picLocks noChangeAspect="1"/>
          </p:cNvPicPr>
          <p:nvPr/>
        </p:nvPicPr>
        <p:blipFill>
          <a:blip r:embed="rId2"/>
          <a:stretch>
            <a:fillRect/>
          </a:stretch>
        </p:blipFill>
        <p:spPr>
          <a:xfrm>
            <a:off x="7223760" y="0"/>
            <a:ext cx="4967935" cy="2286000"/>
          </a:xfrm>
          <a:prstGeom prst="rect">
            <a:avLst/>
          </a:prstGeom>
        </p:spPr>
      </p:pic>
      <p:pic>
        <p:nvPicPr>
          <p:cNvPr id="4" name="Picture 3" descr="title_strip_1.jpg"/>
          <p:cNvPicPr>
            <a:picLocks noChangeAspect="1"/>
          </p:cNvPicPr>
          <p:nvPr/>
        </p:nvPicPr>
        <p:blipFill>
          <a:blip r:embed="rId3"/>
          <a:stretch>
            <a:fillRect/>
          </a:stretch>
        </p:blipFill>
        <p:spPr>
          <a:xfrm>
            <a:off x="7223760" y="2286000"/>
            <a:ext cx="4967935" cy="2286000"/>
          </a:xfrm>
          <a:prstGeom prst="rect">
            <a:avLst/>
          </a:prstGeom>
        </p:spPr>
      </p:pic>
      <p:pic>
        <p:nvPicPr>
          <p:cNvPr id="5" name="Picture 4" descr="title_strip_2.jpg"/>
          <p:cNvPicPr>
            <a:picLocks noChangeAspect="1"/>
          </p:cNvPicPr>
          <p:nvPr/>
        </p:nvPicPr>
        <p:blipFill>
          <a:blip r:embed="rId4"/>
          <a:stretch>
            <a:fillRect/>
          </a:stretch>
        </p:blipFill>
        <p:spPr>
          <a:xfrm>
            <a:off x="7223760" y="4572000"/>
            <a:ext cx="4967935" cy="2286000"/>
          </a:xfrm>
          <a:prstGeom prst="rect">
            <a:avLst/>
          </a:prstGeom>
        </p:spPr>
      </p:pic>
      <p:sp>
        <p:nvSpPr>
          <p:cNvPr id="6" name="TextBox 5"/>
          <p:cNvSpPr txBox="1"/>
          <p:nvPr/>
        </p:nvSpPr>
        <p:spPr>
          <a:xfrm>
            <a:off x="731520" y="1417320"/>
            <a:ext cx="5486400" cy="274320"/>
          </a:xfrm>
          <a:prstGeom prst="rect">
            <a:avLst/>
          </a:prstGeom>
          <a:noFill/>
        </p:spPr>
        <p:txBody>
          <a:bodyPr wrap="square" anchor="t" lIns="45720" rIns="45720" tIns="18288" bIns="18288">
            <a:spAutoFit/>
          </a:bodyPr>
          <a:lstStyle/>
          <a:p>
            <a:pPr algn="l">
              <a:lnSpc>
                <a:spcPct val="105000"/>
              </a:lnSpc>
            </a:pPr>
            <a:r>
              <a:rPr sz="1100" b="1" i="0" spc="120">
                <a:solidFill>
                  <a:srgbClr val="9DB8F5"/>
                </a:solidFill>
                <a:latin typeface="Calibri"/>
              </a:rPr>
              <a:t>PAPER DEEP DIVE  ·  ARXIV 2509.24527</a:t>
            </a:r>
          </a:p>
        </p:txBody>
      </p:sp>
      <p:sp>
        <p:nvSpPr>
          <p:cNvPr id="7" name="TextBox 6"/>
          <p:cNvSpPr txBox="1"/>
          <p:nvPr/>
        </p:nvSpPr>
        <p:spPr>
          <a:xfrm>
            <a:off x="685800" y="1783080"/>
            <a:ext cx="6217920" cy="1188720"/>
          </a:xfrm>
          <a:prstGeom prst="rect">
            <a:avLst/>
          </a:prstGeom>
          <a:noFill/>
        </p:spPr>
        <p:txBody>
          <a:bodyPr wrap="square" anchor="t" lIns="45720" rIns="45720" tIns="18288" bIns="18288">
            <a:spAutoFit/>
          </a:bodyPr>
          <a:lstStyle/>
          <a:p>
            <a:pPr algn="l">
              <a:lnSpc>
                <a:spcPct val="105000"/>
              </a:lnSpc>
            </a:pPr>
            <a:r>
              <a:rPr sz="6400" b="1" i="0">
                <a:solidFill>
                  <a:srgbClr val="FFFFFF"/>
                </a:solidFill>
                <a:latin typeface="Calibri"/>
              </a:rPr>
              <a:t>Dreamer 4</a:t>
            </a:r>
          </a:p>
        </p:txBody>
      </p:sp>
      <p:sp>
        <p:nvSpPr>
          <p:cNvPr id="8" name="TextBox 7"/>
          <p:cNvSpPr txBox="1"/>
          <p:nvPr/>
        </p:nvSpPr>
        <p:spPr>
          <a:xfrm>
            <a:off x="731520" y="2834640"/>
            <a:ext cx="5852160" cy="1280160"/>
          </a:xfrm>
          <a:prstGeom prst="rect">
            <a:avLst/>
          </a:prstGeom>
          <a:noFill/>
        </p:spPr>
        <p:txBody>
          <a:bodyPr wrap="square" anchor="t" lIns="45720" rIns="45720" tIns="18288" bIns="18288">
            <a:spAutoFit/>
          </a:bodyPr>
          <a:lstStyle/>
          <a:p>
            <a:pPr algn="l">
              <a:lnSpc>
                <a:spcPct val="110000"/>
              </a:lnSpc>
            </a:pPr>
            <a:r>
              <a:rPr sz="2600" b="0" i="0">
                <a:solidFill>
                  <a:srgbClr val="FFFFFF"/>
                </a:solidFill>
                <a:latin typeface="Calibri"/>
              </a:rPr>
              <a:t>Training Agents Inside of</a:t>
            </a:r>
          </a:p>
          <a:p>
            <a:pPr algn="l">
              <a:lnSpc>
                <a:spcPct val="110000"/>
              </a:lnSpc>
            </a:pPr>
            <a:r>
              <a:rPr sz="2600" b="0" i="0">
                <a:solidFill>
                  <a:srgbClr val="FFFFFF"/>
                </a:solidFill>
                <a:latin typeface="Calibri"/>
              </a:rPr>
              <a:t>Scalable World Models</a:t>
            </a:r>
          </a:p>
        </p:txBody>
      </p:sp>
      <p:sp>
        <p:nvSpPr>
          <p:cNvPr id="9" name="Rectangle 8"/>
          <p:cNvSpPr/>
          <p:nvPr/>
        </p:nvSpPr>
        <p:spPr>
          <a:xfrm>
            <a:off x="777240" y="4160520"/>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43400"/>
            <a:ext cx="6035040" cy="914400"/>
          </a:xfrm>
          <a:prstGeom prst="rect">
            <a:avLst/>
          </a:prstGeom>
          <a:noFill/>
        </p:spPr>
        <p:txBody>
          <a:bodyPr wrap="square" anchor="t" lIns="45720" rIns="45720" tIns="18288" bIns="18288">
            <a:spAutoFit/>
          </a:bodyPr>
          <a:lstStyle/>
          <a:p>
            <a:pPr algn="l">
              <a:lnSpc>
                <a:spcPct val="120000"/>
              </a:lnSpc>
            </a:pPr>
            <a:r>
              <a:rPr sz="1500" b="0" i="0">
                <a:solidFill>
                  <a:srgbClr val="C9D3E6"/>
                </a:solidFill>
                <a:latin typeface="Calibri"/>
              </a:rPr>
              <a:t>Danijar Hafner*, Wilson Yan*, Timothy Lillicrap — Google DeepMind</a:t>
            </a:r>
          </a:p>
          <a:p>
            <a:pPr algn="l">
              <a:lnSpc>
                <a:spcPct val="120000"/>
              </a:lnSpc>
            </a:pPr>
            <a:r>
              <a:rPr sz="1500" b="0" i="0">
                <a:solidFill>
                  <a:srgbClr val="C9D3E6"/>
                </a:solidFill>
                <a:latin typeface="Calibri"/>
              </a:rPr>
              <a:t>29 September 2025  ·  danijar.com/project/dreamer4</a:t>
            </a:r>
          </a:p>
        </p:txBody>
      </p:sp>
      <p:sp>
        <p:nvSpPr>
          <p:cNvPr id="11" name="TextBox 10"/>
          <p:cNvSpPr txBox="1"/>
          <p:nvPr/>
        </p:nvSpPr>
        <p:spPr>
          <a:xfrm>
            <a:off x="731520" y="5989320"/>
            <a:ext cx="6035040" cy="365760"/>
          </a:xfrm>
          <a:prstGeom prst="rect">
            <a:avLst/>
          </a:prstGeom>
          <a:noFill/>
        </p:spPr>
        <p:txBody>
          <a:bodyPr wrap="square" anchor="t" lIns="45720" rIns="45720" tIns="18288" bIns="18288">
            <a:spAutoFit/>
          </a:bodyPr>
          <a:lstStyle/>
          <a:p>
            <a:pPr algn="l">
              <a:lnSpc>
                <a:spcPct val="105000"/>
              </a:lnSpc>
            </a:pPr>
            <a:r>
              <a:rPr sz="1150" b="0" i="0">
                <a:solidFill>
                  <a:srgbClr val="8F9BB8"/>
                </a:solidFill>
                <a:latin typeface="Calibri"/>
              </a:rPr>
              <a:t>Presenter ____________     Date ____________     ~45–60 min incl. discussion</a:t>
            </a:r>
          </a:p>
        </p:txBody>
      </p:sp>
      <p:sp>
        <p:nvSpPr>
          <p:cNvPr id="12" name="TextBox 11"/>
          <p:cNvSpPr txBox="1"/>
          <p:nvPr/>
        </p:nvSpPr>
        <p:spPr>
          <a:xfrm>
            <a:off x="731520" y="6355080"/>
            <a:ext cx="6035040" cy="457200"/>
          </a:xfrm>
          <a:prstGeom prst="rect">
            <a:avLst/>
          </a:prstGeom>
          <a:noFill/>
        </p:spPr>
        <p:txBody>
          <a:bodyPr wrap="square" anchor="t" lIns="45720" rIns="45720" tIns="18288" bIns="18288">
            <a:spAutoFit/>
          </a:bodyPr>
          <a:lstStyle/>
          <a:p>
            <a:pPr algn="l">
              <a:lnSpc>
                <a:spcPct val="105000"/>
              </a:lnSpc>
            </a:pPr>
            <a:r>
              <a:rPr sz="900" b="0" i="1">
                <a:solidFill>
                  <a:srgbClr val="6B7280"/>
                </a:solidFill>
                <a:latin typeface="Calibri"/>
              </a:rPr>
              <a:t>Right: frames generated by the Dreamer 4 world model — an imagined rollout, a human playing inside the model, and the robot-arm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Agenda</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a:t>
            </a:r>
          </a:p>
        </p:txBody>
      </p:sp>
      <p:sp>
        <p:nvSpPr>
          <p:cNvPr id="6" name="TextBox 5"/>
          <p:cNvSpPr txBox="1"/>
          <p:nvPr/>
        </p:nvSpPr>
        <p:spPr>
          <a:xfrm>
            <a:off x="548640" y="152704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01</a:t>
            </a:r>
          </a:p>
        </p:txBody>
      </p:sp>
      <p:sp>
        <p:nvSpPr>
          <p:cNvPr id="7" name="TextBox 6"/>
          <p:cNvSpPr txBox="1"/>
          <p:nvPr/>
        </p:nvSpPr>
        <p:spPr>
          <a:xfrm>
            <a:off x="1097280" y="155448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Background</a:t>
            </a:r>
          </a:p>
        </p:txBody>
      </p:sp>
      <p:sp>
        <p:nvSpPr>
          <p:cNvPr id="8" name="TextBox 7"/>
          <p:cNvSpPr txBox="1"/>
          <p:nvPr/>
        </p:nvSpPr>
        <p:spPr>
          <a:xfrm>
            <a:off x="2926080" y="1554480"/>
            <a:ext cx="393192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why world models, what made scaling them hard, the offline diamond challenge</a:t>
            </a:r>
          </a:p>
        </p:txBody>
      </p:sp>
      <p:sp>
        <p:nvSpPr>
          <p:cNvPr id="9" name="TextBox 8"/>
          <p:cNvSpPr txBox="1"/>
          <p:nvPr/>
        </p:nvSpPr>
        <p:spPr>
          <a:xfrm>
            <a:off x="548640" y="230936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02</a:t>
            </a:r>
          </a:p>
        </p:txBody>
      </p:sp>
      <p:sp>
        <p:nvSpPr>
          <p:cNvPr id="10" name="TextBox 9"/>
          <p:cNvSpPr txBox="1"/>
          <p:nvPr/>
        </p:nvSpPr>
        <p:spPr>
          <a:xfrm>
            <a:off x="1097280" y="233680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Method</a:t>
            </a:r>
          </a:p>
        </p:txBody>
      </p:sp>
      <p:sp>
        <p:nvSpPr>
          <p:cNvPr id="11" name="TextBox 10"/>
          <p:cNvSpPr txBox="1"/>
          <p:nvPr/>
        </p:nvSpPr>
        <p:spPr>
          <a:xfrm>
            <a:off x="2926080" y="2336800"/>
            <a:ext cx="3931920" cy="1036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tokenizer, dynamics transformer, shortcut forcing, agent tokens, imagination training (PMPO)</a:t>
            </a:r>
          </a:p>
        </p:txBody>
      </p:sp>
      <p:sp>
        <p:nvSpPr>
          <p:cNvPr id="12" name="TextBox 11"/>
          <p:cNvSpPr txBox="1"/>
          <p:nvPr/>
        </p:nvSpPr>
        <p:spPr>
          <a:xfrm>
            <a:off x="548640" y="334568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03</a:t>
            </a:r>
          </a:p>
        </p:txBody>
      </p:sp>
      <p:sp>
        <p:nvSpPr>
          <p:cNvPr id="13" name="TextBox 12"/>
          <p:cNvSpPr txBox="1"/>
          <p:nvPr/>
        </p:nvSpPr>
        <p:spPr>
          <a:xfrm>
            <a:off x="1097280" y="337312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Experiments</a:t>
            </a:r>
          </a:p>
        </p:txBody>
      </p:sp>
      <p:sp>
        <p:nvSpPr>
          <p:cNvPr id="14" name="TextBox 13"/>
          <p:cNvSpPr txBox="1"/>
          <p:nvPr/>
        </p:nvSpPr>
        <p:spPr>
          <a:xfrm>
            <a:off x="2926080" y="3373120"/>
            <a:ext cx="3931920" cy="1036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real-time human play-testing, diamond challenge, ablations, learning from unlabeled video, robotics</a:t>
            </a:r>
          </a:p>
        </p:txBody>
      </p:sp>
      <p:sp>
        <p:nvSpPr>
          <p:cNvPr id="15" name="TextBox 14"/>
          <p:cNvSpPr txBox="1"/>
          <p:nvPr/>
        </p:nvSpPr>
        <p:spPr>
          <a:xfrm>
            <a:off x="548640" y="438200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04</a:t>
            </a:r>
          </a:p>
        </p:txBody>
      </p:sp>
      <p:sp>
        <p:nvSpPr>
          <p:cNvPr id="16" name="TextBox 15"/>
          <p:cNvSpPr txBox="1"/>
          <p:nvPr/>
        </p:nvSpPr>
        <p:spPr>
          <a:xfrm>
            <a:off x="1097280" y="440944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Discussion</a:t>
            </a:r>
          </a:p>
        </p:txBody>
      </p:sp>
      <p:sp>
        <p:nvSpPr>
          <p:cNvPr id="17" name="TextBox 16"/>
          <p:cNvSpPr txBox="1"/>
          <p:nvPr/>
        </p:nvSpPr>
        <p:spPr>
          <a:xfrm>
            <a:off x="2926080" y="4409440"/>
            <a:ext cx="393192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limitations, critical reading, future work, takeaways</a:t>
            </a:r>
          </a:p>
        </p:txBody>
      </p:sp>
      <p:sp>
        <p:nvSpPr>
          <p:cNvPr id="18" name="TextBox 17"/>
          <p:cNvSpPr txBox="1"/>
          <p:nvPr/>
        </p:nvSpPr>
        <p:spPr>
          <a:xfrm>
            <a:off x="548640" y="5164328"/>
            <a:ext cx="54864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05</a:t>
            </a:r>
          </a:p>
        </p:txBody>
      </p:sp>
      <p:sp>
        <p:nvSpPr>
          <p:cNvPr id="19" name="TextBox 18"/>
          <p:cNvSpPr txBox="1"/>
          <p:nvPr/>
        </p:nvSpPr>
        <p:spPr>
          <a:xfrm>
            <a:off x="1097280" y="5191760"/>
            <a:ext cx="1828800" cy="457200"/>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Appendix</a:t>
            </a:r>
          </a:p>
        </p:txBody>
      </p:sp>
      <p:sp>
        <p:nvSpPr>
          <p:cNvPr id="20" name="TextBox 19"/>
          <p:cNvSpPr txBox="1"/>
          <p:nvPr/>
        </p:nvSpPr>
        <p:spPr>
          <a:xfrm>
            <a:off x="2926080" y="5191760"/>
            <a:ext cx="3931920" cy="528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hyper-parameters, full tables, glossary</a:t>
            </a:r>
          </a:p>
        </p:txBody>
      </p:sp>
      <p:sp>
        <p:nvSpPr>
          <p:cNvPr id="21" name="Rectangle 20"/>
          <p:cNvSpPr/>
          <p:nvPr/>
        </p:nvSpPr>
        <p:spPr>
          <a:xfrm>
            <a:off x="7589520" y="1627632"/>
            <a:ext cx="25400" cy="246913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1600200"/>
            <a:ext cx="391363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HOW TO READ THIS DECK</a:t>
            </a:r>
          </a:p>
        </p:txBody>
      </p:sp>
      <p:sp>
        <p:nvSpPr>
          <p:cNvPr id="23" name="TextBox 22"/>
          <p:cNvSpPr txBox="1"/>
          <p:nvPr/>
        </p:nvSpPr>
        <p:spPr>
          <a:xfrm>
            <a:off x="7772400" y="1929384"/>
            <a:ext cx="3913632" cy="292608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Equations are kept to the minimum needed for intuition; the appendix has the exact settings.</a:t>
            </a:r>
          </a:p>
          <a:p>
            <a:pPr algn="l">
              <a:lnSpc>
                <a:spcPct val="110000"/>
              </a:lnSpc>
              <a:spcAft>
                <a:spcPts val="500"/>
              </a:spcAft>
            </a:pPr>
            <a:r>
              <a:rPr sz="1250" b="0" i="0">
                <a:solidFill>
                  <a:srgbClr val="1F2937"/>
                </a:solidFill>
                <a:latin typeface="Calibri"/>
              </a:rPr>
              <a:t>Every number is from the paper's tables (Table 1, 2, 7, 8) or the authors' talks — sources are on each slide.</a:t>
            </a:r>
          </a:p>
          <a:p>
            <a:pPr algn="l">
              <a:lnSpc>
                <a:spcPct val="110000"/>
              </a:lnSpc>
              <a:spcAft>
                <a:spcPts val="500"/>
              </a:spcAft>
            </a:pPr>
            <a:r>
              <a:rPr sz="1250" b="0" i="0">
                <a:solidFill>
                  <a:srgbClr val="1F2937"/>
                </a:solidFill>
                <a:latin typeface="Calibri"/>
              </a:rPr>
              <a:t>Figures © the authors (arXiv 2509.24527 / danijar.com), reproduced for discussion.</a:t>
            </a:r>
          </a:p>
          <a:p>
            <a:pPr algn="l">
              <a:lnSpc>
                <a:spcPct val="110000"/>
              </a:lnSpc>
              <a:spcAft>
                <a:spcPts val="500"/>
              </a:spcAft>
            </a:pPr>
            <a:r>
              <a:rPr sz="1250" b="0" i="0">
                <a:solidFill>
                  <a:srgbClr val="1F2937"/>
                </a:solidFill>
                <a:latin typeface="Calibri"/>
              </a:rPr>
              <a:t>Suggested pacing: Parts 1–2 ≈ 25 min, Part 3 ≈ 15 min, Part 4 ≈ 10 min +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Dreamer 4 in one slide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What the paper claims, and the evidence behind each claim</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a:t>
            </a:r>
          </a:p>
        </p:txBody>
      </p:sp>
      <p:graphicFrame>
        <p:nvGraphicFramePr>
          <p:cNvPr id="7" name="Table 6"/>
          <p:cNvGraphicFramePr>
            <a:graphicFrameLocks noGrp="1"/>
          </p:cNvGraphicFramePr>
          <p:nvPr/>
        </p:nvGraphicFramePr>
        <p:xfrm>
          <a:off x="457200" y="1417320"/>
          <a:ext cx="11247120" cy="4041648"/>
        </p:xfrm>
        <a:graphic>
          <a:graphicData uri="http://schemas.openxmlformats.org/drawingml/2006/table">
            <a:tbl>
              <a:tblPr firstRow="0" bandRow="0"/>
              <a:tblGrid>
                <a:gridCol w="4206240"/>
                <a:gridCol w="7040880"/>
              </a:tblGrid>
              <a:tr h="384048">
                <a:tc>
                  <a:txBody>
                    <a:bodyPr/>
                    <a:lstStyle/>
                    <a:p>
                      <a:pPr algn="l"/>
                      <a:r>
                        <a:rPr sz="1200" b="1" i="0">
                          <a:solidFill>
                            <a:srgbClr val="14213D"/>
                          </a:solidFill>
                          <a:latin typeface="Calibri"/>
                        </a:rPr>
                        <a:t>Claim</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00" b="1" i="0">
                          <a:solidFill>
                            <a:srgbClr val="14213D"/>
                          </a:solidFill>
                          <a:latin typeface="Calibri"/>
                        </a:rPr>
                        <a:t>Evidence in the paper</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731520">
                <a:tc>
                  <a:txBody>
                    <a:bodyPr/>
                    <a:lstStyle/>
                    <a:p>
                      <a:pPr algn="l"/>
                      <a:r>
                        <a:rPr sz="1250" b="0" i="0">
                          <a:solidFill>
                            <a:srgbClr val="1F2937"/>
                          </a:solidFill>
                          <a:latin typeface="Calibri"/>
                        </a:rPr>
                        <a:t>First agent to obtain diamonds in Minecraft from offline data only</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0.7 % of 1,000 × 60-min episodes reach a diamond; 29 % reach an iron pickaxe (vs 11 % for a Gemma-3 VLA, 0.6 % for BC) — Table 7</a:t>
                      </a:r>
                    </a:p>
                  </a:txBody>
                  <a:tcPr marL="64008" marR="64008" marT="36576" marB="36576" anchor="ctr">
                    <a:lnL w="0">
                      <a:noFill/>
                    </a:lnL>
                    <a:lnR w="0">
                      <a:noFill/>
                    </a:lnR>
                    <a:lnT w="0">
                      <a:noFill/>
                    </a:lnT>
                    <a:lnB w="6350" cap="flat" cmpd="sng" algn="ctr">
                      <a:solidFill>
                        <a:srgbClr val="D3D8E2"/>
                      </a:solidFill>
                      <a:prstDash val="solid"/>
                    </a:lnB>
                    <a:noFill/>
                  </a:tcPr>
                </a:tc>
              </a:tr>
              <a:tr h="731520">
                <a:tc>
                  <a:txBody>
                    <a:bodyPr/>
                    <a:lstStyle/>
                    <a:p>
                      <a:pPr algn="l"/>
                      <a:r>
                        <a:rPr sz="1250" b="0" i="0">
                          <a:solidFill>
                            <a:srgbClr val="1F2937"/>
                          </a:solidFill>
                          <a:latin typeface="Calibri"/>
                        </a:rPr>
                        <a:t>A world model that simulates Minecraft object interactions and menus accurately, in real time on 1 GPU</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Human play-testers solve 14/16 interaction tasks inside it at 21 FPS with a 9.6 s context (Oasis: 5/16, Lucid-v1: 0/16) — Table 1</a:t>
                      </a:r>
                    </a:p>
                  </a:txBody>
                  <a:tcPr marL="64008" marR="64008" marT="36576" marB="36576" anchor="ctr">
                    <a:lnL w="0">
                      <a:noFill/>
                    </a:lnL>
                    <a:lnR w="0">
                      <a:noFill/>
                    </a:lnR>
                    <a:lnT w="0">
                      <a:noFill/>
                    </a:lnT>
                    <a:lnB w="6350" cap="flat" cmpd="sng" algn="ctr">
                      <a:solidFill>
                        <a:srgbClr val="D3D8E2"/>
                      </a:solidFill>
                      <a:prstDash val="solid"/>
                    </a:lnB>
                    <a:noFill/>
                  </a:tcPr>
                </a:tc>
              </a:tr>
              <a:tr h="731520">
                <a:tc>
                  <a:txBody>
                    <a:bodyPr/>
                    <a:lstStyle/>
                    <a:p>
                      <a:pPr algn="l"/>
                      <a:r>
                        <a:rPr sz="1250" b="0" i="0">
                          <a:solidFill>
                            <a:srgbClr val="1F2937"/>
                          </a:solidFill>
                          <a:latin typeface="Calibri"/>
                        </a:rPr>
                        <a:t>Shortcut forcing + an efficient transformer make this fast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4 sampling steps instead of 16–64; FVD 306 → 57 across the design cascade while going from 0.8 to 21 FPS — Table 2, Fig. 8</a:t>
                      </a:r>
                    </a:p>
                  </a:txBody>
                  <a:tcPr marL="64008" marR="64008" marT="36576" marB="36576" anchor="ctr">
                    <a:lnL w="0">
                      <a:noFill/>
                    </a:lnL>
                    <a:lnR w="0">
                      <a:noFill/>
                    </a:lnR>
                    <a:lnT w="0">
                      <a:noFill/>
                    </a:lnT>
                    <a:lnB w="6350" cap="flat" cmpd="sng" algn="ctr">
                      <a:solidFill>
                        <a:srgbClr val="D3D8E2"/>
                      </a:solidFill>
                      <a:prstDash val="solid"/>
                    </a:lnB>
                    <a:noFill/>
                  </a:tcPr>
                </a:tc>
              </a:tr>
              <a:tr h="731520">
                <a:tc>
                  <a:txBody>
                    <a:bodyPr/>
                    <a:lstStyle/>
                    <a:p>
                      <a:pPr algn="l"/>
                      <a:r>
                        <a:rPr sz="1250" b="0" i="0">
                          <a:solidFill>
                            <a:srgbClr val="1F2937"/>
                          </a:solidFill>
                          <a:latin typeface="Calibri"/>
                        </a:rPr>
                        <a:t>Action conditioning can be learned from few labels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100 h of labeled actions ≈ 85 % PSNR / 100 % SSIM of using all 2,541 h; actions transfer to Nether/End seen only unlabeled — Fig. 7</a:t>
                      </a:r>
                    </a:p>
                  </a:txBody>
                  <a:tcPr marL="64008" marR="64008" marT="36576" marB="36576" anchor="ctr">
                    <a:lnL w="0">
                      <a:noFill/>
                    </a:lnL>
                    <a:lnR w="0">
                      <a:noFill/>
                    </a:lnR>
                    <a:lnT w="0">
                      <a:noFill/>
                    </a:lnT>
                    <a:lnB w="6350" cap="flat" cmpd="sng" algn="ctr">
                      <a:solidFill>
                        <a:srgbClr val="D3D8E2"/>
                      </a:solidFill>
                      <a:prstDash val="solid"/>
                    </a:lnB>
                    <a:noFill/>
                  </a:tcPr>
                </a:tc>
              </a:tr>
              <a:tr h="731520">
                <a:tc>
                  <a:txBody>
                    <a:bodyPr/>
                    <a:lstStyle/>
                    <a:p>
                      <a:pPr algn="l"/>
                      <a:r>
                        <a:rPr sz="1250" b="0" i="0">
                          <a:solidFill>
                            <a:srgbClr val="1F2937"/>
                          </a:solidFill>
                          <a:latin typeface="Calibri"/>
                        </a:rPr>
                        <a:t>~100× less data than VPT, no environment interaction</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250" b="0" i="0">
                          <a:solidFill>
                            <a:srgbClr val="1F2937"/>
                          </a:solidFill>
                          <a:latin typeface="Calibri"/>
                        </a:rPr>
                        <a:t>2,541 h contractor video vs VPT's 270 K h web video + online RL — Table 3</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01</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1</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Background &amp; motivation</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World models, learning in imagination, and why Minecraft from offline data is a hard test</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Why world models? Learning in imagination</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The Dreamer lineage: same idea, increasingly capable simulators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BACKGROUND &amp; MOTIVATION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5</a:t>
            </a:r>
          </a:p>
        </p:txBody>
      </p:sp>
      <p:sp>
        <p:nvSpPr>
          <p:cNvPr id="8" name="TextBox 7"/>
          <p:cNvSpPr txBox="1"/>
          <p:nvPr/>
        </p:nvSpPr>
        <p:spPr>
          <a:xfrm>
            <a:off x="548640" y="1417320"/>
            <a:ext cx="5852160" cy="38404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700" b="1" i="0">
                <a:solidFill>
                  <a:srgbClr val="14213D"/>
                </a:solidFill>
                <a:latin typeface="Calibri"/>
              </a:rPr>
              <a:t>World model:</a:t>
            </a:r>
            <a:r>
              <a:rPr sz="1700" b="0" i="0">
                <a:solidFill>
                  <a:srgbClr val="1F2937"/>
                </a:solidFill>
                <a:latin typeface="Calibri"/>
              </a:rPr>
              <a:t> a learned simulator that predicts what happens next given the current situation and an action</a:t>
            </a:r>
          </a:p>
          <a:p>
            <a:pPr marL="237744" indent="-201168">
              <a:lnSpc>
                <a:spcPct val="108000"/>
              </a:lnSpc>
              <a:spcAft>
                <a:spcPts val="600"/>
              </a:spcAft>
              <a:buClr>
                <a:srgbClr val="9AA3B2"/>
              </a:buClr>
              <a:buFont typeface="Arial"/>
              <a:buChar char="•"/>
            </a:pPr>
            <a:r>
              <a:rPr sz="1700" b="1" i="0">
                <a:solidFill>
                  <a:srgbClr val="14213D"/>
                </a:solidFill>
                <a:latin typeface="Calibri"/>
              </a:rPr>
              <a:t>Imagination training:</a:t>
            </a:r>
            <a:r>
              <a:rPr sz="1700" b="0" i="0">
                <a:solidFill>
                  <a:srgbClr val="1F2937"/>
                </a:solidFill>
                <a:latin typeface="Calibri"/>
              </a:rPr>
              <a:t> the policy is optimised on rollouts generated </a:t>
            </a:r>
            <a:r>
              <a:rPr sz="1700" b="0" i="1">
                <a:solidFill>
                  <a:srgbClr val="1F2937"/>
                </a:solidFill>
                <a:latin typeface="Calibri"/>
              </a:rPr>
              <a:t>by the model</a:t>
            </a:r>
            <a:r>
              <a:rPr sz="1700" b="0" i="0">
                <a:solidFill>
                  <a:srgbClr val="1F2937"/>
                </a:solidFill>
                <a:latin typeface="Calibri"/>
              </a:rPr>
              <a:t>, not by the real environment — cheap, parallel, safe</a:t>
            </a:r>
          </a:p>
          <a:p>
            <a:pPr marL="237744" indent="-201168">
              <a:lnSpc>
                <a:spcPct val="108000"/>
              </a:lnSpc>
              <a:spcAft>
                <a:spcPts val="600"/>
              </a:spcAft>
              <a:buClr>
                <a:srgbClr val="9AA3B2"/>
              </a:buClr>
              <a:buFont typeface="Arial"/>
              <a:buChar char="•"/>
            </a:pPr>
            <a:r>
              <a:rPr sz="1700" b="1" i="0">
                <a:solidFill>
                  <a:srgbClr val="14213D"/>
                </a:solidFill>
                <a:latin typeface="Calibri"/>
              </a:rPr>
              <a:t>Why it matters now:</a:t>
            </a:r>
            <a:r>
              <a:rPr sz="1700" b="0" i="0">
                <a:solidFill>
                  <a:srgbClr val="1F2937"/>
                </a:solidFill>
                <a:latin typeface="Calibri"/>
              </a:rPr>
              <a:t> robots and other real-world systems cannot afford millions of trial-and-error interactions; video on the internet is abundant</a:t>
            </a:r>
          </a:p>
          <a:p>
            <a:pPr marL="237744" indent="-201168">
              <a:lnSpc>
                <a:spcPct val="108000"/>
              </a:lnSpc>
              <a:spcAft>
                <a:spcPts val="600"/>
              </a:spcAft>
              <a:buClr>
                <a:srgbClr val="9AA3B2"/>
              </a:buClr>
              <a:buFont typeface="Arial"/>
              <a:buChar char="•"/>
            </a:pPr>
            <a:r>
              <a:rPr sz="1700" b="1" i="0">
                <a:solidFill>
                  <a:srgbClr val="14213D"/>
                </a:solidFill>
                <a:latin typeface="Calibri"/>
              </a:rPr>
              <a:t>Dreamer 4's bet:</a:t>
            </a:r>
            <a:r>
              <a:rPr sz="1700" b="0" i="0">
                <a:solidFill>
                  <a:srgbClr val="1F2937"/>
                </a:solidFill>
                <a:latin typeface="Calibri"/>
              </a:rPr>
              <a:t> if the simulator is accurate enough about object interactions, RL inside it can go beyond what pure imitation learns</a:t>
            </a:r>
          </a:p>
        </p:txBody>
      </p:sp>
      <p:sp>
        <p:nvSpPr>
          <p:cNvPr id="9" name="Rectangle 8"/>
          <p:cNvSpPr/>
          <p:nvPr/>
        </p:nvSpPr>
        <p:spPr>
          <a:xfrm>
            <a:off x="822960" y="5669280"/>
            <a:ext cx="10424160" cy="12700"/>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68096" y="5596128"/>
            <a:ext cx="155448" cy="155448"/>
          </a:xfrm>
          <a:prstGeom prst="ellips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 (2019)</a:t>
            </a:r>
          </a:p>
          <a:p>
            <a:pPr algn="l">
              <a:lnSpc>
                <a:spcPct val="105000"/>
              </a:lnSpc>
            </a:pPr>
            <a:r>
              <a:rPr sz="1100" b="0" i="0">
                <a:solidFill>
                  <a:srgbClr val="6B7280"/>
                </a:solidFill>
                <a:latin typeface="Calibri"/>
              </a:rPr>
              <a:t>latent imagination on DM Control</a:t>
            </a:r>
          </a:p>
        </p:txBody>
      </p:sp>
      <p:sp>
        <p:nvSpPr>
          <p:cNvPr id="12" name="Oval 11"/>
          <p:cNvSpPr/>
          <p:nvPr/>
        </p:nvSpPr>
        <p:spPr>
          <a:xfrm>
            <a:off x="3511296" y="5596128"/>
            <a:ext cx="155448" cy="155448"/>
          </a:xfrm>
          <a:prstGeom prst="ellips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DreamerV2 (2020)</a:t>
            </a:r>
          </a:p>
          <a:p>
            <a:pPr algn="l">
              <a:lnSpc>
                <a:spcPct val="105000"/>
              </a:lnSpc>
            </a:pPr>
            <a:r>
              <a:rPr sz="1100" b="0" i="0">
                <a:solidFill>
                  <a:srgbClr val="6B7280"/>
                </a:solidFill>
                <a:latin typeface="Calibri"/>
              </a:rPr>
              <a:t>discrete latents, Atari</a:t>
            </a:r>
          </a:p>
        </p:txBody>
      </p:sp>
      <p:sp>
        <p:nvSpPr>
          <p:cNvPr id="14" name="Oval 13"/>
          <p:cNvSpPr/>
          <p:nvPr/>
        </p:nvSpPr>
        <p:spPr>
          <a:xfrm>
            <a:off x="6254496" y="5596128"/>
            <a:ext cx="155448" cy="155448"/>
          </a:xfrm>
          <a:prstGeom prst="ellips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DreamerV3 (2023/Nature 2025)</a:t>
            </a:r>
          </a:p>
          <a:p>
            <a:pPr algn="l">
              <a:lnSpc>
                <a:spcPct val="105000"/>
              </a:lnSpc>
            </a:pPr>
            <a:r>
              <a:rPr sz="1100" b="0" i="0">
                <a:solidFill>
                  <a:srgbClr val="6B7280"/>
                </a:solidFill>
                <a:latin typeface="Calibri"/>
              </a:rPr>
              <a:t>one config for 150+ tasks; diamonds with online RL</a:t>
            </a:r>
          </a:p>
        </p:txBody>
      </p:sp>
      <p:sp>
        <p:nvSpPr>
          <p:cNvPr id="16" name="Oval 15"/>
          <p:cNvSpPr/>
          <p:nvPr/>
        </p:nvSpPr>
        <p:spPr>
          <a:xfrm>
            <a:off x="8997696" y="5596128"/>
            <a:ext cx="155448" cy="155448"/>
          </a:xfrm>
          <a:prstGeom prst="ellipse">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 4 (2025)</a:t>
            </a:r>
          </a:p>
          <a:p>
            <a:pPr algn="l">
              <a:lnSpc>
                <a:spcPct val="105000"/>
              </a:lnSpc>
            </a:pPr>
            <a:r>
              <a:rPr sz="1100" b="0" i="0">
                <a:solidFill>
                  <a:srgbClr val="6B7280"/>
                </a:solidFill>
                <a:latin typeface="Calibri"/>
              </a:rPr>
              <a:t>transformer diffusion WM; diamonds offline; real-time on 1 GPU</a:t>
            </a:r>
          </a:p>
        </p:txBody>
      </p:sp>
      <p:pic>
        <p:nvPicPr>
          <p:cNvPr id="18" name="Picture 17" descr="frame_imag_treechop.jpg"/>
          <p:cNvPicPr>
            <a:picLocks noChangeAspect="1"/>
          </p:cNvPicPr>
          <p:nvPr/>
        </p:nvPicPr>
        <p:blipFill>
          <a:blip r:embed="rId2"/>
          <a:stretch>
            <a:fillRect/>
          </a:stretch>
        </p:blipFill>
        <p:spPr>
          <a:xfrm>
            <a:off x="7264837" y="1463040"/>
            <a:ext cx="3849766" cy="3108960"/>
          </a:xfrm>
          <a:prstGeom prst="rect">
            <a:avLst/>
          </a:prstGeom>
        </p:spPr>
      </p:pic>
      <p:sp>
        <p:nvSpPr>
          <p:cNvPr id="19" name="TextBox 18"/>
          <p:cNvSpPr txBox="1"/>
          <p:nvPr/>
        </p:nvSpPr>
        <p:spPr>
          <a:xfrm>
            <a:off x="6675120" y="4617720"/>
            <a:ext cx="50292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Imagined rollout decoded for visualisation, with the agent's reward and value estimates (project page, 'Gather wood').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What made scalable world models hard before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Three requirements pulled in different directions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BACKGROUND &amp; MOTIVATION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6</a:t>
            </a:r>
          </a:p>
        </p:txBody>
      </p:sp>
      <p:sp>
        <p:nvSpPr>
          <p:cNvPr id="8" name="TextBox 7"/>
          <p:cNvSpPr txBox="1"/>
          <p:nvPr/>
        </p:nvSpPr>
        <p:spPr>
          <a:xfrm>
            <a:off x="457200"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01</a:t>
            </a:r>
          </a:p>
        </p:txBody>
      </p:sp>
      <p:sp>
        <p:nvSpPr>
          <p:cNvPr id="9" name="Rectangle 8"/>
          <p:cNvSpPr/>
          <p:nvPr/>
        </p:nvSpPr>
        <p:spPr>
          <a:xfrm>
            <a:off x="457200"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29384"/>
            <a:ext cx="348386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Fidelity of interactions</a:t>
            </a:r>
          </a:p>
        </p:txBody>
      </p:sp>
      <p:sp>
        <p:nvSpPr>
          <p:cNvPr id="11" name="TextBox 10"/>
          <p:cNvSpPr txBox="1"/>
          <p:nvPr/>
        </p:nvSpPr>
        <p:spPr>
          <a:xfrm>
            <a:off x="457200" y="2350008"/>
            <a:ext cx="3483864" cy="1673352"/>
          </a:xfrm>
          <a:prstGeom prst="rect">
            <a:avLst/>
          </a:prstGeom>
          <a:noFill/>
        </p:spPr>
        <p:txBody>
          <a:bodyPr wrap="square" anchor="t" lIns="45720" rIns="45720" tIns="18288" bIns="18288">
            <a:spAutoFit/>
          </a:bodyPr>
          <a:lstStyle/>
          <a:p>
            <a:pPr algn="l">
              <a:lnSpc>
                <a:spcPct val="110000"/>
              </a:lnSpc>
              <a:spcAft>
                <a:spcPts val="500"/>
              </a:spcAft>
            </a:pPr>
            <a:r>
              <a:rPr sz="1300" b="0" i="0">
                <a:solidFill>
                  <a:srgbClr val="1F2937"/>
                </a:solidFill>
                <a:latin typeface="Calibri"/>
              </a:rPr>
              <a:t>Video generators look good but get game mechanics wrong: inventories, crafting menus, breaking blocks, placing a boat and riding it.</a:t>
            </a:r>
          </a:p>
          <a:p>
            <a:pPr algn="l">
              <a:lnSpc>
                <a:spcPct val="110000"/>
              </a:lnSpc>
              <a:spcAft>
                <a:spcPts val="500"/>
              </a:spcAft>
            </a:pPr>
            <a:r>
              <a:rPr sz="1300" b="0" i="0">
                <a:solidFill>
                  <a:srgbClr val="1F2937"/>
                </a:solidFill>
                <a:latin typeface="Calibri"/>
              </a:rPr>
              <a:t>Prior Minecraft world models (Oasis, Lucid-v1, MineWorld) fail most such tasks.</a:t>
            </a:r>
          </a:p>
        </p:txBody>
      </p:sp>
      <p:sp>
        <p:nvSpPr>
          <p:cNvPr id="12" name="TextBox 11"/>
          <p:cNvSpPr txBox="1"/>
          <p:nvPr/>
        </p:nvSpPr>
        <p:spPr>
          <a:xfrm>
            <a:off x="4352544"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02</a:t>
            </a:r>
          </a:p>
        </p:txBody>
      </p:sp>
      <p:sp>
        <p:nvSpPr>
          <p:cNvPr id="13" name="Rectangle 12"/>
          <p:cNvSpPr/>
          <p:nvPr/>
        </p:nvSpPr>
        <p:spPr>
          <a:xfrm>
            <a:off x="4352544"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52544" y="1929384"/>
            <a:ext cx="348386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Speed</a:t>
            </a:r>
          </a:p>
        </p:txBody>
      </p:sp>
      <p:sp>
        <p:nvSpPr>
          <p:cNvPr id="15" name="TextBox 14"/>
          <p:cNvSpPr txBox="1"/>
          <p:nvPr/>
        </p:nvSpPr>
        <p:spPr>
          <a:xfrm>
            <a:off x="4352544" y="2350008"/>
            <a:ext cx="3483864" cy="1673352"/>
          </a:xfrm>
          <a:prstGeom prst="rect">
            <a:avLst/>
          </a:prstGeom>
          <a:noFill/>
        </p:spPr>
        <p:txBody>
          <a:bodyPr wrap="square" anchor="t" lIns="45720" rIns="45720" tIns="18288" bIns="18288">
            <a:spAutoFit/>
          </a:bodyPr>
          <a:lstStyle/>
          <a:p>
            <a:pPr algn="l">
              <a:lnSpc>
                <a:spcPct val="110000"/>
              </a:lnSpc>
              <a:spcAft>
                <a:spcPts val="500"/>
              </a:spcAft>
            </a:pPr>
            <a:r>
              <a:rPr sz="1300" b="0" i="0">
                <a:solidFill>
                  <a:srgbClr val="1F2937"/>
                </a:solidFill>
                <a:latin typeface="Calibri"/>
              </a:rPr>
              <a:t>Imagination RL needs millions of generated frames — and a human tester needs ≥ 20 FPS.</a:t>
            </a:r>
          </a:p>
          <a:p>
            <a:pPr algn="l">
              <a:lnSpc>
                <a:spcPct val="110000"/>
              </a:lnSpc>
              <a:spcAft>
                <a:spcPts val="500"/>
              </a:spcAft>
            </a:pPr>
            <a:r>
              <a:rPr sz="1300" b="0" i="0">
                <a:solidFill>
                  <a:srgbClr val="1F2937"/>
                </a:solidFill>
                <a:latin typeface="Calibri"/>
              </a:rPr>
              <a:t>Diffusion transformers spend tens of denoising steps per frame: 0.8 FPS for the baseline in this paper.</a:t>
            </a:r>
          </a:p>
        </p:txBody>
      </p:sp>
      <p:sp>
        <p:nvSpPr>
          <p:cNvPr id="16" name="TextBox 15"/>
          <p:cNvSpPr txBox="1"/>
          <p:nvPr/>
        </p:nvSpPr>
        <p:spPr>
          <a:xfrm>
            <a:off x="8247888"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03</a:t>
            </a:r>
          </a:p>
        </p:txBody>
      </p:sp>
      <p:sp>
        <p:nvSpPr>
          <p:cNvPr id="17" name="Rectangle 16"/>
          <p:cNvSpPr/>
          <p:nvPr/>
        </p:nvSpPr>
        <p:spPr>
          <a:xfrm>
            <a:off x="8247888"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29384"/>
            <a:ext cx="348386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Memory &amp; drift</a:t>
            </a:r>
          </a:p>
        </p:txBody>
      </p:sp>
      <p:sp>
        <p:nvSpPr>
          <p:cNvPr id="19" name="TextBox 18"/>
          <p:cNvSpPr txBox="1"/>
          <p:nvPr/>
        </p:nvSpPr>
        <p:spPr>
          <a:xfrm>
            <a:off x="8247888" y="2350008"/>
            <a:ext cx="3483864" cy="1673352"/>
          </a:xfrm>
          <a:prstGeom prst="rect">
            <a:avLst/>
          </a:prstGeom>
          <a:noFill/>
        </p:spPr>
        <p:txBody>
          <a:bodyPr wrap="square" anchor="t" lIns="45720" rIns="45720" tIns="18288" bIns="18288">
            <a:spAutoFit/>
          </a:bodyPr>
          <a:lstStyle/>
          <a:p>
            <a:pPr algn="l">
              <a:lnSpc>
                <a:spcPct val="110000"/>
              </a:lnSpc>
              <a:spcAft>
                <a:spcPts val="500"/>
              </a:spcAft>
            </a:pPr>
            <a:r>
              <a:rPr sz="1300" b="0" i="0">
                <a:solidFill>
                  <a:srgbClr val="1F2937"/>
                </a:solidFill>
                <a:latin typeface="Calibri"/>
              </a:rPr>
              <a:t>Autoregressive video drifts: small errors feed back into the context.</a:t>
            </a:r>
          </a:p>
          <a:p>
            <a:pPr algn="l">
              <a:lnSpc>
                <a:spcPct val="110000"/>
              </a:lnSpc>
              <a:spcAft>
                <a:spcPts val="500"/>
              </a:spcAft>
            </a:pPr>
            <a:r>
              <a:rPr sz="1300" b="0" i="0">
                <a:solidFill>
                  <a:srgbClr val="1F2937"/>
                </a:solidFill>
                <a:latin typeface="Calibri"/>
              </a:rPr>
              <a:t>Short contexts (1–2 s in prior models) forget what is behind the player.</a:t>
            </a:r>
          </a:p>
        </p:txBody>
      </p:sp>
      <p:sp>
        <p:nvSpPr>
          <p:cNvPr id="20" name="TextBox 19"/>
          <p:cNvSpPr txBox="1"/>
          <p:nvPr/>
        </p:nvSpPr>
        <p:spPr>
          <a:xfrm>
            <a:off x="548640" y="4114800"/>
            <a:ext cx="11155680" cy="21031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600" b="1" i="0">
                <a:solidFill>
                  <a:srgbClr val="14213D"/>
                </a:solidFill>
                <a:latin typeface="Calibri"/>
              </a:rPr>
              <a:t>Dreamer 3's RSSM</a:t>
            </a:r>
            <a:r>
              <a:rPr sz="1600" b="0" i="0">
                <a:solidFill>
                  <a:srgbClr val="1F2937"/>
                </a:solidFill>
                <a:latin typeface="Calibri"/>
              </a:rPr>
              <a:t> is fast (~1,000× faster than a diffusion transformer) but operates at 64×64 pixels and needed abstract inventory state and crafting actions — not raw mouse &amp; keyboard</a:t>
            </a:r>
          </a:p>
          <a:p>
            <a:pPr marL="237744" indent="-201168">
              <a:lnSpc>
                <a:spcPct val="108000"/>
              </a:lnSpc>
              <a:spcAft>
                <a:spcPts val="600"/>
              </a:spcAft>
              <a:buClr>
                <a:srgbClr val="9AA3B2"/>
              </a:buClr>
              <a:buFont typeface="Arial"/>
              <a:buChar char="•"/>
            </a:pPr>
            <a:r>
              <a:rPr sz="1600" b="1" i="0">
                <a:solidFill>
                  <a:srgbClr val="14213D"/>
                </a:solidFill>
                <a:latin typeface="Calibri"/>
              </a:rPr>
              <a:t>Dreamer 4's answer:</a:t>
            </a:r>
            <a:r>
              <a:rPr sz="1600" b="0" i="0">
                <a:solidFill>
                  <a:srgbClr val="1F2937"/>
                </a:solidFill>
                <a:latin typeface="Calibri"/>
              </a:rPr>
              <a:t> a diffusion transformer that needs only 4 sampling steps (shortcut forcing), an architecture tuned for long context at low cost, and training tricks that keep long rollouts stable (x-prediction, noised context)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test bed: the offline diamond challenge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No environment interaction at all — learn everything from 2,541 hours of human gameplay video</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BACKGROUND &amp; MOTIVATION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7</a:t>
            </a:r>
          </a:p>
        </p:txBody>
      </p:sp>
      <p:sp>
        <p:nvSpPr>
          <p:cNvPr id="8" name="TextBox 7"/>
          <p:cNvSpPr txBox="1"/>
          <p:nvPr/>
        </p:nvSpPr>
        <p:spPr>
          <a:xfrm>
            <a:off x="548640" y="1417320"/>
            <a:ext cx="6035040" cy="47548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550" b="1" i="0">
                <a:solidFill>
                  <a:srgbClr val="14213D"/>
                </a:solidFill>
                <a:latin typeface="Calibri"/>
              </a:rPr>
              <a:t>Data:</a:t>
            </a:r>
            <a:r>
              <a:rPr sz="1550" b="0" i="0">
                <a:solidFill>
                  <a:srgbClr val="1F2937"/>
                </a:solidFill>
                <a:latin typeface="Calibri"/>
              </a:rPr>
              <a:t> OpenAI VPT contractor recordings (subsets 6–10), 2,541 h at 360×640, 20 FPS, with mouse &amp; keyboard labels; 90/10 train/eval split by 5-minute chunk</a:t>
            </a:r>
          </a:p>
          <a:p>
            <a:pPr marL="237744" indent="-201168">
              <a:lnSpc>
                <a:spcPct val="108000"/>
              </a:lnSpc>
              <a:spcAft>
                <a:spcPts val="600"/>
              </a:spcAft>
              <a:buClr>
                <a:srgbClr val="9AA3B2"/>
              </a:buClr>
              <a:buFont typeface="Arial"/>
              <a:buChar char="•"/>
            </a:pPr>
            <a:r>
              <a:rPr sz="1550" b="1" i="0">
                <a:solidFill>
                  <a:srgbClr val="14213D"/>
                </a:solidFill>
                <a:latin typeface="Calibri"/>
              </a:rPr>
              <a:t>Actions:</a:t>
            </a:r>
            <a:r>
              <a:rPr sz="1550" b="0" i="0">
                <a:solidFill>
                  <a:srgbClr val="1F2937"/>
                </a:solidFill>
                <a:latin typeface="Calibri"/>
              </a:rPr>
              <a:t> 23 binary keys + 121-way mouse class (11×11 foveated bins, VPT convention) — no abstract 'craft' actions</a:t>
            </a:r>
          </a:p>
          <a:p>
            <a:pPr marL="237744" indent="-201168">
              <a:lnSpc>
                <a:spcPct val="108000"/>
              </a:lnSpc>
              <a:spcAft>
                <a:spcPts val="600"/>
              </a:spcAft>
              <a:buClr>
                <a:srgbClr val="9AA3B2"/>
              </a:buClr>
              <a:buFont typeface="Arial"/>
              <a:buChar char="•"/>
            </a:pPr>
            <a:r>
              <a:rPr sz="1550" b="1" i="0">
                <a:solidFill>
                  <a:srgbClr val="14213D"/>
                </a:solidFill>
                <a:latin typeface="Calibri"/>
              </a:rPr>
              <a:t>Evaluation:</a:t>
            </a:r>
            <a:r>
              <a:rPr sz="1550" b="0" i="0">
                <a:solidFill>
                  <a:srgbClr val="1F2937"/>
                </a:solidFill>
                <a:latin typeface="Calibri"/>
              </a:rPr>
              <a:t> 1,000 fresh random worlds, empty inventory, 60 min each (72,000 actions at 20 FPS); a fixed prompt sequence walks the agent through the 12-item tech tree</a:t>
            </a:r>
          </a:p>
          <a:p>
            <a:pPr marL="237744" indent="-201168">
              <a:lnSpc>
                <a:spcPct val="108000"/>
              </a:lnSpc>
              <a:spcAft>
                <a:spcPts val="600"/>
              </a:spcAft>
              <a:buClr>
                <a:srgbClr val="9AA3B2"/>
              </a:buClr>
              <a:buFont typeface="Arial"/>
              <a:buChar char="•"/>
            </a:pPr>
            <a:r>
              <a:rPr sz="1550" b="1" i="0">
                <a:solidFill>
                  <a:srgbClr val="14213D"/>
                </a:solidFill>
                <a:latin typeface="Calibri"/>
              </a:rPr>
              <a:t>Why it is hard:</a:t>
            </a:r>
            <a:r>
              <a:rPr sz="1550" b="0" i="0">
                <a:solidFill>
                  <a:srgbClr val="1F2937"/>
                </a:solidFill>
                <a:latin typeface="Calibri"/>
              </a:rPr>
              <a:t> diamonds sit ~24,000 actions deep for a human; rewards are sparse; offline data covers the late tech tree thinly; every skill (chop → craft → mine → smelt) must chain without a single trial in the real game</a:t>
            </a:r>
          </a:p>
          <a:p>
            <a:pPr marL="237744" indent="-201168">
              <a:lnSpc>
                <a:spcPct val="108000"/>
              </a:lnSpc>
              <a:spcAft>
                <a:spcPts val="600"/>
              </a:spcAft>
              <a:buClr>
                <a:srgbClr val="9AA3B2"/>
              </a:buClr>
              <a:buFont typeface="Arial"/>
              <a:buChar char="•"/>
            </a:pPr>
            <a:r>
              <a:rPr sz="1550" b="1" i="0">
                <a:solidFill>
                  <a:srgbClr val="14213D"/>
                </a:solidFill>
                <a:latin typeface="Calibri"/>
              </a:rPr>
              <a:t>Baselines, all on the same data:</a:t>
            </a:r>
            <a:r>
              <a:rPr sz="1550" b="0" i="0">
                <a:solidFill>
                  <a:srgbClr val="1F2937"/>
                </a:solidFill>
                <a:latin typeface="Calibri"/>
              </a:rPr>
              <a:t> VPT fine-tuned, BC, BC without task input, a VLA built on Gemma 3, and 'WM + BC' (Dreamer 4 without imagination RL)</a:t>
            </a:r>
          </a:p>
        </p:txBody>
      </p:sp>
      <p:pic>
        <p:nvPicPr>
          <p:cNvPr id="9" name="Picture 8" descr="frame_diamond_dreamer.jpg"/>
          <p:cNvPicPr>
            <a:picLocks noChangeAspect="1"/>
          </p:cNvPicPr>
          <p:nvPr/>
        </p:nvPicPr>
        <p:blipFill>
          <a:blip r:embed="rId2"/>
          <a:stretch>
            <a:fillRect/>
          </a:stretch>
        </p:blipFill>
        <p:spPr>
          <a:xfrm>
            <a:off x="6858000" y="1463040"/>
            <a:ext cx="4846320" cy="2726055"/>
          </a:xfrm>
          <a:prstGeom prst="rect">
            <a:avLst/>
          </a:prstGeom>
        </p:spPr>
      </p:pic>
      <p:sp>
        <p:nvSpPr>
          <p:cNvPr id="10" name="TextBox 9"/>
          <p:cNvSpPr txBox="1"/>
          <p:nvPr/>
        </p:nvSpPr>
        <p:spPr>
          <a:xfrm>
            <a:off x="6858000" y="4224528"/>
            <a:ext cx="484632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Diamond ore, as simulated by the world model during a human 'mine diamonds' session (project page).</a:t>
            </a:r>
          </a:p>
        </p:txBody>
      </p:sp>
      <p:sp>
        <p:nvSpPr>
          <p:cNvPr id="11" name="Rectangle 10"/>
          <p:cNvSpPr/>
          <p:nvPr/>
        </p:nvSpPr>
        <p:spPr>
          <a:xfrm>
            <a:off x="6858000" y="4690872"/>
            <a:ext cx="25400" cy="996188"/>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4663440"/>
            <a:ext cx="464515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THE 12 MILESTONES (TABLE 5)</a:t>
            </a:r>
          </a:p>
        </p:txBody>
      </p:sp>
      <p:sp>
        <p:nvSpPr>
          <p:cNvPr id="13" name="TextBox 12"/>
          <p:cNvSpPr txBox="1"/>
          <p:nvPr/>
        </p:nvSpPr>
        <p:spPr>
          <a:xfrm>
            <a:off x="7040880" y="4992624"/>
            <a:ext cx="4645152" cy="109728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log → planks → crafting table → stick → wooden pickaxe → cobblestone → stone pickaxe → iron ore → furnace → iron ingot → iron pickaxe → diamond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02</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2</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Method</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One transformer, three phases: world-model pretraining → agent fine-tuning → imagination training</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Overview: three phases, one transformer</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Algorithm 1 in the paper</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9</a:t>
            </a:r>
          </a:p>
        </p:txBody>
      </p:sp>
      <p:sp>
        <p:nvSpPr>
          <p:cNvPr id="8" name="TextBox 7"/>
          <p:cNvSpPr txBox="1"/>
          <p:nvPr/>
        </p:nvSpPr>
        <p:spPr>
          <a:xfrm>
            <a:off x="457200" y="1417320"/>
            <a:ext cx="342290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Phase 1</a:t>
            </a:r>
          </a:p>
        </p:txBody>
      </p:sp>
      <p:sp>
        <p:nvSpPr>
          <p:cNvPr id="9" name="TextBox 8"/>
          <p:cNvSpPr txBox="1"/>
          <p:nvPr/>
        </p:nvSpPr>
        <p:spPr>
          <a:xfrm>
            <a:off x="3880104" y="1435608"/>
            <a:ext cx="502920" cy="411480"/>
          </a:xfrm>
          <a:prstGeom prst="rect">
            <a:avLst/>
          </a:prstGeom>
          <a:noFill/>
        </p:spPr>
        <p:txBody>
          <a:bodyPr wrap="square" anchor="t" lIns="45720" rIns="45720" tIns="18288" bIns="18288">
            <a:spAutoFit/>
          </a:bodyPr>
          <a:lstStyle/>
          <a:p>
            <a:pPr algn="ctr">
              <a:lnSpc>
                <a:spcPct val="105000"/>
              </a:lnSpc>
            </a:pPr>
            <a:r>
              <a:rPr sz="1800" b="0" i="0">
                <a:solidFill>
                  <a:srgbClr val="9AA3B2"/>
                </a:solidFill>
                <a:latin typeface="Calibri"/>
              </a:rPr>
              <a:t>→</a:t>
            </a:r>
          </a:p>
        </p:txBody>
      </p:sp>
      <p:sp>
        <p:nvSpPr>
          <p:cNvPr id="10" name="Rectangle 9"/>
          <p:cNvSpPr/>
          <p:nvPr/>
        </p:nvSpPr>
        <p:spPr>
          <a:xfrm>
            <a:off x="457200" y="1856232"/>
            <a:ext cx="342290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929384"/>
            <a:ext cx="342290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World-model pretraining</a:t>
            </a:r>
          </a:p>
        </p:txBody>
      </p:sp>
      <p:sp>
        <p:nvSpPr>
          <p:cNvPr id="12" name="TextBox 11"/>
          <p:cNvSpPr txBox="1"/>
          <p:nvPr/>
        </p:nvSpPr>
        <p:spPr>
          <a:xfrm>
            <a:off x="411480" y="2350008"/>
            <a:ext cx="3468624" cy="2450592"/>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0" i="0">
                <a:solidFill>
                  <a:srgbClr val="1F2937"/>
                </a:solidFill>
                <a:latin typeface="Calibri"/>
              </a:rPr>
              <a:t>Train the causal tokenizer (masked autoencoding), then freeze it</a:t>
            </a:r>
          </a:p>
          <a:p>
            <a:pPr marL="237744" indent="-201168">
              <a:lnSpc>
                <a:spcPct val="108000"/>
              </a:lnSpc>
              <a:spcAft>
                <a:spcPts val="500"/>
              </a:spcAft>
              <a:buClr>
                <a:srgbClr val="9AA3B2"/>
              </a:buClr>
              <a:buFont typeface="Arial"/>
              <a:buChar char="•"/>
            </a:pPr>
            <a:r>
              <a:rPr sz="1300" b="0" i="0">
                <a:solidFill>
                  <a:srgbClr val="1F2937"/>
                </a:solidFill>
                <a:latin typeface="Calibri"/>
              </a:rPr>
              <a:t>Train the interactive dynamics model on tokenized video ± actions with shortcut forcing</a:t>
            </a:r>
          </a:p>
          <a:p>
            <a:pPr marL="237744" indent="-201168">
              <a:lnSpc>
                <a:spcPct val="108000"/>
              </a:lnSpc>
              <a:spcAft>
                <a:spcPts val="500"/>
              </a:spcAft>
              <a:buClr>
                <a:srgbClr val="9AA3B2"/>
              </a:buClr>
              <a:buFont typeface="Arial"/>
              <a:buChar char="•"/>
            </a:pPr>
            <a:r>
              <a:rPr sz="1300" b="0" i="0">
                <a:solidFill>
                  <a:srgbClr val="1F2937"/>
                </a:solidFill>
                <a:latin typeface="Calibri"/>
              </a:rPr>
              <a:t>Inputs: all 2,541 h, labeled or not</a:t>
            </a:r>
          </a:p>
        </p:txBody>
      </p:sp>
      <p:sp>
        <p:nvSpPr>
          <p:cNvPr id="13" name="TextBox 12"/>
          <p:cNvSpPr txBox="1"/>
          <p:nvPr/>
        </p:nvSpPr>
        <p:spPr>
          <a:xfrm>
            <a:off x="4383024" y="1417320"/>
            <a:ext cx="342290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Phase 2</a:t>
            </a:r>
          </a:p>
        </p:txBody>
      </p:sp>
      <p:sp>
        <p:nvSpPr>
          <p:cNvPr id="14" name="TextBox 13"/>
          <p:cNvSpPr txBox="1"/>
          <p:nvPr/>
        </p:nvSpPr>
        <p:spPr>
          <a:xfrm>
            <a:off x="7805928" y="1435608"/>
            <a:ext cx="502920" cy="411480"/>
          </a:xfrm>
          <a:prstGeom prst="rect">
            <a:avLst/>
          </a:prstGeom>
          <a:noFill/>
        </p:spPr>
        <p:txBody>
          <a:bodyPr wrap="square" anchor="t" lIns="45720" rIns="45720" tIns="18288" bIns="18288">
            <a:spAutoFit/>
          </a:bodyPr>
          <a:lstStyle/>
          <a:p>
            <a:pPr algn="ctr">
              <a:lnSpc>
                <a:spcPct val="105000"/>
              </a:lnSpc>
            </a:pPr>
            <a:r>
              <a:rPr sz="1800" b="0" i="0">
                <a:solidFill>
                  <a:srgbClr val="9AA3B2"/>
                </a:solidFill>
                <a:latin typeface="Calibri"/>
              </a:rPr>
              <a:t>→</a:t>
            </a:r>
          </a:p>
        </p:txBody>
      </p:sp>
      <p:sp>
        <p:nvSpPr>
          <p:cNvPr id="15" name="Rectangle 14"/>
          <p:cNvSpPr/>
          <p:nvPr/>
        </p:nvSpPr>
        <p:spPr>
          <a:xfrm>
            <a:off x="4383024" y="1856232"/>
            <a:ext cx="342290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3024" y="1929384"/>
            <a:ext cx="342290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Agent fine-tuning</a:t>
            </a:r>
          </a:p>
        </p:txBody>
      </p:sp>
      <p:sp>
        <p:nvSpPr>
          <p:cNvPr id="17" name="TextBox 16"/>
          <p:cNvSpPr txBox="1"/>
          <p:nvPr/>
        </p:nvSpPr>
        <p:spPr>
          <a:xfrm>
            <a:off x="4337304" y="2350008"/>
            <a:ext cx="3468624" cy="2450592"/>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0" i="0">
                <a:solidFill>
                  <a:srgbClr val="1F2937"/>
                </a:solidFill>
                <a:latin typeface="Calibri"/>
              </a:rPr>
              <a:t>Insert agent tokens with task embedding; add policy &amp; reward heads</a:t>
            </a:r>
          </a:p>
          <a:p>
            <a:pPr marL="237744" indent="-201168">
              <a:lnSpc>
                <a:spcPct val="108000"/>
              </a:lnSpc>
              <a:spcAft>
                <a:spcPts val="500"/>
              </a:spcAft>
              <a:buClr>
                <a:srgbClr val="9AA3B2"/>
              </a:buClr>
              <a:buFont typeface="Arial"/>
              <a:buChar char="•"/>
            </a:pPr>
            <a:r>
              <a:rPr sz="1300" b="0" i="0">
                <a:solidFill>
                  <a:srgbClr val="1F2937"/>
                </a:solidFill>
                <a:latin typeface="Calibri"/>
              </a:rPr>
              <a:t>Behavioural cloning with multi-token prediction (L = 8) on task-relevant data</a:t>
            </a:r>
          </a:p>
          <a:p>
            <a:pPr marL="237744" indent="-201168">
              <a:lnSpc>
                <a:spcPct val="108000"/>
              </a:lnSpc>
              <a:spcAft>
                <a:spcPts val="500"/>
              </a:spcAft>
              <a:buClr>
                <a:srgbClr val="9AA3B2"/>
              </a:buClr>
              <a:buFont typeface="Arial"/>
              <a:buChar char="•"/>
            </a:pPr>
            <a:r>
              <a:rPr sz="1300" b="0" i="0">
                <a:solidFill>
                  <a:srgbClr val="1F2937"/>
                </a:solidFill>
                <a:latin typeface="Calibri"/>
              </a:rPr>
              <a:t>Dynamics loss continues on uniform data so the model stays honest</a:t>
            </a:r>
          </a:p>
        </p:txBody>
      </p:sp>
      <p:sp>
        <p:nvSpPr>
          <p:cNvPr id="18" name="TextBox 17"/>
          <p:cNvSpPr txBox="1"/>
          <p:nvPr/>
        </p:nvSpPr>
        <p:spPr>
          <a:xfrm>
            <a:off x="8308848" y="1417320"/>
            <a:ext cx="342290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Phase 3</a:t>
            </a:r>
          </a:p>
        </p:txBody>
      </p:sp>
      <p:sp>
        <p:nvSpPr>
          <p:cNvPr id="19" name="Rectangle 18"/>
          <p:cNvSpPr/>
          <p:nvPr/>
        </p:nvSpPr>
        <p:spPr>
          <a:xfrm>
            <a:off x="8308848" y="1856232"/>
            <a:ext cx="342290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8848" y="1929384"/>
            <a:ext cx="342290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Imagination training</a:t>
            </a:r>
          </a:p>
        </p:txBody>
      </p:sp>
      <p:sp>
        <p:nvSpPr>
          <p:cNvPr id="21" name="TextBox 20"/>
          <p:cNvSpPr txBox="1"/>
          <p:nvPr/>
        </p:nvSpPr>
        <p:spPr>
          <a:xfrm>
            <a:off x="8263128" y="2350008"/>
            <a:ext cx="3468624" cy="2450592"/>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0" i="0">
                <a:solidFill>
                  <a:srgbClr val="1F2937"/>
                </a:solidFill>
                <a:latin typeface="Calibri"/>
              </a:rPr>
              <a:t>Freeze the transformer; train policy + value heads only</a:t>
            </a:r>
          </a:p>
          <a:p>
            <a:pPr marL="237744" indent="-201168">
              <a:lnSpc>
                <a:spcPct val="108000"/>
              </a:lnSpc>
              <a:spcAft>
                <a:spcPts val="500"/>
              </a:spcAft>
              <a:buClr>
                <a:srgbClr val="9AA3B2"/>
              </a:buClr>
              <a:buFont typeface="Arial"/>
              <a:buChar char="•"/>
            </a:pPr>
            <a:r>
              <a:rPr sz="1300" b="0" i="0">
                <a:solidFill>
                  <a:srgbClr val="1F2937"/>
                </a:solidFill>
                <a:latin typeface="Calibri"/>
              </a:rPr>
              <a:t>Roll out the policy inside the world model, reward from the learned reward head</a:t>
            </a:r>
          </a:p>
          <a:p>
            <a:pPr marL="237744" indent="-201168">
              <a:lnSpc>
                <a:spcPct val="108000"/>
              </a:lnSpc>
              <a:spcAft>
                <a:spcPts val="500"/>
              </a:spcAft>
              <a:buClr>
                <a:srgbClr val="9AA3B2"/>
              </a:buClr>
              <a:buFont typeface="Arial"/>
              <a:buChar char="•"/>
            </a:pPr>
            <a:r>
              <a:rPr sz="1300" b="0" i="0">
                <a:solidFill>
                  <a:srgbClr val="1F2937"/>
                </a:solidFill>
                <a:latin typeface="Calibri"/>
              </a:rPr>
              <a:t>PMPO with reverse-KL to the frozen BC policy; γ = 0.997</a:t>
            </a:r>
          </a:p>
        </p:txBody>
      </p:sp>
      <p:sp>
        <p:nvSpPr>
          <p:cNvPr id="22" name="TextBox 21"/>
          <p:cNvSpPr txBox="1"/>
          <p:nvPr/>
        </p:nvSpPr>
        <p:spPr>
          <a:xfrm>
            <a:off x="548640" y="4937760"/>
            <a:ext cx="11155680" cy="14630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Key design choice:</a:t>
            </a:r>
            <a:r>
              <a:rPr sz="1450" b="0" i="0">
                <a:solidFill>
                  <a:srgbClr val="1F2937"/>
                </a:solidFill>
                <a:latin typeface="Calibri"/>
              </a:rPr>
              <a:t> the same block-causal transformer serves as tokenizer, dynamics model and agent backbone; policy and value are tiny heads on 'agent tokens'</a:t>
            </a:r>
          </a:p>
          <a:p>
            <a:pPr marL="237744" indent="-201168">
              <a:lnSpc>
                <a:spcPct val="108000"/>
              </a:lnSpc>
              <a:spcAft>
                <a:spcPts val="600"/>
              </a:spcAft>
              <a:buClr>
                <a:srgbClr val="9AA3B2"/>
              </a:buClr>
              <a:buFont typeface="Arial"/>
              <a:buChar char="•"/>
            </a:pPr>
            <a:r>
              <a:rPr sz="1450" b="1" i="0">
                <a:solidFill>
                  <a:srgbClr val="14213D"/>
                </a:solidFill>
                <a:latin typeface="Calibri"/>
              </a:rPr>
              <a:t>Data mix in phases 2–3:</a:t>
            </a:r>
            <a:r>
              <a:rPr sz="1450" b="0" i="0">
                <a:solidFill>
                  <a:srgbClr val="1F2937"/>
                </a:solidFill>
                <a:latin typeface="Calibri"/>
              </a:rPr>
              <a:t> 50 % uniform sequences / 50 % task-relevant; BC loss only on relevant data, dynamics loss only on uniform data ('to avoid optimistic generations')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How the pieces fit together (1/2): data → tokenizer → one transformer</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What flows between the components, and which phase trains which output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10</a:t>
            </a:r>
          </a:p>
        </p:txBody>
      </p:sp>
      <p:pic>
        <p:nvPicPr>
          <p:cNvPr id="8" name="Picture 7" descr="diag_stack_model_s.jpg"/>
          <p:cNvPicPr>
            <a:picLocks noChangeAspect="1"/>
          </p:cNvPicPr>
          <p:nvPr/>
        </p:nvPicPr>
        <p:blipFill>
          <a:blip r:embed="rId2"/>
          <a:stretch>
            <a:fillRect/>
          </a:stretch>
        </p:blipFill>
        <p:spPr>
          <a:xfrm>
            <a:off x="365760" y="1371600"/>
            <a:ext cx="11430000" cy="3257550"/>
          </a:xfrm>
          <a:prstGeom prst="rect">
            <a:avLst/>
          </a:prstGeom>
        </p:spPr>
      </p:pic>
      <p:sp>
        <p:nvSpPr>
          <p:cNvPr id="9" name="TextBox 8"/>
          <p:cNvSpPr txBox="1"/>
          <p:nvPr/>
        </p:nvSpPr>
        <p:spPr>
          <a:xfrm>
            <a:off x="548640" y="4892040"/>
            <a:ext cx="11155680" cy="14630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Two block-causal transformers:</a:t>
            </a:r>
            <a:r>
              <a:rPr sz="1350" b="0" i="0">
                <a:solidFill>
                  <a:srgbClr val="1F2937"/>
                </a:solidFill>
                <a:latin typeface="Calibri"/>
              </a:rPr>
              <a:t> the tokenizer (400 M) turns each frame into 256 latent tokens; the dynamics/agent transformer (1.6 B) predicts the clean next latents and reads policy, reward and value off its agent tokens (MLP heads, multi-token prediction L = 8)</a:t>
            </a:r>
          </a:p>
          <a:p>
            <a:pPr marL="237744" indent="-201168">
              <a:lnSpc>
                <a:spcPct val="108000"/>
              </a:lnSpc>
              <a:spcAft>
                <a:spcPts val="600"/>
              </a:spcAft>
              <a:buClr>
                <a:srgbClr val="9AA3B2"/>
              </a:buClr>
              <a:buFont typeface="Arial"/>
              <a:buChar char="•"/>
            </a:pPr>
            <a:r>
              <a:rPr sz="1350" b="1" i="0">
                <a:solidFill>
                  <a:srgbClr val="14213D"/>
                </a:solidFill>
                <a:latin typeface="Calibri"/>
              </a:rPr>
              <a:t>The decoder is outside the agent's loop:</a:t>
            </a:r>
            <a:r>
              <a:rPr sz="1350" b="0" i="0">
                <a:solidFill>
                  <a:srgbClr val="1F2937"/>
                </a:solidFill>
                <a:latin typeface="Calibri"/>
              </a:rPr>
              <a:t> pretraining, fine-tuning and imagination all happen in latent space — pixels are only rendered for humans</a:t>
            </a:r>
          </a:p>
          <a:p>
            <a:pPr marL="237744" indent="-201168">
              <a:lnSpc>
                <a:spcPct val="108000"/>
              </a:lnSpc>
              <a:spcAft>
                <a:spcPts val="600"/>
              </a:spcAft>
              <a:buClr>
                <a:srgbClr val="9AA3B2"/>
              </a:buClr>
              <a:buFont typeface="Arial"/>
              <a:buChar char="•"/>
            </a:pPr>
            <a:r>
              <a:rPr sz="1350" b="1" i="0">
                <a:solidFill>
                  <a:srgbClr val="14213D"/>
                </a:solidFill>
                <a:latin typeface="Calibri"/>
              </a:rPr>
              <a:t>One-way attention for agent tokens:</a:t>
            </a:r>
            <a:r>
              <a:rPr sz="1350" b="0" i="0">
                <a:solidFill>
                  <a:srgbClr val="1F2937"/>
                </a:solidFill>
                <a:latin typeface="Calibri"/>
              </a:rPr>
              <a:t> they see everything, nothing sees them, so adding the agent cannot change what the simulator predicts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How the pieces fit together (2/2): the two loops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Training inside the model, and acting in the real game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11</a:t>
            </a:r>
          </a:p>
        </p:txBody>
      </p:sp>
      <p:pic>
        <p:nvPicPr>
          <p:cNvPr id="8" name="Picture 7" descr="diag_stack_loops_s.jpg"/>
          <p:cNvPicPr>
            <a:picLocks noChangeAspect="1"/>
          </p:cNvPicPr>
          <p:nvPr/>
        </p:nvPicPr>
        <p:blipFill>
          <a:blip r:embed="rId2"/>
          <a:stretch>
            <a:fillRect/>
          </a:stretch>
        </p:blipFill>
        <p:spPr>
          <a:xfrm>
            <a:off x="365760" y="1371600"/>
            <a:ext cx="11430000" cy="2624137"/>
          </a:xfrm>
          <a:prstGeom prst="rect">
            <a:avLst/>
          </a:prstGeom>
        </p:spPr>
      </p:pic>
      <p:sp>
        <p:nvSpPr>
          <p:cNvPr id="9" name="TextBox 8"/>
          <p:cNvSpPr txBox="1"/>
          <p:nvPr/>
        </p:nvSpPr>
        <p:spPr>
          <a:xfrm>
            <a:off x="548640" y="4526280"/>
            <a:ext cx="11155680" cy="18288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Imagination loop (phase 3):</a:t>
            </a:r>
            <a:r>
              <a:rPr sz="1350" b="0" i="0">
                <a:solidFill>
                  <a:srgbClr val="1F2937"/>
                </a:solidFill>
                <a:latin typeface="Calibri"/>
              </a:rPr>
              <a:t> start from real latents → policy head samples an action → dynamics predicts the next latents in K = 4 shortcut steps → reward and value heads score the step → PMPO with reverse KL updates the policy and value heads only; one rollout per context, transformer frozen</a:t>
            </a:r>
          </a:p>
          <a:p>
            <a:pPr marL="237744" indent="-201168">
              <a:lnSpc>
                <a:spcPct val="108000"/>
              </a:lnSpc>
              <a:spcAft>
                <a:spcPts val="600"/>
              </a:spcAft>
              <a:buClr>
                <a:srgbClr val="9AA3B2"/>
              </a:buClr>
              <a:buFont typeface="Arial"/>
              <a:buChar char="•"/>
            </a:pPr>
            <a:r>
              <a:rPr sz="1350" b="1" i="0">
                <a:solidFill>
                  <a:srgbClr val="14213D"/>
                </a:solidFill>
                <a:latin typeface="Calibri"/>
              </a:rPr>
              <a:t>Acting (evaluation):</a:t>
            </a:r>
            <a:r>
              <a:rPr sz="1350" b="0" i="0">
                <a:solidFill>
                  <a:srgbClr val="1F2937"/>
                </a:solidFill>
                <a:latin typeface="Calibri"/>
              </a:rPr>
              <a:t> encoder → transformer → policy head, once per frame at 20 FPS; the world model generates nothing at test time — it provides the representation</a:t>
            </a:r>
          </a:p>
          <a:p>
            <a:pPr marL="237744" indent="-201168">
              <a:lnSpc>
                <a:spcPct val="108000"/>
              </a:lnSpc>
              <a:spcAft>
                <a:spcPts val="600"/>
              </a:spcAft>
              <a:buClr>
                <a:srgbClr val="9AA3B2"/>
              </a:buClr>
              <a:buFont typeface="Arial"/>
              <a:buChar char="•"/>
            </a:pPr>
            <a:r>
              <a:rPr sz="1350" b="1" i="0">
                <a:solidFill>
                  <a:srgbClr val="14213D"/>
                </a:solidFill>
                <a:latin typeface="Calibri"/>
              </a:rPr>
              <a:t>What the loop buys:</a:t>
            </a:r>
            <a:r>
              <a:rPr sz="1350" b="0" i="0">
                <a:solidFill>
                  <a:srgbClr val="1F2937"/>
                </a:solidFill>
                <a:latin typeface="Calibri"/>
              </a:rPr>
              <a:t> on the same representations, behavioural cloning reaches the iron pickaxe in 16.9 % of episodes and no diamonds; after imagination training 29 % and 0.7 % (Table 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World-model design</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2: causal tokenizer + interactive dynamics model, one shared block-causal transformer</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12</a:t>
            </a:r>
          </a:p>
        </p:txBody>
      </p:sp>
      <p:pic>
        <p:nvPicPr>
          <p:cNvPr id="8" name="Picture 7" descr="fig2_world_model_design.png"/>
          <p:cNvPicPr>
            <a:picLocks noChangeAspect="1"/>
          </p:cNvPicPr>
          <p:nvPr/>
        </p:nvPicPr>
        <p:blipFill>
          <a:blip r:embed="rId2"/>
          <a:stretch>
            <a:fillRect/>
          </a:stretch>
        </p:blipFill>
        <p:spPr>
          <a:xfrm>
            <a:off x="457200" y="1417320"/>
            <a:ext cx="6949440" cy="2883703"/>
          </a:xfrm>
          <a:prstGeom prst="rect">
            <a:avLst/>
          </a:prstGeom>
        </p:spPr>
      </p:pic>
      <p:sp>
        <p:nvSpPr>
          <p:cNvPr id="9" name="TextBox 8"/>
          <p:cNvSpPr txBox="1"/>
          <p:nvPr/>
        </p:nvSpPr>
        <p:spPr>
          <a:xfrm>
            <a:off x="457200" y="4572000"/>
            <a:ext cx="694944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Left: causal tokenizer (masked patches → latent tokens → reconstruction). Right: interactive dynamics — interleaved action tokens a, latent tokens z, and per-frame signal level τ / step size d; space layers with a causal time layer every 4th block. (Figure 2, arXiv 2509.24527)</a:t>
            </a:r>
          </a:p>
        </p:txBody>
      </p:sp>
      <p:sp>
        <p:nvSpPr>
          <p:cNvPr id="10" name="TextBox 9"/>
          <p:cNvSpPr txBox="1"/>
          <p:nvPr/>
        </p:nvSpPr>
        <p:spPr>
          <a:xfrm>
            <a:off x="7680960" y="1463040"/>
            <a:ext cx="4114800" cy="47548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Total 2 B parameters:</a:t>
            </a:r>
            <a:r>
              <a:rPr sz="1450" b="0" i="0">
                <a:solidFill>
                  <a:srgbClr val="1F2937"/>
                </a:solidFill>
                <a:latin typeface="Calibri"/>
              </a:rPr>
              <a:t> ≈ 400 M tokenizer + 1.6 B dynamics</a:t>
            </a:r>
          </a:p>
          <a:p>
            <a:pPr marL="237744" indent="-201168">
              <a:lnSpc>
                <a:spcPct val="108000"/>
              </a:lnSpc>
              <a:spcAft>
                <a:spcPts val="600"/>
              </a:spcAft>
              <a:buClr>
                <a:srgbClr val="9AA3B2"/>
              </a:buClr>
              <a:buFont typeface="Arial"/>
              <a:buChar char="•"/>
            </a:pPr>
            <a:r>
              <a:rPr sz="1450" b="1" i="0">
                <a:solidFill>
                  <a:srgbClr val="14213D"/>
                </a:solidFill>
                <a:latin typeface="Calibri"/>
              </a:rPr>
              <a:t>Frames:</a:t>
            </a:r>
            <a:r>
              <a:rPr sz="1450" b="0" i="0">
                <a:solidFill>
                  <a:srgbClr val="1F2937"/>
                </a:solidFill>
                <a:latin typeface="Calibri"/>
              </a:rPr>
              <a:t> 360×640, zero-padded to 384×640 → 960 patches of 16×16</a:t>
            </a:r>
          </a:p>
          <a:p>
            <a:pPr marL="237744" indent="-201168">
              <a:lnSpc>
                <a:spcPct val="108000"/>
              </a:lnSpc>
              <a:spcAft>
                <a:spcPts val="600"/>
              </a:spcAft>
              <a:buClr>
                <a:srgbClr val="9AA3B2"/>
              </a:buClr>
              <a:buFont typeface="Arial"/>
              <a:buChar char="•"/>
            </a:pPr>
            <a:r>
              <a:rPr sz="1450" b="1" i="0">
                <a:solidFill>
                  <a:srgbClr val="14213D"/>
                </a:solidFill>
                <a:latin typeface="Calibri"/>
              </a:rPr>
              <a:t>Latents:</a:t>
            </a:r>
            <a:r>
              <a:rPr sz="1450" b="0" i="0">
                <a:solidFill>
                  <a:srgbClr val="1F2937"/>
                </a:solidFill>
                <a:latin typeface="Calibri"/>
              </a:rPr>
              <a:t> N_z = 256 tokens × 32 dims per frame (512×16 bottleneck, tanh)</a:t>
            </a:r>
          </a:p>
          <a:p>
            <a:pPr marL="237744" indent="-201168">
              <a:lnSpc>
                <a:spcPct val="108000"/>
              </a:lnSpc>
              <a:spcAft>
                <a:spcPts val="600"/>
              </a:spcAft>
              <a:buClr>
                <a:srgbClr val="9AA3B2"/>
              </a:buClr>
              <a:buFont typeface="Arial"/>
              <a:buChar char="•"/>
            </a:pPr>
            <a:r>
              <a:rPr sz="1450" b="1" i="0">
                <a:solidFill>
                  <a:srgbClr val="14213D"/>
                </a:solidFill>
                <a:latin typeface="Calibri"/>
              </a:rPr>
              <a:t>Context:</a:t>
            </a:r>
            <a:r>
              <a:rPr sz="1450" b="0" i="0">
                <a:solidFill>
                  <a:srgbClr val="1F2937"/>
                </a:solidFill>
                <a:latin typeface="Calibri"/>
              </a:rPr>
              <a:t> 192 frames = 9.6 s at 20 FPS</a:t>
            </a:r>
          </a:p>
          <a:p>
            <a:pPr marL="237744" indent="-201168">
              <a:lnSpc>
                <a:spcPct val="108000"/>
              </a:lnSpc>
              <a:spcAft>
                <a:spcPts val="600"/>
              </a:spcAft>
              <a:buClr>
                <a:srgbClr val="9AA3B2"/>
              </a:buClr>
              <a:buFont typeface="Arial"/>
              <a:buChar char="•"/>
            </a:pPr>
            <a:r>
              <a:rPr sz="1450" b="1" i="0">
                <a:solidFill>
                  <a:srgbClr val="14213D"/>
                </a:solidFill>
                <a:latin typeface="Calibri"/>
              </a:rPr>
              <a:t>Block-causal:</a:t>
            </a:r>
            <a:r>
              <a:rPr sz="1450" b="0" i="0">
                <a:solidFill>
                  <a:srgbClr val="1F2937"/>
                </a:solidFill>
                <a:latin typeface="Calibri"/>
              </a:rPr>
              <a:t> full attention within a frame, causal across frames → usable online, frame by frame</a:t>
            </a:r>
          </a:p>
          <a:p>
            <a:pPr marL="237744" indent="-201168">
              <a:lnSpc>
                <a:spcPct val="108000"/>
              </a:lnSpc>
              <a:spcAft>
                <a:spcPts val="600"/>
              </a:spcAft>
              <a:buClr>
                <a:srgbClr val="9AA3B2"/>
              </a:buClr>
              <a:buFont typeface="Arial"/>
              <a:buChar char="•"/>
            </a:pPr>
            <a:r>
              <a:rPr sz="1450" b="1" i="0">
                <a:solidFill>
                  <a:srgbClr val="14213D"/>
                </a:solidFill>
                <a:latin typeface="Calibri"/>
              </a:rPr>
              <a:t>Transformer recipe:</a:t>
            </a:r>
            <a:r>
              <a:rPr sz="1450" b="0" i="0">
                <a:solidFill>
                  <a:srgbClr val="1F2937"/>
                </a:solidFill>
                <a:latin typeface="Calibri"/>
              </a:rPr>
              <a:t> pre-RMSNorm, RoPE, SwiGLU, QK-norm, logit soft-capping, register tokens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causal tokenizer</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Compress each frame into 256 continuous latent tokens without looking into the future (paper §3.1)</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13</a:t>
            </a:r>
          </a:p>
        </p:txBody>
      </p:sp>
      <p:pic>
        <p:nvPicPr>
          <p:cNvPr id="8" name="Picture 7" descr="diag_tokenizer_s.jpg"/>
          <p:cNvPicPr>
            <a:picLocks noChangeAspect="1"/>
          </p:cNvPicPr>
          <p:nvPr/>
        </p:nvPicPr>
        <p:blipFill>
          <a:blip r:embed="rId2"/>
          <a:stretch>
            <a:fillRect/>
          </a:stretch>
        </p:blipFill>
        <p:spPr>
          <a:xfrm>
            <a:off x="365760" y="1371600"/>
            <a:ext cx="7406640" cy="3703320"/>
          </a:xfrm>
          <a:prstGeom prst="rect">
            <a:avLst/>
          </a:prstGeom>
        </p:spPr>
      </p:pic>
      <p:sp>
        <p:nvSpPr>
          <p:cNvPr id="9" name="TextBox 8"/>
          <p:cNvSpPr txBox="1"/>
          <p:nvPr/>
        </p:nvSpPr>
        <p:spPr>
          <a:xfrm>
            <a:off x="457200" y="5120640"/>
            <a:ext cx="73152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Schematic built from one archived world-model frame; the latent grid is illustrative (real latents are 256 tokens × 32 dims, not a 16×16 image).</a:t>
            </a:r>
          </a:p>
        </p:txBody>
      </p:sp>
      <p:sp>
        <p:nvSpPr>
          <p:cNvPr id="10" name="TextBox 9"/>
          <p:cNvSpPr txBox="1"/>
          <p:nvPr/>
        </p:nvSpPr>
        <p:spPr>
          <a:xfrm>
            <a:off x="8001000" y="1417320"/>
            <a:ext cx="3840480" cy="484632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1" i="0">
                <a:solidFill>
                  <a:srgbClr val="14213D"/>
                </a:solidFill>
                <a:latin typeface="Calibri"/>
              </a:rPr>
              <a:t>Masked autoencoder, not a VAE/VQ:</a:t>
            </a:r>
            <a:r>
              <a:rPr sz="1300" b="0" i="0">
                <a:solidFill>
                  <a:srgbClr val="1F2937"/>
                </a:solidFill>
                <a:latin typeface="Calibri"/>
              </a:rPr>
              <a:t> input patches are dropped with probability p ~ U(0, 0.9) and replaced by a learned embedding, so the encoder must infer them from context — that regularises the latent space; p = 0 at inference</a:t>
            </a:r>
          </a:p>
          <a:p>
            <a:pPr marL="237744" indent="-201168">
              <a:lnSpc>
                <a:spcPct val="108000"/>
              </a:lnSpc>
              <a:spcAft>
                <a:spcPts val="500"/>
              </a:spcAft>
              <a:buClr>
                <a:srgbClr val="9AA3B2"/>
              </a:buClr>
              <a:buFont typeface="Arial"/>
              <a:buChar char="•"/>
            </a:pPr>
            <a:r>
              <a:rPr sz="1300" b="1" i="0">
                <a:solidFill>
                  <a:srgbClr val="14213D"/>
                </a:solidFill>
                <a:latin typeface="Calibri"/>
              </a:rPr>
              <a:t>Bottleneck:</a:t>
            </a:r>
            <a:r>
              <a:rPr sz="1300" b="0" i="0">
                <a:solidFill>
                  <a:srgbClr val="1F2937"/>
                </a:solidFill>
                <a:latin typeface="Calibri"/>
              </a:rPr>
              <a:t> latent tokens are read out through a linear projection to 512×16 with a tanh, reshaped to 256 tokens × 32 dims per frame — continuous, no codebook</a:t>
            </a:r>
          </a:p>
          <a:p>
            <a:pPr marL="237744" indent="-201168">
              <a:lnSpc>
                <a:spcPct val="108000"/>
              </a:lnSpc>
              <a:spcAft>
                <a:spcPts val="500"/>
              </a:spcAft>
              <a:buClr>
                <a:srgbClr val="9AA3B2"/>
              </a:buClr>
              <a:buFont typeface="Arial"/>
              <a:buChar char="•"/>
            </a:pPr>
            <a:r>
              <a:rPr sz="1300" b="1" i="0">
                <a:solidFill>
                  <a:srgbClr val="14213D"/>
                </a:solidFill>
                <a:latin typeface="Calibri"/>
              </a:rPr>
              <a:t>Loss:</a:t>
            </a:r>
            <a:r>
              <a:rPr sz="1300" b="0" i="0">
                <a:solidFill>
                  <a:srgbClr val="1F2937"/>
                </a:solidFill>
                <a:latin typeface="Calibri"/>
              </a:rPr>
              <a:t> MSE + 0.2·LPIPS on the reconstructed patches; the perceptual term keeps textures crisp</a:t>
            </a:r>
          </a:p>
          <a:p>
            <a:pPr marL="237744" indent="-201168">
              <a:lnSpc>
                <a:spcPct val="108000"/>
              </a:lnSpc>
              <a:spcAft>
                <a:spcPts val="500"/>
              </a:spcAft>
              <a:buClr>
                <a:srgbClr val="9AA3B2"/>
              </a:buClr>
              <a:buFont typeface="Arial"/>
              <a:buChar char="•"/>
            </a:pPr>
            <a:r>
              <a:rPr sz="1300" b="1" i="0">
                <a:solidFill>
                  <a:srgbClr val="14213D"/>
                </a:solidFill>
                <a:latin typeface="Calibri"/>
              </a:rPr>
              <a:t>Causal in time:</a:t>
            </a:r>
            <a:r>
              <a:rPr sz="1300" b="0" i="0">
                <a:solidFill>
                  <a:srgbClr val="1F2937"/>
                </a:solidFill>
                <a:latin typeface="Calibri"/>
              </a:rPr>
              <a:t> frame t is encoded and decoded from frames ≤ t only, so the same tokenizer runs frame by frame during live play</a:t>
            </a:r>
          </a:p>
          <a:p>
            <a:pPr marL="237744" indent="-201168">
              <a:lnSpc>
                <a:spcPct val="108000"/>
              </a:lnSpc>
              <a:spcAft>
                <a:spcPts val="500"/>
              </a:spcAft>
              <a:buClr>
                <a:srgbClr val="9AA3B2"/>
              </a:buClr>
              <a:buFont typeface="Arial"/>
              <a:buChar char="•"/>
            </a:pPr>
            <a:r>
              <a:rPr sz="1300" b="1" i="0">
                <a:solidFill>
                  <a:srgbClr val="14213D"/>
                </a:solidFill>
                <a:latin typeface="Calibri"/>
              </a:rPr>
              <a:t>Trained once, then frozen</a:t>
            </a:r>
            <a:r>
              <a:rPr sz="1300" b="0" i="0">
                <a:solidFill>
                  <a:srgbClr val="1F2937"/>
                </a:solidFill>
                <a:latin typeface="Calibri"/>
              </a:rPr>
              <a:t> (≈ 400 M parameters); Hafner expects end-to-end training to be possible eventually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interactive dynamics model</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Predict the clean latents of the next frame from the past, the actions and a noisy guess (paper §3.2)</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14</a:t>
            </a:r>
          </a:p>
        </p:txBody>
      </p:sp>
      <p:pic>
        <p:nvPicPr>
          <p:cNvPr id="8" name="Picture 7" descr="diag_dynamics_s.jpg"/>
          <p:cNvPicPr>
            <a:picLocks noChangeAspect="1"/>
          </p:cNvPicPr>
          <p:nvPr/>
        </p:nvPicPr>
        <p:blipFill>
          <a:blip r:embed="rId2"/>
          <a:stretch>
            <a:fillRect/>
          </a:stretch>
        </p:blipFill>
        <p:spPr>
          <a:xfrm>
            <a:off x="365760" y="1371600"/>
            <a:ext cx="7406640" cy="3703320"/>
          </a:xfrm>
          <a:prstGeom prst="rect">
            <a:avLst/>
          </a:prstGeom>
        </p:spPr>
      </p:pic>
      <p:sp>
        <p:nvSpPr>
          <p:cNvPr id="9" name="TextBox 8"/>
          <p:cNvSpPr txBox="1"/>
          <p:nvPr/>
        </p:nvSpPr>
        <p:spPr>
          <a:xfrm>
            <a:off x="457200" y="5120640"/>
            <a:ext cx="73152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Sequence layout and attention pattern (schematic). Three of the 192 context frames are shown.</a:t>
            </a:r>
          </a:p>
        </p:txBody>
      </p:sp>
      <p:sp>
        <p:nvSpPr>
          <p:cNvPr id="10" name="TextBox 9"/>
          <p:cNvSpPr txBox="1"/>
          <p:nvPr/>
        </p:nvSpPr>
        <p:spPr>
          <a:xfrm>
            <a:off x="8001000" y="1417320"/>
            <a:ext cx="3840480" cy="484632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1" i="0">
                <a:solidFill>
                  <a:srgbClr val="14213D"/>
                </a:solidFill>
                <a:latin typeface="Calibri"/>
              </a:rPr>
              <a:t>Sequence per frame:</a:t>
            </a:r>
            <a:r>
              <a:rPr sz="1300" b="0" i="0">
                <a:solidFill>
                  <a:srgbClr val="1F2937"/>
                </a:solidFill>
                <a:latin typeface="Calibri"/>
              </a:rPr>
              <a:t> action tokens (23 keys + mouse class, or a learned 'no action' embedding for unlabeled video), one token for signal level τ_t and step size d, the 256 latent tokens, register tokens</a:t>
            </a:r>
          </a:p>
          <a:p>
            <a:pPr marL="237744" indent="-201168">
              <a:lnSpc>
                <a:spcPct val="108000"/>
              </a:lnSpc>
              <a:spcAft>
                <a:spcPts val="500"/>
              </a:spcAft>
              <a:buClr>
                <a:srgbClr val="9AA3B2"/>
              </a:buClr>
              <a:buFont typeface="Arial"/>
              <a:buChar char="•"/>
            </a:pPr>
            <a:r>
              <a:rPr sz="1300" b="1" i="0">
                <a:solidFill>
                  <a:srgbClr val="14213D"/>
                </a:solidFill>
                <a:latin typeface="Calibri"/>
              </a:rPr>
              <a:t>Block-causal attention:</a:t>
            </a:r>
            <a:r>
              <a:rPr sz="1300" b="0" i="0">
                <a:solidFill>
                  <a:srgbClr val="1F2937"/>
                </a:solidFill>
                <a:latin typeface="Calibri"/>
              </a:rPr>
              <a:t> everything within a frame sees each other; across frames only the past. Space-only layers do most of the work; a causal time layer every 4th layer sees the 192-frame (9.6 s) context</a:t>
            </a:r>
          </a:p>
          <a:p>
            <a:pPr marL="237744" indent="-201168">
              <a:lnSpc>
                <a:spcPct val="108000"/>
              </a:lnSpc>
              <a:spcAft>
                <a:spcPts val="500"/>
              </a:spcAft>
              <a:buClr>
                <a:srgbClr val="9AA3B2"/>
              </a:buClr>
              <a:buFont typeface="Arial"/>
              <a:buChar char="•"/>
            </a:pPr>
            <a:r>
              <a:rPr sz="1300" b="1" i="0">
                <a:solidFill>
                  <a:srgbClr val="14213D"/>
                </a:solidFill>
                <a:latin typeface="Calibri"/>
              </a:rPr>
              <a:t>Training target:</a:t>
            </a:r>
            <a:r>
              <a:rPr sz="1300" b="0" i="0">
                <a:solidFill>
                  <a:srgbClr val="1F2937"/>
                </a:solidFill>
                <a:latin typeface="Calibri"/>
              </a:rPr>
              <a:t> the clean latents of every frame (x-prediction) from their noised versions, the past and the actions — one loss over the whole sequence</a:t>
            </a:r>
          </a:p>
          <a:p>
            <a:pPr marL="237744" indent="-201168">
              <a:lnSpc>
                <a:spcPct val="108000"/>
              </a:lnSpc>
              <a:spcAft>
                <a:spcPts val="500"/>
              </a:spcAft>
              <a:buClr>
                <a:srgbClr val="9AA3B2"/>
              </a:buClr>
              <a:buFont typeface="Arial"/>
              <a:buChar char="•"/>
            </a:pPr>
            <a:r>
              <a:rPr sz="1300" b="1" i="0">
                <a:solidFill>
                  <a:srgbClr val="14213D"/>
                </a:solidFill>
                <a:latin typeface="Calibri"/>
              </a:rPr>
              <a:t>Efficiency:</a:t>
            </a:r>
            <a:r>
              <a:rPr sz="1300" b="0" i="0">
                <a:solidFill>
                  <a:srgbClr val="1F2937"/>
                </a:solidFill>
                <a:latin typeface="Calibri"/>
              </a:rPr>
              <a:t> grouped-query attention, alternating 64/256-frame batches, registers — 1.6 B parameters, 21 FPS on one H100 with K = 4</a:t>
            </a:r>
          </a:p>
          <a:p>
            <a:pPr marL="237744" indent="-201168">
              <a:lnSpc>
                <a:spcPct val="108000"/>
              </a:lnSpc>
              <a:spcAft>
                <a:spcPts val="500"/>
              </a:spcAft>
              <a:buClr>
                <a:srgbClr val="9AA3B2"/>
              </a:buClr>
              <a:buFont typeface="Arial"/>
              <a:buChar char="•"/>
            </a:pPr>
            <a:r>
              <a:rPr sz="1300" b="1" i="0">
                <a:solidFill>
                  <a:srgbClr val="14213D"/>
                </a:solidFill>
                <a:latin typeface="Calibri"/>
              </a:rPr>
              <a:t>Inference:</a:t>
            </a:r>
            <a:r>
              <a:rPr sz="1300" b="0" i="0">
                <a:solidFill>
                  <a:srgbClr val="1F2937"/>
                </a:solidFill>
                <a:latin typeface="Calibri"/>
              </a:rPr>
              <a:t> past frames are kept slightly corrupted (the paper's τ_ctx) so small generation errors do not push the model off-distribution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Primer 1 of 3 · Flow matching: one dial from noise to image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The background the dynamics objective is built on (paper §2)</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15</a:t>
            </a:r>
          </a:p>
        </p:txBody>
      </p:sp>
      <p:pic>
        <p:nvPicPr>
          <p:cNvPr id="8" name="Picture 7" descr="diag_flow_s.jpg"/>
          <p:cNvPicPr>
            <a:picLocks noChangeAspect="1"/>
          </p:cNvPicPr>
          <p:nvPr/>
        </p:nvPicPr>
        <p:blipFill>
          <a:blip r:embed="rId2"/>
          <a:stretch>
            <a:fillRect/>
          </a:stretch>
        </p:blipFill>
        <p:spPr>
          <a:xfrm>
            <a:off x="1508760" y="1371600"/>
            <a:ext cx="9144000" cy="3017520"/>
          </a:xfrm>
          <a:prstGeom prst="rect">
            <a:avLst/>
          </a:prstGeom>
        </p:spPr>
      </p:pic>
      <p:sp>
        <p:nvSpPr>
          <p:cNvPr id="9" name="TextBox 8"/>
          <p:cNvSpPr txBox="1"/>
          <p:nvPr/>
        </p:nvSpPr>
        <p:spPr>
          <a:xfrm>
            <a:off x="548640" y="4526280"/>
            <a:ext cx="11155680" cy="182880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50" b="1" i="0">
                <a:solidFill>
                  <a:srgbClr val="14213D"/>
                </a:solidFill>
                <a:latin typeface="Calibri"/>
              </a:rPr>
              <a:t>Signal level τ ∈ [0, 1]:</a:t>
            </a:r>
            <a:r>
              <a:rPr sz="1350" b="0" i="0">
                <a:solidFill>
                  <a:srgbClr val="1F2937"/>
                </a:solidFill>
                <a:latin typeface="Calibri"/>
              </a:rPr>
              <a:t> x(τ) = (1 − τ)·ε + τ·x — τ = 0 is pure noise, τ = 1 the clean latent; during training τ is drawn at random for every example</a:t>
            </a:r>
          </a:p>
          <a:p>
            <a:pPr marL="237744" indent="-201168">
              <a:lnSpc>
                <a:spcPct val="108000"/>
              </a:lnSpc>
              <a:spcAft>
                <a:spcPts val="500"/>
              </a:spcAft>
              <a:buClr>
                <a:srgbClr val="9AA3B2"/>
              </a:buClr>
              <a:buFont typeface="Arial"/>
              <a:buChar char="•"/>
            </a:pPr>
            <a:r>
              <a:rPr sz="1350" b="1" i="0">
                <a:solidFill>
                  <a:srgbClr val="14213D"/>
                </a:solidFill>
                <a:latin typeface="Calibri"/>
              </a:rPr>
              <a:t>The network learns a direction:</a:t>
            </a:r>
            <a:r>
              <a:rPr sz="1350" b="0" i="0">
                <a:solidFill>
                  <a:srgbClr val="1F2937"/>
                </a:solidFill>
                <a:latin typeface="Calibri"/>
              </a:rPr>
              <a:t> f(x(τ), τ) ≈ v = x − ε, the velocity pointing from noise to data; sampling starts from noise and walks to τ = 1 in K steps</a:t>
            </a:r>
          </a:p>
          <a:p>
            <a:pPr marL="237744" indent="-201168">
              <a:lnSpc>
                <a:spcPct val="108000"/>
              </a:lnSpc>
              <a:spcAft>
                <a:spcPts val="500"/>
              </a:spcAft>
              <a:buClr>
                <a:srgbClr val="9AA3B2"/>
              </a:buClr>
              <a:buFont typeface="Arial"/>
              <a:buChar char="•"/>
            </a:pPr>
            <a:r>
              <a:rPr sz="1350" b="1" i="0">
                <a:solidFill>
                  <a:srgbClr val="14213D"/>
                </a:solidFill>
                <a:latin typeface="Calibri"/>
              </a:rPr>
              <a:t>Two ways to say the same thing:</a:t>
            </a:r>
            <a:r>
              <a:rPr sz="1350" b="0" i="0">
                <a:solidFill>
                  <a:srgbClr val="1F2937"/>
                </a:solidFill>
                <a:latin typeface="Calibri"/>
              </a:rPr>
              <a:t> predict the velocity v (standard) or the clean latent x directly (x-prediction); the maths is identical, the error behaviour under autoregressive feedback is not (slide 17)</a:t>
            </a:r>
          </a:p>
          <a:p>
            <a:pPr marL="237744" indent="-201168">
              <a:lnSpc>
                <a:spcPct val="108000"/>
              </a:lnSpc>
              <a:spcAft>
                <a:spcPts val="500"/>
              </a:spcAft>
              <a:buClr>
                <a:srgbClr val="9AA3B2"/>
              </a:buClr>
              <a:buFont typeface="Arial"/>
              <a:buChar char="•"/>
            </a:pPr>
            <a:r>
              <a:rPr sz="1350" b="1" i="0">
                <a:solidFill>
                  <a:srgbClr val="14213D"/>
                </a:solidFill>
                <a:latin typeface="Calibri"/>
              </a:rPr>
              <a:t>Why so many steps?</a:t>
            </a:r>
            <a:r>
              <a:rPr sz="1350" b="0" i="0">
                <a:solidFill>
                  <a:srgbClr val="1F2937"/>
                </a:solidFill>
                <a:latin typeface="Calibri"/>
              </a:rPr>
              <a:t> The learned direction is only locally right, so ordinary diffusion needs 16–64 small steps per image — far too slow for a 20 FPS simulator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Primer 2 of 3 · Diffusion forcing: a noise level per frame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Chen et al., 2024 — what makes causal, frame-by-frame generation possible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16</a:t>
            </a:r>
          </a:p>
        </p:txBody>
      </p:sp>
      <p:pic>
        <p:nvPicPr>
          <p:cNvPr id="8" name="Picture 7" descr="diag_forcing_s.jpg"/>
          <p:cNvPicPr>
            <a:picLocks noChangeAspect="1"/>
          </p:cNvPicPr>
          <p:nvPr/>
        </p:nvPicPr>
        <p:blipFill>
          <a:blip r:embed="rId2"/>
          <a:stretch>
            <a:fillRect/>
          </a:stretch>
        </p:blipFill>
        <p:spPr>
          <a:xfrm>
            <a:off x="1508760" y="1371600"/>
            <a:ext cx="9144000" cy="3200400"/>
          </a:xfrm>
          <a:prstGeom prst="rect">
            <a:avLst/>
          </a:prstGeom>
        </p:spPr>
      </p:pic>
      <p:sp>
        <p:nvSpPr>
          <p:cNvPr id="9" name="TextBox 8"/>
          <p:cNvSpPr txBox="1"/>
          <p:nvPr/>
        </p:nvSpPr>
        <p:spPr>
          <a:xfrm>
            <a:off x="548640" y="4663440"/>
            <a:ext cx="11155680" cy="173736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50" b="1" i="0">
                <a:solidFill>
                  <a:srgbClr val="14213D"/>
                </a:solidFill>
                <a:latin typeface="Calibri"/>
              </a:rPr>
              <a:t>Standard video diffusion</a:t>
            </a:r>
            <a:r>
              <a:rPr sz="1350" b="0" i="0">
                <a:solidFill>
                  <a:srgbClr val="1F2937"/>
                </a:solidFill>
                <a:latin typeface="Calibri"/>
              </a:rPr>
              <a:t> corrupts the whole clip with one τ: past and future are always equally noisy, so the model cannot be rolled out one frame at a time</a:t>
            </a:r>
          </a:p>
          <a:p>
            <a:pPr marL="237744" indent="-201168">
              <a:lnSpc>
                <a:spcPct val="108000"/>
              </a:lnSpc>
              <a:spcAft>
                <a:spcPts val="500"/>
              </a:spcAft>
              <a:buClr>
                <a:srgbClr val="9AA3B2"/>
              </a:buClr>
              <a:buFont typeface="Arial"/>
              <a:buChar char="•"/>
            </a:pPr>
            <a:r>
              <a:rPr sz="1350" b="1" i="0">
                <a:solidFill>
                  <a:srgbClr val="14213D"/>
                </a:solidFill>
                <a:latin typeface="Calibri"/>
              </a:rPr>
              <a:t>Diffusion forcing</a:t>
            </a:r>
            <a:r>
              <a:rPr sz="1350" b="0" i="0">
                <a:solidFill>
                  <a:srgbClr val="1F2937"/>
                </a:solidFill>
                <a:latin typeface="Calibri"/>
              </a:rPr>
              <a:t> draws an independent τ_t for every frame; each frame is at once a denoising target and (noisy) history for the frames after it — a single loss over the whole sequence</a:t>
            </a:r>
          </a:p>
          <a:p>
            <a:pPr marL="237744" indent="-201168">
              <a:lnSpc>
                <a:spcPct val="108000"/>
              </a:lnSpc>
              <a:spcAft>
                <a:spcPts val="500"/>
              </a:spcAft>
              <a:buClr>
                <a:srgbClr val="9AA3B2"/>
              </a:buClr>
              <a:buFont typeface="Arial"/>
              <a:buChar char="•"/>
            </a:pPr>
            <a:r>
              <a:rPr sz="1350" b="1" i="0">
                <a:solidFill>
                  <a:srgbClr val="14213D"/>
                </a:solidFill>
                <a:latin typeface="Calibri"/>
              </a:rPr>
              <a:t>What it buys at inference:</a:t>
            </a:r>
            <a:r>
              <a:rPr sz="1350" b="0" i="0">
                <a:solidFill>
                  <a:srgbClr val="1F2937"/>
                </a:solidFill>
                <a:latin typeface="Calibri"/>
              </a:rPr>
              <a:t> generate the next frame from pure noise given a clean or lightly noised past — exactly the interactive setting; keeping the past slightly noised makes the model robust to its own small mistakes</a:t>
            </a:r>
          </a:p>
          <a:p>
            <a:pPr marL="237744" indent="-201168">
              <a:lnSpc>
                <a:spcPct val="108000"/>
              </a:lnSpc>
              <a:spcAft>
                <a:spcPts val="500"/>
              </a:spcAft>
              <a:buClr>
                <a:srgbClr val="9AA3B2"/>
              </a:buClr>
              <a:buFont typeface="Arial"/>
              <a:buChar char="•"/>
            </a:pPr>
            <a:r>
              <a:rPr sz="1350" b="1" i="0">
                <a:solidFill>
                  <a:srgbClr val="14213D"/>
                </a:solidFill>
                <a:latin typeface="Calibri"/>
              </a:rPr>
              <a:t>What it does not fix:</a:t>
            </a:r>
            <a:r>
              <a:rPr sz="1350" b="0" i="0">
                <a:solidFill>
                  <a:srgbClr val="1F2937"/>
                </a:solidFill>
                <a:latin typeface="Calibri"/>
              </a:rPr>
              <a:t> still tens of denoising steps for every frame — the 0.8 FPS starting point of the design cascade (Table 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Primer 3 of 3 · Shortcut models: learning to take big steps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Frans, Hafner, Levine, Abbeel, 2024 — why four sampling steps can be enough</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17</a:t>
            </a:r>
          </a:p>
        </p:txBody>
      </p:sp>
      <p:pic>
        <p:nvPicPr>
          <p:cNvPr id="8" name="Picture 7" descr="diag_shortcut_s.jpg"/>
          <p:cNvPicPr>
            <a:picLocks noChangeAspect="1"/>
          </p:cNvPicPr>
          <p:nvPr/>
        </p:nvPicPr>
        <p:blipFill>
          <a:blip r:embed="rId2"/>
          <a:stretch>
            <a:fillRect/>
          </a:stretch>
        </p:blipFill>
        <p:spPr>
          <a:xfrm>
            <a:off x="1508760" y="1371600"/>
            <a:ext cx="9144000" cy="3108960"/>
          </a:xfrm>
          <a:prstGeom prst="rect">
            <a:avLst/>
          </a:prstGeom>
        </p:spPr>
      </p:pic>
      <p:sp>
        <p:nvSpPr>
          <p:cNvPr id="9" name="TextBox 8"/>
          <p:cNvSpPr txBox="1"/>
          <p:nvPr/>
        </p:nvSpPr>
        <p:spPr>
          <a:xfrm>
            <a:off x="548640" y="4572000"/>
            <a:ext cx="11155680" cy="182880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50" b="1" i="0">
                <a:solidFill>
                  <a:srgbClr val="14213D"/>
                </a:solidFill>
                <a:latin typeface="Calibri"/>
              </a:rPr>
              <a:t>Add the step size d as an input:</a:t>
            </a:r>
            <a:r>
              <a:rPr sz="1350" b="0" i="0">
                <a:solidFill>
                  <a:srgbClr val="1F2937"/>
                </a:solidFill>
                <a:latin typeface="Calibri"/>
              </a:rPr>
              <a:t> f(x(τ), τ, d) predicts the average direction over a jump of size d, not just the local direction</a:t>
            </a:r>
          </a:p>
          <a:p>
            <a:pPr marL="237744" indent="-201168">
              <a:lnSpc>
                <a:spcPct val="108000"/>
              </a:lnSpc>
              <a:spcAft>
                <a:spcPts val="500"/>
              </a:spcAft>
              <a:buClr>
                <a:srgbClr val="9AA3B2"/>
              </a:buClr>
              <a:buFont typeface="Arial"/>
              <a:buChar char="•"/>
            </a:pPr>
            <a:r>
              <a:rPr sz="1350" b="1" i="0">
                <a:solidFill>
                  <a:srgbClr val="14213D"/>
                </a:solidFill>
                <a:latin typeface="Calibri"/>
              </a:rPr>
              <a:t>Smallest step:</a:t>
            </a:r>
            <a:r>
              <a:rPr sz="1350" b="0" i="0">
                <a:solidFill>
                  <a:srgbClr val="1F2937"/>
                </a:solidFill>
                <a:latin typeface="Calibri"/>
              </a:rPr>
              <a:t> ordinary flow-matching loss. </a:t>
            </a:r>
            <a:r>
              <a:rPr sz="1350" b="1" i="0">
                <a:solidFill>
                  <a:srgbClr val="14213D"/>
                </a:solidFill>
                <a:latin typeface="Calibri"/>
              </a:rPr>
              <a:t>Larger steps:</a:t>
            </a:r>
            <a:r>
              <a:rPr sz="1350" b="0" i="0">
                <a:solidFill>
                  <a:srgbClr val="1F2937"/>
                </a:solidFill>
                <a:latin typeface="Calibri"/>
              </a:rPr>
              <a:t> self-consistency (bootstrap) loss — one step of size d must land where two steps of size d/2 land; the two-step target is produced by the model itself with gradients stopped</a:t>
            </a:r>
          </a:p>
          <a:p>
            <a:pPr marL="237744" indent="-201168">
              <a:lnSpc>
                <a:spcPct val="108000"/>
              </a:lnSpc>
              <a:spcAft>
                <a:spcPts val="500"/>
              </a:spcAft>
              <a:buClr>
                <a:srgbClr val="9AA3B2"/>
              </a:buClr>
              <a:buFont typeface="Arial"/>
              <a:buChar char="•"/>
            </a:pPr>
            <a:r>
              <a:rPr sz="1350" b="1" i="0">
                <a:solidFill>
                  <a:srgbClr val="14213D"/>
                </a:solidFill>
                <a:latin typeface="Calibri"/>
              </a:rPr>
              <a:t>Result:</a:t>
            </a:r>
            <a:r>
              <a:rPr sz="1350" b="0" i="0">
                <a:solidFill>
                  <a:srgbClr val="1F2937"/>
                </a:solidFill>
                <a:latin typeface="Calibri"/>
              </a:rPr>
              <a:t> 2–4 steps reach the quality of 64 in the original paper, with no separate distillation stage — one model, one training run</a:t>
            </a:r>
          </a:p>
          <a:p>
            <a:pPr marL="237744" indent="-201168">
              <a:lnSpc>
                <a:spcPct val="108000"/>
              </a:lnSpc>
              <a:spcAft>
                <a:spcPts val="500"/>
              </a:spcAft>
              <a:buClr>
                <a:srgbClr val="9AA3B2"/>
              </a:buClr>
              <a:buFont typeface="Arial"/>
              <a:buChar char="•"/>
            </a:pPr>
            <a:r>
              <a:rPr sz="1350" b="1" i="0">
                <a:solidFill>
                  <a:srgbClr val="14213D"/>
                </a:solidFill>
                <a:latin typeface="Calibri"/>
              </a:rPr>
              <a:t>Dreamer 4 combines the two:</a:t>
            </a:r>
            <a:r>
              <a:rPr sz="1350" b="0" i="0">
                <a:solidFill>
                  <a:srgbClr val="1F2937"/>
                </a:solidFill>
                <a:latin typeface="Calibri"/>
              </a:rPr>
              <a:t> per-frame τ_t from diffusion forcing + step-size conditioning from shortcut models = shortcut forcing, K = 4 steps per frame at 21 FPS (next slide)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Shortcut forcing: the training objective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Diffusion forcing + shortcut models, with three engineering choices that turn out to matter a lot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18</a:t>
            </a:r>
          </a:p>
        </p:txBody>
      </p:sp>
      <p:sp>
        <p:nvSpPr>
          <p:cNvPr id="8" name="TextBox 7"/>
          <p:cNvSpPr txBox="1"/>
          <p:nvPr/>
        </p:nvSpPr>
        <p:spPr>
          <a:xfrm>
            <a:off x="548640" y="1417320"/>
            <a:ext cx="658368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Per-frame noise:</a:t>
            </a:r>
            <a:r>
              <a:rPr sz="1450" b="0" i="0">
                <a:solidFill>
                  <a:srgbClr val="1F2937"/>
                </a:solidFill>
                <a:latin typeface="Calibri"/>
              </a:rPr>
              <a:t> each frame gets an independent signal level τ_t; the model predicts frame t's clean latent from the noisy frame t, past frames, and actions</a:t>
            </a:r>
          </a:p>
          <a:p>
            <a:pPr marL="237744" indent="-201168">
              <a:lnSpc>
                <a:spcPct val="108000"/>
              </a:lnSpc>
              <a:spcAft>
                <a:spcPts val="600"/>
              </a:spcAft>
              <a:buClr>
                <a:srgbClr val="9AA3B2"/>
              </a:buClr>
              <a:buFont typeface="Arial"/>
              <a:buChar char="•"/>
            </a:pPr>
            <a:r>
              <a:rPr sz="1450" b="1" i="0">
                <a:solidFill>
                  <a:srgbClr val="14213D"/>
                </a:solidFill>
                <a:latin typeface="Calibri"/>
              </a:rPr>
              <a:t>Step-size conditioning:</a:t>
            </a:r>
            <a:r>
              <a:rPr sz="1450" b="0" i="0">
                <a:solidFill>
                  <a:srgbClr val="1F2937"/>
                </a:solidFill>
                <a:latin typeface="Calibri"/>
              </a:rPr>
              <a:t> the network also receives d; for d &gt; d_min the target is the </a:t>
            </a:r>
            <a:r>
              <a:rPr sz="1450" b="0" i="1">
                <a:solidFill>
                  <a:srgbClr val="1F2937"/>
                </a:solidFill>
                <a:latin typeface="Calibri"/>
              </a:rPr>
              <a:t>bootstrap</a:t>
            </a:r>
            <a:r>
              <a:rPr sz="1450" b="0" i="0">
                <a:solidFill>
                  <a:srgbClr val="1F2937"/>
                </a:solidFill>
                <a:latin typeface="Calibri"/>
              </a:rPr>
              <a:t> target — the result of two half-steps computed by the model itself (no gradient through the target)</a:t>
            </a:r>
          </a:p>
          <a:p>
            <a:pPr marL="237744" indent="-201168">
              <a:lnSpc>
                <a:spcPct val="108000"/>
              </a:lnSpc>
              <a:spcAft>
                <a:spcPts val="600"/>
              </a:spcAft>
              <a:buClr>
                <a:srgbClr val="9AA3B2"/>
              </a:buClr>
              <a:buFont typeface="Arial"/>
              <a:buChar char="•"/>
            </a:pPr>
            <a:r>
              <a:rPr sz="1450" b="1" i="0">
                <a:solidFill>
                  <a:srgbClr val="14213D"/>
                </a:solidFill>
                <a:latin typeface="Calibri"/>
              </a:rPr>
              <a:t>Choice 1 — x-prediction:</a:t>
            </a:r>
            <a:r>
              <a:rPr sz="1450" b="0" i="0">
                <a:solidFill>
                  <a:srgbClr val="1F2937"/>
                </a:solidFill>
                <a:latin typeface="Calibri"/>
              </a:rPr>
              <a:t> the network outputs the clean latent, not the velocity</a:t>
            </a:r>
          </a:p>
          <a:p>
            <a:pPr marL="237744" indent="-201168">
              <a:lnSpc>
                <a:spcPct val="108000"/>
              </a:lnSpc>
              <a:spcAft>
                <a:spcPts val="600"/>
              </a:spcAft>
              <a:buClr>
                <a:srgbClr val="9AA3B2"/>
              </a:buClr>
              <a:buFont typeface="Arial"/>
              <a:buChar char="•"/>
            </a:pPr>
            <a:r>
              <a:rPr sz="1450" b="1" i="0">
                <a:solidFill>
                  <a:srgbClr val="14213D"/>
                </a:solidFill>
                <a:latin typeface="Calibri"/>
              </a:rPr>
              <a:t>Choice 2 — loss in x-space:</a:t>
            </a:r>
            <a:r>
              <a:rPr sz="1450" b="0" i="0">
                <a:solidFill>
                  <a:srgbClr val="1F2937"/>
                </a:solidFill>
                <a:latin typeface="Calibri"/>
              </a:rPr>
              <a:t> the bootstrap target is formed in v-space (where two half-steps compose cleanly) but the loss is scaled back to x-space by (1 − τ)²</a:t>
            </a:r>
          </a:p>
          <a:p>
            <a:pPr marL="237744" indent="-201168">
              <a:lnSpc>
                <a:spcPct val="108000"/>
              </a:lnSpc>
              <a:spcAft>
                <a:spcPts val="600"/>
              </a:spcAft>
              <a:buClr>
                <a:srgbClr val="9AA3B2"/>
              </a:buClr>
              <a:buFont typeface="Arial"/>
              <a:buChar char="•"/>
            </a:pPr>
            <a:r>
              <a:rPr sz="1450" b="1" i="0">
                <a:solidFill>
                  <a:srgbClr val="14213D"/>
                </a:solidFill>
                <a:latin typeface="Calibri"/>
              </a:rPr>
              <a:t>Choice 3 — ramp weight:</a:t>
            </a:r>
            <a:r>
              <a:rPr sz="1450" b="0" i="0">
                <a:solidFill>
                  <a:srgbClr val="1F2937"/>
                </a:solidFill>
                <a:latin typeface="Calibri"/>
              </a:rPr>
              <a:t> loss weight w(τ) = 0.9 τ + 0.1 emphasises high-signal (low-noise) levels, where fine detail is decided</a:t>
            </a:r>
          </a:p>
          <a:p>
            <a:pPr marL="237744" indent="-201168">
              <a:lnSpc>
                <a:spcPct val="108000"/>
              </a:lnSpc>
              <a:spcAft>
                <a:spcPts val="600"/>
              </a:spcAft>
              <a:buClr>
                <a:srgbClr val="9AA3B2"/>
              </a:buClr>
              <a:buFont typeface="Arial"/>
              <a:buChar char="•"/>
            </a:pPr>
            <a:r>
              <a:rPr sz="1450" b="1" i="0">
                <a:solidFill>
                  <a:srgbClr val="14213D"/>
                </a:solidFill>
                <a:latin typeface="Calibri"/>
              </a:rPr>
              <a:t>Inference:</a:t>
            </a:r>
            <a:r>
              <a:rPr sz="1450" b="0" i="0">
                <a:solidFill>
                  <a:srgbClr val="1F2937"/>
                </a:solidFill>
                <a:latin typeface="Calibri"/>
              </a:rPr>
              <a:t> K = 4 steps per frame; context frames at τ_ctx ≈ 0.1; sampling remains stochastic → diverse imagined futures for RL</a:t>
            </a:r>
          </a:p>
        </p:txBody>
      </p:sp>
      <p:sp>
        <p:nvSpPr>
          <p:cNvPr id="9" name="Rectangle 8"/>
          <p:cNvSpPr/>
          <p:nvPr/>
        </p:nvSpPr>
        <p:spPr>
          <a:xfrm>
            <a:off x="7406640" y="1490472"/>
            <a:ext cx="25400" cy="245008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463040"/>
            <a:ext cx="40965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EFFECT OF EACH PIECE (TABLE 2, FVD ↓)</a:t>
            </a:r>
          </a:p>
        </p:txBody>
      </p:sp>
      <p:sp>
        <p:nvSpPr>
          <p:cNvPr id="11" name="TextBox 10"/>
          <p:cNvSpPr txBox="1"/>
          <p:nvPr/>
        </p:nvSpPr>
        <p:spPr>
          <a:xfrm>
            <a:off x="7589520" y="1792224"/>
            <a:ext cx="4096512" cy="242316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Diffusion forcing, K = 64 steps:  306  (0.8 FPS)</a:t>
            </a:r>
          </a:p>
          <a:p>
            <a:pPr algn="l">
              <a:lnSpc>
                <a:spcPct val="110000"/>
              </a:lnSpc>
              <a:spcAft>
                <a:spcPts val="500"/>
              </a:spcAft>
            </a:pPr>
            <a:r>
              <a:rPr sz="1250" b="0" i="0">
                <a:solidFill>
                  <a:srgbClr val="1F2937"/>
                </a:solidFill>
                <a:latin typeface="Calibri"/>
              </a:rPr>
              <a:t>Same model, K = 4 steps:  875</a:t>
            </a:r>
          </a:p>
          <a:p>
            <a:pPr algn="l">
              <a:lnSpc>
                <a:spcPct val="110000"/>
              </a:lnSpc>
              <a:spcAft>
                <a:spcPts val="500"/>
              </a:spcAft>
            </a:pPr>
            <a:r>
              <a:rPr sz="1250" b="0" i="0">
                <a:solidFill>
                  <a:srgbClr val="1F2937"/>
                </a:solidFill>
                <a:latin typeface="Calibri"/>
              </a:rPr>
              <a:t>+ shortcut objective:  329</a:t>
            </a:r>
          </a:p>
          <a:p>
            <a:pPr algn="l">
              <a:lnSpc>
                <a:spcPct val="110000"/>
              </a:lnSpc>
              <a:spcAft>
                <a:spcPts val="500"/>
              </a:spcAft>
            </a:pPr>
            <a:r>
              <a:rPr sz="1250" b="0" i="0">
                <a:solidFill>
                  <a:srgbClr val="1F2937"/>
                </a:solidFill>
                <a:latin typeface="Calibri"/>
              </a:rPr>
              <a:t>+ x-prediction:  326</a:t>
            </a:r>
          </a:p>
          <a:p>
            <a:pPr algn="l">
              <a:lnSpc>
                <a:spcPct val="110000"/>
              </a:lnSpc>
              <a:spcAft>
                <a:spcPts val="500"/>
              </a:spcAft>
            </a:pPr>
            <a:r>
              <a:rPr sz="1250" b="0" i="0">
                <a:solidFill>
                  <a:srgbClr val="1F2937"/>
                </a:solidFill>
                <a:latin typeface="Calibri"/>
              </a:rPr>
              <a:t>+ x-space loss:  151</a:t>
            </a:r>
          </a:p>
          <a:p>
            <a:pPr algn="l">
              <a:lnSpc>
                <a:spcPct val="110000"/>
              </a:lnSpc>
              <a:spcAft>
                <a:spcPts val="500"/>
              </a:spcAft>
            </a:pPr>
            <a:r>
              <a:rPr sz="1250" b="0" i="0">
                <a:solidFill>
                  <a:srgbClr val="1F2937"/>
                </a:solidFill>
                <a:latin typeface="Calibri"/>
              </a:rPr>
              <a:t>+ ramp weight:  102</a:t>
            </a:r>
          </a:p>
          <a:p>
            <a:pPr algn="l">
              <a:lnSpc>
                <a:spcPct val="110000"/>
              </a:lnSpc>
              <a:spcAft>
                <a:spcPts val="500"/>
              </a:spcAft>
            </a:pPr>
            <a:r>
              <a:rPr sz="1250" b="0" i="0">
                <a:solidFill>
                  <a:srgbClr val="1F2937"/>
                </a:solidFill>
                <a:latin typeface="Calibri"/>
              </a:rPr>
              <a:t>Full architecture but v-space prediction/loss:  124  vs  57</a:t>
            </a:r>
          </a:p>
        </p:txBody>
      </p:sp>
      <p:sp>
        <p:nvSpPr>
          <p:cNvPr id="12" name="Rectangle 11"/>
          <p:cNvSpPr/>
          <p:nvPr/>
        </p:nvSpPr>
        <p:spPr>
          <a:xfrm>
            <a:off x="7406640" y="4462272"/>
            <a:ext cx="25400" cy="123088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4434840"/>
            <a:ext cx="40965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WHY THIS IS THE KEY CONTRIBUTION</a:t>
            </a:r>
          </a:p>
        </p:txBody>
      </p:sp>
      <p:sp>
        <p:nvSpPr>
          <p:cNvPr id="14" name="TextBox 13"/>
          <p:cNvSpPr txBox="1"/>
          <p:nvPr/>
        </p:nvSpPr>
        <p:spPr>
          <a:xfrm>
            <a:off x="7589520" y="4764024"/>
            <a:ext cx="4096512" cy="137160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4 steps ≈ the quality of 16–32 diffusion-forcing steps (Fig. 8) — roughly 16× fewer network evaluations per frame, which is what makes real-time interaction and large-scale imagination RL feasible.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Why x-prediction matters for autoregressive world models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Hafner's explanation (TalkRL, Nov 2025) and the numbers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19</a:t>
            </a:r>
          </a:p>
        </p:txBody>
      </p:sp>
      <p:sp>
        <p:nvSpPr>
          <p:cNvPr id="8" name="TextBox 7"/>
          <p:cNvSpPr txBox="1"/>
          <p:nvPr/>
        </p:nvSpPr>
        <p:spPr>
          <a:xfrm>
            <a:off x="548640" y="1417320"/>
            <a:ext cx="6766560" cy="42062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v-prediction carries the noise:</a:t>
            </a:r>
            <a:r>
              <a:rPr sz="1450" b="0" i="0">
                <a:solidFill>
                  <a:srgbClr val="1F2937"/>
                </a:solidFill>
                <a:latin typeface="Calibri"/>
              </a:rPr>
              <a:t> to output v = x − ε the network must reproduce the </a:t>
            </a:r>
            <a:r>
              <a:rPr sz="1450" b="0" i="1">
                <a:solidFill>
                  <a:srgbClr val="1F2937"/>
                </a:solidFill>
                <a:latin typeface="Calibri"/>
              </a:rPr>
              <a:t>exact</a:t>
            </a:r>
            <a:r>
              <a:rPr sz="1450" b="0" i="0">
                <a:solidFill>
                  <a:srgbClr val="1F2937"/>
                </a:solidFill>
                <a:latin typeface="Calibri"/>
              </a:rPr>
              <a:t> noise pattern of its input through every layer; small mistakes in that noise become errors in the sample</a:t>
            </a:r>
          </a:p>
          <a:p>
            <a:pPr marL="237744" indent="-201168">
              <a:lnSpc>
                <a:spcPct val="108000"/>
              </a:lnSpc>
              <a:spcAft>
                <a:spcPts val="600"/>
              </a:spcAft>
              <a:buClr>
                <a:srgbClr val="9AA3B2"/>
              </a:buClr>
              <a:buFont typeface="Arial"/>
              <a:buChar char="•"/>
            </a:pPr>
            <a:r>
              <a:rPr sz="1450" b="1" i="0">
                <a:solidFill>
                  <a:srgbClr val="14213D"/>
                </a:solidFill>
                <a:latin typeface="Calibri"/>
              </a:rPr>
              <a:t>In autoregressive use these errors compound:</a:t>
            </a:r>
            <a:r>
              <a:rPr sz="1450" b="0" i="0">
                <a:solidFill>
                  <a:srgbClr val="1F2937"/>
                </a:solidFill>
                <a:latin typeface="Calibri"/>
              </a:rPr>
              <a:t> each generated frame becomes context for the next; velocity errors accumulate as drift, blur or flicker over long rollouts</a:t>
            </a:r>
          </a:p>
          <a:p>
            <a:pPr marL="237744" indent="-201168">
              <a:lnSpc>
                <a:spcPct val="108000"/>
              </a:lnSpc>
              <a:spcAft>
                <a:spcPts val="600"/>
              </a:spcAft>
              <a:buClr>
                <a:srgbClr val="9AA3B2"/>
              </a:buClr>
              <a:buFont typeface="Arial"/>
              <a:buChar char="•"/>
            </a:pPr>
            <a:r>
              <a:rPr sz="1450" b="1" i="0">
                <a:solidFill>
                  <a:srgbClr val="14213D"/>
                </a:solidFill>
                <a:latin typeface="Calibri"/>
              </a:rPr>
              <a:t>x-prediction is a denoising target:</a:t>
            </a:r>
            <a:r>
              <a:rPr sz="1450" b="0" i="0">
                <a:solidFill>
                  <a:srgbClr val="1F2937"/>
                </a:solidFill>
                <a:latin typeface="Calibri"/>
              </a:rPr>
              <a:t> the network only needs to know what the clean frame should look like — errors are 'pulled back' toward plausible images every step</a:t>
            </a:r>
          </a:p>
          <a:p>
            <a:pPr marL="237744" indent="-201168">
              <a:lnSpc>
                <a:spcPct val="108000"/>
              </a:lnSpc>
              <a:spcAft>
                <a:spcPts val="600"/>
              </a:spcAft>
              <a:buClr>
                <a:srgbClr val="9AA3B2"/>
              </a:buClr>
              <a:buFont typeface="Arial"/>
              <a:buChar char="•"/>
            </a:pPr>
            <a:r>
              <a:rPr sz="1450" b="1" i="0">
                <a:solidFill>
                  <a:srgbClr val="14213D"/>
                </a:solidFill>
                <a:latin typeface="Calibri"/>
              </a:rPr>
              <a:t>Combined with noised context (τ_ctx ≈ 0.1):</a:t>
            </a:r>
            <a:r>
              <a:rPr sz="1450" b="0" i="0">
                <a:solidFill>
                  <a:srgbClr val="1F2937"/>
                </a:solidFill>
                <a:latin typeface="Calibri"/>
              </a:rPr>
              <a:t> the model is trained and run on slightly corrupted context, so it never sees a distribution it was not trained on</a:t>
            </a:r>
          </a:p>
          <a:p>
            <a:pPr marL="237744" indent="-201168">
              <a:lnSpc>
                <a:spcPct val="108000"/>
              </a:lnSpc>
              <a:spcAft>
                <a:spcPts val="600"/>
              </a:spcAft>
              <a:buClr>
                <a:srgbClr val="9AA3B2"/>
              </a:buClr>
              <a:buFont typeface="Arial"/>
              <a:buChar char="•"/>
            </a:pPr>
            <a:r>
              <a:rPr sz="1450" b="1" i="0">
                <a:solidFill>
                  <a:srgbClr val="14213D"/>
                </a:solidFill>
                <a:latin typeface="Calibri"/>
              </a:rPr>
              <a:t>Evidence:</a:t>
            </a:r>
            <a:r>
              <a:rPr sz="1450" b="0" i="0">
                <a:solidFill>
                  <a:srgbClr val="1F2937"/>
                </a:solidFill>
                <a:latin typeface="Calibri"/>
              </a:rPr>
              <a:t> full architecture with v-space prediction/loss reaches FVD 124; with x-prediction and x-space loss, 57 (Table 2). Long 384-frame generations were used for FVD precisely to expose compounding error</a:t>
            </a:r>
          </a:p>
        </p:txBody>
      </p:sp>
      <p:pic>
        <p:nvPicPr>
          <p:cNvPr id="9" name="Picture 8" descr="fig8_shortcut_vs_df.png"/>
          <p:cNvPicPr>
            <a:picLocks noChangeAspect="1"/>
          </p:cNvPicPr>
          <p:nvPr/>
        </p:nvPicPr>
        <p:blipFill>
          <a:blip r:embed="rId2"/>
          <a:stretch>
            <a:fillRect/>
          </a:stretch>
        </p:blipFill>
        <p:spPr>
          <a:xfrm>
            <a:off x="7589520" y="1463040"/>
            <a:ext cx="4114800" cy="3413509"/>
          </a:xfrm>
          <a:prstGeom prst="rect">
            <a:avLst/>
          </a:prstGeom>
        </p:spPr>
      </p:pic>
      <p:sp>
        <p:nvSpPr>
          <p:cNvPr id="10" name="TextBox 9"/>
          <p:cNvSpPr txBox="1"/>
          <p:nvPr/>
        </p:nvSpPr>
        <p:spPr>
          <a:xfrm>
            <a:off x="7589520" y="5074920"/>
            <a:ext cx="4114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8: FVD vs sampling steps. Shortcut forcing at 4 steps ≈ 60; diffusion forcing needs 16–32 steps to match.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Architecture choices that buy speed without losing quality</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Table 2: each row adds one change to the previous row</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20</a:t>
            </a:r>
          </a:p>
        </p:txBody>
      </p:sp>
      <p:pic>
        <p:nvPicPr>
          <p:cNvPr id="8" name="Picture 7" descr="chart_ablation_cascade.png"/>
          <p:cNvPicPr>
            <a:picLocks noChangeAspect="1"/>
          </p:cNvPicPr>
          <p:nvPr/>
        </p:nvPicPr>
        <p:blipFill>
          <a:blip r:embed="rId2"/>
          <a:stretch>
            <a:fillRect/>
          </a:stretch>
        </p:blipFill>
        <p:spPr>
          <a:xfrm>
            <a:off x="753643" y="1371600"/>
            <a:ext cx="6813754" cy="4023360"/>
          </a:xfrm>
          <a:prstGeom prst="rect">
            <a:avLst/>
          </a:prstGeom>
        </p:spPr>
      </p:pic>
      <p:sp>
        <p:nvSpPr>
          <p:cNvPr id="9" name="TextBox 8"/>
          <p:cNvSpPr txBox="1"/>
          <p:nvPr/>
        </p:nvSpPr>
        <p:spPr>
          <a:xfrm>
            <a:off x="8138160" y="1417320"/>
            <a:ext cx="3749039" cy="49377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Alternating batch lengths</a:t>
            </a:r>
            <a:r>
              <a:rPr sz="1400" b="0" i="0">
                <a:solidFill>
                  <a:srgbClr val="1F2937"/>
                </a:solidFill>
                <a:latin typeface="Calibri"/>
              </a:rPr>
              <a:t> (64 / 256 frames): FVD 102 → 80 and a training step from 9.8 s → 1.5 s</a:t>
            </a:r>
          </a:p>
          <a:p>
            <a:pPr marL="237744" indent="-201168">
              <a:lnSpc>
                <a:spcPct val="108000"/>
              </a:lnSpc>
              <a:spcAft>
                <a:spcPts val="600"/>
              </a:spcAft>
              <a:buClr>
                <a:srgbClr val="9AA3B2"/>
              </a:buClr>
              <a:buFont typeface="Arial"/>
              <a:buChar char="•"/>
            </a:pPr>
            <a:r>
              <a:rPr sz="1400" b="1" i="0">
                <a:solidFill>
                  <a:srgbClr val="14213D"/>
                </a:solidFill>
                <a:latin typeface="Calibri"/>
              </a:rPr>
              <a:t>Time attention only every 4th layer:</a:t>
            </a:r>
            <a:r>
              <a:rPr sz="1400" b="0" i="0">
                <a:solidFill>
                  <a:srgbClr val="1F2937"/>
                </a:solidFill>
                <a:latin typeface="Calibri"/>
              </a:rPr>
              <a:t> 18.9 FPS at FVD 70</a:t>
            </a:r>
          </a:p>
          <a:p>
            <a:pPr marL="237744" indent="-201168">
              <a:lnSpc>
                <a:spcPct val="108000"/>
              </a:lnSpc>
              <a:spcAft>
                <a:spcPts val="600"/>
              </a:spcAft>
              <a:buClr>
                <a:srgbClr val="9AA3B2"/>
              </a:buClr>
              <a:buFont typeface="Arial"/>
              <a:buChar char="•"/>
            </a:pPr>
            <a:r>
              <a:rPr sz="1400" b="1" i="0">
                <a:solidFill>
                  <a:srgbClr val="14213D"/>
                </a:solidFill>
                <a:latin typeface="Calibri"/>
              </a:rPr>
              <a:t>Grouped-query attention:</a:t>
            </a:r>
            <a:r>
              <a:rPr sz="1400" b="0" i="0">
                <a:solidFill>
                  <a:srgbClr val="1F2937"/>
                </a:solidFill>
                <a:latin typeface="Calibri"/>
              </a:rPr>
              <a:t> 23.2 FPS, FVD unchanged</a:t>
            </a:r>
          </a:p>
          <a:p>
            <a:pPr marL="237744" indent="-201168">
              <a:lnSpc>
                <a:spcPct val="108000"/>
              </a:lnSpc>
              <a:spcAft>
                <a:spcPts val="600"/>
              </a:spcAft>
              <a:buClr>
                <a:srgbClr val="9AA3B2"/>
              </a:buClr>
              <a:buFont typeface="Arial"/>
              <a:buChar char="•"/>
            </a:pPr>
            <a:r>
              <a:rPr sz="1400" b="1" i="0">
                <a:solidFill>
                  <a:srgbClr val="14213D"/>
                </a:solidFill>
                <a:latin typeface="Calibri"/>
              </a:rPr>
              <a:t>Time-factorised long context</a:t>
            </a:r>
            <a:r>
              <a:rPr sz="1400" b="0" i="0">
                <a:solidFill>
                  <a:srgbClr val="1F2937"/>
                </a:solidFill>
                <a:latin typeface="Calibri"/>
              </a:rPr>
              <a:t> trades a little quality (91) for 30 FPS; </a:t>
            </a:r>
            <a:r>
              <a:rPr sz="1400" b="1" i="0">
                <a:solidFill>
                  <a:srgbClr val="14213D"/>
                </a:solidFill>
                <a:latin typeface="Calibri"/>
              </a:rPr>
              <a:t>registers</a:t>
            </a:r>
            <a:r>
              <a:rPr sz="1400" b="0" i="0">
                <a:solidFill>
                  <a:srgbClr val="1F2937"/>
                </a:solidFill>
                <a:latin typeface="Calibri"/>
              </a:rPr>
              <a:t> stabilise attention</a:t>
            </a:r>
          </a:p>
          <a:p>
            <a:pPr marL="237744" indent="-201168">
              <a:lnSpc>
                <a:spcPct val="108000"/>
              </a:lnSpc>
              <a:spcAft>
                <a:spcPts val="600"/>
              </a:spcAft>
              <a:buClr>
                <a:srgbClr val="9AA3B2"/>
              </a:buClr>
              <a:buFont typeface="Arial"/>
              <a:buChar char="•"/>
            </a:pPr>
            <a:r>
              <a:rPr sz="1400" b="1" i="0">
                <a:solidFill>
                  <a:srgbClr val="14213D"/>
                </a:solidFill>
                <a:latin typeface="Calibri"/>
              </a:rPr>
              <a:t>More latent tokens</a:t>
            </a:r>
            <a:r>
              <a:rPr sz="1400" b="0" i="0">
                <a:solidFill>
                  <a:srgbClr val="1F2937"/>
                </a:solidFill>
                <a:latin typeface="Calibri"/>
              </a:rPr>
              <a:t> (128 → 256) brings FVD to 57 at 21.4 FPS — the final configuration</a:t>
            </a:r>
          </a:p>
          <a:p>
            <a:pPr marL="237744" indent="-201168">
              <a:lnSpc>
                <a:spcPct val="108000"/>
              </a:lnSpc>
              <a:spcAft>
                <a:spcPts val="600"/>
              </a:spcAft>
              <a:buClr>
                <a:srgbClr val="9AA3B2"/>
              </a:buClr>
              <a:buFont typeface="Arial"/>
              <a:buChar char="•"/>
            </a:pPr>
            <a:r>
              <a:rPr sz="1400" b="0" i="0">
                <a:solidFill>
                  <a:srgbClr val="1F2937"/>
                </a:solidFill>
                <a:latin typeface="Calibri"/>
              </a:rPr>
              <a:t>Runs were 48 h each; FVD computed on 1,024 generations of 384 frames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From world model to agent: agent tokens &amp; heads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Phase 2 — policy and reward live inside the same transformer, but cannot disturb the simulation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21</a:t>
            </a:r>
          </a:p>
        </p:txBody>
      </p:sp>
      <p:sp>
        <p:nvSpPr>
          <p:cNvPr id="8" name="TextBox 7"/>
          <p:cNvSpPr txBox="1"/>
          <p:nvPr/>
        </p:nvSpPr>
        <p:spPr>
          <a:xfrm>
            <a:off x="548640" y="1417320"/>
            <a:ext cx="694944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Agent tokens:</a:t>
            </a:r>
            <a:r>
              <a:rPr sz="1450" b="0" i="0">
                <a:solidFill>
                  <a:srgbClr val="1F2937"/>
                </a:solidFill>
                <a:latin typeface="Calibri"/>
              </a:rPr>
              <a:t> extra tokens per frame that carry a task embedding (one-hot over the 20 training tasks) and read out policy and reward</a:t>
            </a:r>
          </a:p>
          <a:p>
            <a:pPr marL="237744" indent="-201168">
              <a:lnSpc>
                <a:spcPct val="108000"/>
              </a:lnSpc>
              <a:spcAft>
                <a:spcPts val="600"/>
              </a:spcAft>
              <a:buClr>
                <a:srgbClr val="9AA3B2"/>
              </a:buClr>
              <a:buFont typeface="Arial"/>
              <a:buChar char="•"/>
            </a:pPr>
            <a:r>
              <a:rPr sz="1450" b="1" i="0">
                <a:solidFill>
                  <a:srgbClr val="14213D"/>
                </a:solidFill>
                <a:latin typeface="Calibri"/>
              </a:rPr>
              <a:t>One-way attention:</a:t>
            </a:r>
            <a:r>
              <a:rPr sz="1450" b="0" i="0">
                <a:solidFill>
                  <a:srgbClr val="1F2937"/>
                </a:solidFill>
                <a:latin typeface="Calibri"/>
              </a:rPr>
              <a:t> agent tokens attend to actions, latents and past frames — but </a:t>
            </a:r>
            <a:r>
              <a:rPr sz="1450" b="0" i="1">
                <a:solidFill>
                  <a:srgbClr val="1F2937"/>
                </a:solidFill>
                <a:latin typeface="Calibri"/>
              </a:rPr>
              <a:t>nothing attends back to them</a:t>
            </a:r>
            <a:r>
              <a:rPr sz="1450" b="0" i="0">
                <a:solidFill>
                  <a:srgbClr val="1F2937"/>
                </a:solidFill>
                <a:latin typeface="Calibri"/>
              </a:rPr>
              <a:t>, so the world model never conditions on the policy's intentions or reward estimates</a:t>
            </a:r>
          </a:p>
          <a:p>
            <a:pPr marL="237744" indent="-201168">
              <a:lnSpc>
                <a:spcPct val="108000"/>
              </a:lnSpc>
              <a:spcAft>
                <a:spcPts val="600"/>
              </a:spcAft>
              <a:buClr>
                <a:srgbClr val="9AA3B2"/>
              </a:buClr>
              <a:buFont typeface="Arial"/>
              <a:buChar char="•"/>
            </a:pPr>
            <a:r>
              <a:rPr sz="1450" b="1" i="0">
                <a:solidFill>
                  <a:srgbClr val="14213D"/>
                </a:solidFill>
                <a:latin typeface="Calibri"/>
              </a:rPr>
              <a:t>Policy head — behavioural cloning with multi-token prediction:</a:t>
            </a:r>
            <a:r>
              <a:rPr sz="1450" b="0" i="0">
                <a:solidFill>
                  <a:srgbClr val="1F2937"/>
                </a:solidFill>
                <a:latin typeface="Calibri"/>
              </a:rPr>
              <a:t> predict the next L = 8 actions; the extra horizon regularises the representation and encodes intent</a:t>
            </a:r>
          </a:p>
          <a:p>
            <a:pPr marL="237744" indent="-201168">
              <a:lnSpc>
                <a:spcPct val="108000"/>
              </a:lnSpc>
              <a:spcAft>
                <a:spcPts val="600"/>
              </a:spcAft>
              <a:buClr>
                <a:srgbClr val="9AA3B2"/>
              </a:buClr>
              <a:buFont typeface="Arial"/>
              <a:buChar char="•"/>
            </a:pPr>
            <a:r>
              <a:rPr sz="1450" b="1" i="0">
                <a:solidFill>
                  <a:srgbClr val="14213D"/>
                </a:solidFill>
                <a:latin typeface="Calibri"/>
              </a:rPr>
              <a:t>Reward head:</a:t>
            </a:r>
            <a:r>
              <a:rPr sz="1450" b="0" i="0">
                <a:solidFill>
                  <a:srgbClr val="1F2937"/>
                </a:solidFill>
                <a:latin typeface="Calibri"/>
              </a:rPr>
              <a:t> predicts task rewards derived from game events (item obtained); a task-conditioned </a:t>
            </a:r>
            <a:r>
              <a:rPr sz="1450" b="0" i="1">
                <a:solidFill>
                  <a:srgbClr val="1F2937"/>
                </a:solidFill>
                <a:latin typeface="Calibri"/>
              </a:rPr>
              <a:t>scalar</a:t>
            </a:r>
            <a:r>
              <a:rPr sz="1450" b="0" i="0">
                <a:solidFill>
                  <a:srgbClr val="1F2937"/>
                </a:solidFill>
                <a:latin typeface="Calibri"/>
              </a:rPr>
              <a:t> reward was chosen over a reward vector so that open-vocabulary tasks remain possible</a:t>
            </a:r>
          </a:p>
          <a:p>
            <a:pPr marL="237744" indent="-201168">
              <a:lnSpc>
                <a:spcPct val="108000"/>
              </a:lnSpc>
              <a:spcAft>
                <a:spcPts val="600"/>
              </a:spcAft>
              <a:buClr>
                <a:srgbClr val="9AA3B2"/>
              </a:buClr>
              <a:buFont typeface="Arial"/>
              <a:buChar char="•"/>
            </a:pPr>
            <a:r>
              <a:rPr sz="1450" b="1" i="0">
                <a:solidFill>
                  <a:srgbClr val="14213D"/>
                </a:solidFill>
                <a:latin typeface="Calibri"/>
              </a:rPr>
              <a:t>Value head:</a:t>
            </a:r>
            <a:r>
              <a:rPr sz="1450" b="0" i="0">
                <a:solidFill>
                  <a:srgbClr val="1F2937"/>
                </a:solidFill>
                <a:latin typeface="Calibri"/>
              </a:rPr>
              <a:t> added in Phase 3, trained by TD learning on imagined rollouts</a:t>
            </a:r>
          </a:p>
          <a:p>
            <a:pPr marL="237744" indent="-201168">
              <a:lnSpc>
                <a:spcPct val="108000"/>
              </a:lnSpc>
              <a:spcAft>
                <a:spcPts val="600"/>
              </a:spcAft>
              <a:buClr>
                <a:srgbClr val="9AA3B2"/>
              </a:buClr>
              <a:buFont typeface="Arial"/>
              <a:buChar char="•"/>
            </a:pPr>
            <a:r>
              <a:rPr sz="1450" b="1" i="0">
                <a:solidFill>
                  <a:srgbClr val="14213D"/>
                </a:solidFill>
                <a:latin typeface="Calibri"/>
              </a:rPr>
              <a:t>Result already at this stage:</a:t>
            </a:r>
            <a:r>
              <a:rPr sz="1450" b="0" i="0">
                <a:solidFill>
                  <a:srgbClr val="1F2937"/>
                </a:solidFill>
                <a:latin typeface="Calibri"/>
              </a:rPr>
              <a:t> 'WM + BC' beats BC on every hard milestone (iron pickaxe 16.9 % vs 0.6 %) — the video-prediction representation is a strong prior for control</a:t>
            </a:r>
          </a:p>
        </p:txBody>
      </p:sp>
      <p:pic>
        <p:nvPicPr>
          <p:cNvPr id="9" name="Picture 8" descr="fig_rl.png"/>
          <p:cNvPicPr>
            <a:picLocks noChangeAspect="1"/>
          </p:cNvPicPr>
          <p:nvPr/>
        </p:nvPicPr>
        <p:blipFill>
          <a:blip r:embed="rId2"/>
          <a:stretch>
            <a:fillRect/>
          </a:stretch>
        </p:blipFill>
        <p:spPr>
          <a:xfrm>
            <a:off x="7680960" y="1554480"/>
            <a:ext cx="4023360" cy="1352425"/>
          </a:xfrm>
          <a:prstGeom prst="rect">
            <a:avLst/>
          </a:prstGeom>
        </p:spPr>
      </p:pic>
      <p:sp>
        <p:nvSpPr>
          <p:cNvPr id="10" name="TextBox 9"/>
          <p:cNvSpPr txBox="1"/>
          <p:nvPr/>
        </p:nvSpPr>
        <p:spPr>
          <a:xfrm>
            <a:off x="7680960" y="3703320"/>
            <a:ext cx="402336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3: success rates of agents trained on the same offline data (BC, VLA, WM+BC, Dreamer 4).</a:t>
            </a:r>
          </a:p>
        </p:txBody>
      </p:sp>
      <p:sp>
        <p:nvSpPr>
          <p:cNvPr id="11" name="Rectangle 10"/>
          <p:cNvSpPr/>
          <p:nvPr/>
        </p:nvSpPr>
        <p:spPr>
          <a:xfrm>
            <a:off x="7680960" y="4325112"/>
            <a:ext cx="25400" cy="123088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4297680"/>
            <a:ext cx="382219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WHY NOT A SEPARATE POLICY NETWORK?</a:t>
            </a:r>
          </a:p>
        </p:txBody>
      </p:sp>
      <p:sp>
        <p:nvSpPr>
          <p:cNvPr id="13" name="TextBox 12"/>
          <p:cNvSpPr txBox="1"/>
          <p:nvPr/>
        </p:nvSpPr>
        <p:spPr>
          <a:xfrm>
            <a:off x="7863840" y="4626864"/>
            <a:ext cx="3822192" cy="146304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Sharing the backbone gives the policy the world model's representation for free, and keeps everything one model. The one-way attention mask is what makes this safe.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Imagination training with PMPO</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Phase 3 — RL on imagined rollouts, with the transformer frozen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METHOD</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22</a:t>
            </a:r>
          </a:p>
        </p:txBody>
      </p:sp>
      <p:sp>
        <p:nvSpPr>
          <p:cNvPr id="8" name="TextBox 7"/>
          <p:cNvSpPr txBox="1"/>
          <p:nvPr/>
        </p:nvSpPr>
        <p:spPr>
          <a:xfrm>
            <a:off x="548640" y="1417320"/>
            <a:ext cx="676656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Rollouts:</a:t>
            </a:r>
            <a:r>
              <a:rPr sz="1450" b="0" i="0">
                <a:solidFill>
                  <a:srgbClr val="1F2937"/>
                </a:solidFill>
                <a:latin typeface="Calibri"/>
              </a:rPr>
              <a:t> start from real context frames, let the policy act, and let the world model generate what happens next; rewards come from the learned reward head; γ = 0.997</a:t>
            </a:r>
          </a:p>
          <a:p>
            <a:pPr marL="237744" indent="-201168">
              <a:lnSpc>
                <a:spcPct val="108000"/>
              </a:lnSpc>
              <a:spcAft>
                <a:spcPts val="600"/>
              </a:spcAft>
              <a:buClr>
                <a:srgbClr val="9AA3B2"/>
              </a:buClr>
              <a:buFont typeface="Arial"/>
              <a:buChar char="•"/>
            </a:pPr>
            <a:r>
              <a:rPr sz="1450" b="1" i="0">
                <a:solidFill>
                  <a:srgbClr val="14213D"/>
                </a:solidFill>
                <a:latin typeface="Calibri"/>
              </a:rPr>
              <a:t>Frozen transformer:</a:t>
            </a:r>
            <a:r>
              <a:rPr sz="1450" b="0" i="0">
                <a:solidFill>
                  <a:srgbClr val="1F2937"/>
                </a:solidFill>
                <a:latin typeface="Calibri"/>
              </a:rPr>
              <a:t> only policy and value heads are trained → the simulator cannot drift toward the policy</a:t>
            </a:r>
          </a:p>
          <a:p>
            <a:pPr marL="237744" indent="-201168">
              <a:lnSpc>
                <a:spcPct val="108000"/>
              </a:lnSpc>
              <a:spcAft>
                <a:spcPts val="600"/>
              </a:spcAft>
              <a:buClr>
                <a:srgbClr val="9AA3B2"/>
              </a:buClr>
              <a:buFont typeface="Arial"/>
              <a:buChar char="•"/>
            </a:pPr>
            <a:r>
              <a:rPr sz="1450" b="1" i="0">
                <a:solidFill>
                  <a:srgbClr val="14213D"/>
                </a:solidFill>
                <a:latin typeface="Calibri"/>
              </a:rPr>
              <a:t>PMPO (Preference-style MPO):</a:t>
            </a:r>
            <a:r>
              <a:rPr sz="1450" b="0" i="0">
                <a:solidFill>
                  <a:srgbClr val="1F2937"/>
                </a:solidFill>
                <a:latin typeface="Calibri"/>
              </a:rPr>
              <a:t> instead of scaling the policy gradient by the advantage, use only its </a:t>
            </a:r>
            <a:r>
              <a:rPr sz="1450" b="0" i="1">
                <a:solidFill>
                  <a:srgbClr val="1F2937"/>
                </a:solidFill>
                <a:latin typeface="Calibri"/>
              </a:rPr>
              <a:t>sign</a:t>
            </a:r>
            <a:r>
              <a:rPr sz="1450" b="0" i="0">
                <a:solidFill>
                  <a:srgbClr val="1F2937"/>
                </a:solidFill>
                <a:latin typeface="Calibri"/>
              </a:rPr>
              <a:t> — positive-advantage actions are pushed up, negative ones down, with balanced weight α = 0.5 on each set</a:t>
            </a:r>
          </a:p>
          <a:p>
            <a:pPr marL="237744" indent="-201168">
              <a:lnSpc>
                <a:spcPct val="108000"/>
              </a:lnSpc>
              <a:spcAft>
                <a:spcPts val="600"/>
              </a:spcAft>
              <a:buClr>
                <a:srgbClr val="9AA3B2"/>
              </a:buClr>
              <a:buFont typeface="Arial"/>
              <a:buChar char="•"/>
            </a:pPr>
            <a:r>
              <a:rPr sz="1450" b="1" i="0">
                <a:solidFill>
                  <a:srgbClr val="14213D"/>
                </a:solidFill>
                <a:latin typeface="Calibri"/>
              </a:rPr>
              <a:t>Reverse-KL to the frozen BC policy</a:t>
            </a:r>
            <a:r>
              <a:rPr sz="1450" b="0" i="0">
                <a:solidFill>
                  <a:srgbClr val="1F2937"/>
                </a:solidFill>
                <a:latin typeface="Calibri"/>
              </a:rPr>
              <a:t> with β = 0.3 keeps the policy on the data manifold — analogous to KL-regularised RLHF; also the main guard against exploiting world-model gaps</a:t>
            </a:r>
          </a:p>
          <a:p>
            <a:pPr marL="237744" indent="-201168">
              <a:lnSpc>
                <a:spcPct val="108000"/>
              </a:lnSpc>
              <a:spcAft>
                <a:spcPts val="600"/>
              </a:spcAft>
              <a:buClr>
                <a:srgbClr val="9AA3B2"/>
              </a:buClr>
              <a:buFont typeface="Arial"/>
              <a:buChar char="•"/>
            </a:pPr>
            <a:r>
              <a:rPr sz="1450" b="1" i="0">
                <a:solidFill>
                  <a:srgbClr val="14213D"/>
                </a:solidFill>
                <a:latin typeface="Calibri"/>
              </a:rPr>
              <a:t>Why not Dreamer 3's recipe?</a:t>
            </a:r>
            <a:r>
              <a:rPr sz="1450" b="0" i="0">
                <a:solidFill>
                  <a:srgbClr val="1F2937"/>
                </a:solidFill>
                <a:latin typeface="Calibri"/>
              </a:rPr>
              <a:t> Return normalisation + entropy bonus were replaced by the sign-based update: robust to reward scale and to the extremely sparse late-game rewards</a:t>
            </a:r>
          </a:p>
          <a:p>
            <a:pPr marL="237744" indent="-201168">
              <a:lnSpc>
                <a:spcPct val="108000"/>
              </a:lnSpc>
              <a:spcAft>
                <a:spcPts val="600"/>
              </a:spcAft>
              <a:buClr>
                <a:srgbClr val="9AA3B2"/>
              </a:buClr>
              <a:buFont typeface="Arial"/>
              <a:buChar char="•"/>
            </a:pPr>
            <a:r>
              <a:rPr sz="1450" b="1" i="0">
                <a:solidFill>
                  <a:srgbClr val="14213D"/>
                </a:solidFill>
                <a:latin typeface="Calibri"/>
              </a:rPr>
              <a:t>Effect:</a:t>
            </a:r>
            <a:r>
              <a:rPr sz="1450" b="0" i="0">
                <a:solidFill>
                  <a:srgbClr val="1F2937"/>
                </a:solidFill>
                <a:latin typeface="Calibri"/>
              </a:rPr>
              <a:t> iron pickaxe 16.9 % → 29.0 %, iron ingot 27.8 % → 39.5 %, diamond 0 → 0.7 %; agents also become faster (Table 8)</a:t>
            </a:r>
          </a:p>
        </p:txBody>
      </p:sp>
      <p:pic>
        <p:nvPicPr>
          <p:cNvPr id="9" name="Picture 8" descr="frame_imag_cobble.jpg"/>
          <p:cNvPicPr>
            <a:picLocks noChangeAspect="1"/>
          </p:cNvPicPr>
          <p:nvPr/>
        </p:nvPicPr>
        <p:blipFill>
          <a:blip r:embed="rId2"/>
          <a:stretch>
            <a:fillRect/>
          </a:stretch>
        </p:blipFill>
        <p:spPr>
          <a:xfrm>
            <a:off x="8005108" y="1554480"/>
            <a:ext cx="3283624" cy="2651760"/>
          </a:xfrm>
          <a:prstGeom prst="rect">
            <a:avLst/>
          </a:prstGeom>
        </p:spPr>
      </p:pic>
      <p:sp>
        <p:nvSpPr>
          <p:cNvPr id="10" name="TextBox 9"/>
          <p:cNvSpPr txBox="1"/>
          <p:nvPr/>
        </p:nvSpPr>
        <p:spPr>
          <a:xfrm>
            <a:off x="7589520" y="4224528"/>
            <a:ext cx="4114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Imagined 'mine stone' rollout with reward and value traces (project page).</a:t>
            </a:r>
          </a:p>
        </p:txBody>
      </p:sp>
      <p:sp>
        <p:nvSpPr>
          <p:cNvPr id="11" name="Rectangle 10"/>
          <p:cNvSpPr/>
          <p:nvPr/>
        </p:nvSpPr>
        <p:spPr>
          <a:xfrm>
            <a:off x="7589520" y="4736592"/>
            <a:ext cx="25400" cy="1197356"/>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4709160"/>
            <a:ext cx="391363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FAILURE MODE THE KL TERM ADDRESSES</a:t>
            </a:r>
          </a:p>
        </p:txBody>
      </p:sp>
      <p:sp>
        <p:nvSpPr>
          <p:cNvPr id="13" name="TextBox 12"/>
          <p:cNvSpPr txBox="1"/>
          <p:nvPr/>
        </p:nvSpPr>
        <p:spPr>
          <a:xfrm>
            <a:off x="7772400" y="5038344"/>
            <a:ext cx="3913632" cy="109728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Hafner's example: the policy discovers it can 'craft' a pickaxe from invalid materials because the model renders it anyway. The KL to the BC prior limits such exploitation.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03</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3</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Experiments</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Real-time play-testing, the offline diamond challenge, ablations, label efficiency, robotics</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Is the world model accurate? Let humans play inside it</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Table 1: real-time interaction on one H100; 16 tasks attempted by human testers from the same starting frame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24</a:t>
            </a:r>
          </a:p>
        </p:txBody>
      </p:sp>
      <p:graphicFrame>
        <p:nvGraphicFramePr>
          <p:cNvPr id="8" name="Table 7"/>
          <p:cNvGraphicFramePr>
            <a:graphicFrameLocks noGrp="1"/>
          </p:cNvGraphicFramePr>
          <p:nvPr/>
        </p:nvGraphicFramePr>
        <p:xfrm>
          <a:off x="457200" y="1463040"/>
          <a:ext cx="7315200" cy="2304288"/>
        </p:xfrm>
        <a:graphic>
          <a:graphicData uri="http://schemas.openxmlformats.org/drawingml/2006/table">
            <a:tbl>
              <a:tblPr firstRow="0" bandRow="0"/>
              <a:tblGrid>
                <a:gridCol w="1463040"/>
                <a:gridCol w="822960"/>
                <a:gridCol w="1234440"/>
                <a:gridCol w="914400"/>
                <a:gridCol w="685800"/>
                <a:gridCol w="2194560"/>
              </a:tblGrid>
              <a:tr h="384048">
                <a:tc>
                  <a:txBody>
                    <a:bodyPr/>
                    <a:lstStyle/>
                    <a:p>
                      <a:pPr algn="l"/>
                      <a:r>
                        <a:rPr sz="1250" b="1" i="0">
                          <a:solidFill>
                            <a:srgbClr val="14213D"/>
                          </a:solidFill>
                          <a:latin typeface="Calibri"/>
                        </a:rPr>
                        <a:t>Model</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Params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Resolution</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Context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FPS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Tasks solved</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84048">
                <a:tc>
                  <a:txBody>
                    <a:bodyPr/>
                    <a:lstStyle/>
                    <a:p>
                      <a:pPr algn="l"/>
                      <a:r>
                        <a:rPr sz="1300" b="0" i="0">
                          <a:solidFill>
                            <a:srgbClr val="1F2937"/>
                          </a:solidFill>
                          <a:latin typeface="Calibri"/>
                        </a:rPr>
                        <a:t>MineWorld</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1.2 B</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384×224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0.8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300" b="0" i="0">
                          <a:solidFill>
                            <a:srgbClr val="1F2937"/>
                          </a:solidFill>
                          <a:latin typeface="Calibri"/>
                        </a:rPr>
                        <a:t>not evaluable (needs actions in advance)</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0" i="0">
                          <a:solidFill>
                            <a:srgbClr val="1F2937"/>
                          </a:solidFill>
                          <a:latin typeface="Calibri"/>
                        </a:rPr>
                        <a:t>Lucid-v1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1.1 B</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640×360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1.0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44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0 / 16</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0" i="0">
                          <a:solidFill>
                            <a:srgbClr val="1F2937"/>
                          </a:solidFill>
                          <a:latin typeface="Calibri"/>
                        </a:rPr>
                        <a:t>Oasis (small)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500 M</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640×360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1.6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20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0 / 16</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0" i="0">
                          <a:solidFill>
                            <a:srgbClr val="1F2937"/>
                          </a:solidFill>
                          <a:latin typeface="Calibri"/>
                        </a:rPr>
                        <a:t>Oasis (large)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360×360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1.6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5 / 16</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1" i="0">
                          <a:solidFill>
                            <a:srgbClr val="1F2937"/>
                          </a:solidFill>
                          <a:latin typeface="Calibri"/>
                        </a:rPr>
                        <a:t>Dreamer 4</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2 B</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640×360</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9.6 s</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21</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14 / 16</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r>
            </a:tbl>
          </a:graphicData>
        </a:graphic>
      </p:graphicFrame>
      <p:sp>
        <p:nvSpPr>
          <p:cNvPr id="9" name="TextBox 8"/>
          <p:cNvSpPr txBox="1"/>
          <p:nvPr/>
        </p:nvSpPr>
        <p:spPr>
          <a:xfrm>
            <a:off x="548640" y="4023360"/>
            <a:ext cx="7223760" cy="22860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The 16 tasks:</a:t>
            </a:r>
            <a:r>
              <a:rPr sz="1350" b="0" i="0">
                <a:solidFill>
                  <a:srgbClr val="1F2937"/>
                </a:solidFill>
                <a:latin typeface="Calibri"/>
              </a:rPr>
              <a:t> eat apple · place 3 torches · chop tree · dig 3×3 pit · craft wooden pickaxe · use furnace · place &amp; open workbench · kill zombies · mine diamonds · complete window · place &amp; ride boat · enter portal · place door · bed &amp; sleep · plant reed &amp; pour water · turn 360° &amp; enter house</a:t>
            </a:r>
          </a:p>
          <a:p>
            <a:pPr marL="237744" indent="-201168">
              <a:lnSpc>
                <a:spcPct val="108000"/>
              </a:lnSpc>
              <a:spcAft>
                <a:spcPts val="600"/>
              </a:spcAft>
              <a:buClr>
                <a:srgbClr val="9AA3B2"/>
              </a:buClr>
              <a:buFont typeface="Arial"/>
              <a:buChar char="•"/>
            </a:pPr>
            <a:r>
              <a:rPr sz="1350" b="1" i="0">
                <a:solidFill>
                  <a:srgbClr val="14213D"/>
                </a:solidFill>
                <a:latin typeface="Calibri"/>
              </a:rPr>
              <a:t>The two failures</a:t>
            </a:r>
            <a:r>
              <a:rPr sz="1350" b="0" i="0">
                <a:solidFill>
                  <a:srgbClr val="1F2937"/>
                </a:solidFill>
                <a:latin typeface="Calibri"/>
              </a:rPr>
              <a:t> were memory-related: the world changes when you look away for longer than the 9.6 s context, and inventory contents become unclear over time</a:t>
            </a:r>
          </a:p>
          <a:p>
            <a:pPr marL="237744" indent="-201168">
              <a:lnSpc>
                <a:spcPct val="108000"/>
              </a:lnSpc>
              <a:spcAft>
                <a:spcPts val="600"/>
              </a:spcAft>
              <a:buClr>
                <a:srgbClr val="9AA3B2"/>
              </a:buClr>
              <a:buFont typeface="Arial"/>
              <a:buChar char="•"/>
            </a:pPr>
            <a:r>
              <a:rPr sz="1350" b="0" i="0">
                <a:solidFill>
                  <a:srgbClr val="1F2937"/>
                </a:solidFill>
                <a:latin typeface="Calibri"/>
              </a:rPr>
              <a:t>Genie 3 is not compared: it has no fine-grained mouse/keyboard control</a:t>
            </a:r>
          </a:p>
        </p:txBody>
      </p:sp>
      <p:pic>
        <p:nvPicPr>
          <p:cNvPr id="10" name="Picture 9" descr="fig5_human_interaction_pdf.png"/>
          <p:cNvPicPr>
            <a:picLocks noChangeAspect="1"/>
          </p:cNvPicPr>
          <p:nvPr/>
        </p:nvPicPr>
        <p:blipFill>
          <a:blip r:embed="rId2"/>
          <a:stretch>
            <a:fillRect/>
          </a:stretch>
        </p:blipFill>
        <p:spPr>
          <a:xfrm>
            <a:off x="7955279" y="1463040"/>
            <a:ext cx="3840480" cy="1261963"/>
          </a:xfrm>
          <a:prstGeom prst="rect">
            <a:avLst/>
          </a:prstGeom>
        </p:spPr>
      </p:pic>
      <p:sp>
        <p:nvSpPr>
          <p:cNvPr id="11" name="TextBox 10"/>
          <p:cNvSpPr txBox="1"/>
          <p:nvPr/>
        </p:nvSpPr>
        <p:spPr>
          <a:xfrm>
            <a:off x="7955279" y="3566160"/>
            <a:ext cx="384048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5: same task, same start frame — Dreamer 4 (top) builds the wall; Lucid-v1 and Oasis do not.</a:t>
            </a:r>
          </a:p>
        </p:txBody>
      </p:sp>
      <p:sp>
        <p:nvSpPr>
          <p:cNvPr id="12" name="Rectangle 11"/>
          <p:cNvSpPr/>
          <p:nvPr/>
        </p:nvSpPr>
        <p:spPr>
          <a:xfrm>
            <a:off x="7955279" y="4233672"/>
            <a:ext cx="25400" cy="139852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4206240"/>
            <a:ext cx="36393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WHY THIS EVALUATION</a:t>
            </a:r>
          </a:p>
        </p:txBody>
      </p:sp>
      <p:sp>
        <p:nvSpPr>
          <p:cNvPr id="14" name="TextBox 13"/>
          <p:cNvSpPr txBox="1"/>
          <p:nvPr/>
        </p:nvSpPr>
        <p:spPr>
          <a:xfrm>
            <a:off x="8138159" y="4535424"/>
            <a:ext cx="3639312" cy="155448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FVD and PSNR measure how video </a:t>
            </a:r>
            <a:r>
              <a:rPr sz="1200" b="0" i="1">
                <a:solidFill>
                  <a:srgbClr val="1F2937"/>
                </a:solidFill>
                <a:latin typeface="Calibri"/>
              </a:rPr>
              <a:t>looks</a:t>
            </a:r>
            <a:r>
              <a:rPr sz="1200" b="0" i="0">
                <a:solidFill>
                  <a:srgbClr val="1F2937"/>
                </a:solidFill>
                <a:latin typeface="Calibri"/>
              </a:rPr>
              <a:t>; only interaction tests whether the model got the </a:t>
            </a:r>
            <a:r>
              <a:rPr sz="1200" b="0" i="1">
                <a:solidFill>
                  <a:srgbClr val="1F2937"/>
                </a:solidFill>
                <a:latin typeface="Calibri"/>
              </a:rPr>
              <a:t>mechanics</a:t>
            </a:r>
            <a:r>
              <a:rPr sz="1200" b="0" i="0">
                <a:solidFill>
                  <a:srgbClr val="1F2937"/>
                </a:solidFill>
                <a:latin typeface="Calibri"/>
              </a:rPr>
              <a:t> right. The paper complements it with FVD on 384-frame rollouts, but no long-horizon </a:t>
            </a:r>
            <a:r>
              <a:rPr sz="1200" b="0" i="1">
                <a:solidFill>
                  <a:srgbClr val="1F2937"/>
                </a:solidFill>
                <a:latin typeface="Calibri"/>
              </a:rPr>
              <a:t>quantitative</a:t>
            </a:r>
            <a:r>
              <a:rPr sz="1200" b="0" i="0">
                <a:solidFill>
                  <a:srgbClr val="1F2937"/>
                </a:solidFill>
                <a:latin typeface="Calibri"/>
              </a:rPr>
              <a:t> interaction metric exists yet — a fair critique.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What 'accurate object interactions' looks like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Frames from the project page's side-by-side human sessions (same start frame, same human inputs)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25</a:t>
            </a:r>
          </a:p>
        </p:txBody>
      </p:sp>
      <p:sp>
        <p:nvSpPr>
          <p:cNvPr id="8" name="TextBox 7"/>
          <p:cNvSpPr txBox="1"/>
          <p:nvPr/>
        </p:nvSpPr>
        <p:spPr>
          <a:xfrm>
            <a:off x="1554480" y="1280160"/>
            <a:ext cx="3383280" cy="320040"/>
          </a:xfrm>
          <a:prstGeom prst="rect">
            <a:avLst/>
          </a:prstGeom>
          <a:noFill/>
        </p:spPr>
        <p:txBody>
          <a:bodyPr wrap="square" anchor="t" lIns="45720" rIns="45720" tIns="18288" bIns="18288">
            <a:spAutoFit/>
          </a:bodyPr>
          <a:lstStyle/>
          <a:p>
            <a:pPr algn="ctr">
              <a:lnSpc>
                <a:spcPct val="105000"/>
              </a:lnSpc>
            </a:pPr>
            <a:r>
              <a:rPr sz="1400" b="1" i="0">
                <a:solidFill>
                  <a:srgbClr val="2A56D6"/>
                </a:solidFill>
                <a:latin typeface="Calibri"/>
              </a:rPr>
              <a:t>Dreamer 4</a:t>
            </a:r>
          </a:p>
        </p:txBody>
      </p:sp>
      <p:sp>
        <p:nvSpPr>
          <p:cNvPr id="9" name="TextBox 8"/>
          <p:cNvSpPr txBox="1"/>
          <p:nvPr/>
        </p:nvSpPr>
        <p:spPr>
          <a:xfrm>
            <a:off x="5029200" y="1280160"/>
            <a:ext cx="3383280" cy="320040"/>
          </a:xfrm>
          <a:prstGeom prst="rect">
            <a:avLst/>
          </a:prstGeom>
          <a:noFill/>
        </p:spPr>
        <p:txBody>
          <a:bodyPr wrap="square" anchor="t" lIns="45720" rIns="45720" tIns="18288" bIns="18288">
            <a:spAutoFit/>
          </a:bodyPr>
          <a:lstStyle/>
          <a:p>
            <a:pPr algn="ctr">
              <a:lnSpc>
                <a:spcPct val="105000"/>
              </a:lnSpc>
            </a:pPr>
            <a:r>
              <a:rPr sz="1400" b="1" i="0">
                <a:solidFill>
                  <a:srgbClr val="6B7280"/>
                </a:solidFill>
                <a:latin typeface="Calibri"/>
              </a:rPr>
              <a:t>Lucid-v1</a:t>
            </a:r>
          </a:p>
        </p:txBody>
      </p:sp>
      <p:sp>
        <p:nvSpPr>
          <p:cNvPr id="10" name="TextBox 9"/>
          <p:cNvSpPr txBox="1"/>
          <p:nvPr/>
        </p:nvSpPr>
        <p:spPr>
          <a:xfrm>
            <a:off x="8503920" y="1280160"/>
            <a:ext cx="3383280" cy="320040"/>
          </a:xfrm>
          <a:prstGeom prst="rect">
            <a:avLst/>
          </a:prstGeom>
          <a:noFill/>
        </p:spPr>
        <p:txBody>
          <a:bodyPr wrap="square" anchor="t" lIns="45720" rIns="45720" tIns="18288" bIns="18288">
            <a:spAutoFit/>
          </a:bodyPr>
          <a:lstStyle/>
          <a:p>
            <a:pPr algn="ctr">
              <a:lnSpc>
                <a:spcPct val="105000"/>
              </a:lnSpc>
            </a:pPr>
            <a:r>
              <a:rPr sz="1400" b="1" i="0">
                <a:solidFill>
                  <a:srgbClr val="6B7280"/>
                </a:solidFill>
                <a:latin typeface="Calibri"/>
              </a:rPr>
              <a:t>Oasis</a:t>
            </a:r>
          </a:p>
        </p:txBody>
      </p:sp>
      <p:sp>
        <p:nvSpPr>
          <p:cNvPr id="11" name="TextBox 10"/>
          <p:cNvSpPr txBox="1"/>
          <p:nvPr/>
        </p:nvSpPr>
        <p:spPr>
          <a:xfrm>
            <a:off x="274320" y="2057400"/>
            <a:ext cx="1234440" cy="731520"/>
          </a:xfrm>
          <a:prstGeom prst="rect">
            <a:avLst/>
          </a:prstGeom>
          <a:noFill/>
        </p:spPr>
        <p:txBody>
          <a:bodyPr wrap="square" anchor="t" lIns="45720" rIns="45720" tIns="18288" bIns="18288">
            <a:spAutoFit/>
          </a:bodyPr>
          <a:lstStyle/>
          <a:p>
            <a:pPr algn="l">
              <a:lnSpc>
                <a:spcPct val="105000"/>
              </a:lnSpc>
            </a:pPr>
            <a:r>
              <a:rPr sz="1200" b="1" i="0">
                <a:solidFill>
                  <a:srgbClr val="1F2937"/>
                </a:solidFill>
                <a:latin typeface="Calibri"/>
              </a:rPr>
              <a:t>Place and ride boat</a:t>
            </a:r>
          </a:p>
        </p:txBody>
      </p:sp>
      <p:pic>
        <p:nvPicPr>
          <p:cNvPr id="12" name="Picture 11" descr="frame_boat_dreamer.jpg"/>
          <p:cNvPicPr>
            <a:picLocks noChangeAspect="1"/>
          </p:cNvPicPr>
          <p:nvPr/>
        </p:nvPicPr>
        <p:blipFill>
          <a:blip r:embed="rId2"/>
          <a:stretch>
            <a:fillRect/>
          </a:stretch>
        </p:blipFill>
        <p:spPr>
          <a:xfrm>
            <a:off x="2067560" y="1600200"/>
            <a:ext cx="2357120" cy="1325880"/>
          </a:xfrm>
          <a:prstGeom prst="rect">
            <a:avLst/>
          </a:prstGeom>
        </p:spPr>
      </p:pic>
      <p:pic>
        <p:nvPicPr>
          <p:cNvPr id="13" name="Picture 12" descr="frame_boat_lucid.jpg"/>
          <p:cNvPicPr>
            <a:picLocks noChangeAspect="1"/>
          </p:cNvPicPr>
          <p:nvPr/>
        </p:nvPicPr>
        <p:blipFill>
          <a:blip r:embed="rId3"/>
          <a:stretch>
            <a:fillRect/>
          </a:stretch>
        </p:blipFill>
        <p:spPr>
          <a:xfrm>
            <a:off x="5542280" y="1600200"/>
            <a:ext cx="2357120" cy="1325880"/>
          </a:xfrm>
          <a:prstGeom prst="rect">
            <a:avLst/>
          </a:prstGeom>
        </p:spPr>
      </p:pic>
      <p:pic>
        <p:nvPicPr>
          <p:cNvPr id="14" name="Picture 13" descr="frame_boat_oasis.jpg"/>
          <p:cNvPicPr>
            <a:picLocks noChangeAspect="1"/>
          </p:cNvPicPr>
          <p:nvPr/>
        </p:nvPicPr>
        <p:blipFill>
          <a:blip r:embed="rId4"/>
          <a:stretch>
            <a:fillRect/>
          </a:stretch>
        </p:blipFill>
        <p:spPr>
          <a:xfrm>
            <a:off x="9532620" y="1600200"/>
            <a:ext cx="1325880" cy="1325880"/>
          </a:xfrm>
          <a:prstGeom prst="rect">
            <a:avLst/>
          </a:prstGeom>
        </p:spPr>
      </p:pic>
      <p:sp>
        <p:nvSpPr>
          <p:cNvPr id="15" name="TextBox 14"/>
          <p:cNvSpPr txBox="1"/>
          <p:nvPr/>
        </p:nvSpPr>
        <p:spPr>
          <a:xfrm>
            <a:off x="274320" y="3474720"/>
            <a:ext cx="1234440" cy="731520"/>
          </a:xfrm>
          <a:prstGeom prst="rect">
            <a:avLst/>
          </a:prstGeom>
          <a:noFill/>
        </p:spPr>
        <p:txBody>
          <a:bodyPr wrap="square" anchor="t" lIns="45720" rIns="45720" tIns="18288" bIns="18288">
            <a:spAutoFit/>
          </a:bodyPr>
          <a:lstStyle/>
          <a:p>
            <a:pPr algn="l">
              <a:lnSpc>
                <a:spcPct val="105000"/>
              </a:lnSpc>
            </a:pPr>
            <a:r>
              <a:rPr sz="1200" b="1" i="0">
                <a:solidFill>
                  <a:srgbClr val="1F2937"/>
                </a:solidFill>
                <a:latin typeface="Calibri"/>
              </a:rPr>
              <a:t>Enter portal</a:t>
            </a:r>
          </a:p>
        </p:txBody>
      </p:sp>
      <p:pic>
        <p:nvPicPr>
          <p:cNvPr id="16" name="Picture 15" descr="frame_portal_dreamer.jpg"/>
          <p:cNvPicPr>
            <a:picLocks noChangeAspect="1"/>
          </p:cNvPicPr>
          <p:nvPr/>
        </p:nvPicPr>
        <p:blipFill>
          <a:blip r:embed="rId5"/>
          <a:stretch>
            <a:fillRect/>
          </a:stretch>
        </p:blipFill>
        <p:spPr>
          <a:xfrm>
            <a:off x="2067560" y="3017520"/>
            <a:ext cx="2357120" cy="1325880"/>
          </a:xfrm>
          <a:prstGeom prst="rect">
            <a:avLst/>
          </a:prstGeom>
        </p:spPr>
      </p:pic>
      <p:pic>
        <p:nvPicPr>
          <p:cNvPr id="17" name="Picture 16" descr="frame_portal_lucid.jpg"/>
          <p:cNvPicPr>
            <a:picLocks noChangeAspect="1"/>
          </p:cNvPicPr>
          <p:nvPr/>
        </p:nvPicPr>
        <p:blipFill>
          <a:blip r:embed="rId6"/>
          <a:stretch>
            <a:fillRect/>
          </a:stretch>
        </p:blipFill>
        <p:spPr>
          <a:xfrm>
            <a:off x="5542280" y="3017520"/>
            <a:ext cx="2357120" cy="1325880"/>
          </a:xfrm>
          <a:prstGeom prst="rect">
            <a:avLst/>
          </a:prstGeom>
        </p:spPr>
      </p:pic>
      <p:pic>
        <p:nvPicPr>
          <p:cNvPr id="18" name="Picture 17" descr="frame_portal_oasis.jpg"/>
          <p:cNvPicPr>
            <a:picLocks noChangeAspect="1"/>
          </p:cNvPicPr>
          <p:nvPr/>
        </p:nvPicPr>
        <p:blipFill>
          <a:blip r:embed="rId7"/>
          <a:stretch>
            <a:fillRect/>
          </a:stretch>
        </p:blipFill>
        <p:spPr>
          <a:xfrm>
            <a:off x="9532620" y="3017520"/>
            <a:ext cx="1325880" cy="1325880"/>
          </a:xfrm>
          <a:prstGeom prst="rect">
            <a:avLst/>
          </a:prstGeom>
        </p:spPr>
      </p:pic>
      <p:sp>
        <p:nvSpPr>
          <p:cNvPr id="19" name="TextBox 18"/>
          <p:cNvSpPr txBox="1"/>
          <p:nvPr/>
        </p:nvSpPr>
        <p:spPr>
          <a:xfrm>
            <a:off x="274320" y="4892040"/>
            <a:ext cx="1234440" cy="731520"/>
          </a:xfrm>
          <a:prstGeom prst="rect">
            <a:avLst/>
          </a:prstGeom>
          <a:noFill/>
        </p:spPr>
        <p:txBody>
          <a:bodyPr wrap="square" anchor="t" lIns="45720" rIns="45720" tIns="18288" bIns="18288">
            <a:spAutoFit/>
          </a:bodyPr>
          <a:lstStyle/>
          <a:p>
            <a:pPr algn="l">
              <a:lnSpc>
                <a:spcPct val="105000"/>
              </a:lnSpc>
            </a:pPr>
            <a:r>
              <a:rPr sz="1200" b="1" i="0">
                <a:solidFill>
                  <a:srgbClr val="1F2937"/>
                </a:solidFill>
                <a:latin typeface="Calibri"/>
              </a:rPr>
              <a:t>Craft wooden pickaxe</a:t>
            </a:r>
          </a:p>
        </p:txBody>
      </p:sp>
      <p:pic>
        <p:nvPicPr>
          <p:cNvPr id="20" name="Picture 19" descr="frame_pickaxe_dreamer.jpg"/>
          <p:cNvPicPr>
            <a:picLocks noChangeAspect="1"/>
          </p:cNvPicPr>
          <p:nvPr/>
        </p:nvPicPr>
        <p:blipFill>
          <a:blip r:embed="rId8"/>
          <a:stretch>
            <a:fillRect/>
          </a:stretch>
        </p:blipFill>
        <p:spPr>
          <a:xfrm>
            <a:off x="2067560" y="4434840"/>
            <a:ext cx="2357120" cy="1325880"/>
          </a:xfrm>
          <a:prstGeom prst="rect">
            <a:avLst/>
          </a:prstGeom>
        </p:spPr>
      </p:pic>
      <p:pic>
        <p:nvPicPr>
          <p:cNvPr id="21" name="Picture 20" descr="frame_pickaxe_lucid.jpg"/>
          <p:cNvPicPr>
            <a:picLocks noChangeAspect="1"/>
          </p:cNvPicPr>
          <p:nvPr/>
        </p:nvPicPr>
        <p:blipFill>
          <a:blip r:embed="rId9"/>
          <a:stretch>
            <a:fillRect/>
          </a:stretch>
        </p:blipFill>
        <p:spPr>
          <a:xfrm>
            <a:off x="5542280" y="4434840"/>
            <a:ext cx="2357120" cy="1325880"/>
          </a:xfrm>
          <a:prstGeom prst="rect">
            <a:avLst/>
          </a:prstGeom>
        </p:spPr>
      </p:pic>
      <p:pic>
        <p:nvPicPr>
          <p:cNvPr id="22" name="Picture 21" descr="frame_pickaxe_oasis.jpg"/>
          <p:cNvPicPr>
            <a:picLocks noChangeAspect="1"/>
          </p:cNvPicPr>
          <p:nvPr/>
        </p:nvPicPr>
        <p:blipFill>
          <a:blip r:embed="rId10"/>
          <a:stretch>
            <a:fillRect/>
          </a:stretch>
        </p:blipFill>
        <p:spPr>
          <a:xfrm>
            <a:off x="9532620" y="4434840"/>
            <a:ext cx="1325880" cy="1325880"/>
          </a:xfrm>
          <a:prstGeom prst="rect">
            <a:avLst/>
          </a:prstGeom>
        </p:spPr>
      </p:pic>
      <p:sp>
        <p:nvSpPr>
          <p:cNvPr id="23" name="TextBox 22"/>
          <p:cNvSpPr txBox="1"/>
          <p:nvPr/>
        </p:nvSpPr>
        <p:spPr>
          <a:xfrm>
            <a:off x="457200" y="5989320"/>
            <a:ext cx="1124712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Single frames sampled from the project-page clips (danijar.com/asset/dreamer4/human/…). Dreamer 4 renders the boat ride, the Nether-portal swirl and a working crafting-table menu; the baselines lose the scene or the 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Offline diamond challenge: results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Success rate per milestone; 1,000 episodes × 60 min; same 2,541 h of data for all methods (Table 7 / Fig. 3)</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26</a:t>
            </a:r>
          </a:p>
        </p:txBody>
      </p:sp>
      <p:pic>
        <p:nvPicPr>
          <p:cNvPr id="8" name="Picture 7" descr="benchmark.png"/>
          <p:cNvPicPr>
            <a:picLocks noChangeAspect="1"/>
          </p:cNvPicPr>
          <p:nvPr/>
        </p:nvPicPr>
        <p:blipFill>
          <a:blip r:embed="rId2"/>
          <a:stretch>
            <a:fillRect/>
          </a:stretch>
        </p:blipFill>
        <p:spPr>
          <a:xfrm>
            <a:off x="716117" y="1371600"/>
            <a:ext cx="10729285" cy="3291840"/>
          </a:xfrm>
          <a:prstGeom prst="rect">
            <a:avLst/>
          </a:prstGeom>
        </p:spPr>
      </p:pic>
      <p:sp>
        <p:nvSpPr>
          <p:cNvPr id="9" name="TextBox 8"/>
          <p:cNvSpPr txBox="1"/>
          <p:nvPr/>
        </p:nvSpPr>
        <p:spPr>
          <a:xfrm>
            <a:off x="548640" y="4754880"/>
            <a:ext cx="11155680" cy="17373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Dreamer 4:</a:t>
            </a:r>
            <a:r>
              <a:rPr sz="1400" b="0" i="0">
                <a:solidFill>
                  <a:srgbClr val="1F2937"/>
                </a:solidFill>
                <a:latin typeface="Calibri"/>
              </a:rPr>
              <a:t> stone pickaxe 90.1 % · iron ore 66.7 % · furnace 58.1 % · iron ingot 39.5 % · iron pickaxe 29.0 % · </a:t>
            </a:r>
            <a:r>
              <a:rPr sz="1400" b="1" i="0">
                <a:solidFill>
                  <a:srgbClr val="14213D"/>
                </a:solidFill>
                <a:latin typeface="Calibri"/>
              </a:rPr>
              <a:t>diamond 0.7 %</a:t>
            </a:r>
            <a:r>
              <a:rPr sz="1400" b="0" i="0">
                <a:solidFill>
                  <a:srgbClr val="1F2937"/>
                </a:solidFill>
                <a:latin typeface="Calibri"/>
              </a:rPr>
              <a:t> (≈ 7 of 1,000 episodes)</a:t>
            </a:r>
          </a:p>
          <a:p>
            <a:pPr marL="237744" indent="-201168">
              <a:lnSpc>
                <a:spcPct val="108000"/>
              </a:lnSpc>
              <a:spcAft>
                <a:spcPts val="600"/>
              </a:spcAft>
              <a:buClr>
                <a:srgbClr val="9AA3B2"/>
              </a:buClr>
              <a:buFont typeface="Arial"/>
              <a:buChar char="•"/>
            </a:pPr>
            <a:r>
              <a:rPr sz="1400" b="1" i="0">
                <a:solidFill>
                  <a:srgbClr val="14213D"/>
                </a:solidFill>
                <a:latin typeface="Calibri"/>
              </a:rPr>
              <a:t>VLA on Gemma 3 (same data):</a:t>
            </a:r>
            <a:r>
              <a:rPr sz="1400" b="0" i="0">
                <a:solidFill>
                  <a:srgbClr val="1F2937"/>
                </a:solidFill>
                <a:latin typeface="Calibri"/>
              </a:rPr>
              <a:t> iron pickaxe 11.2 %, no diamonds · </a:t>
            </a:r>
            <a:r>
              <a:rPr sz="1400" b="1" i="0">
                <a:solidFill>
                  <a:srgbClr val="14213D"/>
                </a:solidFill>
                <a:latin typeface="Calibri"/>
              </a:rPr>
              <a:t>BC:</a:t>
            </a:r>
            <a:r>
              <a:rPr sz="1400" b="0" i="0">
                <a:solidFill>
                  <a:srgbClr val="1F2937"/>
                </a:solidFill>
                <a:latin typeface="Calibri"/>
              </a:rPr>
              <a:t> 0.6 % · </a:t>
            </a:r>
            <a:r>
              <a:rPr sz="1400" b="1" i="0">
                <a:solidFill>
                  <a:srgbClr val="14213D"/>
                </a:solidFill>
                <a:latin typeface="Calibri"/>
              </a:rPr>
              <a:t>VPT fine-tuned</a:t>
            </a:r>
            <a:r>
              <a:rPr sz="1400" b="0" i="0">
                <a:solidFill>
                  <a:srgbClr val="1F2937"/>
                </a:solidFill>
                <a:latin typeface="Calibri"/>
              </a:rPr>
              <a:t> (pretrained on 270 K h of web video): only reliably reaches sticks</a:t>
            </a:r>
          </a:p>
          <a:p>
            <a:pPr marL="237744" indent="-201168">
              <a:lnSpc>
                <a:spcPct val="108000"/>
              </a:lnSpc>
              <a:spcAft>
                <a:spcPts val="600"/>
              </a:spcAft>
              <a:buClr>
                <a:srgbClr val="9AA3B2"/>
              </a:buClr>
              <a:buFont typeface="Arial"/>
              <a:buChar char="•"/>
            </a:pPr>
            <a:r>
              <a:rPr sz="1400" b="0" i="0">
                <a:solidFill>
                  <a:srgbClr val="1F2937"/>
                </a:solidFill>
                <a:latin typeface="Calibri"/>
              </a:rPr>
              <a:t>Gap widens along the tech tree: imitation is enough for early items, imagination RL matters where data is thin and horizons are long</a:t>
            </a:r>
          </a:p>
        </p:txBody>
      </p:sp>
      <p:sp>
        <p:nvSpPr>
          <p:cNvPr id="10" name="TextBox 9"/>
          <p:cNvSpPr txBox="1"/>
          <p:nvPr/>
        </p:nvSpPr>
        <p:spPr>
          <a:xfrm>
            <a:off x="457200" y="4526280"/>
            <a:ext cx="10972800" cy="457200"/>
          </a:xfrm>
          <a:prstGeom prst="rect">
            <a:avLst/>
          </a:prstGeom>
          <a:noFill/>
        </p:spPr>
        <p:txBody>
          <a:bodyPr wrap="square" anchor="t" lIns="45720" rIns="45720" tIns="18288" bIns="18288">
            <a:spAutoFit/>
          </a:bodyPr>
          <a:lstStyle/>
          <a:p>
            <a:pPr algn="l">
              <a:lnSpc>
                <a:spcPct val="105000"/>
              </a:lnSpc>
            </a:pPr>
            <a:r>
              <a:rPr sz="950" b="0" i="1">
                <a:solidFill>
                  <a:srgbClr val="6B7280"/>
                </a:solidFill>
                <a:latin typeface="Calibri"/>
              </a:rPr>
              <a:t>Official figure from danijar.com/project/dreamer4 (benchmark.png).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Where do the gains come from? Agent ablations and speed</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4 / Table 8: representation (WM+BC vs BC) and imagination RL (Dreamer 4 vs WM+BC) both contribute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27</a:t>
            </a:r>
          </a:p>
        </p:txBody>
      </p:sp>
      <p:pic>
        <p:nvPicPr>
          <p:cNvPr id="8" name="Picture 7" descr="chart_table7_hard.png"/>
          <p:cNvPicPr>
            <a:picLocks noChangeAspect="1"/>
          </p:cNvPicPr>
          <p:nvPr/>
        </p:nvPicPr>
        <p:blipFill>
          <a:blip r:embed="rId2"/>
          <a:stretch>
            <a:fillRect/>
          </a:stretch>
        </p:blipFill>
        <p:spPr>
          <a:xfrm>
            <a:off x="366058" y="1371600"/>
            <a:ext cx="6765963" cy="3108960"/>
          </a:xfrm>
          <a:prstGeom prst="rect">
            <a:avLst/>
          </a:prstGeom>
        </p:spPr>
      </p:pic>
      <p:pic>
        <p:nvPicPr>
          <p:cNvPr id="9" name="Picture 8" descr="chart_time_to_milestone.png"/>
          <p:cNvPicPr>
            <a:picLocks noChangeAspect="1"/>
          </p:cNvPicPr>
          <p:nvPr/>
        </p:nvPicPr>
        <p:blipFill>
          <a:blip r:embed="rId3"/>
          <a:stretch>
            <a:fillRect/>
          </a:stretch>
        </p:blipFill>
        <p:spPr>
          <a:xfrm>
            <a:off x="7315200" y="1371600"/>
            <a:ext cx="4480560" cy="2940367"/>
          </a:xfrm>
          <a:prstGeom prst="rect">
            <a:avLst/>
          </a:prstGeom>
        </p:spPr>
      </p:pic>
      <p:sp>
        <p:nvSpPr>
          <p:cNvPr id="10" name="TextBox 9"/>
          <p:cNvSpPr txBox="1"/>
          <p:nvPr/>
        </p:nvSpPr>
        <p:spPr>
          <a:xfrm>
            <a:off x="548640" y="4617720"/>
            <a:ext cx="11155680" cy="18288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Representation:</a:t>
            </a:r>
            <a:r>
              <a:rPr sz="1350" b="0" i="0">
                <a:solidFill>
                  <a:srgbClr val="1F2937"/>
                </a:solidFill>
                <a:latin typeface="Calibri"/>
              </a:rPr>
              <a:t> BC on the world model's features (WM+BC) vs plain BC — iron pickaxe 16.9 % vs 0.6 %; authors: 'video prediction implicitly learns an understanding of the world that is useful for decision making'</a:t>
            </a:r>
          </a:p>
          <a:p>
            <a:pPr marL="237744" indent="-201168">
              <a:lnSpc>
                <a:spcPct val="108000"/>
              </a:lnSpc>
              <a:spcAft>
                <a:spcPts val="600"/>
              </a:spcAft>
              <a:buClr>
                <a:srgbClr val="9AA3B2"/>
              </a:buClr>
              <a:buFont typeface="Arial"/>
              <a:buChar char="•"/>
            </a:pPr>
            <a:r>
              <a:rPr sz="1350" b="1" i="0">
                <a:solidFill>
                  <a:srgbClr val="14213D"/>
                </a:solidFill>
                <a:latin typeface="Calibri"/>
              </a:rPr>
              <a:t>Imagination RL:</a:t>
            </a:r>
            <a:r>
              <a:rPr sz="1350" b="0" i="0">
                <a:solidFill>
                  <a:srgbClr val="1F2937"/>
                </a:solidFill>
                <a:latin typeface="Calibri"/>
              </a:rPr>
              <a:t> adds +12 pts on iron pickaxe and +12 pts on iron ingot over WM+BC, and unlocks diamonds</a:t>
            </a:r>
          </a:p>
          <a:p>
            <a:pPr marL="237744" indent="-201168">
              <a:lnSpc>
                <a:spcPct val="108000"/>
              </a:lnSpc>
              <a:spcAft>
                <a:spcPts val="600"/>
              </a:spcAft>
              <a:buClr>
                <a:srgbClr val="9AA3B2"/>
              </a:buClr>
              <a:buFont typeface="Arial"/>
              <a:buChar char="•"/>
            </a:pPr>
            <a:r>
              <a:rPr sz="1350" b="1" i="0">
                <a:solidFill>
                  <a:srgbClr val="14213D"/>
                </a:solidFill>
                <a:latin typeface="Calibri"/>
              </a:rPr>
              <a:t>Speed:</a:t>
            </a:r>
            <a:r>
              <a:rPr sz="1350" b="0" i="0">
                <a:solidFill>
                  <a:srgbClr val="1F2937"/>
                </a:solidFill>
                <a:latin typeface="Calibri"/>
              </a:rPr>
              <a:t> Dreamer 4 is fastest at every milestone — iron pickaxe in 13.3 min vs 31.1 min for the VLA; diamonds in 20.7 min on average when achieved (human average ≈ 20 min)</a:t>
            </a:r>
          </a:p>
          <a:p>
            <a:pPr marL="237744" indent="-201168">
              <a:lnSpc>
                <a:spcPct val="108000"/>
              </a:lnSpc>
              <a:spcAft>
                <a:spcPts val="600"/>
              </a:spcAft>
              <a:buClr>
                <a:srgbClr val="9AA3B2"/>
              </a:buClr>
              <a:buFont typeface="Arial"/>
              <a:buChar char="•"/>
            </a:pPr>
            <a:r>
              <a:rPr sz="1350" b="1" i="0">
                <a:solidFill>
                  <a:srgbClr val="14213D"/>
                </a:solidFill>
                <a:latin typeface="Calibri"/>
              </a:rPr>
              <a:t>Task input matters:</a:t>
            </a:r>
            <a:r>
              <a:rPr sz="1350" b="0" i="0">
                <a:solidFill>
                  <a:srgbClr val="1F2937"/>
                </a:solidFill>
                <a:latin typeface="Calibri"/>
              </a:rPr>
              <a:t> BC without the task embedding collapses to 8.8 % stone pickaxe (Table 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Unlabeled video: how many action labels are needed?</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7 — action conditioning from a small labeled fraction, and transfer to unseen visual domains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28</a:t>
            </a:r>
          </a:p>
        </p:txBody>
      </p:sp>
      <p:pic>
        <p:nvPicPr>
          <p:cNvPr id="8" name="Picture 7" descr="fig7_action_generalization.png"/>
          <p:cNvPicPr>
            <a:picLocks noChangeAspect="1"/>
          </p:cNvPicPr>
          <p:nvPr/>
        </p:nvPicPr>
        <p:blipFill>
          <a:blip r:embed="rId2"/>
          <a:stretch>
            <a:fillRect/>
          </a:stretch>
        </p:blipFill>
        <p:spPr>
          <a:xfrm>
            <a:off x="365760" y="1371600"/>
            <a:ext cx="7498079" cy="2390513"/>
          </a:xfrm>
          <a:prstGeom prst="rect">
            <a:avLst/>
          </a:prstGeom>
        </p:spPr>
      </p:pic>
      <p:sp>
        <p:nvSpPr>
          <p:cNvPr id="9" name="TextBox 8"/>
          <p:cNvSpPr txBox="1"/>
          <p:nvPr/>
        </p:nvSpPr>
        <p:spPr>
          <a:xfrm>
            <a:off x="548640" y="4160520"/>
            <a:ext cx="11155680" cy="21945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Setup:</a:t>
            </a:r>
            <a:r>
              <a:rPr sz="1400" b="0" i="0">
                <a:solidFill>
                  <a:srgbClr val="1F2937"/>
                </a:solidFill>
                <a:latin typeface="Calibri"/>
              </a:rPr>
              <a:t> train on all 2,541 h of video, but keep actions for only a subset; measure PSNR/SSIM of action-conditioned predictions, normalised between 'no actions' (0 %) and 'all actions' (100 %)</a:t>
            </a:r>
          </a:p>
          <a:p>
            <a:pPr marL="237744" indent="-201168">
              <a:lnSpc>
                <a:spcPct val="108000"/>
              </a:lnSpc>
              <a:spcAft>
                <a:spcPts val="600"/>
              </a:spcAft>
              <a:buClr>
                <a:srgbClr val="9AA3B2"/>
              </a:buClr>
              <a:buFont typeface="Arial"/>
              <a:buChar char="•"/>
            </a:pPr>
            <a:r>
              <a:rPr sz="1400" b="1" i="0">
                <a:solidFill>
                  <a:srgbClr val="14213D"/>
                </a:solidFill>
                <a:latin typeface="Calibri"/>
              </a:rPr>
              <a:t>10 h of labels → 53 % PSNR / 75 % SSIM; 100 h → 85 % / 100 %; 1,000 h → 100 %</a:t>
            </a:r>
            <a:r>
              <a:rPr sz="1400" b="0" i="0">
                <a:solidFill>
                  <a:srgbClr val="1F2937"/>
                </a:solidFill>
                <a:latin typeface="Calibri"/>
              </a:rPr>
              <a:t> — action understanding saturates with roughly 4 % of the data labeled</a:t>
            </a:r>
          </a:p>
          <a:p>
            <a:pPr marL="237744" indent="-201168">
              <a:lnSpc>
                <a:spcPct val="108000"/>
              </a:lnSpc>
              <a:spcAft>
                <a:spcPts val="600"/>
              </a:spcAft>
              <a:buClr>
                <a:srgbClr val="9AA3B2"/>
              </a:buClr>
              <a:buFont typeface="Arial"/>
              <a:buChar char="•"/>
            </a:pPr>
            <a:r>
              <a:rPr sz="1400" b="1" i="0">
                <a:solidFill>
                  <a:srgbClr val="14213D"/>
                </a:solidFill>
                <a:latin typeface="Calibri"/>
              </a:rPr>
              <a:t>Domain transfer:</a:t>
            </a:r>
            <a:r>
              <a:rPr sz="1400" b="0" i="0">
                <a:solidFill>
                  <a:srgbClr val="1F2937"/>
                </a:solidFill>
                <a:latin typeface="Calibri"/>
              </a:rPr>
              <a:t> with actions only from the Overworld, predictions in the Nether/End (seen unlabeled) recover 76 % / 80 % — the model separates 'what actions do' from 'what the world looks like'</a:t>
            </a:r>
          </a:p>
          <a:p>
            <a:pPr marL="237744" indent="-201168">
              <a:lnSpc>
                <a:spcPct val="108000"/>
              </a:lnSpc>
              <a:spcAft>
                <a:spcPts val="600"/>
              </a:spcAft>
              <a:buClr>
                <a:srgbClr val="9AA3B2"/>
              </a:buClr>
              <a:buFont typeface="Arial"/>
              <a:buChar char="•"/>
            </a:pPr>
            <a:r>
              <a:rPr sz="1400" b="1" i="0">
                <a:solidFill>
                  <a:srgbClr val="14213D"/>
                </a:solidFill>
                <a:latin typeface="Calibri"/>
              </a:rPr>
              <a:t>Why it matters:</a:t>
            </a:r>
            <a:r>
              <a:rPr sz="1400" b="0" i="0">
                <a:solidFill>
                  <a:srgbClr val="1F2937"/>
                </a:solidFill>
                <a:latin typeface="Calibri"/>
              </a:rPr>
              <a:t> the road to internet-scale video pretraining, where labels are scarce (VPT needed an inverse-dynamics model for this)</a:t>
            </a:r>
          </a:p>
        </p:txBody>
      </p:sp>
      <p:sp>
        <p:nvSpPr>
          <p:cNvPr id="10" name="Rectangle 9"/>
          <p:cNvSpPr/>
          <p:nvPr/>
        </p:nvSpPr>
        <p:spPr>
          <a:xfrm>
            <a:off x="8138160" y="1490472"/>
            <a:ext cx="25400" cy="1440433"/>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463040"/>
            <a:ext cx="345643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MECHANISM</a:t>
            </a:r>
          </a:p>
        </p:txBody>
      </p:sp>
      <p:sp>
        <p:nvSpPr>
          <p:cNvPr id="12" name="TextBox 11"/>
          <p:cNvSpPr txBox="1"/>
          <p:nvPr/>
        </p:nvSpPr>
        <p:spPr>
          <a:xfrm>
            <a:off x="8321040" y="1792224"/>
            <a:ext cx="3456432" cy="210312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Unlabeled frames receive a learned 'no action' embedding; the dynamics loss is the same. The model therefore learns visual dynamics from everything and the action mapping from the labeled slice.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Inside the imagination: decoded training rollouts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1 — imagined sequences for four agent tasks, decoded only for visualisation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29</a:t>
            </a:r>
          </a:p>
        </p:txBody>
      </p:sp>
      <p:pic>
        <p:nvPicPr>
          <p:cNvPr id="8" name="Picture 7" descr="fig1_teaser_pdf_s.jpg"/>
          <p:cNvPicPr>
            <a:picLocks noChangeAspect="1"/>
          </p:cNvPicPr>
          <p:nvPr/>
        </p:nvPicPr>
        <p:blipFill>
          <a:blip r:embed="rId2"/>
          <a:stretch>
            <a:fillRect/>
          </a:stretch>
        </p:blipFill>
        <p:spPr>
          <a:xfrm>
            <a:off x="457200" y="1371600"/>
            <a:ext cx="7863840" cy="4594240"/>
          </a:xfrm>
          <a:prstGeom prst="rect">
            <a:avLst/>
          </a:prstGeom>
        </p:spPr>
      </p:pic>
      <p:sp>
        <p:nvSpPr>
          <p:cNvPr id="9" name="TextBox 8"/>
          <p:cNvSpPr txBox="1"/>
          <p:nvPr/>
        </p:nvSpPr>
        <p:spPr>
          <a:xfrm>
            <a:off x="8503920" y="1463040"/>
            <a:ext cx="338328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0" i="0">
                <a:solidFill>
                  <a:srgbClr val="1F2937"/>
                </a:solidFill>
                <a:latin typeface="Calibri"/>
              </a:rPr>
              <a:t>The world model simulates chopping, crafting menus, mining, cave lighting and diamond ore — all generated, not recorded</a:t>
            </a:r>
          </a:p>
          <a:p>
            <a:pPr marL="237744" indent="-201168">
              <a:lnSpc>
                <a:spcPct val="108000"/>
              </a:lnSpc>
              <a:spcAft>
                <a:spcPts val="600"/>
              </a:spcAft>
              <a:buClr>
                <a:srgbClr val="9AA3B2"/>
              </a:buClr>
              <a:buFont typeface="Arial"/>
              <a:buChar char="•"/>
            </a:pPr>
            <a:r>
              <a:rPr sz="1400" b="0" i="0">
                <a:solidFill>
                  <a:srgbClr val="1F2937"/>
                </a:solidFill>
                <a:latin typeface="Calibri"/>
              </a:rPr>
              <a:t>RL never sees pixels: it operates on latents; decoding is for us</a:t>
            </a:r>
          </a:p>
          <a:p>
            <a:pPr marL="237744" indent="-201168">
              <a:lnSpc>
                <a:spcPct val="108000"/>
              </a:lnSpc>
              <a:spcAft>
                <a:spcPts val="600"/>
              </a:spcAft>
              <a:buClr>
                <a:srgbClr val="9AA3B2"/>
              </a:buClr>
              <a:buFont typeface="Arial"/>
              <a:buChar char="•"/>
            </a:pPr>
            <a:r>
              <a:rPr sz="1400" b="0" i="0">
                <a:solidFill>
                  <a:srgbClr val="1F2937"/>
                </a:solidFill>
                <a:latin typeface="Calibri"/>
              </a:rPr>
              <a:t>Each rollout starts from real context frames and follows the </a:t>
            </a:r>
            <a:r>
              <a:rPr sz="1400" b="0" i="1">
                <a:solidFill>
                  <a:srgbClr val="1F2937"/>
                </a:solidFill>
                <a:latin typeface="Calibri"/>
              </a:rPr>
              <a:t>current</a:t>
            </a:r>
            <a:r>
              <a:rPr sz="1400" b="0" i="0">
                <a:solidFill>
                  <a:srgbClr val="1F2937"/>
                </a:solidFill>
                <a:latin typeface="Calibri"/>
              </a:rPr>
              <a:t> policy → training data stays on-policy without touching the game</a:t>
            </a:r>
          </a:p>
          <a:p>
            <a:pPr marL="237744" indent="-201168">
              <a:lnSpc>
                <a:spcPct val="108000"/>
              </a:lnSpc>
              <a:spcAft>
                <a:spcPts val="600"/>
              </a:spcAft>
              <a:buClr>
                <a:srgbClr val="9AA3B2"/>
              </a:buClr>
              <a:buFont typeface="Arial"/>
              <a:buChar char="•"/>
            </a:pPr>
            <a:r>
              <a:rPr sz="1400" b="0" i="0">
                <a:solidFill>
                  <a:srgbClr val="1F2937"/>
                </a:solidFill>
                <a:latin typeface="Calibri"/>
              </a:rPr>
              <a:t>Stochastic sampling gives diverse futures — useful for exploring rare outcomes such as finding ore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Beyond Minecraft: robotics &amp; egocentric video (qualitative)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6 and Figure 9 — same recipe, different data; no quantitative benchmark yet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30</a:t>
            </a:r>
          </a:p>
        </p:txBody>
      </p:sp>
      <p:pic>
        <p:nvPicPr>
          <p:cNvPr id="8" name="Picture 7" descr="fig6_robotics_s.jpg"/>
          <p:cNvPicPr>
            <a:picLocks noChangeAspect="1"/>
          </p:cNvPicPr>
          <p:nvPr/>
        </p:nvPicPr>
        <p:blipFill>
          <a:blip r:embed="rId2"/>
          <a:stretch>
            <a:fillRect/>
          </a:stretch>
        </p:blipFill>
        <p:spPr>
          <a:xfrm>
            <a:off x="365760" y="1371600"/>
            <a:ext cx="7680960" cy="2840124"/>
          </a:xfrm>
          <a:prstGeom prst="rect">
            <a:avLst/>
          </a:prstGeom>
        </p:spPr>
      </p:pic>
      <p:sp>
        <p:nvSpPr>
          <p:cNvPr id="9" name="TextBox 8"/>
          <p:cNvSpPr txBox="1"/>
          <p:nvPr/>
        </p:nvSpPr>
        <p:spPr>
          <a:xfrm>
            <a:off x="365760" y="4297680"/>
            <a:ext cx="768096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6: SOAR robot-arm data — counterfactual actions (pick objects, flip bowl, press ball, move towel, throw bowl) rendered by the world model.</a:t>
            </a:r>
          </a:p>
        </p:txBody>
      </p:sp>
      <p:pic>
        <p:nvPicPr>
          <p:cNvPr id="10" name="Picture 9" descr="frame_realworld_soar1.jpg"/>
          <p:cNvPicPr>
            <a:picLocks noChangeAspect="1"/>
          </p:cNvPicPr>
          <p:nvPr/>
        </p:nvPicPr>
        <p:blipFill>
          <a:blip r:embed="rId3"/>
          <a:stretch>
            <a:fillRect/>
          </a:stretch>
        </p:blipFill>
        <p:spPr>
          <a:xfrm>
            <a:off x="8610600" y="1371600"/>
            <a:ext cx="2804160" cy="2103120"/>
          </a:xfrm>
          <a:prstGeom prst="rect">
            <a:avLst/>
          </a:prstGeom>
        </p:spPr>
      </p:pic>
      <p:sp>
        <p:nvSpPr>
          <p:cNvPr id="11" name="TextBox 10"/>
          <p:cNvSpPr txBox="1"/>
          <p:nvPr/>
        </p:nvSpPr>
        <p:spPr>
          <a:xfrm>
            <a:off x="8229600" y="3493008"/>
            <a:ext cx="356616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Project page: human counterfactual interaction with the robot world model.</a:t>
            </a:r>
          </a:p>
        </p:txBody>
      </p:sp>
      <p:sp>
        <p:nvSpPr>
          <p:cNvPr id="12" name="TextBox 11"/>
          <p:cNvSpPr txBox="1"/>
          <p:nvPr/>
        </p:nvSpPr>
        <p:spPr>
          <a:xfrm>
            <a:off x="548640" y="4754880"/>
            <a:ext cx="11155680" cy="17373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SOAR:</a:t>
            </a:r>
            <a:r>
              <a:rPr sz="1400" b="0" i="0">
                <a:solidFill>
                  <a:srgbClr val="1F2937"/>
                </a:solidFill>
                <a:latin typeface="Calibri"/>
              </a:rPr>
              <a:t> 180 h of teleoperation + online-RL data, 256×256 at 5 FPS, 7-D relative end-effector actions; N_z = 512, context 96 frames</a:t>
            </a:r>
          </a:p>
          <a:p>
            <a:pPr marL="237744" indent="-201168">
              <a:lnSpc>
                <a:spcPct val="108000"/>
              </a:lnSpc>
              <a:spcAft>
                <a:spcPts val="600"/>
              </a:spcAft>
              <a:buClr>
                <a:srgbClr val="9AA3B2"/>
              </a:buClr>
              <a:buFont typeface="Arial"/>
              <a:buChar char="•"/>
            </a:pPr>
            <a:r>
              <a:rPr sz="1400" b="1" i="0">
                <a:solidFill>
                  <a:srgbClr val="14213D"/>
                </a:solidFill>
                <a:latin typeface="Calibri"/>
              </a:rPr>
              <a:t>Epic Kitchens 100:</a:t>
            </a:r>
            <a:r>
              <a:rPr sz="1400" b="0" i="0">
                <a:solidFill>
                  <a:srgbClr val="1F2937"/>
                </a:solidFill>
                <a:latin typeface="Calibri"/>
              </a:rPr>
              <a:t> 100 h of egocentric kitchen video, no actions — generations from held-out context (Fig. 9) show the recipe works on real, unstructured video</a:t>
            </a:r>
          </a:p>
          <a:p>
            <a:pPr marL="237744" indent="-201168">
              <a:lnSpc>
                <a:spcPct val="108000"/>
              </a:lnSpc>
              <a:spcAft>
                <a:spcPts val="600"/>
              </a:spcAft>
              <a:buClr>
                <a:srgbClr val="9AA3B2"/>
              </a:buClr>
              <a:buFont typeface="Arial"/>
              <a:buChar char="•"/>
            </a:pPr>
            <a:r>
              <a:rPr sz="1400" b="1" i="0">
                <a:solidFill>
                  <a:srgbClr val="14213D"/>
                </a:solidFill>
                <a:latin typeface="Calibri"/>
              </a:rPr>
              <a:t>Caveat:</a:t>
            </a:r>
            <a:r>
              <a:rPr sz="1400" b="0" i="0">
                <a:solidFill>
                  <a:srgbClr val="1F2937"/>
                </a:solidFill>
                <a:latin typeface="Calibri"/>
              </a:rPr>
              <a:t> no policy was trained and no metrics are reported for these domains — they demonstrate generality of the world model, not of the agent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Dreamer 3 vs Dreamer 4</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Appendix F: what changed, and what the higher-fidelity model costs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31</a:t>
            </a:r>
          </a:p>
        </p:txBody>
      </p:sp>
      <p:graphicFrame>
        <p:nvGraphicFramePr>
          <p:cNvPr id="8" name="Table 7"/>
          <p:cNvGraphicFramePr>
            <a:graphicFrameLocks noGrp="1"/>
          </p:cNvGraphicFramePr>
          <p:nvPr/>
        </p:nvGraphicFramePr>
        <p:xfrm>
          <a:off x="457200" y="1417320"/>
          <a:ext cx="6949440" cy="3767328"/>
        </p:xfrm>
        <a:graphic>
          <a:graphicData uri="http://schemas.openxmlformats.org/drawingml/2006/table">
            <a:tbl>
              <a:tblPr firstRow="0" bandRow="0"/>
              <a:tblGrid>
                <a:gridCol w="1371600"/>
                <a:gridCol w="2743200"/>
                <a:gridCol w="2834640"/>
              </a:tblGrid>
              <a:tr h="384048">
                <a:tc>
                  <a:txBody>
                    <a:bodyPr/>
                    <a:lstStyle/>
                    <a:p>
                      <a:pPr algn="l"/>
                      <a:r>
                        <a:rPr sz="1200" b="1" i="0">
                          <a:solidFill>
                            <a:srgbClr val="14213D"/>
                          </a:solidFill>
                          <a:latin typeface="Calibri"/>
                        </a:rPr>
                        <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00" b="1" i="0">
                          <a:solidFill>
                            <a:srgbClr val="14213D"/>
                          </a:solidFill>
                          <a:latin typeface="Calibri"/>
                        </a:rPr>
                        <a:t>Dreamer 3 (Nature 2025)</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00" b="1" i="0">
                          <a:solidFill>
                            <a:srgbClr val="14213D"/>
                          </a:solidFill>
                          <a:latin typeface="Calibri"/>
                        </a:rPr>
                        <a:t>Dreamer 4</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676655">
                <a:tc>
                  <a:txBody>
                    <a:bodyPr/>
                    <a:lstStyle/>
                    <a:p>
                      <a:pPr algn="l"/>
                      <a:r>
                        <a:rPr sz="1250" b="0" i="0">
                          <a:solidFill>
                            <a:srgbClr val="1F2937"/>
                          </a:solidFill>
                          <a:latin typeface="Calibri"/>
                        </a:rPr>
                        <a:t>World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RSSM (recurrent + variational latent)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Block-causal diffusion/flow transformer, shortcut forcing</a:t>
                      </a:r>
                    </a:p>
                  </a:txBody>
                  <a:tcPr marL="64008" marR="64008" marT="36576" marB="36576" anchor="ctr">
                    <a:lnL w="0">
                      <a:noFill/>
                    </a:lnL>
                    <a:lnR w="0">
                      <a:noFill/>
                    </a:lnR>
                    <a:lnT w="0">
                      <a:noFill/>
                    </a:lnT>
                    <a:lnB w="6350" cap="flat" cmpd="sng" algn="ctr">
                      <a:solidFill>
                        <a:srgbClr val="D3D8E2"/>
                      </a:solidFill>
                      <a:prstDash val="solid"/>
                    </a:lnB>
                    <a:noFill/>
                  </a:tcPr>
                </a:tc>
              </a:tr>
              <a:tr h="676655">
                <a:tc>
                  <a:txBody>
                    <a:bodyPr/>
                    <a:lstStyle/>
                    <a:p>
                      <a:pPr algn="l"/>
                      <a:r>
                        <a:rPr sz="1250" b="0" i="0">
                          <a:solidFill>
                            <a:srgbClr val="1F2937"/>
                          </a:solidFill>
                          <a:latin typeface="Calibri"/>
                        </a:rPr>
                        <a:t>Minecraft input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64×64 pixels + inventory state; abstract crafting actions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360×640 pixels only; raw mouse &amp; keyboard</a:t>
                      </a:r>
                    </a:p>
                  </a:txBody>
                  <a:tcPr marL="64008" marR="64008" marT="36576" marB="36576" anchor="ctr">
                    <a:lnL w="0">
                      <a:noFill/>
                    </a:lnL>
                    <a:lnR w="0">
                      <a:noFill/>
                    </a:lnR>
                    <a:lnT w="0">
                      <a:noFill/>
                    </a:lnT>
                    <a:lnB w="6350" cap="flat" cmpd="sng" algn="ctr">
                      <a:solidFill>
                        <a:srgbClr val="D3D8E2"/>
                      </a:solidFill>
                      <a:prstDash val="solid"/>
                    </a:lnB>
                    <a:noFill/>
                  </a:tcPr>
                </a:tc>
              </a:tr>
              <a:tr h="676655">
                <a:tc>
                  <a:txBody>
                    <a:bodyPr/>
                    <a:lstStyle/>
                    <a:p>
                      <a:pPr algn="l"/>
                      <a:r>
                        <a:rPr sz="1250" b="0" i="0">
                          <a:solidFill>
                            <a:srgbClr val="1F2937"/>
                          </a:solidFill>
                          <a:latin typeface="Calibri"/>
                        </a:rPr>
                        <a:t>Data</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1.4 K h of </a:t>
                      </a:r>
                      <a:r>
                        <a:rPr sz="1250" b="0" i="1">
                          <a:solidFill>
                            <a:srgbClr val="1F2937"/>
                          </a:solidFill>
                          <a:latin typeface="Calibri"/>
                        </a:rPr>
                        <a:t>online</a:t>
                      </a:r>
                      <a:r>
                        <a:rPr sz="1250" b="0" i="0">
                          <a:solidFill>
                            <a:srgbClr val="1F2937"/>
                          </a:solidFill>
                          <a:latin typeface="Calibri"/>
                        </a:rPr>
                        <a:t> interaction, no human data</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2.5 K h of </a:t>
                      </a:r>
                      <a:r>
                        <a:rPr sz="1250" b="1" i="1">
                          <a:solidFill>
                            <a:srgbClr val="2A56D6"/>
                          </a:solidFill>
                          <a:latin typeface="Calibri"/>
                        </a:rPr>
                        <a:t>offline</a:t>
                      </a:r>
                      <a:r>
                        <a:rPr sz="1250" b="1" i="0">
                          <a:solidFill>
                            <a:srgbClr val="2A56D6"/>
                          </a:solidFill>
                          <a:latin typeface="Calibri"/>
                        </a:rPr>
                        <a:t> human data, no interaction</a:t>
                      </a:r>
                    </a:p>
                  </a:txBody>
                  <a:tcPr marL="64008" marR="64008" marT="36576" marB="36576" anchor="ctr">
                    <a:lnL w="0">
                      <a:noFill/>
                    </a:lnL>
                    <a:lnR w="0">
                      <a:noFill/>
                    </a:lnR>
                    <a:lnT w="0">
                      <a:noFill/>
                    </a:lnT>
                    <a:lnB w="6350" cap="flat" cmpd="sng" algn="ctr">
                      <a:solidFill>
                        <a:srgbClr val="D3D8E2"/>
                      </a:solidFill>
                      <a:prstDash val="solid"/>
                    </a:lnB>
                    <a:noFill/>
                  </a:tcPr>
                </a:tc>
              </a:tr>
              <a:tr h="676655">
                <a:tc>
                  <a:txBody>
                    <a:bodyPr/>
                    <a:lstStyle/>
                    <a:p>
                      <a:pPr algn="l"/>
                      <a:r>
                        <a:rPr sz="1250" b="0" i="0">
                          <a:solidFill>
                            <a:srgbClr val="1F2937"/>
                          </a:solidFill>
                          <a:latin typeface="Calibri"/>
                        </a:rPr>
                        <a:t>RL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Return normalisation + entropy bonus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PMPO (advantage sign) + KL to BC prior</a:t>
                      </a:r>
                    </a:p>
                  </a:txBody>
                  <a:tcPr marL="64008" marR="64008" marT="36576" marB="36576" anchor="ctr">
                    <a:lnL w="0">
                      <a:noFill/>
                    </a:lnL>
                    <a:lnR w="0">
                      <a:noFill/>
                    </a:lnR>
                    <a:lnT w="0">
                      <a:noFill/>
                    </a:lnT>
                    <a:lnB w="6350" cap="flat" cmpd="sng" algn="ctr">
                      <a:solidFill>
                        <a:srgbClr val="D3D8E2"/>
                      </a:solidFill>
                      <a:prstDash val="solid"/>
                    </a:lnB>
                    <a:noFill/>
                  </a:tcPr>
                </a:tc>
              </a:tr>
              <a:tr h="676660">
                <a:tc>
                  <a:txBody>
                    <a:bodyPr/>
                    <a:lstStyle/>
                    <a:p>
                      <a:pPr algn="l"/>
                      <a:r>
                        <a:rPr sz="1250" b="0" i="0">
                          <a:solidFill>
                            <a:srgbClr val="1F2937"/>
                          </a:solidFill>
                          <a:latin typeface="Calibri"/>
                        </a:rPr>
                        <a:t>Speed</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250" b="0" i="0">
                          <a:solidFill>
                            <a:srgbClr val="1F2937"/>
                          </a:solidFill>
                          <a:latin typeface="Calibri"/>
                        </a:rPr>
                        <a:t>~1,000× faster than a diffusion transformer</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250" b="1" i="0">
                          <a:solidFill>
                            <a:srgbClr val="2A56D6"/>
                          </a:solidFill>
                          <a:latin typeface="Calibri"/>
                        </a:rPr>
                        <a:t>~30× faster than diffusion forcing; ~40× slower than the RSSM</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pic>
        <p:nvPicPr>
          <p:cNvPr id="9" name="Picture 8" descr="fig11_dreamer3_vs_4_s.jpg"/>
          <p:cNvPicPr>
            <a:picLocks noChangeAspect="1"/>
          </p:cNvPicPr>
          <p:nvPr/>
        </p:nvPicPr>
        <p:blipFill>
          <a:blip r:embed="rId2"/>
          <a:stretch>
            <a:fillRect/>
          </a:stretch>
        </p:blipFill>
        <p:spPr>
          <a:xfrm>
            <a:off x="7850532" y="1417320"/>
            <a:ext cx="3775655" cy="1737360"/>
          </a:xfrm>
          <a:prstGeom prst="rect">
            <a:avLst/>
          </a:prstGeom>
        </p:spPr>
      </p:pic>
      <p:sp>
        <p:nvSpPr>
          <p:cNvPr id="10" name="TextBox 9"/>
          <p:cNvSpPr txBox="1"/>
          <p:nvPr/>
        </p:nvSpPr>
        <p:spPr>
          <a:xfrm>
            <a:off x="7680960" y="3200400"/>
            <a:ext cx="4114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11: multi-step generations, Dreamer 4 (top) vs Dreamer 3 (bottom).</a:t>
            </a:r>
          </a:p>
        </p:txBody>
      </p:sp>
      <p:pic>
        <p:nvPicPr>
          <p:cNvPr id="11" name="Picture 10" descr="chart_speed.png"/>
          <p:cNvPicPr>
            <a:picLocks noChangeAspect="1"/>
          </p:cNvPicPr>
          <p:nvPr/>
        </p:nvPicPr>
        <p:blipFill>
          <a:blip r:embed="rId3"/>
          <a:stretch>
            <a:fillRect/>
          </a:stretch>
        </p:blipFill>
        <p:spPr>
          <a:xfrm>
            <a:off x="7589520" y="3611880"/>
            <a:ext cx="4297680" cy="2218157"/>
          </a:xfrm>
          <a:prstGeom prst="rect">
            <a:avLst/>
          </a:prstGeom>
        </p:spPr>
      </p:pic>
      <p:sp>
        <p:nvSpPr>
          <p:cNvPr id="12" name="TextBox 11"/>
          <p:cNvSpPr txBox="1"/>
          <p:nvPr/>
        </p:nvSpPr>
        <p:spPr>
          <a:xfrm>
            <a:off x="7680960" y="5943600"/>
            <a:ext cx="4114800" cy="457200"/>
          </a:xfrm>
          <a:prstGeom prst="rect">
            <a:avLst/>
          </a:prstGeom>
          <a:noFill/>
        </p:spPr>
        <p:txBody>
          <a:bodyPr wrap="square" anchor="t" lIns="45720" rIns="45720" tIns="18288" bIns="18288">
            <a:spAutoFit/>
          </a:bodyPr>
          <a:lstStyle/>
          <a:p>
            <a:pPr algn="l">
              <a:lnSpc>
                <a:spcPct val="105000"/>
              </a:lnSpc>
            </a:pPr>
            <a:r>
              <a:rPr sz="950" b="0" i="1">
                <a:solidFill>
                  <a:srgbClr val="6B7280"/>
                </a:solidFill>
                <a:latin typeface="Calibri"/>
              </a:rPr>
              <a:t>Generation speed on a log scale (paper, TalkRL): ~30× faster than diffusion forcing, ~40× slower than the RSSM.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Data, compute and scale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Appendix A and Table 3</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EXPERIMENTS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32</a:t>
            </a:r>
          </a:p>
        </p:txBody>
      </p:sp>
      <p:graphicFrame>
        <p:nvGraphicFramePr>
          <p:cNvPr id="8" name="Table 7"/>
          <p:cNvGraphicFramePr>
            <a:graphicFrameLocks noGrp="1"/>
          </p:cNvGraphicFramePr>
          <p:nvPr/>
        </p:nvGraphicFramePr>
        <p:xfrm>
          <a:off x="457200" y="1417320"/>
          <a:ext cx="11247120" cy="2212848"/>
        </p:xfrm>
        <a:graphic>
          <a:graphicData uri="http://schemas.openxmlformats.org/drawingml/2006/table">
            <a:tbl>
              <a:tblPr firstRow="0" bandRow="0"/>
              <a:tblGrid>
                <a:gridCol w="2377440"/>
                <a:gridCol w="914400"/>
                <a:gridCol w="2651760"/>
                <a:gridCol w="2926080"/>
                <a:gridCol w="2377440"/>
              </a:tblGrid>
              <a:tr h="384048">
                <a:tc>
                  <a:txBody>
                    <a:bodyPr/>
                    <a:lstStyle/>
                    <a:p>
                      <a:pPr algn="l"/>
                      <a:r>
                        <a:rPr sz="1150" b="1" i="0">
                          <a:solidFill>
                            <a:srgbClr val="14213D"/>
                          </a:solidFill>
                          <a:latin typeface="Calibri"/>
                        </a:rPr>
                        <a:t>Dataset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Size</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Resolution / FPS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Actions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Dynamics config</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457200">
                <a:tc>
                  <a:txBody>
                    <a:bodyPr/>
                    <a:lstStyle/>
                    <a:p>
                      <a:pPr algn="l"/>
                      <a:r>
                        <a:rPr sz="1200" b="0" i="0">
                          <a:solidFill>
                            <a:srgbClr val="1F2937"/>
                          </a:solidFill>
                          <a:latin typeface="Calibri"/>
                        </a:rPr>
                        <a:t>Minecraft (VPT contractor 6–10)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2,541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00" b="0" i="0">
                          <a:solidFill>
                            <a:srgbClr val="1F2937"/>
                          </a:solidFill>
                          <a:latin typeface="Calibri"/>
                        </a:rPr>
                        <a:t>360×640 → 384×640 padded, 20 FPS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00" b="0" i="0">
                          <a:solidFill>
                            <a:srgbClr val="1F2937"/>
                          </a:solidFill>
                          <a:latin typeface="Calibri"/>
                        </a:rPr>
                        <a:t>23 keys + 121-way mouse; item events → rewards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N_z 256 · C 192 · T 64/256</a:t>
                      </a:r>
                    </a:p>
                  </a:txBody>
                  <a:tcPr marL="64008" marR="64008" marT="36576" marB="36576" anchor="ctr">
                    <a:lnL w="0">
                      <a:noFill/>
                    </a:lnL>
                    <a:lnR w="0">
                      <a:noFill/>
                    </a:lnR>
                    <a:lnT w="0">
                      <a:noFill/>
                    </a:lnT>
                    <a:lnB w="6350" cap="flat" cmpd="sng" algn="ctr">
                      <a:solidFill>
                        <a:srgbClr val="D3D8E2"/>
                      </a:solidFill>
                      <a:prstDash val="solid"/>
                    </a:lnB>
                    <a:noFill/>
                  </a:tcPr>
                </a:tc>
              </a:tr>
              <a:tr h="457200">
                <a:tc>
                  <a:txBody>
                    <a:bodyPr/>
                    <a:lstStyle/>
                    <a:p>
                      <a:pPr algn="l"/>
                      <a:r>
                        <a:rPr sz="1200" b="0" i="0">
                          <a:solidFill>
                            <a:srgbClr val="1F2937"/>
                          </a:solidFill>
                          <a:latin typeface="Calibri"/>
                        </a:rPr>
                        <a:t>Overworld vs Nether/End split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subset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same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labels only for Overworld</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action-generalisation study</a:t>
                      </a:r>
                    </a:p>
                  </a:txBody>
                  <a:tcPr marL="64008" marR="64008" marT="36576" marB="36576" anchor="ctr">
                    <a:lnL w="0">
                      <a:noFill/>
                    </a:lnL>
                    <a:lnR w="0">
                      <a:noFill/>
                    </a:lnR>
                    <a:lnT w="0">
                      <a:noFill/>
                    </a:lnT>
                    <a:lnB w="6350" cap="flat" cmpd="sng" algn="ctr">
                      <a:solidFill>
                        <a:srgbClr val="D3D8E2"/>
                      </a:solidFill>
                      <a:prstDash val="solid"/>
                    </a:lnB>
                    <a:noFill/>
                  </a:tcPr>
                </a:tc>
              </a:tr>
              <a:tr h="457200">
                <a:tc>
                  <a:txBody>
                    <a:bodyPr/>
                    <a:lstStyle/>
                    <a:p>
                      <a:pPr algn="l"/>
                      <a:r>
                        <a:rPr sz="1200" b="0" i="0">
                          <a:solidFill>
                            <a:srgbClr val="1F2937"/>
                          </a:solidFill>
                          <a:latin typeface="Calibri"/>
                        </a:rPr>
                        <a:t>SOAR robotics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180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256×256, 5 FPS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7-D relative end-effector</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N_z 512 · C 96 · T 32/128</a:t>
                      </a:r>
                    </a:p>
                  </a:txBody>
                  <a:tcPr marL="64008" marR="64008" marT="36576" marB="36576" anchor="ctr">
                    <a:lnL w="0">
                      <a:noFill/>
                    </a:lnL>
                    <a:lnR w="0">
                      <a:noFill/>
                    </a:lnR>
                    <a:lnT w="0">
                      <a:noFill/>
                    </a:lnT>
                    <a:lnB w="6350" cap="flat" cmpd="sng" algn="ctr">
                      <a:solidFill>
                        <a:srgbClr val="D3D8E2"/>
                      </a:solidFill>
                      <a:prstDash val="solid"/>
                    </a:lnB>
                    <a:noFill/>
                  </a:tcPr>
                </a:tc>
              </a:tr>
              <a:tr h="457200">
                <a:tc>
                  <a:txBody>
                    <a:bodyPr/>
                    <a:lstStyle/>
                    <a:p>
                      <a:pPr algn="l"/>
                      <a:r>
                        <a:rPr sz="1200" b="0" i="0">
                          <a:solidFill>
                            <a:srgbClr val="1F2937"/>
                          </a:solidFill>
                          <a:latin typeface="Calibri"/>
                        </a:rPr>
                        <a:t>Epic Kitchens 100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100 h</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256×256, 10 FPS</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none</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same as SOAR</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graphicFrame>
        <p:nvGraphicFramePr>
          <p:cNvPr id="9" name="Table 8"/>
          <p:cNvGraphicFramePr>
            <a:graphicFrameLocks noGrp="1"/>
          </p:cNvGraphicFramePr>
          <p:nvPr/>
        </p:nvGraphicFramePr>
        <p:xfrm>
          <a:off x="457200" y="3977639"/>
          <a:ext cx="6035040" cy="1828800"/>
        </p:xfrm>
        <a:graphic>
          <a:graphicData uri="http://schemas.openxmlformats.org/drawingml/2006/table">
            <a:tbl>
              <a:tblPr firstRow="0" bandRow="0"/>
              <a:tblGrid>
                <a:gridCol w="2011680"/>
                <a:gridCol w="1280160"/>
                <a:gridCol w="1280160"/>
                <a:gridCol w="1463040"/>
              </a:tblGrid>
              <a:tr h="365760">
                <a:tc>
                  <a:txBody>
                    <a:bodyPr/>
                    <a:lstStyle/>
                    <a:p>
                      <a:pPr algn="l"/>
                      <a:r>
                        <a:rPr sz="1150" b="1" i="0">
                          <a:solidFill>
                            <a:srgbClr val="14213D"/>
                          </a:solidFill>
                          <a:latin typeface="Calibri"/>
                        </a:rPr>
                        <a:t>Agent (Table 3)</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Human data</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Web video</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Online interaction</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65760">
                <a:tc>
                  <a:txBody>
                    <a:bodyPr/>
                    <a:lstStyle/>
                    <a:p>
                      <a:pPr algn="l"/>
                      <a:r>
                        <a:rPr sz="1200" b="0" i="0">
                          <a:solidFill>
                            <a:srgbClr val="1F2937"/>
                          </a:solidFill>
                          <a:latin typeface="Calibri"/>
                        </a:rPr>
                        <a:t>VPT (RL fine-tuned)</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2.5 K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270 K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194 K h</a:t>
                      </a:r>
                    </a:p>
                  </a:txBody>
                  <a:tcPr marL="64008" marR="64008" marT="36576" marB="36576" anchor="ctr">
                    <a:lnL w="0">
                      <a:noFill/>
                    </a:lnL>
                    <a:lnR w="0">
                      <a:noFill/>
                    </a:lnR>
                    <a:lnT w="0">
                      <a:noFill/>
                    </a:lnT>
                    <a:lnB w="6350" cap="flat" cmpd="sng" algn="ctr">
                      <a:solidFill>
                        <a:srgbClr val="D3D8E2"/>
                      </a:solidFill>
                      <a:prstDash val="solid"/>
                    </a:lnB>
                    <a:noFill/>
                  </a:tcPr>
                </a:tc>
              </a:tr>
              <a:tr h="365760">
                <a:tc>
                  <a:txBody>
                    <a:bodyPr/>
                    <a:lstStyle/>
                    <a:p>
                      <a:pPr algn="l"/>
                      <a:r>
                        <a:rPr sz="1200" b="0" i="0">
                          <a:solidFill>
                            <a:srgbClr val="1F2937"/>
                          </a:solidFill>
                          <a:latin typeface="Calibri"/>
                        </a:rPr>
                        <a:t>VPT (BC)</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2.5 K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270 K h</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a:t>
                      </a:r>
                    </a:p>
                  </a:txBody>
                  <a:tcPr marL="64008" marR="64008" marT="36576" marB="36576" anchor="ctr">
                    <a:lnL w="0">
                      <a:noFill/>
                    </a:lnL>
                    <a:lnR w="0">
                      <a:noFill/>
                    </a:lnR>
                    <a:lnT w="0">
                      <a:noFill/>
                    </a:lnT>
                    <a:lnB w="6350" cap="flat" cmpd="sng" algn="ctr">
                      <a:solidFill>
                        <a:srgbClr val="D3D8E2"/>
                      </a:solidFill>
                      <a:prstDash val="solid"/>
                    </a:lnB>
                    <a:noFill/>
                  </a:tcPr>
                </a:tc>
              </a:tr>
              <a:tr h="365760">
                <a:tc>
                  <a:txBody>
                    <a:bodyPr/>
                    <a:lstStyle/>
                    <a:p>
                      <a:pPr algn="l"/>
                      <a:r>
                        <a:rPr sz="1200" b="0" i="0">
                          <a:solidFill>
                            <a:srgbClr val="1F2937"/>
                          </a:solidFill>
                          <a:latin typeface="Calibri"/>
                        </a:rPr>
                        <a:t>Dreamer 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1.4 K h</a:t>
                      </a:r>
                    </a:p>
                  </a:txBody>
                  <a:tcPr marL="64008" marR="64008" marT="36576" marB="36576" anchor="ctr">
                    <a:lnL w="0">
                      <a:noFill/>
                    </a:lnL>
                    <a:lnR w="0">
                      <a:noFill/>
                    </a:lnR>
                    <a:lnT w="0">
                      <a:noFill/>
                    </a:lnT>
                    <a:lnB w="6350" cap="flat" cmpd="sng" algn="ctr">
                      <a:solidFill>
                        <a:srgbClr val="D3D8E2"/>
                      </a:solidFill>
                      <a:prstDash val="solid"/>
                    </a:lnB>
                    <a:noFill/>
                  </a:tcPr>
                </a:tc>
              </a:tr>
              <a:tr h="365760">
                <a:tc>
                  <a:txBody>
                    <a:bodyPr/>
                    <a:lstStyle/>
                    <a:p>
                      <a:pPr algn="l"/>
                      <a:r>
                        <a:rPr sz="1200" b="1" i="0">
                          <a:solidFill>
                            <a:srgbClr val="1F2937"/>
                          </a:solidFill>
                          <a:latin typeface="Calibri"/>
                        </a:rPr>
                        <a:t>Dreamer 4</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200" b="1" i="0">
                          <a:solidFill>
                            <a:srgbClr val="1F2937"/>
                          </a:solidFill>
                          <a:latin typeface="Calibri"/>
                        </a:rPr>
                        <a:t>2.5 K h</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200" b="1" i="0">
                          <a:solidFill>
                            <a:srgbClr val="1F2937"/>
                          </a:solidFill>
                          <a:latin typeface="Calibri"/>
                        </a:rPr>
                        <a:t>—</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200" b="1" i="0">
                          <a:solidFill>
                            <a:srgbClr val="1F2937"/>
                          </a:solidFill>
                          <a:latin typeface="Calibri"/>
                        </a:rPr>
                        <a:t>—</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r>
            </a:tbl>
          </a:graphicData>
        </a:graphic>
      </p:graphicFrame>
      <p:sp>
        <p:nvSpPr>
          <p:cNvPr id="10" name="TextBox 9"/>
          <p:cNvSpPr txBox="1"/>
          <p:nvPr/>
        </p:nvSpPr>
        <p:spPr>
          <a:xfrm>
            <a:off x="6766560" y="4023360"/>
            <a:ext cx="5029200" cy="23774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Compute:</a:t>
            </a:r>
            <a:r>
              <a:rPr sz="1350" b="0" i="0">
                <a:solidFill>
                  <a:srgbClr val="1F2937"/>
                </a:solidFill>
                <a:latin typeface="Calibri"/>
              </a:rPr>
              <a:t> 256–1,024 TPU v5p chips per run (exact chip-hours not disclosed)</a:t>
            </a:r>
          </a:p>
          <a:p>
            <a:pPr marL="237744" indent="-201168">
              <a:lnSpc>
                <a:spcPct val="108000"/>
              </a:lnSpc>
              <a:spcAft>
                <a:spcPts val="600"/>
              </a:spcAft>
              <a:buClr>
                <a:srgbClr val="9AA3B2"/>
              </a:buClr>
              <a:buFont typeface="Arial"/>
              <a:buChar char="•"/>
            </a:pPr>
            <a:r>
              <a:rPr sz="1350" b="1" i="0">
                <a:solidFill>
                  <a:srgbClr val="14213D"/>
                </a:solidFill>
                <a:latin typeface="Calibri"/>
              </a:rPr>
              <a:t>Ablations:</a:t>
            </a:r>
            <a:r>
              <a:rPr sz="1350" b="0" i="0">
                <a:solidFill>
                  <a:srgbClr val="1F2937"/>
                </a:solidFill>
                <a:latin typeface="Calibri"/>
              </a:rPr>
              <a:t> 48 h runs per configuration</a:t>
            </a:r>
          </a:p>
          <a:p>
            <a:pPr marL="237744" indent="-201168">
              <a:lnSpc>
                <a:spcPct val="108000"/>
              </a:lnSpc>
              <a:spcAft>
                <a:spcPts val="600"/>
              </a:spcAft>
              <a:buClr>
                <a:srgbClr val="9AA3B2"/>
              </a:buClr>
              <a:buFont typeface="Arial"/>
              <a:buChar char="•"/>
            </a:pPr>
            <a:r>
              <a:rPr sz="1350" b="1" i="0">
                <a:solidFill>
                  <a:srgbClr val="14213D"/>
                </a:solidFill>
                <a:latin typeface="Calibri"/>
              </a:rPr>
              <a:t>Model:</a:t>
            </a:r>
            <a:r>
              <a:rPr sz="1350" b="0" i="0">
                <a:solidFill>
                  <a:srgbClr val="1F2937"/>
                </a:solidFill>
                <a:latin typeface="Calibri"/>
              </a:rPr>
              <a:t> ≈ 2 B parameters total; inference 21 FPS on one H100</a:t>
            </a:r>
          </a:p>
          <a:p>
            <a:pPr marL="237744" indent="-201168">
              <a:lnSpc>
                <a:spcPct val="108000"/>
              </a:lnSpc>
              <a:spcAft>
                <a:spcPts val="600"/>
              </a:spcAft>
              <a:buClr>
                <a:srgbClr val="9AA3B2"/>
              </a:buClr>
              <a:buFont typeface="Arial"/>
              <a:buChar char="•"/>
            </a:pPr>
            <a:r>
              <a:rPr sz="1350" b="1" i="0">
                <a:solidFill>
                  <a:srgbClr val="14213D"/>
                </a:solidFill>
                <a:latin typeface="Calibri"/>
              </a:rPr>
              <a:t>Not released:</a:t>
            </a:r>
            <a:r>
              <a:rPr sz="1350" b="0" i="0">
                <a:solidFill>
                  <a:srgbClr val="1F2937"/>
                </a:solidFill>
                <a:latin typeface="Calibri"/>
              </a:rPr>
              <a:t> code, weights or data recipe (Hafner: 'probably not') — reproductions exist (Open Dreamer, Dreamer-MC, Hansen's PyTorch port)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04</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4</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Discussion</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Limitations, critical reading, future work, takeaways</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Limitations the paper itself states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From the discussion section and the authors' talks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34</a:t>
            </a:r>
          </a:p>
        </p:txBody>
      </p:sp>
      <p:sp>
        <p:nvSpPr>
          <p:cNvPr id="8" name="TextBox 7"/>
          <p:cNvSpPr txBox="1"/>
          <p:nvPr/>
        </p:nvSpPr>
        <p:spPr>
          <a:xfrm>
            <a:off x="548640" y="1481328"/>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01</a:t>
            </a:r>
          </a:p>
        </p:txBody>
      </p:sp>
      <p:sp>
        <p:nvSpPr>
          <p:cNvPr id="9" name="TextBox 8"/>
          <p:cNvSpPr txBox="1"/>
          <p:nvPr/>
        </p:nvSpPr>
        <p:spPr>
          <a:xfrm>
            <a:off x="1097280" y="1508760"/>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Diamonds are rare:</a:t>
            </a:r>
            <a:r>
              <a:rPr sz="1550" b="0" i="0">
                <a:solidFill>
                  <a:srgbClr val="1F2937"/>
                </a:solidFill>
                <a:latin typeface="Calibri"/>
              </a:rPr>
              <a:t> 0.7 % success; the authors call the pipeline a 'reliable and performant starting point', not a solved task</a:t>
            </a:r>
          </a:p>
        </p:txBody>
      </p:sp>
      <p:sp>
        <p:nvSpPr>
          <p:cNvPr id="10" name="TextBox 9"/>
          <p:cNvSpPr txBox="1"/>
          <p:nvPr/>
        </p:nvSpPr>
        <p:spPr>
          <a:xfrm>
            <a:off x="548640" y="2156332"/>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02</a:t>
            </a:r>
          </a:p>
        </p:txBody>
      </p:sp>
      <p:sp>
        <p:nvSpPr>
          <p:cNvPr id="11" name="TextBox 10"/>
          <p:cNvSpPr txBox="1"/>
          <p:nvPr/>
        </p:nvSpPr>
        <p:spPr>
          <a:xfrm>
            <a:off x="1097280" y="2183764"/>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Memory:</a:t>
            </a:r>
            <a:r>
              <a:rPr sz="1550" b="0" i="0">
                <a:solidFill>
                  <a:srgbClr val="1F2937"/>
                </a:solidFill>
                <a:latin typeface="Calibri"/>
              </a:rPr>
              <a:t> 9.6 s of context; walk into a house for 30 s and the outside is regenerated — long-term memory is the number-one item on the roadmap</a:t>
            </a:r>
          </a:p>
        </p:txBody>
      </p:sp>
      <p:sp>
        <p:nvSpPr>
          <p:cNvPr id="12" name="TextBox 11"/>
          <p:cNvSpPr txBox="1"/>
          <p:nvPr/>
        </p:nvSpPr>
        <p:spPr>
          <a:xfrm>
            <a:off x="548640" y="2831336"/>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03</a:t>
            </a:r>
          </a:p>
        </p:txBody>
      </p:sp>
      <p:sp>
        <p:nvSpPr>
          <p:cNvPr id="13" name="TextBox 12"/>
          <p:cNvSpPr txBox="1"/>
          <p:nvPr/>
        </p:nvSpPr>
        <p:spPr>
          <a:xfrm>
            <a:off x="1097280" y="2858768"/>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Inventory drift:</a:t>
            </a:r>
            <a:r>
              <a:rPr sz="1550" b="0" i="0">
                <a:solidFill>
                  <a:srgbClr val="1F2937"/>
                </a:solidFill>
                <a:latin typeface="Calibri"/>
              </a:rPr>
              <a:t> small UI elements and item counts blur over long horizons; small objects and long-range semantic correlations are what video models learn last</a:t>
            </a:r>
          </a:p>
        </p:txBody>
      </p:sp>
      <p:sp>
        <p:nvSpPr>
          <p:cNvPr id="14" name="TextBox 13"/>
          <p:cNvSpPr txBox="1"/>
          <p:nvPr/>
        </p:nvSpPr>
        <p:spPr>
          <a:xfrm>
            <a:off x="548640" y="3506340"/>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04</a:t>
            </a:r>
          </a:p>
        </p:txBody>
      </p:sp>
      <p:sp>
        <p:nvSpPr>
          <p:cNvPr id="15" name="TextBox 14"/>
          <p:cNvSpPr txBox="1"/>
          <p:nvPr/>
        </p:nvSpPr>
        <p:spPr>
          <a:xfrm>
            <a:off x="1097280" y="3533772"/>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Frozen, exploitable simulator:</a:t>
            </a:r>
            <a:r>
              <a:rPr sz="1550" b="0" i="0">
                <a:solidFill>
                  <a:srgbClr val="1F2937"/>
                </a:solidFill>
                <a:latin typeface="Calibri"/>
              </a:rPr>
              <a:t> no epistemic-uncertainty estimate; the policy can exploit model errors (invalid crafting) — currently mitigated only by the KL constraint</a:t>
            </a:r>
          </a:p>
        </p:txBody>
      </p:sp>
      <p:sp>
        <p:nvSpPr>
          <p:cNvPr id="16" name="TextBox 15"/>
          <p:cNvSpPr txBox="1"/>
          <p:nvPr/>
        </p:nvSpPr>
        <p:spPr>
          <a:xfrm>
            <a:off x="548640" y="4181344"/>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05</a:t>
            </a:r>
          </a:p>
        </p:txBody>
      </p:sp>
      <p:sp>
        <p:nvSpPr>
          <p:cNvPr id="17" name="TextBox 16"/>
          <p:cNvSpPr txBox="1"/>
          <p:nvPr/>
        </p:nvSpPr>
        <p:spPr>
          <a:xfrm>
            <a:off x="1097280" y="4208776"/>
            <a:ext cx="10515600" cy="520382"/>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Two-stage training:</a:t>
            </a:r>
            <a:r>
              <a:rPr sz="1550" b="0" i="0">
                <a:solidFill>
                  <a:srgbClr val="1F2937"/>
                </a:solidFill>
                <a:latin typeface="Calibri"/>
              </a:rPr>
              <a:t> tokenizer is trained separately and frozen; the authors expect end-to-end training eventually</a:t>
            </a:r>
          </a:p>
        </p:txBody>
      </p:sp>
      <p:sp>
        <p:nvSpPr>
          <p:cNvPr id="18" name="TextBox 17"/>
          <p:cNvSpPr txBox="1"/>
          <p:nvPr/>
        </p:nvSpPr>
        <p:spPr>
          <a:xfrm>
            <a:off x="548640" y="4610286"/>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06</a:t>
            </a:r>
          </a:p>
        </p:txBody>
      </p:sp>
      <p:sp>
        <p:nvSpPr>
          <p:cNvPr id="19" name="TextBox 18"/>
          <p:cNvSpPr txBox="1"/>
          <p:nvPr/>
        </p:nvSpPr>
        <p:spPr>
          <a:xfrm>
            <a:off x="1097280" y="4637718"/>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Single domain for the agent:</a:t>
            </a:r>
            <a:r>
              <a:rPr sz="1550" b="0" i="0">
                <a:solidFill>
                  <a:srgbClr val="1F2937"/>
                </a:solidFill>
                <a:latin typeface="Calibri"/>
              </a:rPr>
              <a:t> RL results exist only for Minecraft; robotics and kitchen video are qualitative world-model demos</a:t>
            </a:r>
          </a:p>
        </p:txBody>
      </p:sp>
      <p:sp>
        <p:nvSpPr>
          <p:cNvPr id="20" name="TextBox 19"/>
          <p:cNvSpPr txBox="1"/>
          <p:nvPr/>
        </p:nvSpPr>
        <p:spPr>
          <a:xfrm>
            <a:off x="548640" y="5285290"/>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07</a:t>
            </a:r>
          </a:p>
        </p:txBody>
      </p:sp>
      <p:sp>
        <p:nvSpPr>
          <p:cNvPr id="21" name="TextBox 20"/>
          <p:cNvSpPr txBox="1"/>
          <p:nvPr/>
        </p:nvSpPr>
        <p:spPr>
          <a:xfrm>
            <a:off x="1097280" y="5312722"/>
            <a:ext cx="10515600" cy="520382"/>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Compute:</a:t>
            </a:r>
            <a:r>
              <a:rPr sz="1550" b="0" i="0">
                <a:solidFill>
                  <a:srgbClr val="1F2937"/>
                </a:solidFill>
                <a:latin typeface="Calibri"/>
              </a:rPr>
              <a:t> hundreds of TPU v5p chips per run; not a recipe individuals can reproduce at full scale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 critical reading: established vs. open</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What a reviewer would push on (and what independent groups later found)</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35</a:t>
            </a:r>
          </a:p>
        </p:txBody>
      </p:sp>
      <p:sp>
        <p:nvSpPr>
          <p:cNvPr id="8" name="Rectangle 7"/>
          <p:cNvSpPr/>
          <p:nvPr/>
        </p:nvSpPr>
        <p:spPr>
          <a:xfrm>
            <a:off x="457200" y="1463040"/>
            <a:ext cx="5362956" cy="127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362956" cy="384048"/>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Well supported</a:t>
            </a:r>
          </a:p>
        </p:txBody>
      </p:sp>
      <p:sp>
        <p:nvSpPr>
          <p:cNvPr id="10" name="TextBox 9"/>
          <p:cNvSpPr txBox="1"/>
          <p:nvPr/>
        </p:nvSpPr>
        <p:spPr>
          <a:xfrm>
            <a:off x="411480" y="1956816"/>
            <a:ext cx="5408676" cy="4261104"/>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450" b="0" i="0">
                <a:solidFill>
                  <a:srgbClr val="1F2937"/>
                </a:solidFill>
                <a:latin typeface="Calibri"/>
              </a:rPr>
              <a:t>Shortcut forcing + x-prediction gives a large speed/quality win — a clean 12-step ablation cascade, and reproduced by Open Dreamer at 1.6 B scale (JAX, 2026).</a:t>
            </a:r>
          </a:p>
          <a:p>
            <a:pPr marL="237744" indent="-201168">
              <a:lnSpc>
                <a:spcPct val="108000"/>
              </a:lnSpc>
              <a:spcAft>
                <a:spcPts val="500"/>
              </a:spcAft>
              <a:buClr>
                <a:srgbClr val="9AA3B2"/>
              </a:buClr>
              <a:buFont typeface="Arial"/>
              <a:buChar char="•"/>
            </a:pPr>
            <a:r>
              <a:rPr sz="1450" b="0" i="0">
                <a:solidFill>
                  <a:srgbClr val="1F2937"/>
                </a:solidFill>
                <a:latin typeface="Calibri"/>
              </a:rPr>
              <a:t>The world model handles object interactions far better than Oasis / Lucid-v1 — consistent human play-tests plus long-rollout FVD.</a:t>
            </a:r>
          </a:p>
          <a:p>
            <a:pPr marL="237744" indent="-201168">
              <a:lnSpc>
                <a:spcPct val="108000"/>
              </a:lnSpc>
              <a:spcAft>
                <a:spcPts val="500"/>
              </a:spcAft>
              <a:buClr>
                <a:srgbClr val="9AA3B2"/>
              </a:buClr>
              <a:buFont typeface="Arial"/>
              <a:buChar char="•"/>
            </a:pPr>
            <a:r>
              <a:rPr sz="1450" b="0" i="0">
                <a:solidFill>
                  <a:srgbClr val="1F2937"/>
                </a:solidFill>
                <a:latin typeface="Calibri"/>
              </a:rPr>
              <a:t>World-model features are a strong prior for imitation (WM+BC ≫ BC on the same data).</a:t>
            </a:r>
          </a:p>
          <a:p>
            <a:pPr marL="237744" indent="-201168">
              <a:lnSpc>
                <a:spcPct val="108000"/>
              </a:lnSpc>
              <a:spcAft>
                <a:spcPts val="500"/>
              </a:spcAft>
              <a:buClr>
                <a:srgbClr val="9AA3B2"/>
              </a:buClr>
              <a:buFont typeface="Arial"/>
              <a:buChar char="•"/>
            </a:pPr>
            <a:r>
              <a:rPr sz="1450" b="0" i="0">
                <a:solidFill>
                  <a:srgbClr val="1F2937"/>
                </a:solidFill>
                <a:latin typeface="Calibri"/>
              </a:rPr>
              <a:t>Action conditioning from ~4 % labeled data works and transfers across visual domains.</a:t>
            </a:r>
          </a:p>
        </p:txBody>
      </p:sp>
      <p:sp>
        <p:nvSpPr>
          <p:cNvPr id="11" name="Rectangle 10"/>
          <p:cNvSpPr/>
          <p:nvPr/>
        </p:nvSpPr>
        <p:spPr>
          <a:xfrm>
            <a:off x="6368796" y="1463040"/>
            <a:ext cx="5362956" cy="12700"/>
          </a:xfrm>
          <a:prstGeom prst="rect">
            <a:avLst/>
          </a:prstGeom>
          <a:solidFill>
            <a:srgbClr val="C97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8796" y="1536192"/>
            <a:ext cx="5362956" cy="384048"/>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Open or thinly supported</a:t>
            </a:r>
          </a:p>
        </p:txBody>
      </p:sp>
      <p:sp>
        <p:nvSpPr>
          <p:cNvPr id="13" name="TextBox 12"/>
          <p:cNvSpPr txBox="1"/>
          <p:nvPr/>
        </p:nvSpPr>
        <p:spPr>
          <a:xfrm>
            <a:off x="6323076" y="1956816"/>
            <a:ext cx="5408676" cy="4261104"/>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450" b="0" i="0">
                <a:solidFill>
                  <a:srgbClr val="1F2937"/>
                </a:solidFill>
                <a:latin typeface="Calibri"/>
              </a:rPr>
              <a:t>Diamond result: 0.7 % without confidence intervals or per-seed variance; success criterion is a game event, protocol details are in the appendix only.</a:t>
            </a:r>
          </a:p>
          <a:p>
            <a:pPr marL="237744" indent="-201168">
              <a:lnSpc>
                <a:spcPct val="108000"/>
              </a:lnSpc>
              <a:spcAft>
                <a:spcPts val="500"/>
              </a:spcAft>
              <a:buClr>
                <a:srgbClr val="9AA3B2"/>
              </a:buClr>
              <a:buFont typeface="Arial"/>
              <a:buChar char="•"/>
            </a:pPr>
            <a:r>
              <a:rPr sz="1450" b="0" i="0">
                <a:solidFill>
                  <a:srgbClr val="1F2937"/>
                </a:solidFill>
                <a:latin typeface="Calibri"/>
              </a:rPr>
              <a:t>No direct quantitative long-horizon accuracy metric — interaction accuracy is human-judged on 16 tasks (Pith/EmergentMind critique).</a:t>
            </a:r>
          </a:p>
          <a:p>
            <a:pPr marL="237744" indent="-201168">
              <a:lnSpc>
                <a:spcPct val="108000"/>
              </a:lnSpc>
              <a:spcAft>
                <a:spcPts val="500"/>
              </a:spcAft>
              <a:buClr>
                <a:srgbClr val="9AA3B2"/>
              </a:buClr>
              <a:buFont typeface="Arial"/>
              <a:buChar char="•"/>
            </a:pPr>
            <a:r>
              <a:rPr sz="1450" b="0" i="0">
                <a:solidFill>
                  <a:srgbClr val="1F2937"/>
                </a:solidFill>
                <a:latin typeface="Calibri"/>
              </a:rPr>
              <a:t>RL gains over WM+BC are modest on most items; small-scale reproductions report high seed variance in the RL phase and reward-hacking of the frozen reward head.</a:t>
            </a:r>
          </a:p>
          <a:p>
            <a:pPr marL="237744" indent="-201168">
              <a:lnSpc>
                <a:spcPct val="108000"/>
              </a:lnSpc>
              <a:spcAft>
                <a:spcPts val="500"/>
              </a:spcAft>
              <a:buClr>
                <a:srgbClr val="9AA3B2"/>
              </a:buClr>
              <a:buFont typeface="Arial"/>
              <a:buChar char="•"/>
            </a:pPr>
            <a:r>
              <a:rPr sz="1450" b="0" i="0">
                <a:solidFill>
                  <a:srgbClr val="1F2937"/>
                </a:solidFill>
                <a:latin typeface="Calibri"/>
              </a:rPr>
              <a:t>No peer review as of Sept 2026 (arXiv v1 only); no code or weights; nobody outside DeepMind has reproduced offline diamonds.</a:t>
            </a:r>
          </a:p>
          <a:p>
            <a:pPr marL="237744" indent="-201168">
              <a:lnSpc>
                <a:spcPct val="108000"/>
              </a:lnSpc>
              <a:spcAft>
                <a:spcPts val="500"/>
              </a:spcAft>
              <a:buClr>
                <a:srgbClr val="9AA3B2"/>
              </a:buClr>
              <a:buFont typeface="Arial"/>
              <a:buChar char="•"/>
            </a:pPr>
            <a:r>
              <a:rPr sz="1450" b="0" i="0">
                <a:solidFill>
                  <a:srgbClr val="1F2937"/>
                </a:solidFill>
                <a:latin typeface="Calibri"/>
              </a:rPr>
              <a:t>Generality of the </a:t>
            </a:r>
            <a:r>
              <a:rPr sz="1450" b="0" i="1">
                <a:solidFill>
                  <a:srgbClr val="1F2937"/>
                </a:solidFill>
                <a:latin typeface="Calibri"/>
              </a:rPr>
              <a:t>agent</a:t>
            </a:r>
            <a:r>
              <a:rPr sz="1450" b="0" i="0">
                <a:solidFill>
                  <a:srgbClr val="1F2937"/>
                </a:solidFill>
                <a:latin typeface="Calibri"/>
              </a:rPr>
              <a:t> beyond Minecraft is untested.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Where the authors want to take it</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Future work listed in the paper and expanded in the TalkRL interview (Nov 2025)</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36</a:t>
            </a:r>
          </a:p>
        </p:txBody>
      </p:sp>
      <p:sp>
        <p:nvSpPr>
          <p:cNvPr id="8" name="TextBox 7"/>
          <p:cNvSpPr txBox="1"/>
          <p:nvPr/>
        </p:nvSpPr>
        <p:spPr>
          <a:xfrm>
            <a:off x="457200"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01</a:t>
            </a:r>
          </a:p>
        </p:txBody>
      </p:sp>
      <p:sp>
        <p:nvSpPr>
          <p:cNvPr id="9" name="Rectangle 8"/>
          <p:cNvSpPr/>
          <p:nvPr/>
        </p:nvSpPr>
        <p:spPr>
          <a:xfrm>
            <a:off x="457200"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29384"/>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Internet-video pretraining</a:t>
            </a:r>
          </a:p>
        </p:txBody>
      </p:sp>
      <p:sp>
        <p:nvSpPr>
          <p:cNvPr id="11" name="TextBox 10"/>
          <p:cNvSpPr txBox="1"/>
          <p:nvPr/>
        </p:nvSpPr>
        <p:spPr>
          <a:xfrm>
            <a:off x="457200" y="2350008"/>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Learn dynamics from unlabeled web video; label only a small slice with actions (Fig. 7 is the proof of concept).</a:t>
            </a:r>
          </a:p>
        </p:txBody>
      </p:sp>
      <p:sp>
        <p:nvSpPr>
          <p:cNvPr id="12" name="TextBox 11"/>
          <p:cNvSpPr txBox="1"/>
          <p:nvPr/>
        </p:nvSpPr>
        <p:spPr>
          <a:xfrm>
            <a:off x="4352544"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02</a:t>
            </a:r>
          </a:p>
        </p:txBody>
      </p:sp>
      <p:sp>
        <p:nvSpPr>
          <p:cNvPr id="13" name="Rectangle 12"/>
          <p:cNvSpPr/>
          <p:nvPr/>
        </p:nvSpPr>
        <p:spPr>
          <a:xfrm>
            <a:off x="4352544"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52544" y="1929384"/>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Long-term memory</a:t>
            </a:r>
          </a:p>
        </p:txBody>
      </p:sp>
      <p:sp>
        <p:nvSpPr>
          <p:cNvPr id="15" name="TextBox 14"/>
          <p:cNvSpPr txBox="1"/>
          <p:nvPr/>
        </p:nvSpPr>
        <p:spPr>
          <a:xfrm>
            <a:off x="4352544" y="2350008"/>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Beyond 9.6 s: retrieval or compressed memory so the world stays consistent when you look away.</a:t>
            </a:r>
          </a:p>
        </p:txBody>
      </p:sp>
      <p:sp>
        <p:nvSpPr>
          <p:cNvPr id="16" name="TextBox 15"/>
          <p:cNvSpPr txBox="1"/>
          <p:nvPr/>
        </p:nvSpPr>
        <p:spPr>
          <a:xfrm>
            <a:off x="8247888"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03</a:t>
            </a:r>
          </a:p>
        </p:txBody>
      </p:sp>
      <p:sp>
        <p:nvSpPr>
          <p:cNvPr id="17" name="Rectangle 16"/>
          <p:cNvSpPr/>
          <p:nvPr/>
        </p:nvSpPr>
        <p:spPr>
          <a:xfrm>
            <a:off x="8247888"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29384"/>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Language conditioning</a:t>
            </a:r>
          </a:p>
        </p:txBody>
      </p:sp>
      <p:sp>
        <p:nvSpPr>
          <p:cNvPr id="19" name="TextBox 18"/>
          <p:cNvSpPr txBox="1"/>
          <p:nvPr/>
        </p:nvSpPr>
        <p:spPr>
          <a:xfrm>
            <a:off x="8247888" y="2350008"/>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Replace one-hot task IDs with text embeddings; scalar task-conditioned reward already anticipates open-vocabulary tasks.</a:t>
            </a:r>
          </a:p>
        </p:txBody>
      </p:sp>
      <p:sp>
        <p:nvSpPr>
          <p:cNvPr id="20" name="TextBox 19"/>
          <p:cNvSpPr txBox="1"/>
          <p:nvPr/>
        </p:nvSpPr>
        <p:spPr>
          <a:xfrm>
            <a:off x="457200" y="3977639"/>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04</a:t>
            </a:r>
          </a:p>
        </p:txBody>
      </p:sp>
      <p:sp>
        <p:nvSpPr>
          <p:cNvPr id="21" name="Rectangle 20"/>
          <p:cNvSpPr/>
          <p:nvPr/>
        </p:nvSpPr>
        <p:spPr>
          <a:xfrm>
            <a:off x="457200" y="4416551"/>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489703"/>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A little online data</a:t>
            </a:r>
          </a:p>
        </p:txBody>
      </p:sp>
      <p:sp>
        <p:nvSpPr>
          <p:cNvPr id="23" name="TextBox 22"/>
          <p:cNvSpPr txBox="1"/>
          <p:nvPr/>
        </p:nvSpPr>
        <p:spPr>
          <a:xfrm>
            <a:off x="457200" y="4910327"/>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Small rounds of </a:t>
            </a:r>
            <a:r>
              <a:rPr sz="1400" b="0" i="1">
                <a:solidFill>
                  <a:srgbClr val="1F2937"/>
                </a:solidFill>
                <a:latin typeface="Calibri"/>
              </a:rPr>
              <a:t>corrective</a:t>
            </a:r>
            <a:r>
              <a:rPr sz="1400" b="0" i="0">
                <a:solidFill>
                  <a:srgbClr val="1F2937"/>
                </a:solidFill>
                <a:latin typeface="Calibri"/>
              </a:rPr>
              <a:t> interaction to fix the errors the policy exploits — then the KL constraint can be relaxed.</a:t>
            </a:r>
          </a:p>
        </p:txBody>
      </p:sp>
      <p:sp>
        <p:nvSpPr>
          <p:cNvPr id="24" name="TextBox 23"/>
          <p:cNvSpPr txBox="1"/>
          <p:nvPr/>
        </p:nvSpPr>
        <p:spPr>
          <a:xfrm>
            <a:off x="4352544" y="3977639"/>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05</a:t>
            </a:r>
          </a:p>
        </p:txBody>
      </p:sp>
      <p:sp>
        <p:nvSpPr>
          <p:cNvPr id="25" name="Rectangle 24"/>
          <p:cNvSpPr/>
          <p:nvPr/>
        </p:nvSpPr>
        <p:spPr>
          <a:xfrm>
            <a:off x="4352544" y="4416551"/>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52544" y="4489703"/>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Automatic goal discovery</a:t>
            </a:r>
          </a:p>
        </p:txBody>
      </p:sp>
      <p:sp>
        <p:nvSpPr>
          <p:cNvPr id="27" name="TextBox 26"/>
          <p:cNvSpPr txBox="1"/>
          <p:nvPr/>
        </p:nvSpPr>
        <p:spPr>
          <a:xfrm>
            <a:off x="4352544" y="4910327"/>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Empowerment / exploration objectives (APD, Plan2Explore, Director) so agents propose their own tasks inside the model.</a:t>
            </a:r>
          </a:p>
        </p:txBody>
      </p:sp>
      <p:sp>
        <p:nvSpPr>
          <p:cNvPr id="28" name="TextBox 27"/>
          <p:cNvSpPr txBox="1"/>
          <p:nvPr/>
        </p:nvSpPr>
        <p:spPr>
          <a:xfrm>
            <a:off x="8247888" y="3977639"/>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06</a:t>
            </a:r>
          </a:p>
        </p:txBody>
      </p:sp>
      <p:sp>
        <p:nvSpPr>
          <p:cNvPr id="29" name="Rectangle 28"/>
          <p:cNvSpPr/>
          <p:nvPr/>
        </p:nvSpPr>
        <p:spPr>
          <a:xfrm>
            <a:off x="8247888" y="4416551"/>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7888" y="4489703"/>
            <a:ext cx="3483864" cy="38404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End-to-end training</a:t>
            </a:r>
          </a:p>
        </p:txBody>
      </p:sp>
      <p:sp>
        <p:nvSpPr>
          <p:cNvPr id="31" name="TextBox 30"/>
          <p:cNvSpPr txBox="1"/>
          <p:nvPr/>
        </p:nvSpPr>
        <p:spPr>
          <a:xfrm>
            <a:off x="8247888" y="4910327"/>
            <a:ext cx="3483864" cy="1399032"/>
          </a:xfrm>
          <a:prstGeom prst="rect">
            <a:avLst/>
          </a:prstGeom>
          <a:noFill/>
        </p:spPr>
        <p:txBody>
          <a:bodyPr wrap="square" anchor="t" lIns="45720" rIns="45720" tIns="18288" bIns="18288">
            <a:spAutoFit/>
          </a:bodyPr>
          <a:lstStyle/>
          <a:p>
            <a:pPr algn="l">
              <a:lnSpc>
                <a:spcPct val="110000"/>
              </a:lnSpc>
              <a:spcAft>
                <a:spcPts val="500"/>
              </a:spcAft>
            </a:pPr>
            <a:r>
              <a:rPr sz="1400" b="0" i="0">
                <a:solidFill>
                  <a:srgbClr val="1F2937"/>
                </a:solidFill>
                <a:latin typeface="Calibri"/>
              </a:rPr>
              <a:t>Fold the tokenizer into the dynamics model; scale parameters and context together.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Key takeaways</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37</a:t>
            </a:r>
          </a:p>
        </p:txBody>
      </p:sp>
      <p:sp>
        <p:nvSpPr>
          <p:cNvPr id="7" name="TextBox 6"/>
          <p:cNvSpPr txBox="1"/>
          <p:nvPr/>
        </p:nvSpPr>
        <p:spPr>
          <a:xfrm>
            <a:off x="457200"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01</a:t>
            </a:r>
          </a:p>
        </p:txBody>
      </p:sp>
      <p:sp>
        <p:nvSpPr>
          <p:cNvPr id="8" name="Rectangle 7"/>
          <p:cNvSpPr/>
          <p:nvPr/>
        </p:nvSpPr>
        <p:spPr>
          <a:xfrm>
            <a:off x="457200"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92938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Imagination training works offline, from pixels</a:t>
            </a:r>
          </a:p>
        </p:txBody>
      </p:sp>
      <p:sp>
        <p:nvSpPr>
          <p:cNvPr id="10" name="TextBox 9"/>
          <p:cNvSpPr txBox="1"/>
          <p:nvPr/>
        </p:nvSpPr>
        <p:spPr>
          <a:xfrm>
            <a:off x="457200" y="262432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Dreamer 4 reaches diamonds in Minecraft with zero environment interaction and about 100× less data than VPT.</a:t>
            </a:r>
          </a:p>
        </p:txBody>
      </p:sp>
      <p:sp>
        <p:nvSpPr>
          <p:cNvPr id="11" name="TextBox 10"/>
          <p:cNvSpPr txBox="1"/>
          <p:nvPr/>
        </p:nvSpPr>
        <p:spPr>
          <a:xfrm>
            <a:off x="4352544"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02</a:t>
            </a:r>
          </a:p>
        </p:txBody>
      </p:sp>
      <p:sp>
        <p:nvSpPr>
          <p:cNvPr id="12" name="Rectangle 11"/>
          <p:cNvSpPr/>
          <p:nvPr/>
        </p:nvSpPr>
        <p:spPr>
          <a:xfrm>
            <a:off x="4352544"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2544" y="192938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The enabling contribution is speed at quality</a:t>
            </a:r>
          </a:p>
        </p:txBody>
      </p:sp>
      <p:sp>
        <p:nvSpPr>
          <p:cNvPr id="14" name="TextBox 13"/>
          <p:cNvSpPr txBox="1"/>
          <p:nvPr/>
        </p:nvSpPr>
        <p:spPr>
          <a:xfrm>
            <a:off x="4352544" y="262432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Shortcut forcing (4 sampling steps), x-prediction with an x-space loss, and time attention only in every 4th layer: 21 FPS on one GPU with a 9.6 s context.</a:t>
            </a:r>
          </a:p>
        </p:txBody>
      </p:sp>
      <p:sp>
        <p:nvSpPr>
          <p:cNvPr id="15" name="TextBox 14"/>
          <p:cNvSpPr txBox="1"/>
          <p:nvPr/>
        </p:nvSpPr>
        <p:spPr>
          <a:xfrm>
            <a:off x="8247888"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03</a:t>
            </a:r>
          </a:p>
        </p:txBody>
      </p:sp>
      <p:sp>
        <p:nvSpPr>
          <p:cNvPr id="16" name="Rectangle 15"/>
          <p:cNvSpPr/>
          <p:nvPr/>
        </p:nvSpPr>
        <p:spPr>
          <a:xfrm>
            <a:off x="8247888"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92938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Interaction accuracy, not visual polish, is the bar</a:t>
            </a:r>
          </a:p>
        </p:txBody>
      </p:sp>
      <p:sp>
        <p:nvSpPr>
          <p:cNvPr id="18" name="TextBox 17"/>
          <p:cNvSpPr txBox="1"/>
          <p:nvPr/>
        </p:nvSpPr>
        <p:spPr>
          <a:xfrm>
            <a:off x="8247888" y="262432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Validated by humans playing inside the model: 14 of 16 tasks, against 5 of 16 for the best prior Minecraft world model.</a:t>
            </a:r>
          </a:p>
        </p:txBody>
      </p:sp>
      <p:sp>
        <p:nvSpPr>
          <p:cNvPr id="19" name="TextBox 18"/>
          <p:cNvSpPr txBox="1"/>
          <p:nvPr/>
        </p:nvSpPr>
        <p:spPr>
          <a:xfrm>
            <a:off x="457200" y="402336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04</a:t>
            </a:r>
          </a:p>
        </p:txBody>
      </p:sp>
      <p:sp>
        <p:nvSpPr>
          <p:cNvPr id="20" name="Rectangle 19"/>
          <p:cNvSpPr/>
          <p:nvPr/>
        </p:nvSpPr>
        <p:spPr>
          <a:xfrm>
            <a:off x="457200" y="446227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53542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Video pretraining is a strong prior for control</a:t>
            </a:r>
          </a:p>
        </p:txBody>
      </p:sp>
      <p:sp>
        <p:nvSpPr>
          <p:cNvPr id="22" name="TextBox 21"/>
          <p:cNvSpPr txBox="1"/>
          <p:nvPr/>
        </p:nvSpPr>
        <p:spPr>
          <a:xfrm>
            <a:off x="457200" y="523036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Most of the gain over BC comes from the world-model representation; RL adds the rest on the hardest, longest-horizon items.</a:t>
            </a:r>
          </a:p>
        </p:txBody>
      </p:sp>
      <p:sp>
        <p:nvSpPr>
          <p:cNvPr id="23" name="TextBox 22"/>
          <p:cNvSpPr txBox="1"/>
          <p:nvPr/>
        </p:nvSpPr>
        <p:spPr>
          <a:xfrm>
            <a:off x="4352544" y="402336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05</a:t>
            </a:r>
          </a:p>
        </p:txBody>
      </p:sp>
      <p:sp>
        <p:nvSpPr>
          <p:cNvPr id="24" name="Rectangle 23"/>
          <p:cNvSpPr/>
          <p:nvPr/>
        </p:nvSpPr>
        <p:spPr>
          <a:xfrm>
            <a:off x="4352544" y="446227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52544" y="453542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Action labels are cheap</a:t>
            </a:r>
          </a:p>
        </p:txBody>
      </p:sp>
      <p:sp>
        <p:nvSpPr>
          <p:cNvPr id="26" name="TextBox 25"/>
          <p:cNvSpPr txBox="1"/>
          <p:nvPr/>
        </p:nvSpPr>
        <p:spPr>
          <a:xfrm>
            <a:off x="4352544" y="523036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About 100 h of labeled actions on top of thousands of unlabeled hours suffice, and action semantics transfer to unseen visual domains.</a:t>
            </a:r>
          </a:p>
        </p:txBody>
      </p:sp>
      <p:sp>
        <p:nvSpPr>
          <p:cNvPr id="27" name="TextBox 26"/>
          <p:cNvSpPr txBox="1"/>
          <p:nvPr/>
        </p:nvSpPr>
        <p:spPr>
          <a:xfrm>
            <a:off x="8247888" y="402336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06</a:t>
            </a:r>
          </a:p>
        </p:txBody>
      </p:sp>
      <p:sp>
        <p:nvSpPr>
          <p:cNvPr id="28" name="Rectangle 27"/>
          <p:cNvSpPr/>
          <p:nvPr/>
        </p:nvSpPr>
        <p:spPr>
          <a:xfrm>
            <a:off x="8247888" y="446227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47888" y="453542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Open problems remain</a:t>
            </a:r>
          </a:p>
        </p:txBody>
      </p:sp>
      <p:sp>
        <p:nvSpPr>
          <p:cNvPr id="30" name="TextBox 29"/>
          <p:cNvSpPr txBox="1"/>
          <p:nvPr/>
        </p:nvSpPr>
        <p:spPr>
          <a:xfrm>
            <a:off x="8247888" y="523036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Short memory, exploitable frozen simulators, thin statistics on the headline result, and no official code or weights.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Questions for discussion</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38</a:t>
            </a:r>
          </a:p>
        </p:txBody>
      </p:sp>
      <p:sp>
        <p:nvSpPr>
          <p:cNvPr id="7" name="TextBox 6"/>
          <p:cNvSpPr txBox="1"/>
          <p:nvPr/>
        </p:nvSpPr>
        <p:spPr>
          <a:xfrm>
            <a:off x="640080" y="152704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01</a:t>
            </a:r>
          </a:p>
        </p:txBody>
      </p:sp>
      <p:sp>
        <p:nvSpPr>
          <p:cNvPr id="8" name="TextBox 7"/>
          <p:cNvSpPr txBox="1"/>
          <p:nvPr/>
        </p:nvSpPr>
        <p:spPr>
          <a:xfrm>
            <a:off x="1234440" y="155448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How much of the diamond result is the world model versus PMPO? Would a stronger offline-RL baseline on world-model features (no imagination) close the gap?</a:t>
            </a:r>
          </a:p>
        </p:txBody>
      </p:sp>
      <p:sp>
        <p:nvSpPr>
          <p:cNvPr id="9" name="TextBox 8"/>
          <p:cNvSpPr txBox="1"/>
          <p:nvPr/>
        </p:nvSpPr>
        <p:spPr>
          <a:xfrm>
            <a:off x="640080" y="230936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02</a:t>
            </a:r>
          </a:p>
        </p:txBody>
      </p:sp>
      <p:sp>
        <p:nvSpPr>
          <p:cNvPr id="10" name="TextBox 9"/>
          <p:cNvSpPr txBox="1"/>
          <p:nvPr/>
        </p:nvSpPr>
        <p:spPr>
          <a:xfrm>
            <a:off x="1234440" y="233680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Is human play-testing on 16 tasks a sufficient measure of 'accurate simulation'? What automated long-horizon metric would you propose?</a:t>
            </a:r>
          </a:p>
        </p:txBody>
      </p:sp>
      <p:sp>
        <p:nvSpPr>
          <p:cNvPr id="11" name="TextBox 10"/>
          <p:cNvSpPr txBox="1"/>
          <p:nvPr/>
        </p:nvSpPr>
        <p:spPr>
          <a:xfrm>
            <a:off x="640080" y="309168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03</a:t>
            </a:r>
          </a:p>
        </p:txBody>
      </p:sp>
      <p:sp>
        <p:nvSpPr>
          <p:cNvPr id="12" name="TextBox 11"/>
          <p:cNvSpPr txBox="1"/>
          <p:nvPr/>
        </p:nvSpPr>
        <p:spPr>
          <a:xfrm>
            <a:off x="1234440" y="311912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The transformer is frozen during RL and the reward head is learned: where would you expect exploitation to appear first, and how would you detect it offline?</a:t>
            </a:r>
          </a:p>
        </p:txBody>
      </p:sp>
      <p:sp>
        <p:nvSpPr>
          <p:cNvPr id="13" name="TextBox 12"/>
          <p:cNvSpPr txBox="1"/>
          <p:nvPr/>
        </p:nvSpPr>
        <p:spPr>
          <a:xfrm>
            <a:off x="640080" y="387400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04</a:t>
            </a:r>
          </a:p>
        </p:txBody>
      </p:sp>
      <p:sp>
        <p:nvSpPr>
          <p:cNvPr id="14" name="TextBox 13"/>
          <p:cNvSpPr txBox="1"/>
          <p:nvPr/>
        </p:nvSpPr>
        <p:spPr>
          <a:xfrm>
            <a:off x="1234440" y="390144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9.6 s of context: which memory mechanism (retrieval, state-space layers, compressed summaries) fits a block-causal diffusion transformer best?</a:t>
            </a:r>
          </a:p>
        </p:txBody>
      </p:sp>
      <p:sp>
        <p:nvSpPr>
          <p:cNvPr id="15" name="TextBox 14"/>
          <p:cNvSpPr txBox="1"/>
          <p:nvPr/>
        </p:nvSpPr>
        <p:spPr>
          <a:xfrm>
            <a:off x="640080" y="465632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05</a:t>
            </a:r>
          </a:p>
        </p:txBody>
      </p:sp>
      <p:sp>
        <p:nvSpPr>
          <p:cNvPr id="16" name="TextBox 15"/>
          <p:cNvSpPr txBox="1"/>
          <p:nvPr/>
        </p:nvSpPr>
        <p:spPr>
          <a:xfrm>
            <a:off x="1234440" y="468376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The recipe needs ~100 h of action labels per domain. What does the path to internet-scale video look like — inverse dynamics models, or Dreamer 4's 'no-action' embedding at scale?</a:t>
            </a:r>
          </a:p>
        </p:txBody>
      </p:sp>
      <p:sp>
        <p:nvSpPr>
          <p:cNvPr id="17" name="TextBox 16"/>
          <p:cNvSpPr txBox="1"/>
          <p:nvPr/>
        </p:nvSpPr>
        <p:spPr>
          <a:xfrm>
            <a:off x="640080" y="543864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06</a:t>
            </a:r>
          </a:p>
        </p:txBody>
      </p:sp>
      <p:sp>
        <p:nvSpPr>
          <p:cNvPr id="18" name="TextBox 17"/>
          <p:cNvSpPr txBox="1"/>
          <p:nvPr/>
        </p:nvSpPr>
        <p:spPr>
          <a:xfrm>
            <a:off x="1234440" y="5466080"/>
            <a:ext cx="10287000" cy="528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What would convince you that this transfers to real robots — and what evaluation would you run first?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References &amp; resources</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DISCUSSION</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39</a:t>
            </a:r>
          </a:p>
        </p:txBody>
      </p:sp>
      <p:sp>
        <p:nvSpPr>
          <p:cNvPr id="7" name="TextBox 6"/>
          <p:cNvSpPr txBox="1"/>
          <p:nvPr/>
        </p:nvSpPr>
        <p:spPr>
          <a:xfrm>
            <a:off x="548640" y="1371600"/>
            <a:ext cx="11247120" cy="5120640"/>
          </a:xfrm>
          <a:prstGeom prst="rect">
            <a:avLst/>
          </a:prstGeom>
          <a:noFill/>
        </p:spPr>
        <p:txBody>
          <a:bodyPr wrap="square" lIns="45720" rIns="45720">
            <a:spAutoFit/>
          </a:bodyPr>
          <a:lstStyle/>
          <a:p>
            <a:pPr marL="237744" indent="-201168">
              <a:lnSpc>
                <a:spcPct val="108000"/>
              </a:lnSpc>
              <a:spcAft>
                <a:spcPts val="900"/>
              </a:spcAft>
              <a:buClr>
                <a:srgbClr val="9AA3B2"/>
              </a:buClr>
              <a:buFont typeface="Arial"/>
              <a:buChar char="•"/>
            </a:pPr>
            <a:r>
              <a:rPr sz="1400" b="1" i="0">
                <a:solidFill>
                  <a:srgbClr val="14213D"/>
                </a:solidFill>
                <a:latin typeface="Calibri"/>
              </a:rPr>
              <a:t>Paper:</a:t>
            </a:r>
            <a:r>
              <a:rPr sz="1400" b="0" i="0">
                <a:solidFill>
                  <a:srgbClr val="1F2937"/>
                </a:solidFill>
                <a:latin typeface="Calibri"/>
              </a:rPr>
              <a:t> Hafner*, Yan*, Lillicrap. Training Agents Inside of Scalable World Models. arXiv:2509.24527 (29 Sep 2025). https://arxiv.org/abs/2509.24527</a:t>
            </a:r>
          </a:p>
          <a:p>
            <a:pPr marL="237744" indent="-201168">
              <a:lnSpc>
                <a:spcPct val="108000"/>
              </a:lnSpc>
              <a:spcAft>
                <a:spcPts val="900"/>
              </a:spcAft>
              <a:buClr>
                <a:srgbClr val="9AA3B2"/>
              </a:buClr>
              <a:buFont typeface="Arial"/>
              <a:buChar char="•"/>
            </a:pPr>
            <a:r>
              <a:rPr sz="1400" b="1" i="0">
                <a:solidFill>
                  <a:srgbClr val="14213D"/>
                </a:solidFill>
                <a:latin typeface="Calibri"/>
              </a:rPr>
              <a:t>Project page &amp; videos:</a:t>
            </a:r>
            <a:r>
              <a:rPr sz="1400" b="0" i="0">
                <a:solidFill>
                  <a:srgbClr val="1F2937"/>
                </a:solidFill>
                <a:latin typeface="Calibri"/>
              </a:rPr>
              <a:t> https://danijar.com/project/dreamer4/ — overview video (youtube.com/watch?v=oDlBtTcX0g0), four uncut 60-min 'Diamond Challenge' evaluation episodes, 51 human-interaction clips</a:t>
            </a:r>
          </a:p>
          <a:p>
            <a:pPr marL="237744" indent="-201168">
              <a:lnSpc>
                <a:spcPct val="108000"/>
              </a:lnSpc>
              <a:spcAft>
                <a:spcPts val="900"/>
              </a:spcAft>
              <a:buClr>
                <a:srgbClr val="9AA3B2"/>
              </a:buClr>
              <a:buFont typeface="Arial"/>
              <a:buChar char="•"/>
            </a:pPr>
            <a:r>
              <a:rPr sz="1400" b="1" i="0">
                <a:solidFill>
                  <a:srgbClr val="14213D"/>
                </a:solidFill>
                <a:latin typeface="Calibri"/>
              </a:rPr>
              <a:t>Authors in conversation:</a:t>
            </a:r>
            <a:r>
              <a:rPr sz="1400" b="0" i="0">
                <a:solidFill>
                  <a:srgbClr val="1F2937"/>
                </a:solidFill>
                <a:latin typeface="Calibri"/>
              </a:rPr>
              <a:t> TalkRL E73 'Danijar Hafner on Dreamer v4' (10 Nov 2025), transcript available; Hack Club AMA (Dec 2025)</a:t>
            </a:r>
          </a:p>
          <a:p>
            <a:pPr marL="237744" indent="-201168">
              <a:lnSpc>
                <a:spcPct val="108000"/>
              </a:lnSpc>
              <a:spcAft>
                <a:spcPts val="900"/>
              </a:spcAft>
              <a:buClr>
                <a:srgbClr val="9AA3B2"/>
              </a:buClr>
              <a:buFont typeface="Arial"/>
              <a:buChar char="•"/>
            </a:pPr>
            <a:r>
              <a:rPr sz="1400" b="1" i="0">
                <a:solidFill>
                  <a:srgbClr val="14213D"/>
                </a:solidFill>
                <a:latin typeface="Calibri"/>
              </a:rPr>
              <a:t>Ingredients:</a:t>
            </a:r>
            <a:r>
              <a:rPr sz="1400" b="0" i="0">
                <a:solidFill>
                  <a:srgbClr val="1F2937"/>
                </a:solidFill>
                <a:latin typeface="Calibri"/>
              </a:rPr>
              <a:t> Chen et al., Diffusion Forcing (2407.01392) · Frans, Hafner, Levine, Abbeel, Shortcut Models (2410.12557) · Chen et al., MAETok (2502.03444) · Baker et al., VPT (2206.11795) · Hafner et al., DreamerV3 (2301.04104)</a:t>
            </a:r>
          </a:p>
          <a:p>
            <a:pPr marL="237744" indent="-201168">
              <a:lnSpc>
                <a:spcPct val="108000"/>
              </a:lnSpc>
              <a:spcAft>
                <a:spcPts val="900"/>
              </a:spcAft>
              <a:buClr>
                <a:srgbClr val="9AA3B2"/>
              </a:buClr>
              <a:buFont typeface="Arial"/>
              <a:buChar char="•"/>
            </a:pPr>
            <a:r>
              <a:rPr sz="1400" b="1" i="0">
                <a:solidFill>
                  <a:srgbClr val="14213D"/>
                </a:solidFill>
                <a:latin typeface="Calibri"/>
              </a:rPr>
              <a:t>Independent reproductions / follow-ups:</a:t>
            </a:r>
            <a:r>
              <a:rPr sz="1400" b="0" i="0">
                <a:solidFill>
                  <a:srgbClr val="1F2937"/>
                </a:solidFill>
                <a:latin typeface="Calibri"/>
              </a:rPr>
              <a:t> next-state/open-dreamer (JAX, 1.6 B Minecraft world model, Jul 2026) · IamCreateAI/Dreamerv4-MC (weights on HF) · nicklashansen/dreamer4 &amp; MMBench2 (Hansen &amp; Wang, 2606.27326) · lucidrains/dreamer4 (PyTorch)</a:t>
            </a:r>
          </a:p>
          <a:p>
            <a:pPr marL="237744" indent="-201168">
              <a:lnSpc>
                <a:spcPct val="108000"/>
              </a:lnSpc>
              <a:spcAft>
                <a:spcPts val="900"/>
              </a:spcAft>
              <a:buClr>
                <a:srgbClr val="9AA3B2"/>
              </a:buClr>
              <a:buFont typeface="Arial"/>
              <a:buChar char="•"/>
            </a:pPr>
            <a:r>
              <a:rPr sz="1400" b="1" i="0">
                <a:solidFill>
                  <a:srgbClr val="14213D"/>
                </a:solidFill>
                <a:latin typeface="Calibri"/>
              </a:rPr>
              <a:t>Everything above, archived:</a:t>
            </a:r>
            <a:r>
              <a:rPr sz="1400" b="0" i="0">
                <a:solidFill>
                  <a:srgbClr val="1F2937"/>
                </a:solidFill>
                <a:latin typeface="Calibri"/>
              </a:rPr>
              <a:t> https://github.com/HarmannBitte/Dreamer-4 — PDFs, repo snapshots, articles, transcripts, the official clips used in this deck, and a MEDIA_INDEX.md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A — Configuration &amp; hyper-parameters</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40</a:t>
            </a:r>
          </a:p>
        </p:txBody>
      </p:sp>
      <p:graphicFrame>
        <p:nvGraphicFramePr>
          <p:cNvPr id="7" name="Table 6"/>
          <p:cNvGraphicFramePr>
            <a:graphicFrameLocks noGrp="1"/>
          </p:cNvGraphicFramePr>
          <p:nvPr/>
        </p:nvGraphicFramePr>
        <p:xfrm>
          <a:off x="457200" y="1325880"/>
          <a:ext cx="11247120" cy="4773168"/>
        </p:xfrm>
        <a:graphic>
          <a:graphicData uri="http://schemas.openxmlformats.org/drawingml/2006/table">
            <a:tbl>
              <a:tblPr firstRow="0" bandRow="0"/>
              <a:tblGrid>
                <a:gridCol w="1920240"/>
                <a:gridCol w="9326880"/>
              </a:tblGrid>
              <a:tr h="384048">
                <a:tc>
                  <a:txBody>
                    <a:bodyPr/>
                    <a:lstStyle/>
                    <a:p>
                      <a:pPr algn="l"/>
                      <a:r>
                        <a:rPr sz="1050" b="1" i="0">
                          <a:solidFill>
                            <a:srgbClr val="14213D"/>
                          </a:solidFill>
                          <a:latin typeface="Calibri"/>
                        </a:rPr>
                        <a:t>Component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050" b="1" i="0">
                          <a:solidFill>
                            <a:srgbClr val="14213D"/>
                          </a:solidFill>
                          <a:latin typeface="Calibri"/>
                        </a:rPr>
                        <a:t>Setting</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548639">
                <a:tc>
                  <a:txBody>
                    <a:bodyPr/>
                    <a:lstStyle/>
                    <a:p>
                      <a:pPr algn="l"/>
                      <a:r>
                        <a:rPr sz="1100" b="0" i="0">
                          <a:solidFill>
                            <a:srgbClr val="1F2937"/>
                          </a:solidFill>
                          <a:latin typeface="Calibri"/>
                        </a:rPr>
                        <a:t>Tokenizer</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Masked autoencoder; 16×16 patches; patch dropout ~ U(0, 0.9); loss MSE + 0.2·LPIPS; bottleneck 512×16 with tanh → N_z = 256 tokens × 32 dims; causal in time; ≈ 400 M params; frozen after pretraining</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Dynamics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 1.6 B params; pre-RMSNorm, RoPE, SwiGLU, QK-norm, logit soft-capping, register tokens; space attention in 3/4 layers, causal time attention every 4th layer; GQA; context C = 192 frames (9.6 s); alternating batch lengths T1/T2 = 64/256</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Shortcut forcing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per-frame signal level τ, step size d; x-prediction; bootstrap target formed in v-space, loss scaled to x-space by (1−τ)²; ramp weight w(τ) = 0.9τ + 0.1; K = 4 sampling steps; context noise τ_ctx ≈ 0.1</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Actions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23 binary keys + 121-way mouse (μ-law, 11×11 foveated bins, VPT convention); learned 'no action' embedding for unlabeled video</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Agent (phase 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agent tokens with one-hot task (20 tasks), one-way attention; BC with multi-token prediction L = 8; task-conditioned scalar reward head; data mix 50 % uniform / 50 % task-relevant</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Imagination RL (phase 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transformer frozen; policy + TD value heads; PMPO with advantage sign, α = 0.5, reverse-KL β = 0.3 to frozen BC policy; γ = 0.997</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Evaluation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1,000 episodes × 60 min, empty inventory, random worlds, fixed prompt sequence; human interaction: 16 tasks on one H100 at 21 FPS</a:t>
                      </a:r>
                    </a:p>
                  </a:txBody>
                  <a:tcPr marL="64008" marR="64008" marT="36576" marB="36576" anchor="ctr">
                    <a:lnL w="0">
                      <a:noFill/>
                    </a:lnL>
                    <a:lnR w="0">
                      <a:noFill/>
                    </a:lnR>
                    <a:lnT w="0">
                      <a:noFill/>
                    </a:lnT>
                    <a:lnB w="6350" cap="flat" cmpd="sng" algn="ctr">
                      <a:solidFill>
                        <a:srgbClr val="D3D8E2"/>
                      </a:solidFill>
                      <a:prstDash val="solid"/>
                    </a:lnB>
                    <a:noFill/>
                  </a:tcPr>
                </a:tc>
              </a:tr>
              <a:tr h="548647">
                <a:tc>
                  <a:txBody>
                    <a:bodyPr/>
                    <a:lstStyle/>
                    <a:p>
                      <a:pPr algn="l"/>
                      <a:r>
                        <a:rPr sz="1100" b="0" i="0">
                          <a:solidFill>
                            <a:srgbClr val="1F2937"/>
                          </a:solidFill>
                          <a:latin typeface="Calibri"/>
                        </a:rPr>
                        <a:t>Compute / data</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100" b="0" i="0">
                          <a:solidFill>
                            <a:srgbClr val="1F2937"/>
                          </a:solidFill>
                          <a:latin typeface="Calibri"/>
                        </a:rPr>
                        <a:t>256–1,024 TPU v5p; 2,541 h VPT contractor video (subsets 6–10), 90/10 split by 5-min chunk; ablations: 48 h runs, FVD on 1,024 × 384-frame generations</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B — Full design cascade (Table 2)</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41</a:t>
            </a:r>
          </a:p>
        </p:txBody>
      </p:sp>
      <p:graphicFrame>
        <p:nvGraphicFramePr>
          <p:cNvPr id="7" name="Table 6"/>
          <p:cNvGraphicFramePr>
            <a:graphicFrameLocks noGrp="1"/>
          </p:cNvGraphicFramePr>
          <p:nvPr/>
        </p:nvGraphicFramePr>
        <p:xfrm>
          <a:off x="457200" y="1325880"/>
          <a:ext cx="6858000" cy="4608576"/>
        </p:xfrm>
        <a:graphic>
          <a:graphicData uri="http://schemas.openxmlformats.org/drawingml/2006/table">
            <a:tbl>
              <a:tblPr firstRow="0" bandRow="0"/>
              <a:tblGrid>
                <a:gridCol w="4846320"/>
                <a:gridCol w="914400"/>
                <a:gridCol w="1097280"/>
              </a:tblGrid>
              <a:tr h="329184">
                <a:tc>
                  <a:txBody>
                    <a:bodyPr/>
                    <a:lstStyle/>
                    <a:p>
                      <a:pPr algn="l"/>
                      <a:r>
                        <a:rPr sz="1100" b="1" i="0">
                          <a:solidFill>
                            <a:srgbClr val="14213D"/>
                          </a:solidFill>
                          <a:latin typeface="Calibri"/>
                        </a:rPr>
                        <a:t>Change (cumulative)</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00" b="1" i="0">
                          <a:solidFill>
                            <a:srgbClr val="14213D"/>
                          </a:solidFill>
                          <a:latin typeface="Calibri"/>
                        </a:rPr>
                        <a:t>FPS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00" b="1" i="0">
                          <a:solidFill>
                            <a:srgbClr val="14213D"/>
                          </a:solidFill>
                          <a:latin typeface="Calibri"/>
                        </a:rPr>
                        <a:t>FVD ↓</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29184">
                <a:tc>
                  <a:txBody>
                    <a:bodyPr/>
                    <a:lstStyle/>
                    <a:p>
                      <a:pPr algn="l"/>
                      <a:r>
                        <a:rPr sz="1150" b="0" i="0">
                          <a:solidFill>
                            <a:srgbClr val="1F2937"/>
                          </a:solidFill>
                          <a:latin typeface="Calibri"/>
                        </a:rPr>
                        <a:t>Diffusion-forcing transformer, K = 64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0.8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306</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K = 4 sampling steps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9.1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875</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shortcut objective (→ shortcut forcing)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329</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x-prediction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326</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x-space loss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151</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ramp weight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102</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alternating batch lengths (step 9.8 s → 1.5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80</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long context only every 4th layer</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18.9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70</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grouped-query attention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23.2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71</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time-factorised long context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30.1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91</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0" i="0">
                          <a:solidFill>
                            <a:srgbClr val="1F2937"/>
                          </a:solidFill>
                          <a:latin typeface="Calibri"/>
                        </a:rPr>
                        <a:t>+ register tokens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150" b="0" i="0">
                          <a:solidFill>
                            <a:srgbClr val="1F2937"/>
                          </a:solidFill>
                          <a:latin typeface="Calibri"/>
                        </a:rPr>
                        <a:t>91</a:t>
                      </a:r>
                    </a:p>
                  </a:txBody>
                  <a:tcPr marL="64008" marR="64008" marT="36576" marB="36576" anchor="ctr">
                    <a:lnL w="0">
                      <a:noFill/>
                    </a:lnL>
                    <a:lnR w="0">
                      <a:noFill/>
                    </a:lnR>
                    <a:lnT w="0">
                      <a:noFill/>
                    </a:lnT>
                    <a:lnB w="6350" cap="flat" cmpd="sng" algn="ctr">
                      <a:solidFill>
                        <a:srgbClr val="D3D8E2"/>
                      </a:solidFill>
                      <a:prstDash val="solid"/>
                    </a:lnB>
                    <a:noFill/>
                  </a:tcPr>
                </a:tc>
              </a:tr>
              <a:tr h="329184">
                <a:tc>
                  <a:txBody>
                    <a:bodyPr/>
                    <a:lstStyle/>
                    <a:p>
                      <a:pPr algn="l"/>
                      <a:r>
                        <a:rPr sz="1150" b="1" i="0">
                          <a:solidFill>
                            <a:srgbClr val="1F2937"/>
                          </a:solidFill>
                          <a:latin typeface="Calibri"/>
                        </a:rPr>
                        <a:t>N_z 128 → 256 (final)</a:t>
                      </a:r>
                    </a:p>
                  </a:txBody>
                  <a:tcPr marL="64008" marR="64008" marT="36576" marB="36576" anchor="ctr">
                    <a:lnL w="0">
                      <a:noFill/>
                    </a:lnL>
                    <a:lnR w="0">
                      <a:noFill/>
                    </a:lnR>
                    <a:lnT w="0">
                      <a:noFill/>
                    </a:lnT>
                    <a:lnB w="6350" cap="flat" cmpd="sng" algn="ctr">
                      <a:solidFill>
                        <a:srgbClr val="D3D8E2"/>
                      </a:solidFill>
                      <a:prstDash val="solid"/>
                    </a:lnB>
                    <a:solidFill>
                      <a:srgbClr val="F3F5F8"/>
                    </a:solidFill>
                  </a:tcPr>
                </a:tc>
                <a:tc>
                  <a:txBody>
                    <a:bodyPr/>
                    <a:lstStyle/>
                    <a:p>
                      <a:pPr algn="ctr"/>
                      <a:r>
                        <a:rPr sz="1150" b="1" i="0">
                          <a:solidFill>
                            <a:srgbClr val="1F2937"/>
                          </a:solidFill>
                          <a:latin typeface="Calibri"/>
                        </a:rPr>
                        <a:t>21.4</a:t>
                      </a:r>
                    </a:p>
                  </a:txBody>
                  <a:tcPr marL="64008" marR="64008" marT="36576" marB="36576" anchor="ctr">
                    <a:lnL w="0">
                      <a:noFill/>
                    </a:lnL>
                    <a:lnR w="0">
                      <a:noFill/>
                    </a:lnR>
                    <a:lnT w="0">
                      <a:noFill/>
                    </a:lnT>
                    <a:lnB w="6350" cap="flat" cmpd="sng" algn="ctr">
                      <a:solidFill>
                        <a:srgbClr val="D3D8E2"/>
                      </a:solidFill>
                      <a:prstDash val="solid"/>
                    </a:lnB>
                    <a:solidFill>
                      <a:srgbClr val="F3F5F8"/>
                    </a:solidFill>
                  </a:tcPr>
                </a:tc>
                <a:tc>
                  <a:txBody>
                    <a:bodyPr/>
                    <a:lstStyle/>
                    <a:p>
                      <a:pPr algn="ctr"/>
                      <a:r>
                        <a:rPr sz="1150" b="1" i="0">
                          <a:solidFill>
                            <a:srgbClr val="1F2937"/>
                          </a:solidFill>
                          <a:latin typeface="Calibri"/>
                        </a:rPr>
                        <a:t>57</a:t>
                      </a:r>
                    </a:p>
                  </a:txBody>
                  <a:tcPr marL="64008" marR="64008" marT="36576" marB="36576" anchor="ctr">
                    <a:lnL w="0">
                      <a:noFill/>
                    </a:lnL>
                    <a:lnR w="0">
                      <a:noFill/>
                    </a:lnR>
                    <a:lnT w="0">
                      <a:noFill/>
                    </a:lnT>
                    <a:lnB w="6350" cap="flat" cmpd="sng" algn="ctr">
                      <a:solidFill>
                        <a:srgbClr val="D3D8E2"/>
                      </a:solidFill>
                      <a:prstDash val="solid"/>
                    </a:lnB>
                    <a:solidFill>
                      <a:srgbClr val="F3F5F8"/>
                    </a:solidFill>
                  </a:tcPr>
                </a:tc>
              </a:tr>
              <a:tr h="329184">
                <a:tc>
                  <a:txBody>
                    <a:bodyPr/>
                    <a:lstStyle/>
                    <a:p>
                      <a:pPr algn="l"/>
                      <a:r>
                        <a:rPr sz="1150" b="0" i="0">
                          <a:solidFill>
                            <a:srgbClr val="1F2937"/>
                          </a:solidFill>
                          <a:latin typeface="Calibri"/>
                        </a:rPr>
                        <a:t>(reference) full architecture, v-space prediction &amp; loss</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150" b="0" i="0">
                          <a:solidFill>
                            <a:srgbClr val="1F2937"/>
                          </a:solidFill>
                          <a:latin typeface="Calibri"/>
                        </a:rPr>
                        <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150" b="0" i="0">
                          <a:solidFill>
                            <a:srgbClr val="1F2937"/>
                          </a:solidFill>
                          <a:latin typeface="Calibri"/>
                        </a:rPr>
                        <a:t>124</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
        <p:nvSpPr>
          <p:cNvPr id="8" name="TextBox 7"/>
          <p:cNvSpPr txBox="1"/>
          <p:nvPr/>
        </p:nvSpPr>
        <p:spPr>
          <a:xfrm>
            <a:off x="7589520" y="1463040"/>
            <a:ext cx="4206240" cy="41148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0" i="0">
                <a:solidFill>
                  <a:srgbClr val="1F2937"/>
                </a:solidFill>
                <a:latin typeface="Calibri"/>
              </a:rPr>
              <a:t>48-hour training runs per row</a:t>
            </a:r>
          </a:p>
          <a:p>
            <a:pPr marL="237744" indent="-201168">
              <a:lnSpc>
                <a:spcPct val="108000"/>
              </a:lnSpc>
              <a:spcAft>
                <a:spcPts val="600"/>
              </a:spcAft>
              <a:buClr>
                <a:srgbClr val="9AA3B2"/>
              </a:buClr>
              <a:buFont typeface="Arial"/>
              <a:buChar char="•"/>
            </a:pPr>
            <a:r>
              <a:rPr sz="1350" b="0" i="0">
                <a:solidFill>
                  <a:srgbClr val="1F2937"/>
                </a:solidFill>
                <a:latin typeface="Calibri"/>
              </a:rPr>
              <a:t>FVD on 1,024 generations of 384 frames (long rollouts to expose compounding error)</a:t>
            </a:r>
          </a:p>
          <a:p>
            <a:pPr marL="237744" indent="-201168">
              <a:lnSpc>
                <a:spcPct val="108000"/>
              </a:lnSpc>
              <a:spcAft>
                <a:spcPts val="600"/>
              </a:spcAft>
              <a:buClr>
                <a:srgbClr val="9AA3B2"/>
              </a:buClr>
              <a:buFont typeface="Arial"/>
              <a:buChar char="•"/>
            </a:pPr>
            <a:r>
              <a:rPr sz="1350" b="0" i="0">
                <a:solidFill>
                  <a:srgbClr val="1F2937"/>
                </a:solidFill>
                <a:latin typeface="Calibri"/>
              </a:rPr>
              <a:t>FPS measured for generation on one H100 where reported</a:t>
            </a:r>
          </a:p>
          <a:p>
            <a:pPr marL="237744" indent="-201168">
              <a:lnSpc>
                <a:spcPct val="108000"/>
              </a:lnSpc>
              <a:spcAft>
                <a:spcPts val="600"/>
              </a:spcAft>
              <a:buClr>
                <a:srgbClr val="9AA3B2"/>
              </a:buClr>
              <a:buFont typeface="Arial"/>
              <a:buChar char="•"/>
            </a:pPr>
            <a:r>
              <a:rPr sz="1350" b="0" i="0">
                <a:solidFill>
                  <a:srgbClr val="1F2937"/>
                </a:solidFill>
                <a:latin typeface="Calibri"/>
              </a:rPr>
              <a:t>Fig. 8 adds the steps sweep: shortcut forcing FVD ≈ 160/85/60/50 at 1/2/4/8 steps vs ≈ 1,020/830/530/220 for diffusion forcing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C — Full success-rate table (Table 7, %)</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42</a:t>
            </a:r>
          </a:p>
        </p:txBody>
      </p:sp>
      <p:graphicFrame>
        <p:nvGraphicFramePr>
          <p:cNvPr id="7" name="Table 6"/>
          <p:cNvGraphicFramePr>
            <a:graphicFrameLocks noGrp="1"/>
          </p:cNvGraphicFramePr>
          <p:nvPr/>
        </p:nvGraphicFramePr>
        <p:xfrm>
          <a:off x="457200" y="1325880"/>
          <a:ext cx="11247120" cy="4517136"/>
        </p:xfrm>
        <a:graphic>
          <a:graphicData uri="http://schemas.openxmlformats.org/drawingml/2006/table">
            <a:tbl>
              <a:tblPr firstRow="0" bandRow="0"/>
              <a:tblGrid>
                <a:gridCol w="2103120"/>
                <a:gridCol w="1371600"/>
                <a:gridCol w="1554480"/>
                <a:gridCol w="1280160"/>
                <a:gridCol w="1828800"/>
                <a:gridCol w="1463040"/>
                <a:gridCol w="1645920"/>
              </a:tblGrid>
              <a:tr h="347472">
                <a:tc>
                  <a:txBody>
                    <a:bodyPr/>
                    <a:lstStyle/>
                    <a:p>
                      <a:pPr algn="l"/>
                      <a:r>
                        <a:rPr sz="1150" b="1" i="0">
                          <a:solidFill>
                            <a:srgbClr val="14213D"/>
                          </a:solidFill>
                          <a:latin typeface="Calibri"/>
                        </a:rPr>
                        <a:t>Milestone</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VPT (ft)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BC (no task)</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BC</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VLA (Gemma 3)</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WM + BC</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Dreamer 4</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47472">
                <a:tc>
                  <a:txBody>
                    <a:bodyPr/>
                    <a:lstStyle/>
                    <a:p>
                      <a:pPr algn="l"/>
                      <a:r>
                        <a:rPr sz="1200" b="0" i="0">
                          <a:solidFill>
                            <a:srgbClr val="1F2937"/>
                          </a:solidFill>
                          <a:latin typeface="Calibri"/>
                        </a:rPr>
                        <a:t>Log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84.3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71.4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98.5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99.6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99.1</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Planks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65.3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68.6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95.7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98.3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99.6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98.9</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Crafting table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63.8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93.5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99.1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98.5</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Stick</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52.6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62.4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95.0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98.9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98.7</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Wooden pickaxe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33.8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86.5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94.1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96.6</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Cobblestone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32.0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83.9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91.6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95.9</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Stone pickaxe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53.8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76.7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89.4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90.1</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Iron ore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3.6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26.5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46.3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62.9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66.7</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Furnace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16.2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42.4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51.1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58.1</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Iron ingot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22.5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27.8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39.5</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Iron pickaxe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11.2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16.9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29.0</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Diamond</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1" i="0">
                          <a:solidFill>
                            <a:srgbClr val="2A56D6"/>
                          </a:solidFill>
                          <a:latin typeface="Calibri"/>
                        </a:rPr>
                        <a:t>0.7</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
        <p:nvSpPr>
          <p:cNvPr id="8" name="TextBox 7"/>
          <p:cNvSpPr txBox="1"/>
          <p:nvPr/>
        </p:nvSpPr>
        <p:spPr>
          <a:xfrm>
            <a:off x="457200" y="5943600"/>
            <a:ext cx="10972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1,000 evaluation episodes of 60 minutes each; all agents trained on the same 2,541 h of contractor data (VPT additionally pretrained on 270 K h of web video).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D — Glossary</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43</a:t>
            </a:r>
          </a:p>
        </p:txBody>
      </p:sp>
      <p:graphicFrame>
        <p:nvGraphicFramePr>
          <p:cNvPr id="7" name="Table 6"/>
          <p:cNvGraphicFramePr>
            <a:graphicFrameLocks noGrp="1"/>
          </p:cNvGraphicFramePr>
          <p:nvPr/>
        </p:nvGraphicFramePr>
        <p:xfrm>
          <a:off x="457200" y="1325880"/>
          <a:ext cx="11247120" cy="4526280"/>
        </p:xfrm>
        <a:graphic>
          <a:graphicData uri="http://schemas.openxmlformats.org/drawingml/2006/table">
            <a:tbl>
              <a:tblPr firstRow="0" bandRow="0"/>
              <a:tblGrid>
                <a:gridCol w="2194560"/>
                <a:gridCol w="9052560"/>
              </a:tblGrid>
              <a:tr h="411480">
                <a:tc>
                  <a:txBody>
                    <a:bodyPr/>
                    <a:lstStyle/>
                    <a:p>
                      <a:pPr algn="l"/>
                      <a:r>
                        <a:rPr sz="1100" b="1" i="0">
                          <a:solidFill>
                            <a:srgbClr val="14213D"/>
                          </a:solidFill>
                          <a:latin typeface="Calibri"/>
                        </a:rPr>
                        <a:t>Term</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00" b="1" i="0">
                          <a:solidFill>
                            <a:srgbClr val="14213D"/>
                          </a:solidFill>
                          <a:latin typeface="Calibri"/>
                        </a:rPr>
                        <a:t>Meaning in this paper</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411480">
                <a:tc>
                  <a:txBody>
                    <a:bodyPr/>
                    <a:lstStyle/>
                    <a:p>
                      <a:pPr algn="l"/>
                      <a:r>
                        <a:rPr sz="1150" b="0" i="0">
                          <a:solidFill>
                            <a:srgbClr val="1F2937"/>
                          </a:solidFill>
                          <a:latin typeface="Calibri"/>
                        </a:rPr>
                        <a:t>World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Learned model that predicts future observations (here: latent frames) given past observations and actions</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Imagination training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Training the policy on rollouts generated by the world model instead of the real environment</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Tokenizer / latents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Encoder–decoder mapping each frame to 256 continuous tokens the dynamics model operates on</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Block-causal attention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Full attention within a frame, causal across frames — enables frame-by-frame online generation</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Diffusion forcing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Diffusion training with an independent noise level per frame in a sequence</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Shortcut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Diffusion/flow model conditioned on step size, trained to be self-consistent across step sizes → few-step sampling</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x- vs v-prediction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Network predicts the clean latent (x) vs the velocity x − ε (v); Dreamer 4 uses x-prediction</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FVD / PSNR / SSIM</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Fréchet Video Distance (distribution-level video quality, lower is better) / per-frame reconstruction fidelity metrics</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GQA, RoPE, registers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Grouped-query attention (fewer KV heads), rotary position embeddings, extra learnable tokens that absorb attention mass</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BC, VLA, PMPO</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150" b="0" i="0">
                          <a:solidFill>
                            <a:srgbClr val="1F2937"/>
                          </a:solidFill>
                          <a:latin typeface="Calibri"/>
                        </a:rPr>
                        <a:t>Behavioural cloning; vision-language-action model (here built on Gemma 3); the sign-based, KL-regularised policy-gradient update used for RL</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