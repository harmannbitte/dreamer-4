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is about world models, and about one paper that changed what we can expect from them: Dreamer 4, by Danijar Hafner, Wilson Yan and Tim Lillicrap at Google DeepMind, September 2025. The one-line version: world models have become impressive to look at; Dreamer 4 is the first that is accurate and fast enough to train an agent in, and it proves it by learning to find diamonds in Minecraft from offline video alone. The three frames on the right are all generated by the model, not recorded from the game.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 the official video here (2:55) — or, if the room has no internet, the embedded ten-second teaser on the right. The video is essentially Figure 1 of the paper in motion: imagined rollouts decoded for visualisation, building up to the headline claim. Say it explicitly: what you see there is generated by the world model, not recorded gameplay. The four uncut 60-minute evaluation episodes on the same channel show the trained agent in the real game (linked on the results slide). YouTube does not allow downloading, so the deck only links to the video; the teaser and the 60 project-page clips are archived in dreamer4_resources/media/.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statements carry the whole talk. One: world models became a media category, judged visually. Two: an agent needs mechanics, speed and long-horizon stability, and no single model had all three. Three: Dreamer 4 has them, and the proof is not a video metric but two experiments: humans playing inside the model, and an agent that learned inside the model succeeding in the real game. The three numbers on the right are the ones to remember if nothing else sticks.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idea has been constant since the first Dreamer in 2019: learn a model of the environment, then train the policy on imagined trajectories. What changed in Dreamer 4 is the simulator: a 2-billion-parameter block-causal transformer trained with a diffusion-style objective, accurate enough that a human can play inside it. The frame on the right is an imagined rollout, not the real game.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map of the field. Top row: world models built for agents, from the first Dreamer in 2019 to DreamerV3 and DIAMOND — fast, but small images and often privileged state; nobody would want to play inside them. Middle row: the 2024–25 wave of world models as media — Genie, GameNGen, Oasis, Lucid-v1, Genie 2, MineWorld, Genie 3 — high-resolution, real-time, made for people to play, judged by how they look. The Minecraft ones are the direct baselines in the paper, and none of them survives a crafting menu. The blue note is the other way to combine the two: SIMA 2 trains inside Genie 3's worlds, but the agent stays outside the model. Dreamer 4, bottom, is the first model that sits in both rows: humans play it, the agent trains in it, and the agent is then tested in the real game.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tensions: fidelity versus speed versus stability over long horizons. Prior Minecraft world models chose speed and looked plausible, but a human trying to craft a pickaxe inside them fails. The recurrent Dreamer 3 model was fast but low-resolution and relied on privileged state. Dreamer 4 tries to get all three at once.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whole challenge on one picture. Top row: the twelve milestone items in the order the evaluation prompts them, grouped into wood, stone and iron ages and the diamond. The amber gates are game rules, not choices: stone only drops if you hold a wooden pickaxe, iron ore needs a stone pickaxe, diamonds need an iron pickaxe — mining with a weaker tool destroys the block. So there is no shortcut; every item depends on the previous tool, and each step is a different skill: punching, menu navigation with the mouse, placing blocks, digging, smelting. The minutes under the boxes are Dreamer 4's mean time to each item over successful episodes, Table 8: about 13 minutes to the iron pickaxe, 21 to a diamond — humans take about 20. Bottom: success rates from Table 7. Every agent nails the wood age; VPT's offline policy already dies at the wooden pickaxe; the Gemma-3 VLA and Dreamer 4 separate from the stone pickaxe on, and the gap grows with the horizon: 29 versus 11 percent at the iron pickaxe, and only Dreamer 4 ever reaches a diamond. Keep this curve in mind — Part 3 asks where the gap comes from.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recipe on the right is three phases: pretrain the world model, fine-tune it into an agent by imitation, then train the policy by RL inside the model. The six items on the left are what the paper does differently at each step, and they are the structure of this part: one slide per item, with the shortcut-forcing item getting the three primers it needs.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halves use the same transformer block. Block-causal means every token in frame t can see all tokens of frames up to t, which is exactly what you need for online, frame-by-frame generation with a human or a policy in the loop.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non-diffusion people: think of a dial τ from 0 (pure noise) to 1 (clean latent). Training corrupts a clean latent to a random position on the dial and asks the network for the way back, either as a direction (velocity) or as the clean end point. Sampling turns the dial from 0 to 1 in K steps. The strip at the top is a real world-model frame mixed with Gaussian noise at five signal levels. The problem for a real-time simulator is K: standard models need dozens of steps per frame.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Diffusion forcing is the trick that turns a video diffusion model into a causal simulator: every frame gets its own noise level, so the model learns to predict a noisy future from a cleaner past. That is precisely the situation at inference, where the past is what the model generated a moment ago. What it does not solve is speed; that is what shortcut models are for.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 models teach the network to take big steps consistently. The extra input is the step size; the extra loss says that one big step must agree with two half steps that the model computes itself. Because the target is deterministic it is easier to fit than the noisy flow-matching target, which is one reason the bootstrap term works well. Dreamer 4 combines this with diffusion forcing into shortcut forcing.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objective in words. Combining the two prior ideas gets you from 875 back to 329 FVD at 4 steps — but the big wins come from the parameterisation details: predicting x instead of v, computing the loss in x-space, and the ramp weight together take FVD from 329 to 102. These are the kind of choices you only discover with a careful cascade of ablations, which the paper provides.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transferable lesson of the paper for anyone building autoregressive generative models: predict the clean signal, not the velocity, when your own outputs become your inputs. Open Dreamer, the open-source reproduction, independently confirmed this — they report the same instability with v-prediction at scale.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bars top to bottom. The two dark bars at the top are the starting point: a diffusion-forcing transformer that is either slow or bad. The grey bars are the objective changes from the previous slides; the blue bar is the final model. The architectural changes on the lower half mostly move FPS, not FVD — exactly what you want.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tokens are the interface between simulation and decision making. The one-directional mask is subtle but important: if latents could attend to agent tokens, the model could 'cheat' by predicting frames consistent with what the policy intends rather than with the physics of the game. Notice how much of the gain over BC comes from this phase alone — the representation matters.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PMPO is deliberately simple. Using only the sign of the advantage makes the update invariant to reward scale, which matters when rewards are rare item events. The KL term to the BC policy is doing two jobs: stabilising RL and preventing the policy from wandering into regions the world model gets wrong. Hafner mentioned in a talk that a few rounds of corrective online data would allow a much weaker KL — but that is not in the paper.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experiment is easy to overlook but strategically important. Only about a hundred hours of labeled actions are needed on top of thousands of unlabeled hours, and the learned action semantics transfer to visual domains that were never labeled. That is the argument for scaling to internet video later.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paper's most convincing evidence about the world model. Real people sit down with a mouse and keyboard and try to do things. Dreamer 4 is the only model in which crafting, riding a boat or entering a portal work. The caveat is on the right: this is a small, human-judged protocol; I'd like to see automated long-horizon metrics in follow-ups.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 sixteen tasks. In the boat task Lucid shows only blue; in the portal task the baselines never enter; in the crafting task Dreamer 4 opens a functional crafting menu. The clips themselves are in the resource archive if you want to play them during the talk.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official results figure. Every method nails the first items; the interesting region is the right half. Dreamer 4 roughly doubles or triples the VLA on iron-age items and is the only one reaching diamonds — rarely, but from zero interaction. Remember this is a 60-minute budget per episode; humans need about 20 minutes on average.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separable effects. First, using the world model as the representation for imitation already gives a large jump — that's a statement about video pretraining. Second, RL inside the model adds a further, smaller but consistent gain on the hardest items and makes the agent faster, which is a hallmark of RL over imitation.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Bottom half of the Genie 3 picture. The interesting contrast is architectural: in DeepMind's own SIMA 2 work the agent, its rewards and its learning all live outside the world model, which is just an environment. In Dreamer 4 the policy is part of the world-model transformer and is trained on the model's latents, never on pixels. Both approaches are closed and both point the same way — world models as the place where agents get their experience — but they trade off breadth against precision: Genie 3 generalises across worlds with a coarse action space, Dreamer 4 masters one world with the full human interface.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Balance sheet. The methodological contribution — how to make a fast, accurate autoregressive video world model — is robust and has been independently reproduced. The headline agent result is real but statistically thin and has not been reproduced outside DeepMind. For a reading group, this split is where the discussion usually starts.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things to take home, in the order of the talk: the claim, the trick that makes it possible, the architecture, what RL adds, what the data story is, and what remains open.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two or three depending on the room.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sources, plus the GitHub archive that contains local copies of every item used to build this deck.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Offline means offline: the agent never touches Minecraft during training. The only signal is human gameplay video with logged inputs. Diamonds need a long chain of subgoals, each executed with raw mouse and keyboard at 20 Hz. That is why success rates fall off steeply along the tech tree for every method.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Historical context, with the hours on a log scale because they span three orders of magnitude. VPT is the closest relative: same contractor data, same action space. It got to diamonds, but only after pseudo-labelling 270 thousand hours of YouTube and then playing the real game for 194 thousand hours of RL; its offline-only version is the grey line that collapsed on the previous slide. Dreamer 3 got there with far less experience, but it changed the problem: tiny images, privileged inventory state, and crafting as an abstract action rather than a sequence of mouse movements in a menu. Dreamer 4 keeps the hard interface and removes the interaction. That is the claim in the title of the paper, and it is why the number to remember is not 0.7 percent diamonds but zero hours in the game.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phases. First a world model is trained on all video. Second, agent tokens and heads are added and trained by behavioural cloning while the dynamics loss keeps running. Third, the transformer is frozen and only the policy and value heads are trained by RL on imagined rollouts. Keeping the dynamics loss on uniform data rather than task-relevant data is a small but deliberate choice to avoid a world model that is optimistic about task success.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system view before we go component by component. Read it left to right: video frames enter the tokenizer encoder and become 256 latent tokens per frame; those latents, noised to a per-frame signal level, go into the big transformer together with the actions, the register tokens and, from phase 2 on, the agent tokens that carry the task id. The transformer has one output for the world model, the clean latents of the frame, and three outputs for the agent: policy, reward, value. The italic tags say which phase trains which output. Two things to point out: the decoder is only used to make videos and figures, the agent never sees pixels after the encoder; and the agent tokens can read everything but nothing reads them, which is what keeps the agent from biasing its own simulator.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Bottom half of the system view. On the right, the imagination loop: rollouts start from real contexts, the policy proposes actions, the frozen dynamics model predicts what happens in latent space with four forward passes per frame, the learned reward and value heads score the outcome and PMPO nudges the policy toward positive-advantage actions and away from negative ones, with a reverse KL to the frozen behavioural-cloning copy as prior. Gradients only reach the policy and value heads. On the left, evaluation: in the real game the same transformer runs once per frame as a feature extractor for the policy head; nothing is imagined at test time. The numbers at the end are the case for doing RL inside the model at all.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half: how they behave at run time. Two things to point at. First, frame rate is necessary but not sufficient — Lucid is twice as fast as Dreamer 4 and fails every task, and Oasis large is the one that autocompletes buildings you never built. Second, context length is the quiet hero: six times more than the others, and the failures that remain are memory failures. The last row is the conceptual difference: for the other projects the simulator is the product; for Dreamer 4 it is the means, and the policy trained inside it is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will ask about Genie 3, so here is what is actually known. Everything in the plain boxes is stated by DeepMind: auto-regressive frame-by-frame generation conditioned on the prompt, the latest actions and the whole trajectory so far, with an emergent — not explicit — 3D consistency. The amber pipeline is the recipe DeepMind published for Genie 2, which is a reasonable guess for Genie 3 but not confirmed. Parameter count, tokenizer, data and objective are undisclosed; there is no paper. The Dreamer 4 authors say why they do not compare: Genie 3's action space is navigation plus one interact button, and the Minecraft tasks need menus and precise mouse input.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family, different regime. Dreamer 3 solved diamonds with online interaction and privileged state at 64×64; Dreamer 4 does it offline from raw pixels and inputs. The price is speed: the transformer is still about forty times slower than the recurrent model, according to Hafner.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authors are quite candid. The two that matter most for the agenda of the paper are memory and exploitability: both limit how far imagination training can be pushed before the policy learns things that are only true inside the model.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not meant to be presented in full.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table for reference.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Glossary for the mixed audience.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hyperlink" Target="https://www.youtube.com/watch?v=oDlBtTcX0g0" TargetMode="External"/><Relationship Id="rId4" Type="http://schemas.openxmlformats.org/officeDocument/2006/relationships/hyperlink" Target="https://danijar.com/project/dreamer4" TargetMode="External"/><Relationship Id="rId5" Type="http://schemas.openxmlformats.org/officeDocument/2006/relationships/image" Target="../media/image5.png"/><Relationship Id="rId6" Type="http://schemas.microsoft.com/office/2007/relationships/media" Target="../media/media1.mp4"/><Relationship Id="rId7" Type="http://schemas.openxmlformats.org/officeDocument/2006/relationships/video" Target="../media/media1.mp4"/><Relationship Id="rId8" Type="http://schemas.openxmlformats.org/officeDocument/2006/relationships/image" Target="../media/image6.jpg"/><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jpg"/><Relationship Id="rId4" Type="http://schemas.openxmlformats.org/officeDocument/2006/relationships/image" Target="../media/image22.jpg"/><Relationship Id="rId5" Type="http://schemas.openxmlformats.org/officeDocument/2006/relationships/image" Target="../media/image23.jpg"/><Relationship Id="rId6" Type="http://schemas.openxmlformats.org/officeDocument/2006/relationships/image" Target="../media/image24.jpg"/><Relationship Id="rId7" Type="http://schemas.openxmlformats.org/officeDocument/2006/relationships/image" Target="../media/image25.jpg"/><Relationship Id="rId8" Type="http://schemas.openxmlformats.org/officeDocument/2006/relationships/image" Target="../media/image26.jpg"/><Relationship Id="rId9" Type="http://schemas.openxmlformats.org/officeDocument/2006/relationships/image" Target="../media/image27.jpg"/><Relationship Id="rId10" Type="http://schemas.openxmlformats.org/officeDocument/2006/relationships/image" Target="../media/image28.jpg"/><Relationship Id="rId11" Type="http://schemas.openxmlformats.org/officeDocument/2006/relationships/hyperlink" Target="https://danijar.com/project/dreamer4" TargetMode="External"/><Relationship Id="rId1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hyperlink" Target="https://www.youtube.com/watch?v=n4SwlSrkhvU" TargetMode="External"/><Relationship Id="rId4" Type="http://schemas.openxmlformats.org/officeDocument/2006/relationships/hyperlink" Target="https://www.youtube.com/watch?v=5CnpLRM8iXA" TargetMode="External"/><Relationship Id="rId5" Type="http://schemas.openxmlformats.org/officeDocument/2006/relationships/hyperlink" Target="https://www.youtube.com/watch?v=oZyliSpRMSw" TargetMode="External"/><Relationship Id="rId6" Type="http://schemas.openxmlformats.org/officeDocument/2006/relationships/hyperlink" Target="https://www.youtube.com/watch?v=VSKpvb1bnbU" TargetMode="External"/><Relationship Id="rId7"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image" Target="../media/image40.png"/><Relationship Id="rId4"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title_strip_0.jpg"/>
          <p:cNvPicPr>
            <a:picLocks noChangeAspect="1"/>
          </p:cNvPicPr>
          <p:nvPr/>
        </p:nvPicPr>
        <p:blipFill>
          <a:blip r:embed="rId2"/>
          <a:stretch>
            <a:fillRect/>
          </a:stretch>
        </p:blipFill>
        <p:spPr>
          <a:xfrm>
            <a:off x="7223760" y="0"/>
            <a:ext cx="4967935" cy="2286000"/>
          </a:xfrm>
          <a:prstGeom prst="rect">
            <a:avLst/>
          </a:prstGeom>
        </p:spPr>
      </p:pic>
      <p:pic>
        <p:nvPicPr>
          <p:cNvPr id="4" name="Picture 3" descr="title_strip_1.jpg"/>
          <p:cNvPicPr>
            <a:picLocks noChangeAspect="1"/>
          </p:cNvPicPr>
          <p:nvPr/>
        </p:nvPicPr>
        <p:blipFill>
          <a:blip r:embed="rId3"/>
          <a:stretch>
            <a:fillRect/>
          </a:stretch>
        </p:blipFill>
        <p:spPr>
          <a:xfrm>
            <a:off x="7223760" y="2286000"/>
            <a:ext cx="4967935" cy="2286000"/>
          </a:xfrm>
          <a:prstGeom prst="rect">
            <a:avLst/>
          </a:prstGeom>
        </p:spPr>
      </p:pic>
      <p:pic>
        <p:nvPicPr>
          <p:cNvPr id="5" name="Picture 4" descr="title_strip_2.jpg"/>
          <p:cNvPicPr>
            <a:picLocks noChangeAspect="1"/>
          </p:cNvPicPr>
          <p:nvPr/>
        </p:nvPicPr>
        <p:blipFill>
          <a:blip r:embed="rId4"/>
          <a:stretch>
            <a:fillRect/>
          </a:stretch>
        </p:blipFill>
        <p:spPr>
          <a:xfrm>
            <a:off x="7223760" y="4572000"/>
            <a:ext cx="4967935" cy="2286000"/>
          </a:xfrm>
          <a:prstGeom prst="rect">
            <a:avLst/>
          </a:prstGeom>
        </p:spPr>
      </p:pic>
      <p:sp>
        <p:nvSpPr>
          <p:cNvPr id="6" name="TextBox 5"/>
          <p:cNvSpPr txBox="1"/>
          <p:nvPr/>
        </p:nvSpPr>
        <p:spPr>
          <a:xfrm>
            <a:off x="731520" y="1280160"/>
            <a:ext cx="5486400" cy="274320"/>
          </a:xfrm>
          <a:prstGeom prst="rect">
            <a:avLst/>
          </a:prstGeom>
          <a:noFill/>
        </p:spPr>
        <p:txBody>
          <a:bodyPr wrap="square" anchor="t" lIns="45720" rIns="45720" tIns="18288" bIns="18288">
            <a:spAutoFit/>
          </a:bodyPr>
          <a:lstStyle/>
          <a:p>
            <a:pPr algn="l">
              <a:lnSpc>
                <a:spcPct val="105000"/>
              </a:lnSpc>
            </a:pPr>
            <a:r>
              <a:rPr sz="1100" b="1" i="0" spc="120">
                <a:solidFill>
                  <a:srgbClr val="9DB8F5"/>
                </a:solidFill>
                <a:latin typeface="Calibri"/>
              </a:rPr>
              <a:t>WORLD MODELS  ·  ARXIV 2509.24527</a:t>
            </a:r>
          </a:p>
        </p:txBody>
      </p:sp>
      <p:sp>
        <p:nvSpPr>
          <p:cNvPr id="7" name="TextBox 6"/>
          <p:cNvSpPr txBox="1"/>
          <p:nvPr/>
        </p:nvSpPr>
        <p:spPr>
          <a:xfrm>
            <a:off x="685800" y="1645920"/>
            <a:ext cx="6217920" cy="1188720"/>
          </a:xfrm>
          <a:prstGeom prst="rect">
            <a:avLst/>
          </a:prstGeom>
          <a:noFill/>
        </p:spPr>
        <p:txBody>
          <a:bodyPr wrap="square" anchor="t" lIns="45720" rIns="45720" tIns="18288" bIns="18288">
            <a:spAutoFit/>
          </a:bodyPr>
          <a:lstStyle/>
          <a:p>
            <a:pPr algn="l">
              <a:lnSpc>
                <a:spcPct val="105000"/>
              </a:lnSpc>
            </a:pPr>
            <a:r>
              <a:rPr sz="6400" b="1" i="0">
                <a:solidFill>
                  <a:srgbClr val="FFFFFF"/>
                </a:solidFill>
                <a:latin typeface="Calibri"/>
              </a:rPr>
              <a:t>Dreamer 4</a:t>
            </a:r>
          </a:p>
        </p:txBody>
      </p:sp>
      <p:sp>
        <p:nvSpPr>
          <p:cNvPr id="8" name="TextBox 7"/>
          <p:cNvSpPr txBox="1"/>
          <p:nvPr/>
        </p:nvSpPr>
        <p:spPr>
          <a:xfrm>
            <a:off x="731520" y="2697480"/>
            <a:ext cx="6035040" cy="1371600"/>
          </a:xfrm>
          <a:prstGeom prst="rect">
            <a:avLst/>
          </a:prstGeom>
          <a:noFill/>
        </p:spPr>
        <p:txBody>
          <a:bodyPr wrap="square" anchor="t" lIns="45720" rIns="45720" tIns="18288" bIns="18288">
            <a:spAutoFit/>
          </a:bodyPr>
          <a:lstStyle/>
          <a:p>
            <a:pPr algn="l">
              <a:lnSpc>
                <a:spcPct val="110000"/>
              </a:lnSpc>
            </a:pPr>
            <a:r>
              <a:rPr sz="2600" b="0" i="0">
                <a:solidFill>
                  <a:srgbClr val="FFFFFF"/>
                </a:solidFill>
                <a:latin typeface="Calibri"/>
              </a:rPr>
              <a:t>A world model good enough</a:t>
            </a:r>
          </a:p>
          <a:p>
            <a:pPr algn="l">
              <a:lnSpc>
                <a:spcPct val="110000"/>
              </a:lnSpc>
            </a:pPr>
            <a:r>
              <a:rPr sz="2600" b="0" i="0">
                <a:solidFill>
                  <a:srgbClr val="FFFFFF"/>
                </a:solidFill>
                <a:latin typeface="Calibri"/>
              </a:rPr>
              <a:t>to train an agent in</a:t>
            </a:r>
          </a:p>
        </p:txBody>
      </p:sp>
      <p:sp>
        <p:nvSpPr>
          <p:cNvPr id="9" name="Rectangle 8"/>
          <p:cNvSpPr/>
          <p:nvPr/>
        </p:nvSpPr>
        <p:spPr>
          <a:xfrm>
            <a:off x="777240" y="4114800"/>
            <a:ext cx="822960" cy="19050"/>
          </a:xfrm>
          <a:prstGeom prst="rect">
            <a:avLst/>
          </a:prstGeom>
          <a:solidFill>
            <a:srgbClr val="9DB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4297680"/>
            <a:ext cx="6035040" cy="1097280"/>
          </a:xfrm>
          <a:prstGeom prst="rect">
            <a:avLst/>
          </a:prstGeom>
          <a:noFill/>
        </p:spPr>
        <p:txBody>
          <a:bodyPr wrap="square" anchor="t" lIns="45720" rIns="45720" tIns="18288" bIns="18288">
            <a:spAutoFit/>
          </a:bodyPr>
          <a:lstStyle/>
          <a:p>
            <a:pPr algn="l">
              <a:lnSpc>
                <a:spcPct val="120000"/>
              </a:lnSpc>
            </a:pPr>
            <a:r>
              <a:rPr sz="1450" b="0" i="0">
                <a:solidFill>
                  <a:srgbClr val="C9D3E6"/>
                </a:solidFill>
                <a:latin typeface="Calibri"/>
              </a:rPr>
              <a:t>Training Agents Inside of Scalable World Models</a:t>
            </a:r>
          </a:p>
          <a:p>
            <a:pPr algn="l">
              <a:lnSpc>
                <a:spcPct val="120000"/>
              </a:lnSpc>
            </a:pPr>
            <a:r>
              <a:rPr sz="1450" b="0" i="0">
                <a:solidFill>
                  <a:srgbClr val="C9D3E6"/>
                </a:solidFill>
                <a:latin typeface="Calibri"/>
              </a:rPr>
              <a:t>Hafner*, Yan*, Lillicrap — Google DeepMind, September 2025</a:t>
            </a:r>
          </a:p>
        </p:txBody>
      </p:sp>
      <p:sp>
        <p:nvSpPr>
          <p:cNvPr id="11" name="TextBox 10"/>
          <p:cNvSpPr txBox="1"/>
          <p:nvPr/>
        </p:nvSpPr>
        <p:spPr>
          <a:xfrm>
            <a:off x="731520" y="5989320"/>
            <a:ext cx="6035040" cy="365760"/>
          </a:xfrm>
          <a:prstGeom prst="rect">
            <a:avLst/>
          </a:prstGeom>
          <a:noFill/>
        </p:spPr>
        <p:txBody>
          <a:bodyPr wrap="square" anchor="t" lIns="45720" rIns="45720" tIns="18288" bIns="18288">
            <a:spAutoFit/>
          </a:bodyPr>
          <a:lstStyle/>
          <a:p>
            <a:pPr algn="l">
              <a:lnSpc>
                <a:spcPct val="105000"/>
              </a:lnSpc>
            </a:pPr>
            <a:r>
              <a:rPr sz="1150" b="0" i="0">
                <a:solidFill>
                  <a:srgbClr val="8F9BB8"/>
                </a:solidFill>
                <a:latin typeface="Calibri"/>
              </a:rPr>
              <a:t>Presenter ____________     Date ____________     ~30 min + discussion</a:t>
            </a:r>
          </a:p>
        </p:txBody>
      </p:sp>
      <p:sp>
        <p:nvSpPr>
          <p:cNvPr id="12" name="TextBox 11"/>
          <p:cNvSpPr txBox="1"/>
          <p:nvPr/>
        </p:nvSpPr>
        <p:spPr>
          <a:xfrm>
            <a:off x="731520" y="6355080"/>
            <a:ext cx="6035040" cy="457200"/>
          </a:xfrm>
          <a:prstGeom prst="rect">
            <a:avLst/>
          </a:prstGeom>
          <a:noFill/>
        </p:spPr>
        <p:txBody>
          <a:bodyPr wrap="square" anchor="t" lIns="45720" rIns="45720" tIns="18288" bIns="18288">
            <a:spAutoFit/>
          </a:bodyPr>
          <a:lstStyle/>
          <a:p>
            <a:pPr algn="l">
              <a:lnSpc>
                <a:spcPct val="105000"/>
              </a:lnSpc>
            </a:pPr>
            <a:r>
              <a:rPr sz="900" b="0" i="1">
                <a:solidFill>
                  <a:srgbClr val="6B7280"/>
                </a:solidFill>
                <a:latin typeface="Calibri"/>
              </a:rPr>
              <a:t>Right: frames generated by the Dreamer 4 world model — an imagined rollout, a human playing inside the model, and the robot-arm model.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The paper in three minutes: the official video</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'Dreamer 4 | Diamonds from Offline Experience' — Danijar Hafner's channel, 1 Oct 2025, 2:55. In effect Figure 1 in motion</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a:t>
            </a:r>
          </a:p>
        </p:txBody>
      </p:sp>
      <p:pic>
        <p:nvPicPr>
          <p:cNvPr id="7" name="Picture 6" descr="yt_thumb_16x9.jpg">
            <a:hlinkClick r:id="rId3"/>
          </p:cNvPr>
          <p:cNvPicPr>
            <a:picLocks noChangeAspect="1"/>
          </p:cNvPicPr>
          <p:nvPr/>
        </p:nvPicPr>
        <p:blipFill>
          <a:blip r:embed="rId2"/>
          <a:stretch>
            <a:fillRect/>
          </a:stretch>
        </p:blipFill>
        <p:spPr>
          <a:xfrm>
            <a:off x="457200" y="1371600"/>
            <a:ext cx="7223760" cy="4063593"/>
          </a:xfrm>
          <a:prstGeom prst="rect">
            <a:avLst/>
          </a:prstGeom>
          <a:ln w="9525">
            <a:solidFill>
              <a:srgbClr val="D3D8E2"/>
            </a:solidFill>
          </a:ln>
        </p:spPr>
      </p:pic>
      <p:sp>
        <p:nvSpPr>
          <p:cNvPr id="8" name="Oval 7">
            <a:hlinkClick r:id="rId3"/>
          </p:cNvPr>
          <p:cNvSpPr/>
          <p:nvPr/>
        </p:nvSpPr>
        <p:spPr>
          <a:xfrm>
            <a:off x="3566160" y="2900476"/>
            <a:ext cx="1005840" cy="10058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a:hlinkClick r:id="rId3"/>
          </p:cNvPr>
          <p:cNvSpPr/>
          <p:nvPr/>
        </p:nvSpPr>
        <p:spPr>
          <a:xfrm rot="5400000">
            <a:off x="3895344" y="3174796"/>
            <a:ext cx="402336" cy="457200"/>
          </a:xfrm>
          <a:prstGeom prst="triangle">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5486400"/>
            <a:ext cx="7223760" cy="457200"/>
          </a:xfrm>
          <a:prstGeom prst="rect">
            <a:avLst/>
          </a:prstGeom>
          <a:noFill/>
        </p:spPr>
        <p:txBody>
          <a:bodyPr wrap="square" lIns="45720" rIns="45720" tIns="18288" bIns="18288">
            <a:spAutoFit/>
          </a:bodyPr>
          <a:lstStyle/>
          <a:p>
            <a:r>
              <a:rPr sz="1100" b="0" i="1">
                <a:solidFill>
                  <a:srgbClr val="6B7280"/>
                </a:solidFill>
                <a:latin typeface="Calibri"/>
              </a:rPr>
              <a:t>▶ Click the picture to open the video on YouTube (internet required): </a:t>
            </a:r>
            <a:r>
              <a:rPr sz="1100" b="1" i="0">
                <a:solidFill>
                  <a:srgbClr val="2A56D6"/>
                </a:solidFill>
                <a:latin typeface="Calibri"/>
                <a:hlinkClick r:id="rId3"/>
              </a:rPr>
              <a:t>youtube.com/watch?v=oDlBtTcX0g0</a:t>
            </a:r>
          </a:p>
        </p:txBody>
      </p:sp>
      <p:sp>
        <p:nvSpPr>
          <p:cNvPr id="11" name="TextBox 10"/>
          <p:cNvSpPr txBox="1"/>
          <p:nvPr/>
        </p:nvSpPr>
        <p:spPr>
          <a:xfrm>
            <a:off x="457200" y="5806440"/>
            <a:ext cx="7223760" cy="457200"/>
          </a:xfrm>
          <a:prstGeom prst="rect">
            <a:avLst/>
          </a:prstGeom>
          <a:noFill/>
        </p:spPr>
        <p:txBody>
          <a:bodyPr wrap="square" lIns="45720" rIns="45720" tIns="18288" bIns="18288">
            <a:spAutoFit/>
          </a:bodyPr>
          <a:lstStyle/>
          <a:p>
            <a:r>
              <a:rPr sz="1000" b="0" i="1">
                <a:solidFill>
                  <a:srgbClr val="6B7280"/>
                </a:solidFill>
                <a:latin typeface="Calibri"/>
              </a:rPr>
              <a:t>Project page: 60 more clips (imagination rollouts, 17 interaction tasks × 3 models, robot arm) — </a:t>
            </a:r>
            <a:r>
              <a:rPr sz="1000" b="1" i="0">
                <a:solidFill>
                  <a:srgbClr val="2A56D6"/>
                </a:solidFill>
                <a:latin typeface="Calibri"/>
                <a:hlinkClick r:id="rId4"/>
              </a:rPr>
              <a:t>danijar.com/project/dreamer4</a:t>
            </a:r>
          </a:p>
        </p:txBody>
      </p:sp>
      <p:pic>
        <p:nvPicPr>
          <p:cNvPr id="12" name="Picture 11" descr="qr_video.png"/>
          <p:cNvPicPr>
            <a:picLocks noChangeAspect="1"/>
          </p:cNvPicPr>
          <p:nvPr/>
        </p:nvPicPr>
        <p:blipFill>
          <a:blip r:embed="rId5"/>
          <a:stretch>
            <a:fillRect/>
          </a:stretch>
        </p:blipFill>
        <p:spPr>
          <a:xfrm>
            <a:off x="7955279" y="1371600"/>
            <a:ext cx="1234440" cy="1234440"/>
          </a:xfrm>
          <a:prstGeom prst="rect">
            <a:avLst/>
          </a:prstGeom>
        </p:spPr>
      </p:pic>
      <p:sp>
        <p:nvSpPr>
          <p:cNvPr id="13" name="TextBox 12"/>
          <p:cNvSpPr txBox="1"/>
          <p:nvPr/>
        </p:nvSpPr>
        <p:spPr>
          <a:xfrm>
            <a:off x="9281160" y="1371600"/>
            <a:ext cx="2468880" cy="1280160"/>
          </a:xfrm>
          <a:prstGeom prst="rect">
            <a:avLst/>
          </a:prstGeom>
          <a:noFill/>
        </p:spPr>
        <p:txBody>
          <a:bodyPr wrap="square" anchor="t" lIns="45720" rIns="45720" tIns="18288" bIns="18288">
            <a:spAutoFit/>
          </a:bodyPr>
          <a:lstStyle/>
          <a:p>
            <a:pPr algn="l">
              <a:lnSpc>
                <a:spcPct val="115000"/>
              </a:lnSpc>
            </a:pPr>
            <a:r>
              <a:rPr sz="1050" b="1" i="0">
                <a:solidFill>
                  <a:srgbClr val="14213D"/>
                </a:solidFill>
                <a:latin typeface="Calibri"/>
              </a:rPr>
              <a:t>Scan to watch on your own device</a:t>
            </a:r>
          </a:p>
          <a:p>
            <a:pPr algn="l">
              <a:lnSpc>
                <a:spcPct val="115000"/>
              </a:lnSpc>
            </a:pPr>
            <a:r>
              <a:rPr sz="1050" b="0" i="0">
                <a:solidFill>
                  <a:srgbClr val="6B7280"/>
                </a:solidFill>
                <a:latin typeface="Calibri"/>
              </a:rPr>
              <a:t>2:55 · uploaded 1 Oct 2025</a:t>
            </a:r>
          </a:p>
          <a:p>
            <a:pPr algn="l">
              <a:lnSpc>
                <a:spcPct val="115000"/>
              </a:lnSpc>
            </a:pPr>
            <a:r>
              <a:rPr sz="1050" b="0" i="0">
                <a:solidFill>
                  <a:srgbClr val="6B7280"/>
                </a:solidFill>
                <a:latin typeface="Calibri"/>
              </a:rPr>
              <a:t>YouTube channel @danijar (Danijar Hafner)</a:t>
            </a:r>
          </a:p>
          <a:p>
            <a:pPr algn="l">
              <a:lnSpc>
                <a:spcPct val="115000"/>
              </a:lnSpc>
            </a:pPr>
            <a:r>
              <a:rPr sz="1050" b="0" i="0">
                <a:solidFill>
                  <a:srgbClr val="6B7280"/>
                </a:solidFill>
                <a:latin typeface="Calibri"/>
              </a:rPr>
              <a:t>Description: 'the first agent to mine diamonds learning entirely offline'</a:t>
            </a:r>
          </a:p>
        </p:txBody>
      </p:sp>
      <p:sp>
        <p:nvSpPr>
          <p:cNvPr id="14" name="Rectangle 13"/>
          <p:cNvSpPr/>
          <p:nvPr/>
        </p:nvSpPr>
        <p:spPr>
          <a:xfrm>
            <a:off x="7955279" y="2770632"/>
            <a:ext cx="25400" cy="1316736"/>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59" y="2743200"/>
            <a:ext cx="3575304"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WHAT TO WATCH FOR</a:t>
            </a:r>
          </a:p>
        </p:txBody>
      </p:sp>
      <p:sp>
        <p:nvSpPr>
          <p:cNvPr id="16" name="TextBox 15"/>
          <p:cNvSpPr txBox="1"/>
          <p:nvPr/>
        </p:nvSpPr>
        <p:spPr>
          <a:xfrm>
            <a:off x="8138159" y="3072384"/>
            <a:ext cx="3575304" cy="1005840"/>
          </a:xfrm>
          <a:prstGeom prst="rect">
            <a:avLst/>
          </a:prstGeom>
          <a:noFill/>
        </p:spPr>
        <p:txBody>
          <a:bodyPr wrap="square" anchor="t" lIns="45720" rIns="45720" tIns="18288" bIns="18288">
            <a:spAutoFit/>
          </a:bodyPr>
          <a:lstStyle/>
          <a:p>
            <a:pPr algn="l">
              <a:lnSpc>
                <a:spcPct val="110000"/>
              </a:lnSpc>
              <a:spcAft>
                <a:spcPts val="500"/>
              </a:spcAft>
            </a:pPr>
            <a:r>
              <a:rPr sz="1100" b="0" i="0">
                <a:solidFill>
                  <a:srgbClr val="1F2937"/>
                </a:solidFill>
                <a:latin typeface="Calibri"/>
              </a:rPr>
              <a:t>The imagined training rollouts of Figure 1 in motion — chopping, crafting menus, mining, cave lighting, diamond ore — decoded from latents for viewing</a:t>
            </a:r>
          </a:p>
          <a:p>
            <a:pPr algn="l">
              <a:lnSpc>
                <a:spcPct val="110000"/>
              </a:lnSpc>
              <a:spcAft>
                <a:spcPts val="500"/>
              </a:spcAft>
            </a:pPr>
            <a:r>
              <a:rPr sz="1100" b="0" i="0">
                <a:solidFill>
                  <a:srgbClr val="1F2937"/>
                </a:solidFill>
                <a:latin typeface="Calibri"/>
              </a:rPr>
              <a:t>The headline it builds up to: diamonds from 2,541 h of offline video, no environment interaction</a:t>
            </a:r>
          </a:p>
        </p:txBody>
      </p:sp>
      <p:sp>
        <p:nvSpPr>
          <p:cNvPr id="17" name="TextBox 16"/>
          <p:cNvSpPr txBox="1"/>
          <p:nvPr/>
        </p:nvSpPr>
        <p:spPr>
          <a:xfrm>
            <a:off x="7955279" y="4206240"/>
            <a:ext cx="3840480" cy="274320"/>
          </a:xfrm>
          <a:prstGeom prst="rect">
            <a:avLst/>
          </a:prstGeom>
          <a:noFill/>
        </p:spPr>
        <p:txBody>
          <a:bodyPr wrap="square" anchor="t" lIns="45720" rIns="45720" tIns="18288" bIns="18288">
            <a:spAutoFit/>
          </a:bodyPr>
          <a:lstStyle/>
          <a:p>
            <a:pPr algn="l">
              <a:lnSpc>
                <a:spcPct val="105000"/>
              </a:lnSpc>
            </a:pPr>
            <a:r>
              <a:rPr sz="800" b="1" i="0" spc="120">
                <a:solidFill>
                  <a:srgbClr val="9AA3B2"/>
                </a:solidFill>
                <a:latin typeface="Calibri"/>
              </a:rPr>
              <a:t>NO INTERNET? EMBEDDED 10-S TEASER — CLICK TO PLAY</a:t>
            </a:r>
          </a:p>
        </p:txBody>
      </p:sp>
      <p:pic>
        <p:nvPicPr>
          <p:cNvPr id="18" name="teaser.mp4">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7955279" y="4434840"/>
            <a:ext cx="3328416" cy="1874519"/>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18"/>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The thesis in one slide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Why this paper matters for anyone who cares about world models — three statements and three numbers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a:t>
            </a:r>
          </a:p>
        </p:txBody>
      </p:sp>
      <p:sp>
        <p:nvSpPr>
          <p:cNvPr id="7" name="TextBox 6"/>
          <p:cNvSpPr txBox="1"/>
          <p:nvPr/>
        </p:nvSpPr>
        <p:spPr>
          <a:xfrm>
            <a:off x="548640" y="1481328"/>
            <a:ext cx="59436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01</a:t>
            </a:r>
          </a:p>
        </p:txBody>
      </p:sp>
      <p:sp>
        <p:nvSpPr>
          <p:cNvPr id="8" name="TextBox 7"/>
          <p:cNvSpPr txBox="1"/>
          <p:nvPr/>
        </p:nvSpPr>
        <p:spPr>
          <a:xfrm>
            <a:off x="1143000" y="1508760"/>
            <a:ext cx="6629400" cy="1012507"/>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World models became media.</a:t>
            </a:r>
            <a:r>
              <a:rPr sz="1550" b="0" i="0">
                <a:solidFill>
                  <a:srgbClr val="1F2937"/>
                </a:solidFill>
                <a:latin typeface="Calibri"/>
              </a:rPr>
              <a:t> In 2024–25, Genie, Oasis, Lucid-v1 and GameNGen showed real-time, playable video worlds — judged by how they look and feel, not by whether an agent can learn in them.</a:t>
            </a:r>
          </a:p>
        </p:txBody>
      </p:sp>
      <p:sp>
        <p:nvSpPr>
          <p:cNvPr id="9" name="TextBox 8"/>
          <p:cNvSpPr txBox="1"/>
          <p:nvPr/>
        </p:nvSpPr>
        <p:spPr>
          <a:xfrm>
            <a:off x="548640" y="2512123"/>
            <a:ext cx="59436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02</a:t>
            </a:r>
          </a:p>
        </p:txBody>
      </p:sp>
      <p:sp>
        <p:nvSpPr>
          <p:cNvPr id="10" name="TextBox 9"/>
          <p:cNvSpPr txBox="1"/>
          <p:nvPr/>
        </p:nvSpPr>
        <p:spPr>
          <a:xfrm>
            <a:off x="1143000" y="2539555"/>
            <a:ext cx="6629400" cy="1504632"/>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An agent needs more than looks.</a:t>
            </a:r>
            <a:r>
              <a:rPr sz="1550" b="0" i="0">
                <a:solidFill>
                  <a:srgbClr val="1F2937"/>
                </a:solidFill>
                <a:latin typeface="Calibri"/>
              </a:rPr>
              <a:t> To train in a model, the mechanics must be right (menus, crafting, tools), it must run fast enough for millions of rollouts, and it must stay stable over long horizons. The playable models failed the first test; the agent-side models (Dreamer 1–3) passed it only at 64×64 pixels with privileged state.</a:t>
            </a:r>
          </a:p>
        </p:txBody>
      </p:sp>
      <p:sp>
        <p:nvSpPr>
          <p:cNvPr id="11" name="TextBox 10"/>
          <p:cNvSpPr txBox="1"/>
          <p:nvPr/>
        </p:nvSpPr>
        <p:spPr>
          <a:xfrm>
            <a:off x="548640" y="4035043"/>
            <a:ext cx="59436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03</a:t>
            </a:r>
          </a:p>
        </p:txBody>
      </p:sp>
      <p:sp>
        <p:nvSpPr>
          <p:cNvPr id="12" name="TextBox 11"/>
          <p:cNvSpPr txBox="1"/>
          <p:nvPr/>
        </p:nvSpPr>
        <p:spPr>
          <a:xfrm>
            <a:off x="1143000" y="4062475"/>
            <a:ext cx="6629400" cy="1258570"/>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Dreamer 4 is the first to do both.</a:t>
            </a:r>
            <a:r>
              <a:rPr sz="1550" b="0" i="0">
                <a:solidFill>
                  <a:srgbClr val="1F2937"/>
                </a:solidFill>
                <a:latin typeface="Calibri"/>
              </a:rPr>
              <a:t> Humans solve 14 of 16 interaction tasks inside it in real time — and an agent trained only inside it, from 2,541 h of offline video, reaches diamonds. No environment interaction at any point.</a:t>
            </a:r>
          </a:p>
        </p:txBody>
      </p:sp>
      <p:sp>
        <p:nvSpPr>
          <p:cNvPr id="13" name="Rectangle 12"/>
          <p:cNvSpPr/>
          <p:nvPr/>
        </p:nvSpPr>
        <p:spPr>
          <a:xfrm>
            <a:off x="8138160" y="1536192"/>
            <a:ext cx="25400" cy="269900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508760"/>
            <a:ext cx="345643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THREE NUMBERS TO REMEMBER</a:t>
            </a:r>
          </a:p>
        </p:txBody>
      </p:sp>
      <p:sp>
        <p:nvSpPr>
          <p:cNvPr id="15" name="TextBox 14"/>
          <p:cNvSpPr txBox="1"/>
          <p:nvPr/>
        </p:nvSpPr>
        <p:spPr>
          <a:xfrm>
            <a:off x="8321040" y="1837944"/>
            <a:ext cx="3456432" cy="2926080"/>
          </a:xfrm>
          <a:prstGeom prst="rect">
            <a:avLst/>
          </a:prstGeom>
          <a:noFill/>
        </p:spPr>
        <p:txBody>
          <a:bodyPr wrap="square" anchor="t" lIns="45720" rIns="45720" tIns="18288" bIns="18288">
            <a:spAutoFit/>
          </a:bodyPr>
          <a:lstStyle/>
          <a:p>
            <a:pPr algn="l">
              <a:lnSpc>
                <a:spcPct val="110000"/>
              </a:lnSpc>
              <a:spcAft>
                <a:spcPts val="500"/>
              </a:spcAft>
            </a:pPr>
            <a:r>
              <a:rPr sz="1300" b="1" i="0">
                <a:solidFill>
                  <a:srgbClr val="1F2937"/>
                </a:solidFill>
                <a:latin typeface="Calibri"/>
              </a:rPr>
              <a:t>14 / 16</a:t>
            </a:r>
            <a:r>
              <a:rPr sz="1300" b="0" i="0">
                <a:solidFill>
                  <a:srgbClr val="1F2937"/>
                </a:solidFill>
                <a:latin typeface="Calibri"/>
              </a:rPr>
              <a:t> — interaction tasks human testers solve inside the model, live, at 21 FPS (Table 1; best prior Minecraft model: 5 / 16)</a:t>
            </a:r>
          </a:p>
          <a:p>
            <a:pPr algn="l">
              <a:lnSpc>
                <a:spcPct val="110000"/>
              </a:lnSpc>
              <a:spcAft>
                <a:spcPts val="500"/>
              </a:spcAft>
            </a:pPr>
            <a:r>
              <a:rPr sz="1300" b="1" i="0">
                <a:solidFill>
                  <a:srgbClr val="1F2937"/>
                </a:solidFill>
                <a:latin typeface="Calibri"/>
              </a:rPr>
              <a:t>21 FPS on one H100</a:t>
            </a:r>
            <a:r>
              <a:rPr sz="1300" b="0" i="0">
                <a:solidFill>
                  <a:srgbClr val="1F2937"/>
                </a:solidFill>
                <a:latin typeface="Calibri"/>
              </a:rPr>
              <a:t> — with a 9.6 s context and four sampling steps per frame; the same design at 64 steps ran at 0.8 FPS (Table 2)</a:t>
            </a:r>
          </a:p>
          <a:p>
            <a:pPr algn="l">
              <a:lnSpc>
                <a:spcPct val="110000"/>
              </a:lnSpc>
              <a:spcAft>
                <a:spcPts val="500"/>
              </a:spcAft>
            </a:pPr>
            <a:r>
              <a:rPr sz="1300" b="1" i="0">
                <a:solidFill>
                  <a:srgbClr val="1F2937"/>
                </a:solidFill>
                <a:latin typeface="Calibri"/>
              </a:rPr>
              <a:t>29 % · 0.7 %</a:t>
            </a:r>
            <a:r>
              <a:rPr sz="1300" b="0" i="0">
                <a:solidFill>
                  <a:srgbClr val="1F2937"/>
                </a:solidFill>
                <a:latin typeface="Calibri"/>
              </a:rPr>
              <a:t> — iron pickaxe and diamond success from offline video only; a Gemma-3 VLA on the same data: 11 % · 0 %, plain BC: 0.6 % · 0 % (Table 7)</a:t>
            </a:r>
          </a:p>
        </p:txBody>
      </p:sp>
      <p:sp>
        <p:nvSpPr>
          <p:cNvPr id="16" name="TextBox 15"/>
          <p:cNvSpPr txBox="1"/>
          <p:nvPr/>
        </p:nvSpPr>
        <p:spPr>
          <a:xfrm>
            <a:off x="548640" y="5806440"/>
            <a:ext cx="1115568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Route: Part 1 what a world model is and where the field stood → Part 2 six things Dreamer 4 does differently → Part 3 the evidence → Part 4 where it stands, and what to take away.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49440" y="822960"/>
            <a:ext cx="4846320" cy="3840480"/>
          </a:xfrm>
          <a:prstGeom prst="rect">
            <a:avLst/>
          </a:prstGeom>
          <a:noFill/>
        </p:spPr>
        <p:txBody>
          <a:bodyPr wrap="square" anchor="t" lIns="45720" rIns="45720" tIns="18288" bIns="18288">
            <a:spAutoFit/>
          </a:bodyPr>
          <a:lstStyle/>
          <a:p>
            <a:pPr algn="r">
              <a:lnSpc>
                <a:spcPct val="105000"/>
              </a:lnSpc>
            </a:pPr>
            <a:r>
              <a:rPr sz="26000" b="1" i="0">
                <a:solidFill>
                  <a:srgbClr val="1D2D52"/>
                </a:solidFill>
                <a:latin typeface="Calibri"/>
              </a:rPr>
              <a:t>01</a:t>
            </a:r>
          </a:p>
        </p:txBody>
      </p:sp>
      <p:sp>
        <p:nvSpPr>
          <p:cNvPr id="4" name="TextBox 3"/>
          <p:cNvSpPr txBox="1"/>
          <p:nvPr/>
        </p:nvSpPr>
        <p:spPr>
          <a:xfrm>
            <a:off x="822960" y="2331720"/>
            <a:ext cx="5486400" cy="274320"/>
          </a:xfrm>
          <a:prstGeom prst="rect">
            <a:avLst/>
          </a:prstGeom>
          <a:noFill/>
        </p:spPr>
        <p:txBody>
          <a:bodyPr wrap="square" anchor="t" lIns="45720" rIns="45720" tIns="18288" bIns="18288">
            <a:spAutoFit/>
          </a:bodyPr>
          <a:lstStyle/>
          <a:p>
            <a:pPr algn="l">
              <a:lnSpc>
                <a:spcPct val="105000"/>
              </a:lnSpc>
            </a:pPr>
            <a:r>
              <a:rPr sz="1300" b="1" i="0" spc="120">
                <a:solidFill>
                  <a:srgbClr val="9DB8F5"/>
                </a:solidFill>
                <a:latin typeface="Calibri"/>
              </a:rPr>
              <a:t>PART 1</a:t>
            </a:r>
          </a:p>
        </p:txBody>
      </p:sp>
      <p:sp>
        <p:nvSpPr>
          <p:cNvPr id="5" name="Rectangle 4"/>
          <p:cNvSpPr/>
          <p:nvPr/>
        </p:nvSpPr>
        <p:spPr>
          <a:xfrm>
            <a:off x="822960" y="2724912"/>
            <a:ext cx="822960" cy="19050"/>
          </a:xfrm>
          <a:prstGeom prst="rect">
            <a:avLst/>
          </a:prstGeom>
          <a:solidFill>
            <a:srgbClr val="9DB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80360"/>
            <a:ext cx="8229600" cy="1188720"/>
          </a:xfrm>
          <a:prstGeom prst="rect">
            <a:avLst/>
          </a:prstGeom>
          <a:noFill/>
        </p:spPr>
        <p:txBody>
          <a:bodyPr wrap="square" anchor="t" lIns="45720" rIns="45720" tIns="18288" bIns="18288">
            <a:spAutoFit/>
          </a:bodyPr>
          <a:lstStyle/>
          <a:p>
            <a:pPr algn="l">
              <a:lnSpc>
                <a:spcPct val="105000"/>
              </a:lnSpc>
            </a:pPr>
            <a:r>
              <a:rPr sz="4400" b="1" i="0">
                <a:solidFill>
                  <a:srgbClr val="FFFFFF"/>
                </a:solidFill>
                <a:latin typeface="Calibri"/>
              </a:rPr>
              <a:t>World models</a:t>
            </a:r>
          </a:p>
        </p:txBody>
      </p:sp>
      <p:sp>
        <p:nvSpPr>
          <p:cNvPr id="7" name="TextBox 6"/>
          <p:cNvSpPr txBox="1"/>
          <p:nvPr/>
        </p:nvSpPr>
        <p:spPr>
          <a:xfrm>
            <a:off x="822960" y="3977639"/>
            <a:ext cx="7772400" cy="1280160"/>
          </a:xfrm>
          <a:prstGeom prst="rect">
            <a:avLst/>
          </a:prstGeom>
          <a:noFill/>
        </p:spPr>
        <p:txBody>
          <a:bodyPr wrap="square" anchor="t" lIns="45720" rIns="45720" tIns="18288" bIns="18288">
            <a:spAutoFit/>
          </a:bodyPr>
          <a:lstStyle/>
          <a:p>
            <a:pPr algn="l">
              <a:lnSpc>
                <a:spcPct val="115000"/>
              </a:lnSpc>
            </a:pPr>
            <a:r>
              <a:rPr sz="1800" b="0" i="0">
                <a:solidFill>
                  <a:srgbClr val="C9D3E6"/>
                </a:solidFill>
                <a:latin typeface="Calibri"/>
              </a:rPr>
              <a:t>What they are, what the 2024–25 wave delivered, and what an agent needs from one</a:t>
            </a:r>
          </a:p>
        </p:txBody>
      </p:sp>
      <p:sp>
        <p:nvSpPr>
          <p:cNvPr id="8" name="TextBox 7"/>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9DB8F5"/>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What a world model is — and what 'learning in imagination' means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The Dreamer lineage: same idea, increasingly capable simulators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1 · WORLD MODELS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5</a:t>
            </a:r>
          </a:p>
        </p:txBody>
      </p:sp>
      <p:sp>
        <p:nvSpPr>
          <p:cNvPr id="8" name="TextBox 7"/>
          <p:cNvSpPr txBox="1"/>
          <p:nvPr/>
        </p:nvSpPr>
        <p:spPr>
          <a:xfrm>
            <a:off x="548640" y="1417320"/>
            <a:ext cx="5852160" cy="384048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700" b="1" i="0">
                <a:solidFill>
                  <a:srgbClr val="14213D"/>
                </a:solidFill>
                <a:latin typeface="Calibri"/>
              </a:rPr>
              <a:t>World model:</a:t>
            </a:r>
            <a:r>
              <a:rPr sz="1700" b="0" i="0">
                <a:solidFill>
                  <a:srgbClr val="1F2937"/>
                </a:solidFill>
                <a:latin typeface="Calibri"/>
              </a:rPr>
              <a:t> a learned simulator that predicts what happens next given the current situation and an action</a:t>
            </a:r>
          </a:p>
          <a:p>
            <a:pPr marL="237744" indent="-201168">
              <a:lnSpc>
                <a:spcPct val="108000"/>
              </a:lnSpc>
              <a:spcAft>
                <a:spcPts val="600"/>
              </a:spcAft>
              <a:buClr>
                <a:srgbClr val="9AA3B2"/>
              </a:buClr>
              <a:buFont typeface="Arial"/>
              <a:buChar char="•"/>
            </a:pPr>
            <a:r>
              <a:rPr sz="1700" b="1" i="0">
                <a:solidFill>
                  <a:srgbClr val="14213D"/>
                </a:solidFill>
                <a:latin typeface="Calibri"/>
              </a:rPr>
              <a:t>Imagination training:</a:t>
            </a:r>
            <a:r>
              <a:rPr sz="1700" b="0" i="0">
                <a:solidFill>
                  <a:srgbClr val="1F2937"/>
                </a:solidFill>
                <a:latin typeface="Calibri"/>
              </a:rPr>
              <a:t> the policy is optimised on rollouts generated </a:t>
            </a:r>
            <a:r>
              <a:rPr sz="1700" b="0" i="1">
                <a:solidFill>
                  <a:srgbClr val="1F2937"/>
                </a:solidFill>
                <a:latin typeface="Calibri"/>
              </a:rPr>
              <a:t>by the model</a:t>
            </a:r>
            <a:r>
              <a:rPr sz="1700" b="0" i="0">
                <a:solidFill>
                  <a:srgbClr val="1F2937"/>
                </a:solidFill>
                <a:latin typeface="Calibri"/>
              </a:rPr>
              <a:t>, not by the real environment — cheap, parallel, safe</a:t>
            </a:r>
          </a:p>
          <a:p>
            <a:pPr marL="237744" indent="-201168">
              <a:lnSpc>
                <a:spcPct val="108000"/>
              </a:lnSpc>
              <a:spcAft>
                <a:spcPts val="600"/>
              </a:spcAft>
              <a:buClr>
                <a:srgbClr val="9AA3B2"/>
              </a:buClr>
              <a:buFont typeface="Arial"/>
              <a:buChar char="•"/>
            </a:pPr>
            <a:r>
              <a:rPr sz="1700" b="1" i="0">
                <a:solidFill>
                  <a:srgbClr val="14213D"/>
                </a:solidFill>
                <a:latin typeface="Calibri"/>
              </a:rPr>
              <a:t>Why it matters now:</a:t>
            </a:r>
            <a:r>
              <a:rPr sz="1700" b="0" i="0">
                <a:solidFill>
                  <a:srgbClr val="1F2937"/>
                </a:solidFill>
                <a:latin typeface="Calibri"/>
              </a:rPr>
              <a:t> robots and other real-world systems cannot afford millions of trial-and-error interactions; video on the internet is abundant</a:t>
            </a:r>
          </a:p>
          <a:p>
            <a:pPr marL="237744" indent="-201168">
              <a:lnSpc>
                <a:spcPct val="108000"/>
              </a:lnSpc>
              <a:spcAft>
                <a:spcPts val="600"/>
              </a:spcAft>
              <a:buClr>
                <a:srgbClr val="9AA3B2"/>
              </a:buClr>
              <a:buFont typeface="Arial"/>
              <a:buChar char="•"/>
            </a:pPr>
            <a:r>
              <a:rPr sz="1700" b="1" i="0">
                <a:solidFill>
                  <a:srgbClr val="14213D"/>
                </a:solidFill>
                <a:latin typeface="Calibri"/>
              </a:rPr>
              <a:t>Dreamer 4's bet:</a:t>
            </a:r>
            <a:r>
              <a:rPr sz="1700" b="0" i="0">
                <a:solidFill>
                  <a:srgbClr val="1F2937"/>
                </a:solidFill>
                <a:latin typeface="Calibri"/>
              </a:rPr>
              <a:t> if the simulator is accurate enough about object interactions, RL inside it can go beyond what pure imitation learns</a:t>
            </a:r>
          </a:p>
        </p:txBody>
      </p:sp>
      <p:sp>
        <p:nvSpPr>
          <p:cNvPr id="9" name="Rectangle 8"/>
          <p:cNvSpPr/>
          <p:nvPr/>
        </p:nvSpPr>
        <p:spPr>
          <a:xfrm>
            <a:off x="822960" y="5669280"/>
            <a:ext cx="10424160" cy="12700"/>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68096" y="5596128"/>
            <a:ext cx="155448" cy="155448"/>
          </a:xfrm>
          <a:prstGeom prst="ellipse">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852160"/>
            <a:ext cx="2651760" cy="731520"/>
          </a:xfrm>
          <a:prstGeom prst="rect">
            <a:avLst/>
          </a:prstGeom>
          <a:noFill/>
        </p:spPr>
        <p:txBody>
          <a:bodyPr wrap="square" anchor="t" lIns="45720" rIns="45720" tIns="18288" bIns="18288">
            <a:spAutoFit/>
          </a:bodyPr>
          <a:lstStyle/>
          <a:p>
            <a:pPr algn="l">
              <a:lnSpc>
                <a:spcPct val="105000"/>
              </a:lnSpc>
            </a:pPr>
            <a:r>
              <a:rPr sz="1100" b="1" i="0">
                <a:solidFill>
                  <a:srgbClr val="14213D"/>
                </a:solidFill>
                <a:latin typeface="Calibri"/>
              </a:rPr>
              <a:t>Dreamer (2019)</a:t>
            </a:r>
          </a:p>
          <a:p>
            <a:pPr algn="l">
              <a:lnSpc>
                <a:spcPct val="105000"/>
              </a:lnSpc>
            </a:pPr>
            <a:r>
              <a:rPr sz="1100" b="0" i="0">
                <a:solidFill>
                  <a:srgbClr val="6B7280"/>
                </a:solidFill>
                <a:latin typeface="Calibri"/>
              </a:rPr>
              <a:t>latent imagination on DM Control</a:t>
            </a:r>
          </a:p>
        </p:txBody>
      </p:sp>
      <p:sp>
        <p:nvSpPr>
          <p:cNvPr id="12" name="Oval 11"/>
          <p:cNvSpPr/>
          <p:nvPr/>
        </p:nvSpPr>
        <p:spPr>
          <a:xfrm>
            <a:off x="3511296" y="5596128"/>
            <a:ext cx="155448" cy="155448"/>
          </a:xfrm>
          <a:prstGeom prst="ellipse">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83280" y="5852160"/>
            <a:ext cx="2651760" cy="731520"/>
          </a:xfrm>
          <a:prstGeom prst="rect">
            <a:avLst/>
          </a:prstGeom>
          <a:noFill/>
        </p:spPr>
        <p:txBody>
          <a:bodyPr wrap="square" anchor="t" lIns="45720" rIns="45720" tIns="18288" bIns="18288">
            <a:spAutoFit/>
          </a:bodyPr>
          <a:lstStyle/>
          <a:p>
            <a:pPr algn="l">
              <a:lnSpc>
                <a:spcPct val="105000"/>
              </a:lnSpc>
            </a:pPr>
            <a:r>
              <a:rPr sz="1100" b="1" i="0">
                <a:solidFill>
                  <a:srgbClr val="14213D"/>
                </a:solidFill>
                <a:latin typeface="Calibri"/>
              </a:rPr>
              <a:t>DreamerV2 (2020)</a:t>
            </a:r>
          </a:p>
          <a:p>
            <a:pPr algn="l">
              <a:lnSpc>
                <a:spcPct val="105000"/>
              </a:lnSpc>
            </a:pPr>
            <a:r>
              <a:rPr sz="1100" b="0" i="0">
                <a:solidFill>
                  <a:srgbClr val="6B7280"/>
                </a:solidFill>
                <a:latin typeface="Calibri"/>
              </a:rPr>
              <a:t>discrete latents, Atari</a:t>
            </a:r>
          </a:p>
        </p:txBody>
      </p:sp>
      <p:sp>
        <p:nvSpPr>
          <p:cNvPr id="14" name="Oval 13"/>
          <p:cNvSpPr/>
          <p:nvPr/>
        </p:nvSpPr>
        <p:spPr>
          <a:xfrm>
            <a:off x="6254496" y="5596128"/>
            <a:ext cx="155448" cy="155448"/>
          </a:xfrm>
          <a:prstGeom prst="ellipse">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5852160"/>
            <a:ext cx="2651760" cy="731520"/>
          </a:xfrm>
          <a:prstGeom prst="rect">
            <a:avLst/>
          </a:prstGeom>
          <a:noFill/>
        </p:spPr>
        <p:txBody>
          <a:bodyPr wrap="square" anchor="t" lIns="45720" rIns="45720" tIns="18288" bIns="18288">
            <a:spAutoFit/>
          </a:bodyPr>
          <a:lstStyle/>
          <a:p>
            <a:pPr algn="l">
              <a:lnSpc>
                <a:spcPct val="105000"/>
              </a:lnSpc>
            </a:pPr>
            <a:r>
              <a:rPr sz="1100" b="1" i="0">
                <a:solidFill>
                  <a:srgbClr val="14213D"/>
                </a:solidFill>
                <a:latin typeface="Calibri"/>
              </a:rPr>
              <a:t>DreamerV3 (2023/Nature 2025)</a:t>
            </a:r>
          </a:p>
          <a:p>
            <a:pPr algn="l">
              <a:lnSpc>
                <a:spcPct val="105000"/>
              </a:lnSpc>
            </a:pPr>
            <a:r>
              <a:rPr sz="1100" b="0" i="0">
                <a:solidFill>
                  <a:srgbClr val="6B7280"/>
                </a:solidFill>
                <a:latin typeface="Calibri"/>
              </a:rPr>
              <a:t>one config for 150+ tasks; diamonds with online RL</a:t>
            </a:r>
          </a:p>
        </p:txBody>
      </p:sp>
      <p:sp>
        <p:nvSpPr>
          <p:cNvPr id="16" name="Oval 15"/>
          <p:cNvSpPr/>
          <p:nvPr/>
        </p:nvSpPr>
        <p:spPr>
          <a:xfrm>
            <a:off x="8997696" y="5596128"/>
            <a:ext cx="155448" cy="155448"/>
          </a:xfrm>
          <a:prstGeom prst="ellipse">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0" y="5852160"/>
            <a:ext cx="2651760" cy="731520"/>
          </a:xfrm>
          <a:prstGeom prst="rect">
            <a:avLst/>
          </a:prstGeom>
          <a:noFill/>
        </p:spPr>
        <p:txBody>
          <a:bodyPr wrap="square" anchor="t" lIns="45720" rIns="45720" tIns="18288" bIns="18288">
            <a:spAutoFit/>
          </a:bodyPr>
          <a:lstStyle/>
          <a:p>
            <a:pPr algn="l">
              <a:lnSpc>
                <a:spcPct val="105000"/>
              </a:lnSpc>
            </a:pPr>
            <a:r>
              <a:rPr sz="1100" b="1" i="0">
                <a:solidFill>
                  <a:srgbClr val="14213D"/>
                </a:solidFill>
                <a:latin typeface="Calibri"/>
              </a:rPr>
              <a:t>Dreamer 4 (2025)</a:t>
            </a:r>
          </a:p>
          <a:p>
            <a:pPr algn="l">
              <a:lnSpc>
                <a:spcPct val="105000"/>
              </a:lnSpc>
            </a:pPr>
            <a:r>
              <a:rPr sz="1100" b="0" i="0">
                <a:solidFill>
                  <a:srgbClr val="6B7280"/>
                </a:solidFill>
                <a:latin typeface="Calibri"/>
              </a:rPr>
              <a:t>transformer diffusion WM; diamonds offline; real-time on 1 GPU</a:t>
            </a:r>
          </a:p>
        </p:txBody>
      </p:sp>
      <p:pic>
        <p:nvPicPr>
          <p:cNvPr id="18" name="Picture 17" descr="frame_imag_treechop.jpg"/>
          <p:cNvPicPr>
            <a:picLocks noChangeAspect="1"/>
          </p:cNvPicPr>
          <p:nvPr/>
        </p:nvPicPr>
        <p:blipFill>
          <a:blip r:embed="rId2"/>
          <a:stretch>
            <a:fillRect/>
          </a:stretch>
        </p:blipFill>
        <p:spPr>
          <a:xfrm>
            <a:off x="7264837" y="1463040"/>
            <a:ext cx="3849766" cy="3108960"/>
          </a:xfrm>
          <a:prstGeom prst="rect">
            <a:avLst/>
          </a:prstGeom>
        </p:spPr>
      </p:pic>
      <p:sp>
        <p:nvSpPr>
          <p:cNvPr id="19" name="TextBox 18"/>
          <p:cNvSpPr txBox="1"/>
          <p:nvPr/>
        </p:nvSpPr>
        <p:spPr>
          <a:xfrm>
            <a:off x="6675120" y="4617720"/>
            <a:ext cx="50292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Imagined rollout decoded for visualisation, with the agent's reward and value estimates (project page, 'Gather wood').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Two families of world models — and where Dreamer 4 sits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2019–2025: models an agent trains inside vs. models a human plays inside (numbers from Table 1 and the vendors' announcements)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1 · WORLD MODELS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6</a:t>
            </a:r>
          </a:p>
        </p:txBody>
      </p:sp>
      <p:pic>
        <p:nvPicPr>
          <p:cNvPr id="8" name="Picture 7" descr="diag_landscape_s.jpg"/>
          <p:cNvPicPr>
            <a:picLocks noChangeAspect="1"/>
          </p:cNvPicPr>
          <p:nvPr/>
        </p:nvPicPr>
        <p:blipFill>
          <a:blip r:embed="rId2"/>
          <a:stretch>
            <a:fillRect/>
          </a:stretch>
        </p:blipFill>
        <p:spPr>
          <a:xfrm>
            <a:off x="612916" y="1371600"/>
            <a:ext cx="10935687" cy="4041648"/>
          </a:xfrm>
          <a:prstGeom prst="rect">
            <a:avLst/>
          </a:prstGeom>
        </p:spPr>
      </p:pic>
      <p:sp>
        <p:nvSpPr>
          <p:cNvPr id="9" name="TextBox 8"/>
          <p:cNvSpPr txBox="1"/>
          <p:nvPr/>
        </p:nvSpPr>
        <p:spPr>
          <a:xfrm>
            <a:off x="548640" y="5486400"/>
            <a:ext cx="11155680" cy="868680"/>
          </a:xfrm>
          <a:prstGeom prst="rect">
            <a:avLst/>
          </a:prstGeom>
          <a:noFill/>
        </p:spPr>
        <p:txBody>
          <a:bodyPr wrap="square" lIns="45720" rIns="45720">
            <a:spAutoFit/>
          </a:bodyPr>
          <a:lstStyle/>
          <a:p>
            <a:pPr marL="237744" indent="-201168">
              <a:lnSpc>
                <a:spcPct val="108000"/>
              </a:lnSpc>
              <a:spcAft>
                <a:spcPts val="300"/>
              </a:spcAft>
              <a:buClr>
                <a:srgbClr val="9AA3B2"/>
              </a:buClr>
              <a:buFont typeface="Arial"/>
              <a:buChar char="•"/>
            </a:pPr>
            <a:r>
              <a:rPr sz="1200" b="1" i="0">
                <a:solidFill>
                  <a:srgbClr val="14213D"/>
                </a:solidFill>
                <a:latin typeface="Calibri"/>
              </a:rPr>
              <a:t>Two yardsticks:</a:t>
            </a:r>
            <a:r>
              <a:rPr sz="1200" b="0" i="0">
                <a:solidFill>
                  <a:srgbClr val="1F2937"/>
                </a:solidFill>
                <a:latin typeface="Calibri"/>
              </a:rPr>
              <a:t> agent-side models are judged by the agent's return, media-side models by how the video looks — Dreamer 4 is held to both, plus a third: does an agent trained </a:t>
            </a:r>
            <a:r>
              <a:rPr sz="1200" b="0" i="1">
                <a:solidFill>
                  <a:srgbClr val="1F2937"/>
                </a:solidFill>
                <a:latin typeface="Calibri"/>
              </a:rPr>
              <a:t>only</a:t>
            </a:r>
            <a:r>
              <a:rPr sz="1200" b="0" i="0">
                <a:solidFill>
                  <a:srgbClr val="1F2937"/>
                </a:solidFill>
                <a:latin typeface="Calibri"/>
              </a:rPr>
              <a:t> inside it succeed in the real game?</a:t>
            </a:r>
          </a:p>
          <a:p>
            <a:pPr marL="237744" indent="-201168">
              <a:lnSpc>
                <a:spcPct val="108000"/>
              </a:lnSpc>
              <a:spcAft>
                <a:spcPts val="300"/>
              </a:spcAft>
              <a:buClr>
                <a:srgbClr val="9AA3B2"/>
              </a:buClr>
              <a:buFont typeface="Arial"/>
              <a:buChar char="•"/>
            </a:pPr>
            <a:r>
              <a:rPr sz="1200" b="1" i="0">
                <a:solidFill>
                  <a:srgbClr val="14213D"/>
                </a:solidFill>
                <a:latin typeface="Calibri"/>
              </a:rPr>
              <a:t>Direct baselines</a:t>
            </a:r>
            <a:r>
              <a:rPr sz="1200" b="0" i="0">
                <a:solidFill>
                  <a:srgbClr val="1F2937"/>
                </a:solidFill>
                <a:latin typeface="Calibri"/>
              </a:rPr>
              <a:t> are the playable Minecraft models (Table 1); Genie 3 is the closest in ambition but exposes no comparable action space, so the paper cannot compare against it (§4.2)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What an agent needs from a world model — and why that was hard</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Three requirements that pulled in different directions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1 · WORLD MODELS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7</a:t>
            </a:r>
          </a:p>
        </p:txBody>
      </p:sp>
      <p:sp>
        <p:nvSpPr>
          <p:cNvPr id="8" name="TextBox 7"/>
          <p:cNvSpPr txBox="1"/>
          <p:nvPr/>
        </p:nvSpPr>
        <p:spPr>
          <a:xfrm>
            <a:off x="457200"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01</a:t>
            </a:r>
          </a:p>
        </p:txBody>
      </p:sp>
      <p:sp>
        <p:nvSpPr>
          <p:cNvPr id="9" name="Rectangle 8"/>
          <p:cNvSpPr/>
          <p:nvPr/>
        </p:nvSpPr>
        <p:spPr>
          <a:xfrm>
            <a:off x="457200"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929384"/>
            <a:ext cx="348386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Fidelity of interactions</a:t>
            </a:r>
          </a:p>
        </p:txBody>
      </p:sp>
      <p:sp>
        <p:nvSpPr>
          <p:cNvPr id="11" name="TextBox 10"/>
          <p:cNvSpPr txBox="1"/>
          <p:nvPr/>
        </p:nvSpPr>
        <p:spPr>
          <a:xfrm>
            <a:off x="457200" y="2350008"/>
            <a:ext cx="3483864" cy="1673352"/>
          </a:xfrm>
          <a:prstGeom prst="rect">
            <a:avLst/>
          </a:prstGeom>
          <a:noFill/>
        </p:spPr>
        <p:txBody>
          <a:bodyPr wrap="square" anchor="t" lIns="45720" rIns="45720" tIns="18288" bIns="18288">
            <a:spAutoFit/>
          </a:bodyPr>
          <a:lstStyle/>
          <a:p>
            <a:pPr algn="l">
              <a:lnSpc>
                <a:spcPct val="110000"/>
              </a:lnSpc>
              <a:spcAft>
                <a:spcPts val="500"/>
              </a:spcAft>
            </a:pPr>
            <a:r>
              <a:rPr sz="1300" b="0" i="0">
                <a:solidFill>
                  <a:srgbClr val="1F2937"/>
                </a:solidFill>
                <a:latin typeface="Calibri"/>
              </a:rPr>
              <a:t>Video generators look good but get game mechanics wrong: inventories, crafting menus, breaking blocks, placing a boat and riding it.</a:t>
            </a:r>
          </a:p>
          <a:p>
            <a:pPr algn="l">
              <a:lnSpc>
                <a:spcPct val="110000"/>
              </a:lnSpc>
              <a:spcAft>
                <a:spcPts val="500"/>
              </a:spcAft>
            </a:pPr>
            <a:r>
              <a:rPr sz="1300" b="0" i="0">
                <a:solidFill>
                  <a:srgbClr val="1F2937"/>
                </a:solidFill>
                <a:latin typeface="Calibri"/>
              </a:rPr>
              <a:t>Prior Minecraft world models (Oasis, Lucid-v1, MineWorld) fail most such tasks.</a:t>
            </a:r>
          </a:p>
        </p:txBody>
      </p:sp>
      <p:sp>
        <p:nvSpPr>
          <p:cNvPr id="12" name="TextBox 11"/>
          <p:cNvSpPr txBox="1"/>
          <p:nvPr/>
        </p:nvSpPr>
        <p:spPr>
          <a:xfrm>
            <a:off x="4352544"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02</a:t>
            </a:r>
          </a:p>
        </p:txBody>
      </p:sp>
      <p:sp>
        <p:nvSpPr>
          <p:cNvPr id="13" name="Rectangle 12"/>
          <p:cNvSpPr/>
          <p:nvPr/>
        </p:nvSpPr>
        <p:spPr>
          <a:xfrm>
            <a:off x="4352544"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52544" y="1929384"/>
            <a:ext cx="348386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Speed</a:t>
            </a:r>
          </a:p>
        </p:txBody>
      </p:sp>
      <p:sp>
        <p:nvSpPr>
          <p:cNvPr id="15" name="TextBox 14"/>
          <p:cNvSpPr txBox="1"/>
          <p:nvPr/>
        </p:nvSpPr>
        <p:spPr>
          <a:xfrm>
            <a:off x="4352544" y="2350008"/>
            <a:ext cx="3483864" cy="1673352"/>
          </a:xfrm>
          <a:prstGeom prst="rect">
            <a:avLst/>
          </a:prstGeom>
          <a:noFill/>
        </p:spPr>
        <p:txBody>
          <a:bodyPr wrap="square" anchor="t" lIns="45720" rIns="45720" tIns="18288" bIns="18288">
            <a:spAutoFit/>
          </a:bodyPr>
          <a:lstStyle/>
          <a:p>
            <a:pPr algn="l">
              <a:lnSpc>
                <a:spcPct val="110000"/>
              </a:lnSpc>
              <a:spcAft>
                <a:spcPts val="500"/>
              </a:spcAft>
            </a:pPr>
            <a:r>
              <a:rPr sz="1300" b="0" i="0">
                <a:solidFill>
                  <a:srgbClr val="1F2937"/>
                </a:solidFill>
                <a:latin typeface="Calibri"/>
              </a:rPr>
              <a:t>Imagination RL needs millions of generated frames — and a human tester needs ≥ 20 FPS.</a:t>
            </a:r>
          </a:p>
          <a:p>
            <a:pPr algn="l">
              <a:lnSpc>
                <a:spcPct val="110000"/>
              </a:lnSpc>
              <a:spcAft>
                <a:spcPts val="500"/>
              </a:spcAft>
            </a:pPr>
            <a:r>
              <a:rPr sz="1300" b="0" i="0">
                <a:solidFill>
                  <a:srgbClr val="1F2937"/>
                </a:solidFill>
                <a:latin typeface="Calibri"/>
              </a:rPr>
              <a:t>Diffusion transformers spend tens of denoising steps per frame: 0.8 FPS for the baseline in this paper.</a:t>
            </a:r>
          </a:p>
        </p:txBody>
      </p:sp>
      <p:sp>
        <p:nvSpPr>
          <p:cNvPr id="16" name="TextBox 15"/>
          <p:cNvSpPr txBox="1"/>
          <p:nvPr/>
        </p:nvSpPr>
        <p:spPr>
          <a:xfrm>
            <a:off x="8247888"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03</a:t>
            </a:r>
          </a:p>
        </p:txBody>
      </p:sp>
      <p:sp>
        <p:nvSpPr>
          <p:cNvPr id="17" name="Rectangle 16"/>
          <p:cNvSpPr/>
          <p:nvPr/>
        </p:nvSpPr>
        <p:spPr>
          <a:xfrm>
            <a:off x="8247888"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1929384"/>
            <a:ext cx="348386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Memory &amp; drift</a:t>
            </a:r>
          </a:p>
        </p:txBody>
      </p:sp>
      <p:sp>
        <p:nvSpPr>
          <p:cNvPr id="19" name="TextBox 18"/>
          <p:cNvSpPr txBox="1"/>
          <p:nvPr/>
        </p:nvSpPr>
        <p:spPr>
          <a:xfrm>
            <a:off x="8247888" y="2350008"/>
            <a:ext cx="3483864" cy="1673352"/>
          </a:xfrm>
          <a:prstGeom prst="rect">
            <a:avLst/>
          </a:prstGeom>
          <a:noFill/>
        </p:spPr>
        <p:txBody>
          <a:bodyPr wrap="square" anchor="t" lIns="45720" rIns="45720" tIns="18288" bIns="18288">
            <a:spAutoFit/>
          </a:bodyPr>
          <a:lstStyle/>
          <a:p>
            <a:pPr algn="l">
              <a:lnSpc>
                <a:spcPct val="110000"/>
              </a:lnSpc>
              <a:spcAft>
                <a:spcPts val="500"/>
              </a:spcAft>
            </a:pPr>
            <a:r>
              <a:rPr sz="1300" b="0" i="0">
                <a:solidFill>
                  <a:srgbClr val="1F2937"/>
                </a:solidFill>
                <a:latin typeface="Calibri"/>
              </a:rPr>
              <a:t>Autoregressive video drifts: small errors feed back into the context.</a:t>
            </a:r>
          </a:p>
          <a:p>
            <a:pPr algn="l">
              <a:lnSpc>
                <a:spcPct val="110000"/>
              </a:lnSpc>
              <a:spcAft>
                <a:spcPts val="500"/>
              </a:spcAft>
            </a:pPr>
            <a:r>
              <a:rPr sz="1300" b="0" i="0">
                <a:solidFill>
                  <a:srgbClr val="1F2937"/>
                </a:solidFill>
                <a:latin typeface="Calibri"/>
              </a:rPr>
              <a:t>Short contexts (1–2 s in prior models) forget what is behind the player.</a:t>
            </a:r>
          </a:p>
        </p:txBody>
      </p:sp>
      <p:sp>
        <p:nvSpPr>
          <p:cNvPr id="20" name="TextBox 19"/>
          <p:cNvSpPr txBox="1"/>
          <p:nvPr/>
        </p:nvSpPr>
        <p:spPr>
          <a:xfrm>
            <a:off x="548640" y="4114800"/>
            <a:ext cx="11155680" cy="210312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600" b="1" i="0">
                <a:solidFill>
                  <a:srgbClr val="14213D"/>
                </a:solidFill>
                <a:latin typeface="Calibri"/>
              </a:rPr>
              <a:t>Dreamer 3's RSSM</a:t>
            </a:r>
            <a:r>
              <a:rPr sz="1600" b="0" i="0">
                <a:solidFill>
                  <a:srgbClr val="1F2937"/>
                </a:solidFill>
                <a:latin typeface="Calibri"/>
              </a:rPr>
              <a:t> is fast (~1,000× faster than a diffusion transformer) but operates at 64×64 pixels and needed abstract inventory state and crafting actions — not raw mouse &amp; keyboard</a:t>
            </a:r>
          </a:p>
          <a:p>
            <a:pPr marL="237744" indent="-201168">
              <a:lnSpc>
                <a:spcPct val="108000"/>
              </a:lnSpc>
              <a:spcAft>
                <a:spcPts val="600"/>
              </a:spcAft>
              <a:buClr>
                <a:srgbClr val="9AA3B2"/>
              </a:buClr>
              <a:buFont typeface="Arial"/>
              <a:buChar char="•"/>
            </a:pPr>
            <a:r>
              <a:rPr sz="1600" b="1" i="0">
                <a:solidFill>
                  <a:srgbClr val="14213D"/>
                </a:solidFill>
                <a:latin typeface="Calibri"/>
              </a:rPr>
              <a:t>Dreamer 4's answer:</a:t>
            </a:r>
            <a:r>
              <a:rPr sz="1600" b="0" i="0">
                <a:solidFill>
                  <a:srgbClr val="1F2937"/>
                </a:solidFill>
                <a:latin typeface="Calibri"/>
              </a:rPr>
              <a:t> a diffusion transformer that needs only 4 sampling steps (shortcut forcing), an architecture tuned for long context at low cost, and training tricks that keep long rollouts stable (x-prediction, noised context)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The test: twelve milestones, three tool gates, ~24,000 actions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2,541 h of human gameplay video, no environment interaction — and where each agent falls off (Tables 7 and 8)</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1 · WORLD MODELS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8</a:t>
            </a:r>
          </a:p>
        </p:txBody>
      </p:sp>
      <p:pic>
        <p:nvPicPr>
          <p:cNvPr id="8" name="Picture 7" descr="diag_tech_tree_s.jpg"/>
          <p:cNvPicPr>
            <a:picLocks noChangeAspect="1"/>
          </p:cNvPicPr>
          <p:nvPr/>
        </p:nvPicPr>
        <p:blipFill>
          <a:blip r:embed="rId2"/>
          <a:stretch>
            <a:fillRect/>
          </a:stretch>
        </p:blipFill>
        <p:spPr>
          <a:xfrm>
            <a:off x="365760" y="1325880"/>
            <a:ext cx="11430000" cy="48006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49440" y="822960"/>
            <a:ext cx="4846320" cy="3840480"/>
          </a:xfrm>
          <a:prstGeom prst="rect">
            <a:avLst/>
          </a:prstGeom>
          <a:noFill/>
        </p:spPr>
        <p:txBody>
          <a:bodyPr wrap="square" anchor="t" lIns="45720" rIns="45720" tIns="18288" bIns="18288">
            <a:spAutoFit/>
          </a:bodyPr>
          <a:lstStyle/>
          <a:p>
            <a:pPr algn="r">
              <a:lnSpc>
                <a:spcPct val="105000"/>
              </a:lnSpc>
            </a:pPr>
            <a:r>
              <a:rPr sz="26000" b="1" i="0">
                <a:solidFill>
                  <a:srgbClr val="1D2D52"/>
                </a:solidFill>
                <a:latin typeface="Calibri"/>
              </a:rPr>
              <a:t>02</a:t>
            </a:r>
          </a:p>
        </p:txBody>
      </p:sp>
      <p:sp>
        <p:nvSpPr>
          <p:cNvPr id="4" name="TextBox 3"/>
          <p:cNvSpPr txBox="1"/>
          <p:nvPr/>
        </p:nvSpPr>
        <p:spPr>
          <a:xfrm>
            <a:off x="822960" y="2331720"/>
            <a:ext cx="5486400" cy="274320"/>
          </a:xfrm>
          <a:prstGeom prst="rect">
            <a:avLst/>
          </a:prstGeom>
          <a:noFill/>
        </p:spPr>
        <p:txBody>
          <a:bodyPr wrap="square" anchor="t" lIns="45720" rIns="45720" tIns="18288" bIns="18288">
            <a:spAutoFit/>
          </a:bodyPr>
          <a:lstStyle/>
          <a:p>
            <a:pPr algn="l">
              <a:lnSpc>
                <a:spcPct val="105000"/>
              </a:lnSpc>
            </a:pPr>
            <a:r>
              <a:rPr sz="1300" b="1" i="0" spc="120">
                <a:solidFill>
                  <a:srgbClr val="9DB8F5"/>
                </a:solidFill>
                <a:latin typeface="Calibri"/>
              </a:rPr>
              <a:t>PART 2</a:t>
            </a:r>
          </a:p>
        </p:txBody>
      </p:sp>
      <p:sp>
        <p:nvSpPr>
          <p:cNvPr id="5" name="Rectangle 4"/>
          <p:cNvSpPr/>
          <p:nvPr/>
        </p:nvSpPr>
        <p:spPr>
          <a:xfrm>
            <a:off x="822960" y="2724912"/>
            <a:ext cx="822960" cy="19050"/>
          </a:xfrm>
          <a:prstGeom prst="rect">
            <a:avLst/>
          </a:prstGeom>
          <a:solidFill>
            <a:srgbClr val="9DB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80360"/>
            <a:ext cx="8229600" cy="1188720"/>
          </a:xfrm>
          <a:prstGeom prst="rect">
            <a:avLst/>
          </a:prstGeom>
          <a:noFill/>
        </p:spPr>
        <p:txBody>
          <a:bodyPr wrap="square" anchor="t" lIns="45720" rIns="45720" tIns="18288" bIns="18288">
            <a:spAutoFit/>
          </a:bodyPr>
          <a:lstStyle/>
          <a:p>
            <a:pPr algn="l">
              <a:lnSpc>
                <a:spcPct val="105000"/>
              </a:lnSpc>
            </a:pPr>
            <a:r>
              <a:rPr sz="4400" b="1" i="0">
                <a:solidFill>
                  <a:srgbClr val="FFFFFF"/>
                </a:solidFill>
                <a:latin typeface="Calibri"/>
              </a:rPr>
              <a:t>What makes Dreamer 4 special</a:t>
            </a:r>
          </a:p>
        </p:txBody>
      </p:sp>
      <p:sp>
        <p:nvSpPr>
          <p:cNvPr id="7" name="TextBox 6"/>
          <p:cNvSpPr txBox="1"/>
          <p:nvPr/>
        </p:nvSpPr>
        <p:spPr>
          <a:xfrm>
            <a:off x="822960" y="3977639"/>
            <a:ext cx="7772400" cy="1280160"/>
          </a:xfrm>
          <a:prstGeom prst="rect">
            <a:avLst/>
          </a:prstGeom>
          <a:noFill/>
        </p:spPr>
        <p:txBody>
          <a:bodyPr wrap="square" anchor="t" lIns="45720" rIns="45720" tIns="18288" bIns="18288">
            <a:spAutoFit/>
          </a:bodyPr>
          <a:lstStyle/>
          <a:p>
            <a:pPr algn="l">
              <a:lnSpc>
                <a:spcPct val="115000"/>
              </a:lnSpc>
            </a:pPr>
            <a:r>
              <a:rPr sz="1800" b="0" i="0">
                <a:solidFill>
                  <a:srgbClr val="C9D3E6"/>
                </a:solidFill>
                <a:latin typeface="Calibri"/>
              </a:rPr>
              <a:t>Six design decisions: latents, shortcut forcing, a fast architecture, the agent inside, offline RL, cheap labels</a:t>
            </a:r>
          </a:p>
        </p:txBody>
      </p:sp>
      <p:sp>
        <p:nvSpPr>
          <p:cNvPr id="8" name="TextBox 7"/>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9DB8F5"/>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What makes Dreamer 4 special: six design decisions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Each maps to a slide in this part; the phase of the recipe it belongs to is in brackets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WHAT MAKES DREAMER 4 SPECIAL</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10</a:t>
            </a:r>
          </a:p>
        </p:txBody>
      </p:sp>
      <p:sp>
        <p:nvSpPr>
          <p:cNvPr id="8" name="TextBox 7"/>
          <p:cNvSpPr txBox="1"/>
          <p:nvPr/>
        </p:nvSpPr>
        <p:spPr>
          <a:xfrm>
            <a:off x="548640" y="1435608"/>
            <a:ext cx="594360" cy="457200"/>
          </a:xfrm>
          <a:prstGeom prst="rect">
            <a:avLst/>
          </a:prstGeom>
          <a:noFill/>
        </p:spPr>
        <p:txBody>
          <a:bodyPr wrap="square" anchor="t" lIns="45720" rIns="45720" tIns="18288" bIns="18288">
            <a:spAutoFit/>
          </a:bodyPr>
          <a:lstStyle/>
          <a:p>
            <a:pPr algn="l">
              <a:lnSpc>
                <a:spcPct val="105000"/>
              </a:lnSpc>
            </a:pPr>
            <a:r>
              <a:rPr sz="1600" b="1" i="0">
                <a:solidFill>
                  <a:srgbClr val="2A56D6"/>
                </a:solidFill>
                <a:latin typeface="Calibri"/>
              </a:rPr>
              <a:t>01</a:t>
            </a:r>
          </a:p>
        </p:txBody>
      </p:sp>
      <p:sp>
        <p:nvSpPr>
          <p:cNvPr id="9" name="TextBox 8"/>
          <p:cNvSpPr txBox="1"/>
          <p:nvPr/>
        </p:nvSpPr>
        <p:spPr>
          <a:xfrm>
            <a:off x="1143000" y="1463040"/>
            <a:ext cx="6720840" cy="941069"/>
          </a:xfrm>
          <a:prstGeom prst="rect">
            <a:avLst/>
          </a:prstGeom>
          <a:noFill/>
        </p:spPr>
        <p:txBody>
          <a:bodyPr wrap="square" anchor="t" lIns="45720" rIns="45720" tIns="18288" bIns="18288">
            <a:spAutoFit/>
          </a:bodyPr>
          <a:lstStyle/>
          <a:p>
            <a:pPr algn="l">
              <a:lnSpc>
                <a:spcPct val="110000"/>
              </a:lnSpc>
            </a:pPr>
            <a:r>
              <a:rPr sz="1400" b="1" i="0">
                <a:solidFill>
                  <a:srgbClr val="14213D"/>
                </a:solidFill>
                <a:latin typeface="Calibri"/>
              </a:rPr>
              <a:t>Latents, not pixels.</a:t>
            </a:r>
            <a:r>
              <a:rPr sz="1400" b="0" i="0">
                <a:solidFill>
                  <a:srgbClr val="1F2937"/>
                </a:solidFill>
                <a:latin typeface="Calibri"/>
              </a:rPr>
              <a:t> A causal tokenizer compresses each frame to 256 continuous tokens; simulation and RL happen in latent space, pixels are only decoded for people [phase 1]</a:t>
            </a:r>
          </a:p>
        </p:txBody>
      </p:sp>
      <p:sp>
        <p:nvSpPr>
          <p:cNvPr id="10" name="TextBox 9"/>
          <p:cNvSpPr txBox="1"/>
          <p:nvPr/>
        </p:nvSpPr>
        <p:spPr>
          <a:xfrm>
            <a:off x="548640" y="2321814"/>
            <a:ext cx="594360" cy="457200"/>
          </a:xfrm>
          <a:prstGeom prst="rect">
            <a:avLst/>
          </a:prstGeom>
          <a:noFill/>
        </p:spPr>
        <p:txBody>
          <a:bodyPr wrap="square" anchor="t" lIns="45720" rIns="45720" tIns="18288" bIns="18288">
            <a:spAutoFit/>
          </a:bodyPr>
          <a:lstStyle/>
          <a:p>
            <a:pPr algn="l">
              <a:lnSpc>
                <a:spcPct val="105000"/>
              </a:lnSpc>
            </a:pPr>
            <a:r>
              <a:rPr sz="1600" b="1" i="0">
                <a:solidFill>
                  <a:srgbClr val="2A56D6"/>
                </a:solidFill>
                <a:latin typeface="Calibri"/>
              </a:rPr>
              <a:t>02</a:t>
            </a:r>
          </a:p>
        </p:txBody>
      </p:sp>
      <p:sp>
        <p:nvSpPr>
          <p:cNvPr id="11" name="TextBox 10"/>
          <p:cNvSpPr txBox="1"/>
          <p:nvPr/>
        </p:nvSpPr>
        <p:spPr>
          <a:xfrm>
            <a:off x="1143000" y="2349246"/>
            <a:ext cx="6720840" cy="941069"/>
          </a:xfrm>
          <a:prstGeom prst="rect">
            <a:avLst/>
          </a:prstGeom>
          <a:noFill/>
        </p:spPr>
        <p:txBody>
          <a:bodyPr wrap="square" anchor="t" lIns="45720" rIns="45720" tIns="18288" bIns="18288">
            <a:spAutoFit/>
          </a:bodyPr>
          <a:lstStyle/>
          <a:p>
            <a:pPr algn="l">
              <a:lnSpc>
                <a:spcPct val="110000"/>
              </a:lnSpc>
            </a:pPr>
            <a:r>
              <a:rPr sz="1400" b="1" i="0">
                <a:solidFill>
                  <a:srgbClr val="14213D"/>
                </a:solidFill>
                <a:latin typeface="Calibri"/>
              </a:rPr>
              <a:t>Shortcut forcing: diffusion quality in four steps.</a:t>
            </a:r>
            <a:r>
              <a:rPr sz="1400" b="0" i="0">
                <a:solidFill>
                  <a:srgbClr val="1F2937"/>
                </a:solidFill>
                <a:latin typeface="Calibri"/>
              </a:rPr>
              <a:t> Diffusion forcing + shortcut models, with x-prediction and an x-space loss, so long rollouts stay sharp and fast [phase 1]</a:t>
            </a:r>
          </a:p>
        </p:txBody>
      </p:sp>
      <p:sp>
        <p:nvSpPr>
          <p:cNvPr id="12" name="TextBox 11"/>
          <p:cNvSpPr txBox="1"/>
          <p:nvPr/>
        </p:nvSpPr>
        <p:spPr>
          <a:xfrm>
            <a:off x="548640" y="3208020"/>
            <a:ext cx="594360" cy="457200"/>
          </a:xfrm>
          <a:prstGeom prst="rect">
            <a:avLst/>
          </a:prstGeom>
          <a:noFill/>
        </p:spPr>
        <p:txBody>
          <a:bodyPr wrap="square" anchor="t" lIns="45720" rIns="45720" tIns="18288" bIns="18288">
            <a:spAutoFit/>
          </a:bodyPr>
          <a:lstStyle/>
          <a:p>
            <a:pPr algn="l">
              <a:lnSpc>
                <a:spcPct val="105000"/>
              </a:lnSpc>
            </a:pPr>
            <a:r>
              <a:rPr sz="1600" b="1" i="0">
                <a:solidFill>
                  <a:srgbClr val="2A56D6"/>
                </a:solidFill>
                <a:latin typeface="Calibri"/>
              </a:rPr>
              <a:t>03</a:t>
            </a:r>
          </a:p>
        </p:txBody>
      </p:sp>
      <p:sp>
        <p:nvSpPr>
          <p:cNvPr id="13" name="TextBox 12"/>
          <p:cNvSpPr txBox="1"/>
          <p:nvPr/>
        </p:nvSpPr>
        <p:spPr>
          <a:xfrm>
            <a:off x="1143000" y="3235452"/>
            <a:ext cx="6720840" cy="941069"/>
          </a:xfrm>
          <a:prstGeom prst="rect">
            <a:avLst/>
          </a:prstGeom>
          <a:noFill/>
        </p:spPr>
        <p:txBody>
          <a:bodyPr wrap="square" anchor="t" lIns="45720" rIns="45720" tIns="18288" bIns="18288">
            <a:spAutoFit/>
          </a:bodyPr>
          <a:lstStyle/>
          <a:p>
            <a:pPr algn="l">
              <a:lnSpc>
                <a:spcPct val="110000"/>
              </a:lnSpc>
            </a:pPr>
            <a:r>
              <a:rPr sz="1400" b="1" i="0">
                <a:solidFill>
                  <a:srgbClr val="14213D"/>
                </a:solidFill>
                <a:latin typeface="Calibri"/>
              </a:rPr>
              <a:t>An architecture tuned for 21 FPS on one GPU.</a:t>
            </a:r>
            <a:r>
              <a:rPr sz="1400" b="0" i="0">
                <a:solidFill>
                  <a:srgbClr val="1F2937"/>
                </a:solidFill>
                <a:latin typeface="Calibri"/>
              </a:rPr>
              <a:t> Space attention in most layers, causal time attention every 4th, grouped-query attention, registers — 9.6 s of context in real time [phase 1]</a:t>
            </a:r>
          </a:p>
        </p:txBody>
      </p:sp>
      <p:sp>
        <p:nvSpPr>
          <p:cNvPr id="14" name="TextBox 13"/>
          <p:cNvSpPr txBox="1"/>
          <p:nvPr/>
        </p:nvSpPr>
        <p:spPr>
          <a:xfrm>
            <a:off x="548640" y="4094226"/>
            <a:ext cx="594360" cy="457200"/>
          </a:xfrm>
          <a:prstGeom prst="rect">
            <a:avLst/>
          </a:prstGeom>
          <a:noFill/>
        </p:spPr>
        <p:txBody>
          <a:bodyPr wrap="square" anchor="t" lIns="45720" rIns="45720" tIns="18288" bIns="18288">
            <a:spAutoFit/>
          </a:bodyPr>
          <a:lstStyle/>
          <a:p>
            <a:pPr algn="l">
              <a:lnSpc>
                <a:spcPct val="105000"/>
              </a:lnSpc>
            </a:pPr>
            <a:r>
              <a:rPr sz="1600" b="1" i="0">
                <a:solidFill>
                  <a:srgbClr val="2A56D6"/>
                </a:solidFill>
                <a:latin typeface="Calibri"/>
              </a:rPr>
              <a:t>04</a:t>
            </a:r>
          </a:p>
        </p:txBody>
      </p:sp>
      <p:sp>
        <p:nvSpPr>
          <p:cNvPr id="15" name="TextBox 14"/>
          <p:cNvSpPr txBox="1"/>
          <p:nvPr/>
        </p:nvSpPr>
        <p:spPr>
          <a:xfrm>
            <a:off x="1143000" y="4121658"/>
            <a:ext cx="6720840" cy="941069"/>
          </a:xfrm>
          <a:prstGeom prst="rect">
            <a:avLst/>
          </a:prstGeom>
          <a:noFill/>
        </p:spPr>
        <p:txBody>
          <a:bodyPr wrap="square" anchor="t" lIns="45720" rIns="45720" tIns="18288" bIns="18288">
            <a:spAutoFit/>
          </a:bodyPr>
          <a:lstStyle/>
          <a:p>
            <a:pPr algn="l">
              <a:lnSpc>
                <a:spcPct val="110000"/>
              </a:lnSpc>
            </a:pPr>
            <a:r>
              <a:rPr sz="1400" b="1" i="0">
                <a:solidFill>
                  <a:srgbClr val="14213D"/>
                </a:solidFill>
                <a:latin typeface="Calibri"/>
              </a:rPr>
              <a:t>The agent lives inside the world model.</a:t>
            </a:r>
            <a:r>
              <a:rPr sz="1400" b="0" i="0">
                <a:solidFill>
                  <a:srgbClr val="1F2937"/>
                </a:solidFill>
                <a:latin typeface="Calibri"/>
              </a:rPr>
              <a:t> Agent tokens with one-way attention read the simulator's state; policy, reward and value are small heads on the same transformer [phase 2]</a:t>
            </a:r>
          </a:p>
        </p:txBody>
      </p:sp>
      <p:sp>
        <p:nvSpPr>
          <p:cNvPr id="16" name="TextBox 15"/>
          <p:cNvSpPr txBox="1"/>
          <p:nvPr/>
        </p:nvSpPr>
        <p:spPr>
          <a:xfrm>
            <a:off x="548640" y="4980432"/>
            <a:ext cx="594360" cy="457200"/>
          </a:xfrm>
          <a:prstGeom prst="rect">
            <a:avLst/>
          </a:prstGeom>
          <a:noFill/>
        </p:spPr>
        <p:txBody>
          <a:bodyPr wrap="square" anchor="t" lIns="45720" rIns="45720" tIns="18288" bIns="18288">
            <a:spAutoFit/>
          </a:bodyPr>
          <a:lstStyle/>
          <a:p>
            <a:pPr algn="l">
              <a:lnSpc>
                <a:spcPct val="105000"/>
              </a:lnSpc>
            </a:pPr>
            <a:r>
              <a:rPr sz="1600" b="1" i="0">
                <a:solidFill>
                  <a:srgbClr val="2A56D6"/>
                </a:solidFill>
                <a:latin typeface="Calibri"/>
              </a:rPr>
              <a:t>05</a:t>
            </a:r>
          </a:p>
        </p:txBody>
      </p:sp>
      <p:sp>
        <p:nvSpPr>
          <p:cNvPr id="17" name="TextBox 16"/>
          <p:cNvSpPr txBox="1"/>
          <p:nvPr/>
        </p:nvSpPr>
        <p:spPr>
          <a:xfrm>
            <a:off x="1143000" y="5007864"/>
            <a:ext cx="6720840" cy="941069"/>
          </a:xfrm>
          <a:prstGeom prst="rect">
            <a:avLst/>
          </a:prstGeom>
          <a:noFill/>
        </p:spPr>
        <p:txBody>
          <a:bodyPr wrap="square" anchor="t" lIns="45720" rIns="45720" tIns="18288" bIns="18288">
            <a:spAutoFit/>
          </a:bodyPr>
          <a:lstStyle/>
          <a:p>
            <a:pPr algn="l">
              <a:lnSpc>
                <a:spcPct val="110000"/>
              </a:lnSpc>
            </a:pPr>
            <a:r>
              <a:rPr sz="1400" b="1" i="0">
                <a:solidFill>
                  <a:srgbClr val="14213D"/>
                </a:solidFill>
                <a:latin typeface="Calibri"/>
              </a:rPr>
              <a:t>Imagination training, offline, with PMPO.</a:t>
            </a:r>
            <a:r>
              <a:rPr sz="1400" b="0" i="0">
                <a:solidFill>
                  <a:srgbClr val="1F2937"/>
                </a:solidFill>
                <a:latin typeface="Calibri"/>
              </a:rPr>
              <a:t> The transformer is frozen; policy and value heads learn from imagined rollouts scored by the learned reward head, anchored to the BC prior [phase 3]</a:t>
            </a:r>
          </a:p>
        </p:txBody>
      </p:sp>
      <p:sp>
        <p:nvSpPr>
          <p:cNvPr id="18" name="TextBox 17"/>
          <p:cNvSpPr txBox="1"/>
          <p:nvPr/>
        </p:nvSpPr>
        <p:spPr>
          <a:xfrm>
            <a:off x="548640" y="5866638"/>
            <a:ext cx="594360" cy="457200"/>
          </a:xfrm>
          <a:prstGeom prst="rect">
            <a:avLst/>
          </a:prstGeom>
          <a:noFill/>
        </p:spPr>
        <p:txBody>
          <a:bodyPr wrap="square" anchor="t" lIns="45720" rIns="45720" tIns="18288" bIns="18288">
            <a:spAutoFit/>
          </a:bodyPr>
          <a:lstStyle/>
          <a:p>
            <a:pPr algn="l">
              <a:lnSpc>
                <a:spcPct val="105000"/>
              </a:lnSpc>
            </a:pPr>
            <a:r>
              <a:rPr sz="1600" b="1" i="0">
                <a:solidFill>
                  <a:srgbClr val="2A56D6"/>
                </a:solidFill>
                <a:latin typeface="Calibri"/>
              </a:rPr>
              <a:t>06</a:t>
            </a:r>
          </a:p>
        </p:txBody>
      </p:sp>
      <p:sp>
        <p:nvSpPr>
          <p:cNvPr id="19" name="TextBox 18"/>
          <p:cNvSpPr txBox="1"/>
          <p:nvPr/>
        </p:nvSpPr>
        <p:spPr>
          <a:xfrm>
            <a:off x="1143000" y="5894070"/>
            <a:ext cx="6720840" cy="941069"/>
          </a:xfrm>
          <a:prstGeom prst="rect">
            <a:avLst/>
          </a:prstGeom>
          <a:noFill/>
        </p:spPr>
        <p:txBody>
          <a:bodyPr wrap="square" anchor="t" lIns="45720" rIns="45720" tIns="18288" bIns="18288">
            <a:spAutoFit/>
          </a:bodyPr>
          <a:lstStyle/>
          <a:p>
            <a:pPr algn="l">
              <a:lnSpc>
                <a:spcPct val="110000"/>
              </a:lnSpc>
            </a:pPr>
            <a:r>
              <a:rPr sz="1400" b="1" i="0">
                <a:solidFill>
                  <a:srgbClr val="14213D"/>
                </a:solidFill>
                <a:latin typeface="Calibri"/>
              </a:rPr>
              <a:t>Action semantics from few labels.</a:t>
            </a:r>
            <a:r>
              <a:rPr sz="1400" b="0" i="0">
                <a:solidFill>
                  <a:srgbClr val="1F2937"/>
                </a:solidFill>
                <a:latin typeface="Calibri"/>
              </a:rPr>
              <a:t> Unlabeled video gets a learned 'no action' embedding; ~100 h of labels suffice and the actions transfer to worlds seen only unlabeled [phase 1]</a:t>
            </a:r>
          </a:p>
        </p:txBody>
      </p:sp>
      <p:sp>
        <p:nvSpPr>
          <p:cNvPr id="20" name="Rectangle 19"/>
          <p:cNvSpPr/>
          <p:nvPr/>
        </p:nvSpPr>
        <p:spPr>
          <a:xfrm>
            <a:off x="8229600" y="1536192"/>
            <a:ext cx="25400" cy="330733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1508760"/>
            <a:ext cx="336499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THE RECIPE (ALGORITHM 1)</a:t>
            </a:r>
          </a:p>
        </p:txBody>
      </p:sp>
      <p:sp>
        <p:nvSpPr>
          <p:cNvPr id="22" name="TextBox 21"/>
          <p:cNvSpPr txBox="1"/>
          <p:nvPr/>
        </p:nvSpPr>
        <p:spPr>
          <a:xfrm>
            <a:off x="8412480" y="1837944"/>
            <a:ext cx="3364992" cy="4114800"/>
          </a:xfrm>
          <a:prstGeom prst="rect">
            <a:avLst/>
          </a:prstGeom>
          <a:noFill/>
        </p:spPr>
        <p:txBody>
          <a:bodyPr wrap="square" anchor="t" lIns="45720" rIns="45720" tIns="18288" bIns="18288">
            <a:spAutoFit/>
          </a:bodyPr>
          <a:lstStyle/>
          <a:p>
            <a:pPr algn="l">
              <a:lnSpc>
                <a:spcPct val="110000"/>
              </a:lnSpc>
              <a:spcAft>
                <a:spcPts val="500"/>
              </a:spcAft>
            </a:pPr>
            <a:r>
              <a:rPr sz="1250" b="1" i="0">
                <a:solidFill>
                  <a:srgbClr val="1F2937"/>
                </a:solidFill>
                <a:latin typeface="Calibri"/>
              </a:rPr>
              <a:t>Phase 1 · World-model pretraining</a:t>
            </a:r>
            <a:r>
              <a:rPr sz="1250" b="0" i="0">
                <a:solidFill>
                  <a:srgbClr val="1F2937"/>
                </a:solidFill>
                <a:latin typeface="Calibri"/>
              </a:rPr>
              <a:t> — tokenizer (masked autoencoding), then the dynamics model with shortcut forcing on all 2,541 h, labeled or not</a:t>
            </a:r>
          </a:p>
          <a:p>
            <a:pPr algn="l">
              <a:lnSpc>
                <a:spcPct val="110000"/>
              </a:lnSpc>
              <a:spcAft>
                <a:spcPts val="500"/>
              </a:spcAft>
            </a:pPr>
            <a:r>
              <a:rPr sz="1250" b="1" i="0">
                <a:solidFill>
                  <a:srgbClr val="1F2937"/>
                </a:solidFill>
                <a:latin typeface="Calibri"/>
              </a:rPr>
              <a:t>Phase 2 · Agent fine-tuning</a:t>
            </a:r>
            <a:r>
              <a:rPr sz="1250" b="0" i="0">
                <a:solidFill>
                  <a:srgbClr val="1F2937"/>
                </a:solidFill>
                <a:latin typeface="Calibri"/>
              </a:rPr>
              <a:t> — add agent tokens, policy and reward heads; behavioural cloning with multi-token prediction while the dynamics loss keeps running</a:t>
            </a:r>
          </a:p>
          <a:p>
            <a:pPr algn="l">
              <a:lnSpc>
                <a:spcPct val="110000"/>
              </a:lnSpc>
              <a:spcAft>
                <a:spcPts val="500"/>
              </a:spcAft>
            </a:pPr>
            <a:r>
              <a:rPr sz="1250" b="1" i="0">
                <a:solidFill>
                  <a:srgbClr val="1F2937"/>
                </a:solidFill>
                <a:latin typeface="Calibri"/>
              </a:rPr>
              <a:t>Phase 3 · Imagination training</a:t>
            </a:r>
            <a:r>
              <a:rPr sz="1250" b="0" i="0">
                <a:solidFill>
                  <a:srgbClr val="1F2937"/>
                </a:solidFill>
                <a:latin typeface="Calibri"/>
              </a:rPr>
              <a:t> — freeze the transformer; train policy and value heads by RL on rollouts inside the model</a:t>
            </a:r>
          </a:p>
          <a:p>
            <a:pPr algn="l">
              <a:lnSpc>
                <a:spcPct val="110000"/>
              </a:lnSpc>
              <a:spcAft>
                <a:spcPts val="500"/>
              </a:spcAft>
            </a:pPr>
            <a:r>
              <a:rPr sz="1250" b="0" i="0">
                <a:solidFill>
                  <a:srgbClr val="1F2937"/>
                </a:solidFill>
                <a:latin typeface="Calibri"/>
              </a:rPr>
              <a:t>One block-causal transformer throughout; the agent is a few heads on top of the simulator.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1 · One transformer, two roles: causal tokenizer + dynamics model</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Figure 2: causal tokenizer + interactive dynamics model, one shared block-causal transformer</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WHAT MAKES DREAMER 4 SPECIAL</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11</a:t>
            </a:r>
          </a:p>
        </p:txBody>
      </p:sp>
      <p:pic>
        <p:nvPicPr>
          <p:cNvPr id="8" name="Picture 7" descr="fig2_world_model_design.png"/>
          <p:cNvPicPr>
            <a:picLocks noChangeAspect="1"/>
          </p:cNvPicPr>
          <p:nvPr/>
        </p:nvPicPr>
        <p:blipFill>
          <a:blip r:embed="rId2"/>
          <a:stretch>
            <a:fillRect/>
          </a:stretch>
        </p:blipFill>
        <p:spPr>
          <a:xfrm>
            <a:off x="457200" y="1417320"/>
            <a:ext cx="6949440" cy="2883703"/>
          </a:xfrm>
          <a:prstGeom prst="rect">
            <a:avLst/>
          </a:prstGeom>
        </p:spPr>
      </p:pic>
      <p:sp>
        <p:nvSpPr>
          <p:cNvPr id="9" name="TextBox 8"/>
          <p:cNvSpPr txBox="1"/>
          <p:nvPr/>
        </p:nvSpPr>
        <p:spPr>
          <a:xfrm>
            <a:off x="457200" y="4572000"/>
            <a:ext cx="694944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Left: causal tokenizer (masked patches → latent tokens → reconstruction). Right: interactive dynamics — interleaved action tokens a, latent tokens z, and per-frame signal level τ / step size d; space layers with a causal time layer every 4th block. (Figure 2, arXiv 2509.24527)</a:t>
            </a:r>
          </a:p>
        </p:txBody>
      </p:sp>
      <p:sp>
        <p:nvSpPr>
          <p:cNvPr id="10" name="TextBox 9"/>
          <p:cNvSpPr txBox="1"/>
          <p:nvPr/>
        </p:nvSpPr>
        <p:spPr>
          <a:xfrm>
            <a:off x="7680960" y="1463040"/>
            <a:ext cx="4114800" cy="475488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Total 2 B parameters:</a:t>
            </a:r>
            <a:r>
              <a:rPr sz="1450" b="0" i="0">
                <a:solidFill>
                  <a:srgbClr val="1F2937"/>
                </a:solidFill>
                <a:latin typeface="Calibri"/>
              </a:rPr>
              <a:t> ≈ 400 M tokenizer + 1.6 B dynamics</a:t>
            </a:r>
          </a:p>
          <a:p>
            <a:pPr marL="237744" indent="-201168">
              <a:lnSpc>
                <a:spcPct val="108000"/>
              </a:lnSpc>
              <a:spcAft>
                <a:spcPts val="600"/>
              </a:spcAft>
              <a:buClr>
                <a:srgbClr val="9AA3B2"/>
              </a:buClr>
              <a:buFont typeface="Arial"/>
              <a:buChar char="•"/>
            </a:pPr>
            <a:r>
              <a:rPr sz="1450" b="1" i="0">
                <a:solidFill>
                  <a:srgbClr val="14213D"/>
                </a:solidFill>
                <a:latin typeface="Calibri"/>
              </a:rPr>
              <a:t>Frames:</a:t>
            </a:r>
            <a:r>
              <a:rPr sz="1450" b="0" i="0">
                <a:solidFill>
                  <a:srgbClr val="1F2937"/>
                </a:solidFill>
                <a:latin typeface="Calibri"/>
              </a:rPr>
              <a:t> 360×640, zero-padded to 384×640 → 960 patches of 16×16</a:t>
            </a:r>
          </a:p>
          <a:p>
            <a:pPr marL="237744" indent="-201168">
              <a:lnSpc>
                <a:spcPct val="108000"/>
              </a:lnSpc>
              <a:spcAft>
                <a:spcPts val="600"/>
              </a:spcAft>
              <a:buClr>
                <a:srgbClr val="9AA3B2"/>
              </a:buClr>
              <a:buFont typeface="Arial"/>
              <a:buChar char="•"/>
            </a:pPr>
            <a:r>
              <a:rPr sz="1450" b="1" i="0">
                <a:solidFill>
                  <a:srgbClr val="14213D"/>
                </a:solidFill>
                <a:latin typeface="Calibri"/>
              </a:rPr>
              <a:t>Latents:</a:t>
            </a:r>
            <a:r>
              <a:rPr sz="1450" b="0" i="0">
                <a:solidFill>
                  <a:srgbClr val="1F2937"/>
                </a:solidFill>
                <a:latin typeface="Calibri"/>
              </a:rPr>
              <a:t> N_z = 256 tokens × 32 dims per frame (512×16 bottleneck, tanh)</a:t>
            </a:r>
          </a:p>
          <a:p>
            <a:pPr marL="237744" indent="-201168">
              <a:lnSpc>
                <a:spcPct val="108000"/>
              </a:lnSpc>
              <a:spcAft>
                <a:spcPts val="600"/>
              </a:spcAft>
              <a:buClr>
                <a:srgbClr val="9AA3B2"/>
              </a:buClr>
              <a:buFont typeface="Arial"/>
              <a:buChar char="•"/>
            </a:pPr>
            <a:r>
              <a:rPr sz="1450" b="1" i="0">
                <a:solidFill>
                  <a:srgbClr val="14213D"/>
                </a:solidFill>
                <a:latin typeface="Calibri"/>
              </a:rPr>
              <a:t>Context:</a:t>
            </a:r>
            <a:r>
              <a:rPr sz="1450" b="0" i="0">
                <a:solidFill>
                  <a:srgbClr val="1F2937"/>
                </a:solidFill>
                <a:latin typeface="Calibri"/>
              </a:rPr>
              <a:t> 192 frames = 9.6 s at 20 FPS</a:t>
            </a:r>
          </a:p>
          <a:p>
            <a:pPr marL="237744" indent="-201168">
              <a:lnSpc>
                <a:spcPct val="108000"/>
              </a:lnSpc>
              <a:spcAft>
                <a:spcPts val="600"/>
              </a:spcAft>
              <a:buClr>
                <a:srgbClr val="9AA3B2"/>
              </a:buClr>
              <a:buFont typeface="Arial"/>
              <a:buChar char="•"/>
            </a:pPr>
            <a:r>
              <a:rPr sz="1450" b="1" i="0">
                <a:solidFill>
                  <a:srgbClr val="14213D"/>
                </a:solidFill>
                <a:latin typeface="Calibri"/>
              </a:rPr>
              <a:t>Block-causal:</a:t>
            </a:r>
            <a:r>
              <a:rPr sz="1450" b="0" i="0">
                <a:solidFill>
                  <a:srgbClr val="1F2937"/>
                </a:solidFill>
                <a:latin typeface="Calibri"/>
              </a:rPr>
              <a:t> full attention within a frame, causal across frames → usable online, frame by frame</a:t>
            </a:r>
          </a:p>
          <a:p>
            <a:pPr marL="237744" indent="-201168">
              <a:lnSpc>
                <a:spcPct val="108000"/>
              </a:lnSpc>
              <a:spcAft>
                <a:spcPts val="600"/>
              </a:spcAft>
              <a:buClr>
                <a:srgbClr val="9AA3B2"/>
              </a:buClr>
              <a:buFont typeface="Arial"/>
              <a:buChar char="•"/>
            </a:pPr>
            <a:r>
              <a:rPr sz="1450" b="1" i="0">
                <a:solidFill>
                  <a:srgbClr val="14213D"/>
                </a:solidFill>
                <a:latin typeface="Calibri"/>
              </a:rPr>
              <a:t>Transformer recipe:</a:t>
            </a:r>
            <a:r>
              <a:rPr sz="1450" b="0" i="0">
                <a:solidFill>
                  <a:srgbClr val="1F2937"/>
                </a:solidFill>
                <a:latin typeface="Calibri"/>
              </a:rPr>
              <a:t> pre-RMSNorm, RoPE, SwiGLU, QK-norm, logit soft-capping, register tokens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2 · Primer 1 of 3 · Flow matching: one dial from noise to image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The background the dynamics objective is built on (paper §2)</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WHAT MAKES DREAMER 4 SPECIAL</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12</a:t>
            </a:r>
          </a:p>
        </p:txBody>
      </p:sp>
      <p:pic>
        <p:nvPicPr>
          <p:cNvPr id="8" name="Picture 7" descr="diag_flow_s.jpg"/>
          <p:cNvPicPr>
            <a:picLocks noChangeAspect="1"/>
          </p:cNvPicPr>
          <p:nvPr/>
        </p:nvPicPr>
        <p:blipFill>
          <a:blip r:embed="rId2"/>
          <a:stretch>
            <a:fillRect/>
          </a:stretch>
        </p:blipFill>
        <p:spPr>
          <a:xfrm>
            <a:off x="1508760" y="1371600"/>
            <a:ext cx="9144000" cy="3017520"/>
          </a:xfrm>
          <a:prstGeom prst="rect">
            <a:avLst/>
          </a:prstGeom>
        </p:spPr>
      </p:pic>
      <p:sp>
        <p:nvSpPr>
          <p:cNvPr id="9" name="TextBox 8"/>
          <p:cNvSpPr txBox="1"/>
          <p:nvPr/>
        </p:nvSpPr>
        <p:spPr>
          <a:xfrm>
            <a:off x="548640" y="4526280"/>
            <a:ext cx="11155680" cy="1828800"/>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50" b="1" i="0">
                <a:solidFill>
                  <a:srgbClr val="14213D"/>
                </a:solidFill>
                <a:latin typeface="Calibri"/>
              </a:rPr>
              <a:t>Signal level τ ∈ [0, 1]:</a:t>
            </a:r>
            <a:r>
              <a:rPr sz="1350" b="0" i="0">
                <a:solidFill>
                  <a:srgbClr val="1F2937"/>
                </a:solidFill>
                <a:latin typeface="Calibri"/>
              </a:rPr>
              <a:t> x(τ) = (1 − τ)·ε + τ·x — τ = 0 is pure noise, τ = 1 the clean latent; during training τ is drawn at random for every example</a:t>
            </a:r>
          </a:p>
          <a:p>
            <a:pPr marL="237744" indent="-201168">
              <a:lnSpc>
                <a:spcPct val="108000"/>
              </a:lnSpc>
              <a:spcAft>
                <a:spcPts val="500"/>
              </a:spcAft>
              <a:buClr>
                <a:srgbClr val="9AA3B2"/>
              </a:buClr>
              <a:buFont typeface="Arial"/>
              <a:buChar char="•"/>
            </a:pPr>
            <a:r>
              <a:rPr sz="1350" b="1" i="0">
                <a:solidFill>
                  <a:srgbClr val="14213D"/>
                </a:solidFill>
                <a:latin typeface="Calibri"/>
              </a:rPr>
              <a:t>The network learns a direction:</a:t>
            </a:r>
            <a:r>
              <a:rPr sz="1350" b="0" i="0">
                <a:solidFill>
                  <a:srgbClr val="1F2937"/>
                </a:solidFill>
                <a:latin typeface="Calibri"/>
              </a:rPr>
              <a:t> f(x(τ), τ) ≈ v = x − ε, the velocity pointing from noise to data; sampling starts from noise and walks to τ = 1 in K steps</a:t>
            </a:r>
          </a:p>
          <a:p>
            <a:pPr marL="237744" indent="-201168">
              <a:lnSpc>
                <a:spcPct val="108000"/>
              </a:lnSpc>
              <a:spcAft>
                <a:spcPts val="500"/>
              </a:spcAft>
              <a:buClr>
                <a:srgbClr val="9AA3B2"/>
              </a:buClr>
              <a:buFont typeface="Arial"/>
              <a:buChar char="•"/>
            </a:pPr>
            <a:r>
              <a:rPr sz="1350" b="1" i="0">
                <a:solidFill>
                  <a:srgbClr val="14213D"/>
                </a:solidFill>
                <a:latin typeface="Calibri"/>
              </a:rPr>
              <a:t>Two ways to say the same thing:</a:t>
            </a:r>
            <a:r>
              <a:rPr sz="1350" b="0" i="0">
                <a:solidFill>
                  <a:srgbClr val="1F2937"/>
                </a:solidFill>
                <a:latin typeface="Calibri"/>
              </a:rPr>
              <a:t> predict the velocity v (standard) or the clean latent x directly (x-prediction); the maths is identical, the error behaviour under autoregressive feedback is not (slide 17)</a:t>
            </a:r>
          </a:p>
          <a:p>
            <a:pPr marL="237744" indent="-201168">
              <a:lnSpc>
                <a:spcPct val="108000"/>
              </a:lnSpc>
              <a:spcAft>
                <a:spcPts val="500"/>
              </a:spcAft>
              <a:buClr>
                <a:srgbClr val="9AA3B2"/>
              </a:buClr>
              <a:buFont typeface="Arial"/>
              <a:buChar char="•"/>
            </a:pPr>
            <a:r>
              <a:rPr sz="1350" b="1" i="0">
                <a:solidFill>
                  <a:srgbClr val="14213D"/>
                </a:solidFill>
                <a:latin typeface="Calibri"/>
              </a:rPr>
              <a:t>Why so many steps?</a:t>
            </a:r>
            <a:r>
              <a:rPr sz="1350" b="0" i="0">
                <a:solidFill>
                  <a:srgbClr val="1F2937"/>
                </a:solidFill>
                <a:latin typeface="Calibri"/>
              </a:rPr>
              <a:t> The learned direction is only locally right, so ordinary diffusion needs 16–64 small steps per image — far too slow for a 20 FPS simulator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2 · Primer 2 of 3 · Diffusion forcing: a noise level per frame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Chen et al., 2024 — what makes causal, frame-by-frame generation possible</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WHAT MAKES DREAMER 4 SPECIAL</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13</a:t>
            </a:r>
          </a:p>
        </p:txBody>
      </p:sp>
      <p:pic>
        <p:nvPicPr>
          <p:cNvPr id="8" name="Picture 7" descr="diag_forcing_s.jpg"/>
          <p:cNvPicPr>
            <a:picLocks noChangeAspect="1"/>
          </p:cNvPicPr>
          <p:nvPr/>
        </p:nvPicPr>
        <p:blipFill>
          <a:blip r:embed="rId2"/>
          <a:stretch>
            <a:fillRect/>
          </a:stretch>
        </p:blipFill>
        <p:spPr>
          <a:xfrm>
            <a:off x="1508760" y="1371600"/>
            <a:ext cx="9144000" cy="3200400"/>
          </a:xfrm>
          <a:prstGeom prst="rect">
            <a:avLst/>
          </a:prstGeom>
        </p:spPr>
      </p:pic>
      <p:sp>
        <p:nvSpPr>
          <p:cNvPr id="9" name="TextBox 8"/>
          <p:cNvSpPr txBox="1"/>
          <p:nvPr/>
        </p:nvSpPr>
        <p:spPr>
          <a:xfrm>
            <a:off x="548640" y="4663440"/>
            <a:ext cx="11155680" cy="1737360"/>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50" b="1" i="0">
                <a:solidFill>
                  <a:srgbClr val="14213D"/>
                </a:solidFill>
                <a:latin typeface="Calibri"/>
              </a:rPr>
              <a:t>Standard video diffusion</a:t>
            </a:r>
            <a:r>
              <a:rPr sz="1350" b="0" i="0">
                <a:solidFill>
                  <a:srgbClr val="1F2937"/>
                </a:solidFill>
                <a:latin typeface="Calibri"/>
              </a:rPr>
              <a:t> corrupts the whole clip with one τ: past and future are always equally noisy, so the model cannot be rolled out one frame at a time</a:t>
            </a:r>
          </a:p>
          <a:p>
            <a:pPr marL="237744" indent="-201168">
              <a:lnSpc>
                <a:spcPct val="108000"/>
              </a:lnSpc>
              <a:spcAft>
                <a:spcPts val="500"/>
              </a:spcAft>
              <a:buClr>
                <a:srgbClr val="9AA3B2"/>
              </a:buClr>
              <a:buFont typeface="Arial"/>
              <a:buChar char="•"/>
            </a:pPr>
            <a:r>
              <a:rPr sz="1350" b="1" i="0">
                <a:solidFill>
                  <a:srgbClr val="14213D"/>
                </a:solidFill>
                <a:latin typeface="Calibri"/>
              </a:rPr>
              <a:t>Diffusion forcing</a:t>
            </a:r>
            <a:r>
              <a:rPr sz="1350" b="0" i="0">
                <a:solidFill>
                  <a:srgbClr val="1F2937"/>
                </a:solidFill>
                <a:latin typeface="Calibri"/>
              </a:rPr>
              <a:t> draws an independent τ_t for every frame; each frame is at once a denoising target and (noisy) history for the frames after it — a single loss over the whole sequence</a:t>
            </a:r>
          </a:p>
          <a:p>
            <a:pPr marL="237744" indent="-201168">
              <a:lnSpc>
                <a:spcPct val="108000"/>
              </a:lnSpc>
              <a:spcAft>
                <a:spcPts val="500"/>
              </a:spcAft>
              <a:buClr>
                <a:srgbClr val="9AA3B2"/>
              </a:buClr>
              <a:buFont typeface="Arial"/>
              <a:buChar char="•"/>
            </a:pPr>
            <a:r>
              <a:rPr sz="1350" b="1" i="0">
                <a:solidFill>
                  <a:srgbClr val="14213D"/>
                </a:solidFill>
                <a:latin typeface="Calibri"/>
              </a:rPr>
              <a:t>What it buys at inference:</a:t>
            </a:r>
            <a:r>
              <a:rPr sz="1350" b="0" i="0">
                <a:solidFill>
                  <a:srgbClr val="1F2937"/>
                </a:solidFill>
                <a:latin typeface="Calibri"/>
              </a:rPr>
              <a:t> generate the next frame from pure noise given a clean or lightly noised past — exactly the interactive setting; keeping the past slightly noised makes the model robust to its own small mistakes</a:t>
            </a:r>
          </a:p>
          <a:p>
            <a:pPr marL="237744" indent="-201168">
              <a:lnSpc>
                <a:spcPct val="108000"/>
              </a:lnSpc>
              <a:spcAft>
                <a:spcPts val="500"/>
              </a:spcAft>
              <a:buClr>
                <a:srgbClr val="9AA3B2"/>
              </a:buClr>
              <a:buFont typeface="Arial"/>
              <a:buChar char="•"/>
            </a:pPr>
            <a:r>
              <a:rPr sz="1350" b="1" i="0">
                <a:solidFill>
                  <a:srgbClr val="14213D"/>
                </a:solidFill>
                <a:latin typeface="Calibri"/>
              </a:rPr>
              <a:t>What it does not fix:</a:t>
            </a:r>
            <a:r>
              <a:rPr sz="1350" b="0" i="0">
                <a:solidFill>
                  <a:srgbClr val="1F2937"/>
                </a:solidFill>
                <a:latin typeface="Calibri"/>
              </a:rPr>
              <a:t> still tens of denoising steps for every frame — the 0.8 FPS starting point of the design cascade (Table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2 · Primer 3 of 3 · Shortcut models: learning to take big steps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Frans, Hafner, Levine, Abbeel, 2024 — why four sampling steps can be enough</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WHAT MAKES DREAMER 4 SPECIAL</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14</a:t>
            </a:r>
          </a:p>
        </p:txBody>
      </p:sp>
      <p:pic>
        <p:nvPicPr>
          <p:cNvPr id="8" name="Picture 7" descr="diag_shortcut_s.jpg"/>
          <p:cNvPicPr>
            <a:picLocks noChangeAspect="1"/>
          </p:cNvPicPr>
          <p:nvPr/>
        </p:nvPicPr>
        <p:blipFill>
          <a:blip r:embed="rId2"/>
          <a:stretch>
            <a:fillRect/>
          </a:stretch>
        </p:blipFill>
        <p:spPr>
          <a:xfrm>
            <a:off x="1508760" y="1371600"/>
            <a:ext cx="9144000" cy="3108960"/>
          </a:xfrm>
          <a:prstGeom prst="rect">
            <a:avLst/>
          </a:prstGeom>
        </p:spPr>
      </p:pic>
      <p:sp>
        <p:nvSpPr>
          <p:cNvPr id="9" name="TextBox 8"/>
          <p:cNvSpPr txBox="1"/>
          <p:nvPr/>
        </p:nvSpPr>
        <p:spPr>
          <a:xfrm>
            <a:off x="548640" y="4572000"/>
            <a:ext cx="11155680" cy="1828800"/>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50" b="1" i="0">
                <a:solidFill>
                  <a:srgbClr val="14213D"/>
                </a:solidFill>
                <a:latin typeface="Calibri"/>
              </a:rPr>
              <a:t>Add the step size d as an input:</a:t>
            </a:r>
            <a:r>
              <a:rPr sz="1350" b="0" i="0">
                <a:solidFill>
                  <a:srgbClr val="1F2937"/>
                </a:solidFill>
                <a:latin typeface="Calibri"/>
              </a:rPr>
              <a:t> f(x(τ), τ, d) predicts the average direction over a jump of size d, not just the local direction</a:t>
            </a:r>
          </a:p>
          <a:p>
            <a:pPr marL="237744" indent="-201168">
              <a:lnSpc>
                <a:spcPct val="108000"/>
              </a:lnSpc>
              <a:spcAft>
                <a:spcPts val="500"/>
              </a:spcAft>
              <a:buClr>
                <a:srgbClr val="9AA3B2"/>
              </a:buClr>
              <a:buFont typeface="Arial"/>
              <a:buChar char="•"/>
            </a:pPr>
            <a:r>
              <a:rPr sz="1350" b="1" i="0">
                <a:solidFill>
                  <a:srgbClr val="14213D"/>
                </a:solidFill>
                <a:latin typeface="Calibri"/>
              </a:rPr>
              <a:t>Smallest step:</a:t>
            </a:r>
            <a:r>
              <a:rPr sz="1350" b="0" i="0">
                <a:solidFill>
                  <a:srgbClr val="1F2937"/>
                </a:solidFill>
                <a:latin typeface="Calibri"/>
              </a:rPr>
              <a:t> ordinary flow-matching loss. </a:t>
            </a:r>
            <a:r>
              <a:rPr sz="1350" b="1" i="0">
                <a:solidFill>
                  <a:srgbClr val="14213D"/>
                </a:solidFill>
                <a:latin typeface="Calibri"/>
              </a:rPr>
              <a:t>Larger steps:</a:t>
            </a:r>
            <a:r>
              <a:rPr sz="1350" b="0" i="0">
                <a:solidFill>
                  <a:srgbClr val="1F2937"/>
                </a:solidFill>
                <a:latin typeface="Calibri"/>
              </a:rPr>
              <a:t> self-consistency (bootstrap) loss — one step of size d must land where two steps of size d/2 land; the two-step target is produced by the model itself with gradients stopped</a:t>
            </a:r>
          </a:p>
          <a:p>
            <a:pPr marL="237744" indent="-201168">
              <a:lnSpc>
                <a:spcPct val="108000"/>
              </a:lnSpc>
              <a:spcAft>
                <a:spcPts val="500"/>
              </a:spcAft>
              <a:buClr>
                <a:srgbClr val="9AA3B2"/>
              </a:buClr>
              <a:buFont typeface="Arial"/>
              <a:buChar char="•"/>
            </a:pPr>
            <a:r>
              <a:rPr sz="1350" b="1" i="0">
                <a:solidFill>
                  <a:srgbClr val="14213D"/>
                </a:solidFill>
                <a:latin typeface="Calibri"/>
              </a:rPr>
              <a:t>Result:</a:t>
            </a:r>
            <a:r>
              <a:rPr sz="1350" b="0" i="0">
                <a:solidFill>
                  <a:srgbClr val="1F2937"/>
                </a:solidFill>
                <a:latin typeface="Calibri"/>
              </a:rPr>
              <a:t> 2–4 steps reach the quality of 64 in the original paper, with no separate distillation stage — one model, one training run</a:t>
            </a:r>
          </a:p>
          <a:p>
            <a:pPr marL="237744" indent="-201168">
              <a:lnSpc>
                <a:spcPct val="108000"/>
              </a:lnSpc>
              <a:spcAft>
                <a:spcPts val="500"/>
              </a:spcAft>
              <a:buClr>
                <a:srgbClr val="9AA3B2"/>
              </a:buClr>
              <a:buFont typeface="Arial"/>
              <a:buChar char="•"/>
            </a:pPr>
            <a:r>
              <a:rPr sz="1350" b="1" i="0">
                <a:solidFill>
                  <a:srgbClr val="14213D"/>
                </a:solidFill>
                <a:latin typeface="Calibri"/>
              </a:rPr>
              <a:t>Dreamer 4 combines the two:</a:t>
            </a:r>
            <a:r>
              <a:rPr sz="1350" b="0" i="0">
                <a:solidFill>
                  <a:srgbClr val="1F2937"/>
                </a:solidFill>
                <a:latin typeface="Calibri"/>
              </a:rPr>
              <a:t> per-frame τ_t from diffusion forcing + step-size conditioning from shortcut models = shortcut forcing, K = 4 steps per frame at 21 FPS (next slide)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2 · Shortcut forcing: the training objective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Diffusion forcing + shortcut models, with three engineering choices that turn out to matter a lot</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WHAT MAKES DREAMER 4 SPECIAL</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15</a:t>
            </a:r>
          </a:p>
        </p:txBody>
      </p:sp>
      <p:sp>
        <p:nvSpPr>
          <p:cNvPr id="8" name="TextBox 7"/>
          <p:cNvSpPr txBox="1"/>
          <p:nvPr/>
        </p:nvSpPr>
        <p:spPr>
          <a:xfrm>
            <a:off x="548640" y="1417320"/>
            <a:ext cx="6583680" cy="484632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Per-frame noise:</a:t>
            </a:r>
            <a:r>
              <a:rPr sz="1450" b="0" i="0">
                <a:solidFill>
                  <a:srgbClr val="1F2937"/>
                </a:solidFill>
                <a:latin typeface="Calibri"/>
              </a:rPr>
              <a:t> each frame gets an independent signal level τ_t; the model predicts frame t's clean latent from the noisy frame t, past frames, and actions</a:t>
            </a:r>
          </a:p>
          <a:p>
            <a:pPr marL="237744" indent="-201168">
              <a:lnSpc>
                <a:spcPct val="108000"/>
              </a:lnSpc>
              <a:spcAft>
                <a:spcPts val="600"/>
              </a:spcAft>
              <a:buClr>
                <a:srgbClr val="9AA3B2"/>
              </a:buClr>
              <a:buFont typeface="Arial"/>
              <a:buChar char="•"/>
            </a:pPr>
            <a:r>
              <a:rPr sz="1450" b="1" i="0">
                <a:solidFill>
                  <a:srgbClr val="14213D"/>
                </a:solidFill>
                <a:latin typeface="Calibri"/>
              </a:rPr>
              <a:t>Step-size conditioning:</a:t>
            </a:r>
            <a:r>
              <a:rPr sz="1450" b="0" i="0">
                <a:solidFill>
                  <a:srgbClr val="1F2937"/>
                </a:solidFill>
                <a:latin typeface="Calibri"/>
              </a:rPr>
              <a:t> the network also receives d; for d &gt; d_min the target is the </a:t>
            </a:r>
            <a:r>
              <a:rPr sz="1450" b="0" i="1">
                <a:solidFill>
                  <a:srgbClr val="1F2937"/>
                </a:solidFill>
                <a:latin typeface="Calibri"/>
              </a:rPr>
              <a:t>bootstrap</a:t>
            </a:r>
            <a:r>
              <a:rPr sz="1450" b="0" i="0">
                <a:solidFill>
                  <a:srgbClr val="1F2937"/>
                </a:solidFill>
                <a:latin typeface="Calibri"/>
              </a:rPr>
              <a:t> target — the result of two half-steps computed by the model itself (no gradient through the target)</a:t>
            </a:r>
          </a:p>
          <a:p>
            <a:pPr marL="237744" indent="-201168">
              <a:lnSpc>
                <a:spcPct val="108000"/>
              </a:lnSpc>
              <a:spcAft>
                <a:spcPts val="600"/>
              </a:spcAft>
              <a:buClr>
                <a:srgbClr val="9AA3B2"/>
              </a:buClr>
              <a:buFont typeface="Arial"/>
              <a:buChar char="•"/>
            </a:pPr>
            <a:r>
              <a:rPr sz="1450" b="1" i="0">
                <a:solidFill>
                  <a:srgbClr val="14213D"/>
                </a:solidFill>
                <a:latin typeface="Calibri"/>
              </a:rPr>
              <a:t>Choice 1 — x-prediction:</a:t>
            </a:r>
            <a:r>
              <a:rPr sz="1450" b="0" i="0">
                <a:solidFill>
                  <a:srgbClr val="1F2937"/>
                </a:solidFill>
                <a:latin typeface="Calibri"/>
              </a:rPr>
              <a:t> the network outputs the clean latent, not the velocity</a:t>
            </a:r>
          </a:p>
          <a:p>
            <a:pPr marL="237744" indent="-201168">
              <a:lnSpc>
                <a:spcPct val="108000"/>
              </a:lnSpc>
              <a:spcAft>
                <a:spcPts val="600"/>
              </a:spcAft>
              <a:buClr>
                <a:srgbClr val="9AA3B2"/>
              </a:buClr>
              <a:buFont typeface="Arial"/>
              <a:buChar char="•"/>
            </a:pPr>
            <a:r>
              <a:rPr sz="1450" b="1" i="0">
                <a:solidFill>
                  <a:srgbClr val="14213D"/>
                </a:solidFill>
                <a:latin typeface="Calibri"/>
              </a:rPr>
              <a:t>Choice 2 — loss in x-space:</a:t>
            </a:r>
            <a:r>
              <a:rPr sz="1450" b="0" i="0">
                <a:solidFill>
                  <a:srgbClr val="1F2937"/>
                </a:solidFill>
                <a:latin typeface="Calibri"/>
              </a:rPr>
              <a:t> the bootstrap target is formed in v-space (where two half-steps compose cleanly) but the loss is scaled back to x-space by (1 − τ)²</a:t>
            </a:r>
          </a:p>
          <a:p>
            <a:pPr marL="237744" indent="-201168">
              <a:lnSpc>
                <a:spcPct val="108000"/>
              </a:lnSpc>
              <a:spcAft>
                <a:spcPts val="600"/>
              </a:spcAft>
              <a:buClr>
                <a:srgbClr val="9AA3B2"/>
              </a:buClr>
              <a:buFont typeface="Arial"/>
              <a:buChar char="•"/>
            </a:pPr>
            <a:r>
              <a:rPr sz="1450" b="1" i="0">
                <a:solidFill>
                  <a:srgbClr val="14213D"/>
                </a:solidFill>
                <a:latin typeface="Calibri"/>
              </a:rPr>
              <a:t>Choice 3 — ramp weight:</a:t>
            </a:r>
            <a:r>
              <a:rPr sz="1450" b="0" i="0">
                <a:solidFill>
                  <a:srgbClr val="1F2937"/>
                </a:solidFill>
                <a:latin typeface="Calibri"/>
              </a:rPr>
              <a:t> loss weight w(τ) = 0.9 τ + 0.1 emphasises high-signal (low-noise) levels, where fine detail is decided</a:t>
            </a:r>
          </a:p>
          <a:p>
            <a:pPr marL="237744" indent="-201168">
              <a:lnSpc>
                <a:spcPct val="108000"/>
              </a:lnSpc>
              <a:spcAft>
                <a:spcPts val="600"/>
              </a:spcAft>
              <a:buClr>
                <a:srgbClr val="9AA3B2"/>
              </a:buClr>
              <a:buFont typeface="Arial"/>
              <a:buChar char="•"/>
            </a:pPr>
            <a:r>
              <a:rPr sz="1450" b="1" i="0">
                <a:solidFill>
                  <a:srgbClr val="14213D"/>
                </a:solidFill>
                <a:latin typeface="Calibri"/>
              </a:rPr>
              <a:t>Inference:</a:t>
            </a:r>
            <a:r>
              <a:rPr sz="1450" b="0" i="0">
                <a:solidFill>
                  <a:srgbClr val="1F2937"/>
                </a:solidFill>
                <a:latin typeface="Calibri"/>
              </a:rPr>
              <a:t> K = 4 steps per frame; context frames at τ_ctx ≈ 0.1; sampling remains stochastic → diverse imagined futures for RL</a:t>
            </a:r>
          </a:p>
        </p:txBody>
      </p:sp>
      <p:sp>
        <p:nvSpPr>
          <p:cNvPr id="9" name="Rectangle 8"/>
          <p:cNvSpPr/>
          <p:nvPr/>
        </p:nvSpPr>
        <p:spPr>
          <a:xfrm>
            <a:off x="7406640" y="1490472"/>
            <a:ext cx="25400" cy="245008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463040"/>
            <a:ext cx="409651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EFFECT OF EACH PIECE (TABLE 2, FVD ↓)</a:t>
            </a:r>
          </a:p>
        </p:txBody>
      </p:sp>
      <p:sp>
        <p:nvSpPr>
          <p:cNvPr id="11" name="TextBox 10"/>
          <p:cNvSpPr txBox="1"/>
          <p:nvPr/>
        </p:nvSpPr>
        <p:spPr>
          <a:xfrm>
            <a:off x="7589520" y="1792224"/>
            <a:ext cx="4096512" cy="2423160"/>
          </a:xfrm>
          <a:prstGeom prst="rect">
            <a:avLst/>
          </a:prstGeom>
          <a:noFill/>
        </p:spPr>
        <p:txBody>
          <a:bodyPr wrap="square" anchor="t" lIns="45720" rIns="45720" tIns="18288" bIns="18288">
            <a:spAutoFit/>
          </a:bodyPr>
          <a:lstStyle/>
          <a:p>
            <a:pPr algn="l">
              <a:lnSpc>
                <a:spcPct val="110000"/>
              </a:lnSpc>
              <a:spcAft>
                <a:spcPts val="500"/>
              </a:spcAft>
            </a:pPr>
            <a:r>
              <a:rPr sz="1250" b="0" i="0">
                <a:solidFill>
                  <a:srgbClr val="1F2937"/>
                </a:solidFill>
                <a:latin typeface="Calibri"/>
              </a:rPr>
              <a:t>Diffusion forcing, K = 64 steps:  306  (0.8 FPS)</a:t>
            </a:r>
          </a:p>
          <a:p>
            <a:pPr algn="l">
              <a:lnSpc>
                <a:spcPct val="110000"/>
              </a:lnSpc>
              <a:spcAft>
                <a:spcPts val="500"/>
              </a:spcAft>
            </a:pPr>
            <a:r>
              <a:rPr sz="1250" b="0" i="0">
                <a:solidFill>
                  <a:srgbClr val="1F2937"/>
                </a:solidFill>
                <a:latin typeface="Calibri"/>
              </a:rPr>
              <a:t>Same model, K = 4 steps:  875</a:t>
            </a:r>
          </a:p>
          <a:p>
            <a:pPr algn="l">
              <a:lnSpc>
                <a:spcPct val="110000"/>
              </a:lnSpc>
              <a:spcAft>
                <a:spcPts val="500"/>
              </a:spcAft>
            </a:pPr>
            <a:r>
              <a:rPr sz="1250" b="0" i="0">
                <a:solidFill>
                  <a:srgbClr val="1F2937"/>
                </a:solidFill>
                <a:latin typeface="Calibri"/>
              </a:rPr>
              <a:t>+ shortcut objective:  329</a:t>
            </a:r>
          </a:p>
          <a:p>
            <a:pPr algn="l">
              <a:lnSpc>
                <a:spcPct val="110000"/>
              </a:lnSpc>
              <a:spcAft>
                <a:spcPts val="500"/>
              </a:spcAft>
            </a:pPr>
            <a:r>
              <a:rPr sz="1250" b="0" i="0">
                <a:solidFill>
                  <a:srgbClr val="1F2937"/>
                </a:solidFill>
                <a:latin typeface="Calibri"/>
              </a:rPr>
              <a:t>+ x-prediction:  326</a:t>
            </a:r>
          </a:p>
          <a:p>
            <a:pPr algn="l">
              <a:lnSpc>
                <a:spcPct val="110000"/>
              </a:lnSpc>
              <a:spcAft>
                <a:spcPts val="500"/>
              </a:spcAft>
            </a:pPr>
            <a:r>
              <a:rPr sz="1250" b="0" i="0">
                <a:solidFill>
                  <a:srgbClr val="1F2937"/>
                </a:solidFill>
                <a:latin typeface="Calibri"/>
              </a:rPr>
              <a:t>+ x-space loss:  151</a:t>
            </a:r>
          </a:p>
          <a:p>
            <a:pPr algn="l">
              <a:lnSpc>
                <a:spcPct val="110000"/>
              </a:lnSpc>
              <a:spcAft>
                <a:spcPts val="500"/>
              </a:spcAft>
            </a:pPr>
            <a:r>
              <a:rPr sz="1250" b="0" i="0">
                <a:solidFill>
                  <a:srgbClr val="1F2937"/>
                </a:solidFill>
                <a:latin typeface="Calibri"/>
              </a:rPr>
              <a:t>+ ramp weight:  102</a:t>
            </a:r>
          </a:p>
          <a:p>
            <a:pPr algn="l">
              <a:lnSpc>
                <a:spcPct val="110000"/>
              </a:lnSpc>
              <a:spcAft>
                <a:spcPts val="500"/>
              </a:spcAft>
            </a:pPr>
            <a:r>
              <a:rPr sz="1250" b="0" i="0">
                <a:solidFill>
                  <a:srgbClr val="1F2937"/>
                </a:solidFill>
                <a:latin typeface="Calibri"/>
              </a:rPr>
              <a:t>Full architecture but v-space prediction/loss:  124  vs  57</a:t>
            </a:r>
          </a:p>
        </p:txBody>
      </p:sp>
      <p:sp>
        <p:nvSpPr>
          <p:cNvPr id="12" name="Rectangle 11"/>
          <p:cNvSpPr/>
          <p:nvPr/>
        </p:nvSpPr>
        <p:spPr>
          <a:xfrm>
            <a:off x="7406640" y="4462272"/>
            <a:ext cx="25400" cy="123088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4434840"/>
            <a:ext cx="409651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WHY THIS IS THE KEY CONTRIBUTION</a:t>
            </a:r>
          </a:p>
        </p:txBody>
      </p:sp>
      <p:sp>
        <p:nvSpPr>
          <p:cNvPr id="14" name="TextBox 13"/>
          <p:cNvSpPr txBox="1"/>
          <p:nvPr/>
        </p:nvSpPr>
        <p:spPr>
          <a:xfrm>
            <a:off x="7589520" y="4764024"/>
            <a:ext cx="4096512" cy="1371600"/>
          </a:xfrm>
          <a:prstGeom prst="rect">
            <a:avLst/>
          </a:prstGeom>
          <a:noFill/>
        </p:spPr>
        <p:txBody>
          <a:bodyPr wrap="square" anchor="t" lIns="45720" rIns="45720" tIns="18288" bIns="18288">
            <a:spAutoFit/>
          </a:bodyPr>
          <a:lstStyle/>
          <a:p>
            <a:pPr algn="l">
              <a:lnSpc>
                <a:spcPct val="110000"/>
              </a:lnSpc>
              <a:spcAft>
                <a:spcPts val="500"/>
              </a:spcAft>
            </a:pPr>
            <a:r>
              <a:rPr sz="1250" b="0" i="0">
                <a:solidFill>
                  <a:srgbClr val="1F2937"/>
                </a:solidFill>
                <a:latin typeface="Calibri"/>
              </a:rPr>
              <a:t>4 steps ≈ the quality of 16–32 diffusion-forcing steps (Fig. 8) — roughly 16× fewer network evaluations per frame, which is what makes real-time interaction and large-scale imagination RL feasible.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2 · Why x-prediction matters for autoregressive world models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Hafner's explanation (TalkRL, Nov 2025) and the numbers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WHAT MAKES DREAMER 4 SPECIAL</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16</a:t>
            </a:r>
          </a:p>
        </p:txBody>
      </p:sp>
      <p:sp>
        <p:nvSpPr>
          <p:cNvPr id="8" name="TextBox 7"/>
          <p:cNvSpPr txBox="1"/>
          <p:nvPr/>
        </p:nvSpPr>
        <p:spPr>
          <a:xfrm>
            <a:off x="548640" y="1417320"/>
            <a:ext cx="6766560" cy="420624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v-prediction carries the noise:</a:t>
            </a:r>
            <a:r>
              <a:rPr sz="1450" b="0" i="0">
                <a:solidFill>
                  <a:srgbClr val="1F2937"/>
                </a:solidFill>
                <a:latin typeface="Calibri"/>
              </a:rPr>
              <a:t> to output v = x − ε the network must reproduce the </a:t>
            </a:r>
            <a:r>
              <a:rPr sz="1450" b="0" i="1">
                <a:solidFill>
                  <a:srgbClr val="1F2937"/>
                </a:solidFill>
                <a:latin typeface="Calibri"/>
              </a:rPr>
              <a:t>exact</a:t>
            </a:r>
            <a:r>
              <a:rPr sz="1450" b="0" i="0">
                <a:solidFill>
                  <a:srgbClr val="1F2937"/>
                </a:solidFill>
                <a:latin typeface="Calibri"/>
              </a:rPr>
              <a:t> noise pattern of its input through every layer; small mistakes in that noise become errors in the sample</a:t>
            </a:r>
          </a:p>
          <a:p>
            <a:pPr marL="237744" indent="-201168">
              <a:lnSpc>
                <a:spcPct val="108000"/>
              </a:lnSpc>
              <a:spcAft>
                <a:spcPts val="600"/>
              </a:spcAft>
              <a:buClr>
                <a:srgbClr val="9AA3B2"/>
              </a:buClr>
              <a:buFont typeface="Arial"/>
              <a:buChar char="•"/>
            </a:pPr>
            <a:r>
              <a:rPr sz="1450" b="1" i="0">
                <a:solidFill>
                  <a:srgbClr val="14213D"/>
                </a:solidFill>
                <a:latin typeface="Calibri"/>
              </a:rPr>
              <a:t>In autoregressive use these errors compound:</a:t>
            </a:r>
            <a:r>
              <a:rPr sz="1450" b="0" i="0">
                <a:solidFill>
                  <a:srgbClr val="1F2937"/>
                </a:solidFill>
                <a:latin typeface="Calibri"/>
              </a:rPr>
              <a:t> each generated frame becomes context for the next; velocity errors accumulate as drift, blur or flicker over long rollouts</a:t>
            </a:r>
          </a:p>
          <a:p>
            <a:pPr marL="237744" indent="-201168">
              <a:lnSpc>
                <a:spcPct val="108000"/>
              </a:lnSpc>
              <a:spcAft>
                <a:spcPts val="600"/>
              </a:spcAft>
              <a:buClr>
                <a:srgbClr val="9AA3B2"/>
              </a:buClr>
              <a:buFont typeface="Arial"/>
              <a:buChar char="•"/>
            </a:pPr>
            <a:r>
              <a:rPr sz="1450" b="1" i="0">
                <a:solidFill>
                  <a:srgbClr val="14213D"/>
                </a:solidFill>
                <a:latin typeface="Calibri"/>
              </a:rPr>
              <a:t>x-prediction is a denoising target:</a:t>
            </a:r>
            <a:r>
              <a:rPr sz="1450" b="0" i="0">
                <a:solidFill>
                  <a:srgbClr val="1F2937"/>
                </a:solidFill>
                <a:latin typeface="Calibri"/>
              </a:rPr>
              <a:t> the network only needs to know what the clean frame should look like — errors are 'pulled back' toward plausible images every step</a:t>
            </a:r>
          </a:p>
          <a:p>
            <a:pPr marL="237744" indent="-201168">
              <a:lnSpc>
                <a:spcPct val="108000"/>
              </a:lnSpc>
              <a:spcAft>
                <a:spcPts val="600"/>
              </a:spcAft>
              <a:buClr>
                <a:srgbClr val="9AA3B2"/>
              </a:buClr>
              <a:buFont typeface="Arial"/>
              <a:buChar char="•"/>
            </a:pPr>
            <a:r>
              <a:rPr sz="1450" b="1" i="0">
                <a:solidFill>
                  <a:srgbClr val="14213D"/>
                </a:solidFill>
                <a:latin typeface="Calibri"/>
              </a:rPr>
              <a:t>Combined with noised context (τ_ctx ≈ 0.1):</a:t>
            </a:r>
            <a:r>
              <a:rPr sz="1450" b="0" i="0">
                <a:solidFill>
                  <a:srgbClr val="1F2937"/>
                </a:solidFill>
                <a:latin typeface="Calibri"/>
              </a:rPr>
              <a:t> the model is trained and run on slightly corrupted context, so it never sees a distribution it was not trained on</a:t>
            </a:r>
          </a:p>
          <a:p>
            <a:pPr marL="237744" indent="-201168">
              <a:lnSpc>
                <a:spcPct val="108000"/>
              </a:lnSpc>
              <a:spcAft>
                <a:spcPts val="600"/>
              </a:spcAft>
              <a:buClr>
                <a:srgbClr val="9AA3B2"/>
              </a:buClr>
              <a:buFont typeface="Arial"/>
              <a:buChar char="•"/>
            </a:pPr>
            <a:r>
              <a:rPr sz="1450" b="1" i="0">
                <a:solidFill>
                  <a:srgbClr val="14213D"/>
                </a:solidFill>
                <a:latin typeface="Calibri"/>
              </a:rPr>
              <a:t>Evidence:</a:t>
            </a:r>
            <a:r>
              <a:rPr sz="1450" b="0" i="0">
                <a:solidFill>
                  <a:srgbClr val="1F2937"/>
                </a:solidFill>
                <a:latin typeface="Calibri"/>
              </a:rPr>
              <a:t> full architecture with v-space prediction/loss reaches FVD 124; with x-prediction and x-space loss, 57 (Table 2). Long 384-frame generations were used for FVD precisely to expose compounding error</a:t>
            </a:r>
          </a:p>
        </p:txBody>
      </p:sp>
      <p:pic>
        <p:nvPicPr>
          <p:cNvPr id="9" name="Picture 8" descr="fig8_shortcut_vs_df.png"/>
          <p:cNvPicPr>
            <a:picLocks noChangeAspect="1"/>
          </p:cNvPicPr>
          <p:nvPr/>
        </p:nvPicPr>
        <p:blipFill>
          <a:blip r:embed="rId2"/>
          <a:stretch>
            <a:fillRect/>
          </a:stretch>
        </p:blipFill>
        <p:spPr>
          <a:xfrm>
            <a:off x="7589520" y="1463040"/>
            <a:ext cx="4114800" cy="3413509"/>
          </a:xfrm>
          <a:prstGeom prst="rect">
            <a:avLst/>
          </a:prstGeom>
        </p:spPr>
      </p:pic>
      <p:sp>
        <p:nvSpPr>
          <p:cNvPr id="10" name="TextBox 9"/>
          <p:cNvSpPr txBox="1"/>
          <p:nvPr/>
        </p:nvSpPr>
        <p:spPr>
          <a:xfrm>
            <a:off x="7589520" y="5074920"/>
            <a:ext cx="41148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Figure 8: FVD vs sampling steps. Shortcut forcing at 4 steps ≈ 60; diffusion forcing needs 16–32 steps to match.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3 · Architecture choices that buy speed without losing quality</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Table 2: each row adds one change to the previous row</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WHAT MAKES DREAMER 4 SPECIAL</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17</a:t>
            </a:r>
          </a:p>
        </p:txBody>
      </p:sp>
      <p:pic>
        <p:nvPicPr>
          <p:cNvPr id="8" name="Picture 7" descr="chart_ablation_cascade.png"/>
          <p:cNvPicPr>
            <a:picLocks noChangeAspect="1"/>
          </p:cNvPicPr>
          <p:nvPr/>
        </p:nvPicPr>
        <p:blipFill>
          <a:blip r:embed="rId2"/>
          <a:stretch>
            <a:fillRect/>
          </a:stretch>
        </p:blipFill>
        <p:spPr>
          <a:xfrm>
            <a:off x="753643" y="1371600"/>
            <a:ext cx="6813754" cy="4023360"/>
          </a:xfrm>
          <a:prstGeom prst="rect">
            <a:avLst/>
          </a:prstGeom>
        </p:spPr>
      </p:pic>
      <p:sp>
        <p:nvSpPr>
          <p:cNvPr id="9" name="TextBox 8"/>
          <p:cNvSpPr txBox="1"/>
          <p:nvPr/>
        </p:nvSpPr>
        <p:spPr>
          <a:xfrm>
            <a:off x="8138160" y="1417320"/>
            <a:ext cx="3749039" cy="493776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00" b="1" i="0">
                <a:solidFill>
                  <a:srgbClr val="14213D"/>
                </a:solidFill>
                <a:latin typeface="Calibri"/>
              </a:rPr>
              <a:t>Alternating batch lengths</a:t>
            </a:r>
            <a:r>
              <a:rPr sz="1400" b="0" i="0">
                <a:solidFill>
                  <a:srgbClr val="1F2937"/>
                </a:solidFill>
                <a:latin typeface="Calibri"/>
              </a:rPr>
              <a:t> (64 / 256 frames): FVD 102 → 80 and a training step from 9.8 s → 1.5 s</a:t>
            </a:r>
          </a:p>
          <a:p>
            <a:pPr marL="237744" indent="-201168">
              <a:lnSpc>
                <a:spcPct val="108000"/>
              </a:lnSpc>
              <a:spcAft>
                <a:spcPts val="600"/>
              </a:spcAft>
              <a:buClr>
                <a:srgbClr val="9AA3B2"/>
              </a:buClr>
              <a:buFont typeface="Arial"/>
              <a:buChar char="•"/>
            </a:pPr>
            <a:r>
              <a:rPr sz="1400" b="1" i="0">
                <a:solidFill>
                  <a:srgbClr val="14213D"/>
                </a:solidFill>
                <a:latin typeface="Calibri"/>
              </a:rPr>
              <a:t>Time attention only every 4th layer:</a:t>
            </a:r>
            <a:r>
              <a:rPr sz="1400" b="0" i="0">
                <a:solidFill>
                  <a:srgbClr val="1F2937"/>
                </a:solidFill>
                <a:latin typeface="Calibri"/>
              </a:rPr>
              <a:t> 18.9 FPS at FVD 70</a:t>
            </a:r>
          </a:p>
          <a:p>
            <a:pPr marL="237744" indent="-201168">
              <a:lnSpc>
                <a:spcPct val="108000"/>
              </a:lnSpc>
              <a:spcAft>
                <a:spcPts val="600"/>
              </a:spcAft>
              <a:buClr>
                <a:srgbClr val="9AA3B2"/>
              </a:buClr>
              <a:buFont typeface="Arial"/>
              <a:buChar char="•"/>
            </a:pPr>
            <a:r>
              <a:rPr sz="1400" b="1" i="0">
                <a:solidFill>
                  <a:srgbClr val="14213D"/>
                </a:solidFill>
                <a:latin typeface="Calibri"/>
              </a:rPr>
              <a:t>Grouped-query attention:</a:t>
            </a:r>
            <a:r>
              <a:rPr sz="1400" b="0" i="0">
                <a:solidFill>
                  <a:srgbClr val="1F2937"/>
                </a:solidFill>
                <a:latin typeface="Calibri"/>
              </a:rPr>
              <a:t> 23.2 FPS, FVD unchanged</a:t>
            </a:r>
          </a:p>
          <a:p>
            <a:pPr marL="237744" indent="-201168">
              <a:lnSpc>
                <a:spcPct val="108000"/>
              </a:lnSpc>
              <a:spcAft>
                <a:spcPts val="600"/>
              </a:spcAft>
              <a:buClr>
                <a:srgbClr val="9AA3B2"/>
              </a:buClr>
              <a:buFont typeface="Arial"/>
              <a:buChar char="•"/>
            </a:pPr>
            <a:r>
              <a:rPr sz="1400" b="1" i="0">
                <a:solidFill>
                  <a:srgbClr val="14213D"/>
                </a:solidFill>
                <a:latin typeface="Calibri"/>
              </a:rPr>
              <a:t>Time-factorised long context</a:t>
            </a:r>
            <a:r>
              <a:rPr sz="1400" b="0" i="0">
                <a:solidFill>
                  <a:srgbClr val="1F2937"/>
                </a:solidFill>
                <a:latin typeface="Calibri"/>
              </a:rPr>
              <a:t> trades a little quality (91) for 30 FPS; </a:t>
            </a:r>
            <a:r>
              <a:rPr sz="1400" b="1" i="0">
                <a:solidFill>
                  <a:srgbClr val="14213D"/>
                </a:solidFill>
                <a:latin typeface="Calibri"/>
              </a:rPr>
              <a:t>registers</a:t>
            </a:r>
            <a:r>
              <a:rPr sz="1400" b="0" i="0">
                <a:solidFill>
                  <a:srgbClr val="1F2937"/>
                </a:solidFill>
                <a:latin typeface="Calibri"/>
              </a:rPr>
              <a:t> stabilise attention</a:t>
            </a:r>
          </a:p>
          <a:p>
            <a:pPr marL="237744" indent="-201168">
              <a:lnSpc>
                <a:spcPct val="108000"/>
              </a:lnSpc>
              <a:spcAft>
                <a:spcPts val="600"/>
              </a:spcAft>
              <a:buClr>
                <a:srgbClr val="9AA3B2"/>
              </a:buClr>
              <a:buFont typeface="Arial"/>
              <a:buChar char="•"/>
            </a:pPr>
            <a:r>
              <a:rPr sz="1400" b="1" i="0">
                <a:solidFill>
                  <a:srgbClr val="14213D"/>
                </a:solidFill>
                <a:latin typeface="Calibri"/>
              </a:rPr>
              <a:t>More latent tokens</a:t>
            </a:r>
            <a:r>
              <a:rPr sz="1400" b="0" i="0">
                <a:solidFill>
                  <a:srgbClr val="1F2937"/>
                </a:solidFill>
                <a:latin typeface="Calibri"/>
              </a:rPr>
              <a:t> (128 → 256) brings FVD to 57 at 21.4 FPS — the final configuration</a:t>
            </a:r>
          </a:p>
          <a:p>
            <a:pPr marL="237744" indent="-201168">
              <a:lnSpc>
                <a:spcPct val="108000"/>
              </a:lnSpc>
              <a:spcAft>
                <a:spcPts val="600"/>
              </a:spcAft>
              <a:buClr>
                <a:srgbClr val="9AA3B2"/>
              </a:buClr>
              <a:buFont typeface="Arial"/>
              <a:buChar char="•"/>
            </a:pPr>
            <a:r>
              <a:rPr sz="1400" b="0" i="0">
                <a:solidFill>
                  <a:srgbClr val="1F2937"/>
                </a:solidFill>
                <a:latin typeface="Calibri"/>
              </a:rPr>
              <a:t>Runs were 48 h each; FVD computed on 1,024 generations of 384 frames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4 · From world model to agent: agent tokens &amp; heads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Phase 2 — policy and reward live inside the same transformer, but cannot disturb the simulation</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WHAT MAKES DREAMER 4 SPECIAL</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18</a:t>
            </a:r>
          </a:p>
        </p:txBody>
      </p:sp>
      <p:sp>
        <p:nvSpPr>
          <p:cNvPr id="8" name="TextBox 7"/>
          <p:cNvSpPr txBox="1"/>
          <p:nvPr/>
        </p:nvSpPr>
        <p:spPr>
          <a:xfrm>
            <a:off x="548640" y="1417320"/>
            <a:ext cx="6949440" cy="484632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Agent tokens:</a:t>
            </a:r>
            <a:r>
              <a:rPr sz="1450" b="0" i="0">
                <a:solidFill>
                  <a:srgbClr val="1F2937"/>
                </a:solidFill>
                <a:latin typeface="Calibri"/>
              </a:rPr>
              <a:t> extra tokens per frame that carry a task embedding (one-hot over the 20 training tasks) and read out policy and reward</a:t>
            </a:r>
          </a:p>
          <a:p>
            <a:pPr marL="237744" indent="-201168">
              <a:lnSpc>
                <a:spcPct val="108000"/>
              </a:lnSpc>
              <a:spcAft>
                <a:spcPts val="600"/>
              </a:spcAft>
              <a:buClr>
                <a:srgbClr val="9AA3B2"/>
              </a:buClr>
              <a:buFont typeface="Arial"/>
              <a:buChar char="•"/>
            </a:pPr>
            <a:r>
              <a:rPr sz="1450" b="1" i="0">
                <a:solidFill>
                  <a:srgbClr val="14213D"/>
                </a:solidFill>
                <a:latin typeface="Calibri"/>
              </a:rPr>
              <a:t>One-way attention:</a:t>
            </a:r>
            <a:r>
              <a:rPr sz="1450" b="0" i="0">
                <a:solidFill>
                  <a:srgbClr val="1F2937"/>
                </a:solidFill>
                <a:latin typeface="Calibri"/>
              </a:rPr>
              <a:t> agent tokens attend to actions, latents and past frames — but </a:t>
            </a:r>
            <a:r>
              <a:rPr sz="1450" b="0" i="1">
                <a:solidFill>
                  <a:srgbClr val="1F2937"/>
                </a:solidFill>
                <a:latin typeface="Calibri"/>
              </a:rPr>
              <a:t>nothing attends back to them</a:t>
            </a:r>
            <a:r>
              <a:rPr sz="1450" b="0" i="0">
                <a:solidFill>
                  <a:srgbClr val="1F2937"/>
                </a:solidFill>
                <a:latin typeface="Calibri"/>
              </a:rPr>
              <a:t>, so the world model never conditions on the policy's intentions or reward estimates</a:t>
            </a:r>
          </a:p>
          <a:p>
            <a:pPr marL="237744" indent="-201168">
              <a:lnSpc>
                <a:spcPct val="108000"/>
              </a:lnSpc>
              <a:spcAft>
                <a:spcPts val="600"/>
              </a:spcAft>
              <a:buClr>
                <a:srgbClr val="9AA3B2"/>
              </a:buClr>
              <a:buFont typeface="Arial"/>
              <a:buChar char="•"/>
            </a:pPr>
            <a:r>
              <a:rPr sz="1450" b="1" i="0">
                <a:solidFill>
                  <a:srgbClr val="14213D"/>
                </a:solidFill>
                <a:latin typeface="Calibri"/>
              </a:rPr>
              <a:t>Policy head — behavioural cloning with multi-token prediction:</a:t>
            </a:r>
            <a:r>
              <a:rPr sz="1450" b="0" i="0">
                <a:solidFill>
                  <a:srgbClr val="1F2937"/>
                </a:solidFill>
                <a:latin typeface="Calibri"/>
              </a:rPr>
              <a:t> predict the next L = 8 actions; the extra horizon regularises the representation and encodes intent</a:t>
            </a:r>
          </a:p>
          <a:p>
            <a:pPr marL="237744" indent="-201168">
              <a:lnSpc>
                <a:spcPct val="108000"/>
              </a:lnSpc>
              <a:spcAft>
                <a:spcPts val="600"/>
              </a:spcAft>
              <a:buClr>
                <a:srgbClr val="9AA3B2"/>
              </a:buClr>
              <a:buFont typeface="Arial"/>
              <a:buChar char="•"/>
            </a:pPr>
            <a:r>
              <a:rPr sz="1450" b="1" i="0">
                <a:solidFill>
                  <a:srgbClr val="14213D"/>
                </a:solidFill>
                <a:latin typeface="Calibri"/>
              </a:rPr>
              <a:t>Reward head:</a:t>
            </a:r>
            <a:r>
              <a:rPr sz="1450" b="0" i="0">
                <a:solidFill>
                  <a:srgbClr val="1F2937"/>
                </a:solidFill>
                <a:latin typeface="Calibri"/>
              </a:rPr>
              <a:t> predicts task rewards derived from game events (item obtained); a task-conditioned </a:t>
            </a:r>
            <a:r>
              <a:rPr sz="1450" b="0" i="1">
                <a:solidFill>
                  <a:srgbClr val="1F2937"/>
                </a:solidFill>
                <a:latin typeface="Calibri"/>
              </a:rPr>
              <a:t>scalar</a:t>
            </a:r>
            <a:r>
              <a:rPr sz="1450" b="0" i="0">
                <a:solidFill>
                  <a:srgbClr val="1F2937"/>
                </a:solidFill>
                <a:latin typeface="Calibri"/>
              </a:rPr>
              <a:t> reward was chosen over a reward vector so that open-vocabulary tasks remain possible</a:t>
            </a:r>
          </a:p>
          <a:p>
            <a:pPr marL="237744" indent="-201168">
              <a:lnSpc>
                <a:spcPct val="108000"/>
              </a:lnSpc>
              <a:spcAft>
                <a:spcPts val="600"/>
              </a:spcAft>
              <a:buClr>
                <a:srgbClr val="9AA3B2"/>
              </a:buClr>
              <a:buFont typeface="Arial"/>
              <a:buChar char="•"/>
            </a:pPr>
            <a:r>
              <a:rPr sz="1450" b="1" i="0">
                <a:solidFill>
                  <a:srgbClr val="14213D"/>
                </a:solidFill>
                <a:latin typeface="Calibri"/>
              </a:rPr>
              <a:t>Value head:</a:t>
            </a:r>
            <a:r>
              <a:rPr sz="1450" b="0" i="0">
                <a:solidFill>
                  <a:srgbClr val="1F2937"/>
                </a:solidFill>
                <a:latin typeface="Calibri"/>
              </a:rPr>
              <a:t> added in Phase 3, trained by TD learning on imagined rollouts</a:t>
            </a:r>
          </a:p>
          <a:p>
            <a:pPr marL="237744" indent="-201168">
              <a:lnSpc>
                <a:spcPct val="108000"/>
              </a:lnSpc>
              <a:spcAft>
                <a:spcPts val="600"/>
              </a:spcAft>
              <a:buClr>
                <a:srgbClr val="9AA3B2"/>
              </a:buClr>
              <a:buFont typeface="Arial"/>
              <a:buChar char="•"/>
            </a:pPr>
            <a:r>
              <a:rPr sz="1450" b="1" i="0">
                <a:solidFill>
                  <a:srgbClr val="14213D"/>
                </a:solidFill>
                <a:latin typeface="Calibri"/>
              </a:rPr>
              <a:t>Result already at this stage:</a:t>
            </a:r>
            <a:r>
              <a:rPr sz="1450" b="0" i="0">
                <a:solidFill>
                  <a:srgbClr val="1F2937"/>
                </a:solidFill>
                <a:latin typeface="Calibri"/>
              </a:rPr>
              <a:t> 'WM + BC' beats BC on every hard milestone (iron pickaxe 16.9 % vs 0.6 %) — the video-prediction representation is a strong prior for control</a:t>
            </a:r>
          </a:p>
        </p:txBody>
      </p:sp>
      <p:pic>
        <p:nvPicPr>
          <p:cNvPr id="9" name="Picture 8" descr="fig_rl.png"/>
          <p:cNvPicPr>
            <a:picLocks noChangeAspect="1"/>
          </p:cNvPicPr>
          <p:nvPr/>
        </p:nvPicPr>
        <p:blipFill>
          <a:blip r:embed="rId2"/>
          <a:stretch>
            <a:fillRect/>
          </a:stretch>
        </p:blipFill>
        <p:spPr>
          <a:xfrm>
            <a:off x="7680960" y="1554480"/>
            <a:ext cx="4023360" cy="1352425"/>
          </a:xfrm>
          <a:prstGeom prst="rect">
            <a:avLst/>
          </a:prstGeom>
        </p:spPr>
      </p:pic>
      <p:sp>
        <p:nvSpPr>
          <p:cNvPr id="10" name="TextBox 9"/>
          <p:cNvSpPr txBox="1"/>
          <p:nvPr/>
        </p:nvSpPr>
        <p:spPr>
          <a:xfrm>
            <a:off x="7680960" y="3703320"/>
            <a:ext cx="402336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Figure 3: success rates of agents trained on the same offline data (BC, VLA, WM+BC, Dreamer 4).</a:t>
            </a:r>
          </a:p>
        </p:txBody>
      </p:sp>
      <p:sp>
        <p:nvSpPr>
          <p:cNvPr id="11" name="Rectangle 10"/>
          <p:cNvSpPr/>
          <p:nvPr/>
        </p:nvSpPr>
        <p:spPr>
          <a:xfrm>
            <a:off x="7680960" y="4325112"/>
            <a:ext cx="25400" cy="123088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0" y="4297680"/>
            <a:ext cx="382219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WHY NOT A SEPARATE POLICY NETWORK?</a:t>
            </a:r>
          </a:p>
        </p:txBody>
      </p:sp>
      <p:sp>
        <p:nvSpPr>
          <p:cNvPr id="13" name="TextBox 12"/>
          <p:cNvSpPr txBox="1"/>
          <p:nvPr/>
        </p:nvSpPr>
        <p:spPr>
          <a:xfrm>
            <a:off x="7863840" y="4626864"/>
            <a:ext cx="3822192" cy="1463040"/>
          </a:xfrm>
          <a:prstGeom prst="rect">
            <a:avLst/>
          </a:prstGeom>
          <a:noFill/>
        </p:spPr>
        <p:txBody>
          <a:bodyPr wrap="square" anchor="t" lIns="45720" rIns="45720" tIns="18288" bIns="18288">
            <a:spAutoFit/>
          </a:bodyPr>
          <a:lstStyle/>
          <a:p>
            <a:pPr algn="l">
              <a:lnSpc>
                <a:spcPct val="110000"/>
              </a:lnSpc>
              <a:spcAft>
                <a:spcPts val="500"/>
              </a:spcAft>
            </a:pPr>
            <a:r>
              <a:rPr sz="1250" b="0" i="0">
                <a:solidFill>
                  <a:srgbClr val="1F2937"/>
                </a:solidFill>
                <a:latin typeface="Calibri"/>
              </a:rPr>
              <a:t>Sharing the backbone gives the policy the world model's representation for free, and keeps everything one model. The one-way attention mask is what makes this safe.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5 · Imagination training with PMPO</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Phase 3 — RL on imagined rollouts, with the transformer frozen</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WHAT MAKES DREAMER 4 SPECIAL</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19</a:t>
            </a:r>
          </a:p>
        </p:txBody>
      </p:sp>
      <p:sp>
        <p:nvSpPr>
          <p:cNvPr id="8" name="TextBox 7"/>
          <p:cNvSpPr txBox="1"/>
          <p:nvPr/>
        </p:nvSpPr>
        <p:spPr>
          <a:xfrm>
            <a:off x="548640" y="1417320"/>
            <a:ext cx="6766560" cy="484632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Rollouts:</a:t>
            </a:r>
            <a:r>
              <a:rPr sz="1450" b="0" i="0">
                <a:solidFill>
                  <a:srgbClr val="1F2937"/>
                </a:solidFill>
                <a:latin typeface="Calibri"/>
              </a:rPr>
              <a:t> start from real context frames, let the policy act, and let the world model generate what happens next; rewards come from the learned reward head; γ = 0.997</a:t>
            </a:r>
          </a:p>
          <a:p>
            <a:pPr marL="237744" indent="-201168">
              <a:lnSpc>
                <a:spcPct val="108000"/>
              </a:lnSpc>
              <a:spcAft>
                <a:spcPts val="600"/>
              </a:spcAft>
              <a:buClr>
                <a:srgbClr val="9AA3B2"/>
              </a:buClr>
              <a:buFont typeface="Arial"/>
              <a:buChar char="•"/>
            </a:pPr>
            <a:r>
              <a:rPr sz="1450" b="1" i="0">
                <a:solidFill>
                  <a:srgbClr val="14213D"/>
                </a:solidFill>
                <a:latin typeface="Calibri"/>
              </a:rPr>
              <a:t>Frozen transformer:</a:t>
            </a:r>
            <a:r>
              <a:rPr sz="1450" b="0" i="0">
                <a:solidFill>
                  <a:srgbClr val="1F2937"/>
                </a:solidFill>
                <a:latin typeface="Calibri"/>
              </a:rPr>
              <a:t> only policy and value heads are trained → the simulator cannot drift toward the policy</a:t>
            </a:r>
          </a:p>
          <a:p>
            <a:pPr marL="237744" indent="-201168">
              <a:lnSpc>
                <a:spcPct val="108000"/>
              </a:lnSpc>
              <a:spcAft>
                <a:spcPts val="600"/>
              </a:spcAft>
              <a:buClr>
                <a:srgbClr val="9AA3B2"/>
              </a:buClr>
              <a:buFont typeface="Arial"/>
              <a:buChar char="•"/>
            </a:pPr>
            <a:r>
              <a:rPr sz="1450" b="1" i="0">
                <a:solidFill>
                  <a:srgbClr val="14213D"/>
                </a:solidFill>
                <a:latin typeface="Calibri"/>
              </a:rPr>
              <a:t>PMPO (Preference-style MPO):</a:t>
            </a:r>
            <a:r>
              <a:rPr sz="1450" b="0" i="0">
                <a:solidFill>
                  <a:srgbClr val="1F2937"/>
                </a:solidFill>
                <a:latin typeface="Calibri"/>
              </a:rPr>
              <a:t> instead of scaling the policy gradient by the advantage, use only its </a:t>
            </a:r>
            <a:r>
              <a:rPr sz="1450" b="0" i="1">
                <a:solidFill>
                  <a:srgbClr val="1F2937"/>
                </a:solidFill>
                <a:latin typeface="Calibri"/>
              </a:rPr>
              <a:t>sign</a:t>
            </a:r>
            <a:r>
              <a:rPr sz="1450" b="0" i="0">
                <a:solidFill>
                  <a:srgbClr val="1F2937"/>
                </a:solidFill>
                <a:latin typeface="Calibri"/>
              </a:rPr>
              <a:t> — positive-advantage actions are pushed up, negative ones down, with balanced weight α = 0.5 on each set</a:t>
            </a:r>
          </a:p>
          <a:p>
            <a:pPr marL="237744" indent="-201168">
              <a:lnSpc>
                <a:spcPct val="108000"/>
              </a:lnSpc>
              <a:spcAft>
                <a:spcPts val="600"/>
              </a:spcAft>
              <a:buClr>
                <a:srgbClr val="9AA3B2"/>
              </a:buClr>
              <a:buFont typeface="Arial"/>
              <a:buChar char="•"/>
            </a:pPr>
            <a:r>
              <a:rPr sz="1450" b="1" i="0">
                <a:solidFill>
                  <a:srgbClr val="14213D"/>
                </a:solidFill>
                <a:latin typeface="Calibri"/>
              </a:rPr>
              <a:t>Reverse-KL to the frozen BC policy</a:t>
            </a:r>
            <a:r>
              <a:rPr sz="1450" b="0" i="0">
                <a:solidFill>
                  <a:srgbClr val="1F2937"/>
                </a:solidFill>
                <a:latin typeface="Calibri"/>
              </a:rPr>
              <a:t> with β = 0.3 keeps the policy on the data manifold — analogous to KL-regularised RLHF; also the main guard against exploiting world-model gaps</a:t>
            </a:r>
          </a:p>
          <a:p>
            <a:pPr marL="237744" indent="-201168">
              <a:lnSpc>
                <a:spcPct val="108000"/>
              </a:lnSpc>
              <a:spcAft>
                <a:spcPts val="600"/>
              </a:spcAft>
              <a:buClr>
                <a:srgbClr val="9AA3B2"/>
              </a:buClr>
              <a:buFont typeface="Arial"/>
              <a:buChar char="•"/>
            </a:pPr>
            <a:r>
              <a:rPr sz="1450" b="1" i="0">
                <a:solidFill>
                  <a:srgbClr val="14213D"/>
                </a:solidFill>
                <a:latin typeface="Calibri"/>
              </a:rPr>
              <a:t>Why not Dreamer 3's recipe?</a:t>
            </a:r>
            <a:r>
              <a:rPr sz="1450" b="0" i="0">
                <a:solidFill>
                  <a:srgbClr val="1F2937"/>
                </a:solidFill>
                <a:latin typeface="Calibri"/>
              </a:rPr>
              <a:t> Return normalisation + entropy bonus were replaced by the sign-based update: robust to reward scale and to the extremely sparse late-game rewards</a:t>
            </a:r>
          </a:p>
          <a:p>
            <a:pPr marL="237744" indent="-201168">
              <a:lnSpc>
                <a:spcPct val="108000"/>
              </a:lnSpc>
              <a:spcAft>
                <a:spcPts val="600"/>
              </a:spcAft>
              <a:buClr>
                <a:srgbClr val="9AA3B2"/>
              </a:buClr>
              <a:buFont typeface="Arial"/>
              <a:buChar char="•"/>
            </a:pPr>
            <a:r>
              <a:rPr sz="1450" b="1" i="0">
                <a:solidFill>
                  <a:srgbClr val="14213D"/>
                </a:solidFill>
                <a:latin typeface="Calibri"/>
              </a:rPr>
              <a:t>Effect:</a:t>
            </a:r>
            <a:r>
              <a:rPr sz="1450" b="0" i="0">
                <a:solidFill>
                  <a:srgbClr val="1F2937"/>
                </a:solidFill>
                <a:latin typeface="Calibri"/>
              </a:rPr>
              <a:t> iron pickaxe 16.9 % → 29.0 %, iron ingot 27.8 % → 39.5 %, diamond 0 → 0.7 %; agents also become faster (Table 8)</a:t>
            </a:r>
          </a:p>
        </p:txBody>
      </p:sp>
      <p:pic>
        <p:nvPicPr>
          <p:cNvPr id="9" name="Picture 8" descr="frame_imag_cobble.jpg"/>
          <p:cNvPicPr>
            <a:picLocks noChangeAspect="1"/>
          </p:cNvPicPr>
          <p:nvPr/>
        </p:nvPicPr>
        <p:blipFill>
          <a:blip r:embed="rId2"/>
          <a:stretch>
            <a:fillRect/>
          </a:stretch>
        </p:blipFill>
        <p:spPr>
          <a:xfrm>
            <a:off x="8005108" y="1554480"/>
            <a:ext cx="3283624" cy="2651760"/>
          </a:xfrm>
          <a:prstGeom prst="rect">
            <a:avLst/>
          </a:prstGeom>
        </p:spPr>
      </p:pic>
      <p:sp>
        <p:nvSpPr>
          <p:cNvPr id="10" name="TextBox 9"/>
          <p:cNvSpPr txBox="1"/>
          <p:nvPr/>
        </p:nvSpPr>
        <p:spPr>
          <a:xfrm>
            <a:off x="7589520" y="4224528"/>
            <a:ext cx="41148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Imagined 'mine stone' rollout with reward and value traces (project page).</a:t>
            </a:r>
          </a:p>
        </p:txBody>
      </p:sp>
      <p:sp>
        <p:nvSpPr>
          <p:cNvPr id="11" name="Rectangle 10"/>
          <p:cNvSpPr/>
          <p:nvPr/>
        </p:nvSpPr>
        <p:spPr>
          <a:xfrm>
            <a:off x="7589520" y="4736592"/>
            <a:ext cx="25400" cy="1197356"/>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0" y="4709160"/>
            <a:ext cx="391363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FAILURE MODE THE KL TERM ADDRESSES</a:t>
            </a:r>
          </a:p>
        </p:txBody>
      </p:sp>
      <p:sp>
        <p:nvSpPr>
          <p:cNvPr id="13" name="TextBox 12"/>
          <p:cNvSpPr txBox="1"/>
          <p:nvPr/>
        </p:nvSpPr>
        <p:spPr>
          <a:xfrm>
            <a:off x="7772400" y="5038344"/>
            <a:ext cx="3913632" cy="1097280"/>
          </a:xfrm>
          <a:prstGeom prst="rect">
            <a:avLst/>
          </a:prstGeom>
          <a:noFill/>
        </p:spPr>
        <p:txBody>
          <a:bodyPr wrap="square" anchor="t" lIns="45720" rIns="45720" tIns="18288" bIns="18288">
            <a:spAutoFit/>
          </a:bodyPr>
          <a:lstStyle/>
          <a:p>
            <a:pPr algn="l">
              <a:lnSpc>
                <a:spcPct val="110000"/>
              </a:lnSpc>
              <a:spcAft>
                <a:spcPts val="500"/>
              </a:spcAft>
            </a:pPr>
            <a:r>
              <a:rPr sz="1200" b="0" i="0">
                <a:solidFill>
                  <a:srgbClr val="1F2937"/>
                </a:solidFill>
                <a:latin typeface="Calibri"/>
              </a:rPr>
              <a:t>Hafner's example: the policy discovers it can 'craft' a pickaxe from invalid materials because the model renders it anyway. The KL to the BC prior limits such exploitation.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6 · Unlabeled video: how many action labels are needed?</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Figure 7 — action conditioning from a small labeled fraction, and transfer to unseen visual domains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2 · WHAT MAKES DREAMER 4 SPECIAL</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20</a:t>
            </a:r>
          </a:p>
        </p:txBody>
      </p:sp>
      <p:pic>
        <p:nvPicPr>
          <p:cNvPr id="8" name="Picture 7" descr="fig7_action_generalization.png"/>
          <p:cNvPicPr>
            <a:picLocks noChangeAspect="1"/>
          </p:cNvPicPr>
          <p:nvPr/>
        </p:nvPicPr>
        <p:blipFill>
          <a:blip r:embed="rId2"/>
          <a:stretch>
            <a:fillRect/>
          </a:stretch>
        </p:blipFill>
        <p:spPr>
          <a:xfrm>
            <a:off x="365760" y="1371600"/>
            <a:ext cx="7498079" cy="2390513"/>
          </a:xfrm>
          <a:prstGeom prst="rect">
            <a:avLst/>
          </a:prstGeom>
        </p:spPr>
      </p:pic>
      <p:sp>
        <p:nvSpPr>
          <p:cNvPr id="9" name="TextBox 8"/>
          <p:cNvSpPr txBox="1"/>
          <p:nvPr/>
        </p:nvSpPr>
        <p:spPr>
          <a:xfrm>
            <a:off x="548640" y="4160520"/>
            <a:ext cx="11155680" cy="219456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00" b="1" i="0">
                <a:solidFill>
                  <a:srgbClr val="14213D"/>
                </a:solidFill>
                <a:latin typeface="Calibri"/>
              </a:rPr>
              <a:t>Setup:</a:t>
            </a:r>
            <a:r>
              <a:rPr sz="1400" b="0" i="0">
                <a:solidFill>
                  <a:srgbClr val="1F2937"/>
                </a:solidFill>
                <a:latin typeface="Calibri"/>
              </a:rPr>
              <a:t> train on all 2,541 h of video, but keep actions for only a subset; measure PSNR/SSIM of action-conditioned predictions, normalised between 'no actions' (0 %) and 'all actions' (100 %)</a:t>
            </a:r>
          </a:p>
          <a:p>
            <a:pPr marL="237744" indent="-201168">
              <a:lnSpc>
                <a:spcPct val="108000"/>
              </a:lnSpc>
              <a:spcAft>
                <a:spcPts val="600"/>
              </a:spcAft>
              <a:buClr>
                <a:srgbClr val="9AA3B2"/>
              </a:buClr>
              <a:buFont typeface="Arial"/>
              <a:buChar char="•"/>
            </a:pPr>
            <a:r>
              <a:rPr sz="1400" b="1" i="0">
                <a:solidFill>
                  <a:srgbClr val="14213D"/>
                </a:solidFill>
                <a:latin typeface="Calibri"/>
              </a:rPr>
              <a:t>10 h of labels → 53 % PSNR / 75 % SSIM; 100 h → 85 % / 100 %; 1,000 h → 100 %</a:t>
            </a:r>
            <a:r>
              <a:rPr sz="1400" b="0" i="0">
                <a:solidFill>
                  <a:srgbClr val="1F2937"/>
                </a:solidFill>
                <a:latin typeface="Calibri"/>
              </a:rPr>
              <a:t> — action understanding saturates with roughly 4 % of the data labeled</a:t>
            </a:r>
          </a:p>
          <a:p>
            <a:pPr marL="237744" indent="-201168">
              <a:lnSpc>
                <a:spcPct val="108000"/>
              </a:lnSpc>
              <a:spcAft>
                <a:spcPts val="600"/>
              </a:spcAft>
              <a:buClr>
                <a:srgbClr val="9AA3B2"/>
              </a:buClr>
              <a:buFont typeface="Arial"/>
              <a:buChar char="•"/>
            </a:pPr>
            <a:r>
              <a:rPr sz="1400" b="1" i="0">
                <a:solidFill>
                  <a:srgbClr val="14213D"/>
                </a:solidFill>
                <a:latin typeface="Calibri"/>
              </a:rPr>
              <a:t>Domain transfer:</a:t>
            </a:r>
            <a:r>
              <a:rPr sz="1400" b="0" i="0">
                <a:solidFill>
                  <a:srgbClr val="1F2937"/>
                </a:solidFill>
                <a:latin typeface="Calibri"/>
              </a:rPr>
              <a:t> with actions only from the Overworld, predictions in the Nether/End (seen unlabeled) recover 76 % / 80 % — the model separates 'what actions do' from 'what the world looks like'</a:t>
            </a:r>
          </a:p>
          <a:p>
            <a:pPr marL="237744" indent="-201168">
              <a:lnSpc>
                <a:spcPct val="108000"/>
              </a:lnSpc>
              <a:spcAft>
                <a:spcPts val="600"/>
              </a:spcAft>
              <a:buClr>
                <a:srgbClr val="9AA3B2"/>
              </a:buClr>
              <a:buFont typeface="Arial"/>
              <a:buChar char="•"/>
            </a:pPr>
            <a:r>
              <a:rPr sz="1400" b="1" i="0">
                <a:solidFill>
                  <a:srgbClr val="14213D"/>
                </a:solidFill>
                <a:latin typeface="Calibri"/>
              </a:rPr>
              <a:t>Why it matters:</a:t>
            </a:r>
            <a:r>
              <a:rPr sz="1400" b="0" i="0">
                <a:solidFill>
                  <a:srgbClr val="1F2937"/>
                </a:solidFill>
                <a:latin typeface="Calibri"/>
              </a:rPr>
              <a:t> the road to internet-scale video pretraining, where labels are scarce (VPT needed an inverse-dynamics model for this)</a:t>
            </a:r>
          </a:p>
        </p:txBody>
      </p:sp>
      <p:sp>
        <p:nvSpPr>
          <p:cNvPr id="10" name="Rectangle 9"/>
          <p:cNvSpPr/>
          <p:nvPr/>
        </p:nvSpPr>
        <p:spPr>
          <a:xfrm>
            <a:off x="8138160" y="1490472"/>
            <a:ext cx="25400" cy="1440433"/>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463040"/>
            <a:ext cx="345643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MECHANISM</a:t>
            </a:r>
          </a:p>
        </p:txBody>
      </p:sp>
      <p:sp>
        <p:nvSpPr>
          <p:cNvPr id="12" name="TextBox 11"/>
          <p:cNvSpPr txBox="1"/>
          <p:nvPr/>
        </p:nvSpPr>
        <p:spPr>
          <a:xfrm>
            <a:off x="8321040" y="1792224"/>
            <a:ext cx="3456432" cy="2103120"/>
          </a:xfrm>
          <a:prstGeom prst="rect">
            <a:avLst/>
          </a:prstGeom>
          <a:noFill/>
        </p:spPr>
        <p:txBody>
          <a:bodyPr wrap="square" anchor="t" lIns="45720" rIns="45720" tIns="18288" bIns="18288">
            <a:spAutoFit/>
          </a:bodyPr>
          <a:lstStyle/>
          <a:p>
            <a:pPr algn="l">
              <a:lnSpc>
                <a:spcPct val="110000"/>
              </a:lnSpc>
              <a:spcAft>
                <a:spcPts val="500"/>
              </a:spcAft>
            </a:pPr>
            <a:r>
              <a:rPr sz="1250" b="0" i="0">
                <a:solidFill>
                  <a:srgbClr val="1F2937"/>
                </a:solidFill>
                <a:latin typeface="Calibri"/>
              </a:rPr>
              <a:t>Unlabeled frames receive a learned 'no action' embedding; the dynamics loss is the same. The model therefore learns visual dynamics from everything and the action mapping from the labeled slice.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49440" y="822960"/>
            <a:ext cx="4846320" cy="3840480"/>
          </a:xfrm>
          <a:prstGeom prst="rect">
            <a:avLst/>
          </a:prstGeom>
          <a:noFill/>
        </p:spPr>
        <p:txBody>
          <a:bodyPr wrap="square" anchor="t" lIns="45720" rIns="45720" tIns="18288" bIns="18288">
            <a:spAutoFit/>
          </a:bodyPr>
          <a:lstStyle/>
          <a:p>
            <a:pPr algn="r">
              <a:lnSpc>
                <a:spcPct val="105000"/>
              </a:lnSpc>
            </a:pPr>
            <a:r>
              <a:rPr sz="26000" b="1" i="0">
                <a:solidFill>
                  <a:srgbClr val="1D2D52"/>
                </a:solidFill>
                <a:latin typeface="Calibri"/>
              </a:rPr>
              <a:t>03</a:t>
            </a:r>
          </a:p>
        </p:txBody>
      </p:sp>
      <p:sp>
        <p:nvSpPr>
          <p:cNvPr id="4" name="TextBox 3"/>
          <p:cNvSpPr txBox="1"/>
          <p:nvPr/>
        </p:nvSpPr>
        <p:spPr>
          <a:xfrm>
            <a:off x="822960" y="2331720"/>
            <a:ext cx="5486400" cy="274320"/>
          </a:xfrm>
          <a:prstGeom prst="rect">
            <a:avLst/>
          </a:prstGeom>
          <a:noFill/>
        </p:spPr>
        <p:txBody>
          <a:bodyPr wrap="square" anchor="t" lIns="45720" rIns="45720" tIns="18288" bIns="18288">
            <a:spAutoFit/>
          </a:bodyPr>
          <a:lstStyle/>
          <a:p>
            <a:pPr algn="l">
              <a:lnSpc>
                <a:spcPct val="105000"/>
              </a:lnSpc>
            </a:pPr>
            <a:r>
              <a:rPr sz="1300" b="1" i="0" spc="120">
                <a:solidFill>
                  <a:srgbClr val="9DB8F5"/>
                </a:solidFill>
                <a:latin typeface="Calibri"/>
              </a:rPr>
              <a:t>PART 3</a:t>
            </a:r>
          </a:p>
        </p:txBody>
      </p:sp>
      <p:sp>
        <p:nvSpPr>
          <p:cNvPr id="5" name="Rectangle 4"/>
          <p:cNvSpPr/>
          <p:nvPr/>
        </p:nvSpPr>
        <p:spPr>
          <a:xfrm>
            <a:off x="822960" y="2724912"/>
            <a:ext cx="822960" cy="19050"/>
          </a:xfrm>
          <a:prstGeom prst="rect">
            <a:avLst/>
          </a:prstGeom>
          <a:solidFill>
            <a:srgbClr val="9DB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80360"/>
            <a:ext cx="8229600" cy="1188720"/>
          </a:xfrm>
          <a:prstGeom prst="rect">
            <a:avLst/>
          </a:prstGeom>
          <a:noFill/>
        </p:spPr>
        <p:txBody>
          <a:bodyPr wrap="square" anchor="t" lIns="45720" rIns="45720" tIns="18288" bIns="18288">
            <a:spAutoFit/>
          </a:bodyPr>
          <a:lstStyle/>
          <a:p>
            <a:pPr algn="l">
              <a:lnSpc>
                <a:spcPct val="105000"/>
              </a:lnSpc>
            </a:pPr>
            <a:r>
              <a:rPr sz="4400" b="1" i="0">
                <a:solidFill>
                  <a:srgbClr val="FFFFFF"/>
                </a:solidFill>
                <a:latin typeface="Calibri"/>
              </a:rPr>
              <a:t>Does it hold up?</a:t>
            </a:r>
          </a:p>
        </p:txBody>
      </p:sp>
      <p:sp>
        <p:nvSpPr>
          <p:cNvPr id="7" name="TextBox 6"/>
          <p:cNvSpPr txBox="1"/>
          <p:nvPr/>
        </p:nvSpPr>
        <p:spPr>
          <a:xfrm>
            <a:off x="822960" y="3977639"/>
            <a:ext cx="7772400" cy="1280160"/>
          </a:xfrm>
          <a:prstGeom prst="rect">
            <a:avLst/>
          </a:prstGeom>
          <a:noFill/>
        </p:spPr>
        <p:txBody>
          <a:bodyPr wrap="square" anchor="t" lIns="45720" rIns="45720" tIns="18288" bIns="18288">
            <a:spAutoFit/>
          </a:bodyPr>
          <a:lstStyle/>
          <a:p>
            <a:pPr algn="l">
              <a:lnSpc>
                <a:spcPct val="115000"/>
              </a:lnSpc>
            </a:pPr>
            <a:r>
              <a:rPr sz="1800" b="0" i="0">
                <a:solidFill>
                  <a:srgbClr val="C9D3E6"/>
                </a:solidFill>
                <a:latin typeface="Calibri"/>
              </a:rPr>
              <a:t>Humans inside the model, diamonds from offline data, and where the gains come from</a:t>
            </a:r>
          </a:p>
        </p:txBody>
      </p:sp>
      <p:sp>
        <p:nvSpPr>
          <p:cNvPr id="8" name="TextBox 7"/>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9DB8F5"/>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Is the world model accurate? Let humans play inside it</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Table 1: real-time interaction on one H100; 16 tasks attempted by human testers from the same starting frame</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DOES IT HOLD UP?</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22</a:t>
            </a:r>
          </a:p>
        </p:txBody>
      </p:sp>
      <p:graphicFrame>
        <p:nvGraphicFramePr>
          <p:cNvPr id="8" name="Table 7"/>
          <p:cNvGraphicFramePr>
            <a:graphicFrameLocks noGrp="1"/>
          </p:cNvGraphicFramePr>
          <p:nvPr/>
        </p:nvGraphicFramePr>
        <p:xfrm>
          <a:off x="457200" y="1463040"/>
          <a:ext cx="7315200" cy="2304288"/>
        </p:xfrm>
        <a:graphic>
          <a:graphicData uri="http://schemas.openxmlformats.org/drawingml/2006/table">
            <a:tbl>
              <a:tblPr firstRow="0" bandRow="0"/>
              <a:tblGrid>
                <a:gridCol w="1463040"/>
                <a:gridCol w="822960"/>
                <a:gridCol w="1234440"/>
                <a:gridCol w="914400"/>
                <a:gridCol w="685800"/>
                <a:gridCol w="2194560"/>
              </a:tblGrid>
              <a:tr h="384048">
                <a:tc>
                  <a:txBody>
                    <a:bodyPr/>
                    <a:lstStyle/>
                    <a:p>
                      <a:pPr algn="l"/>
                      <a:r>
                        <a:rPr sz="1250" b="1" i="0">
                          <a:solidFill>
                            <a:srgbClr val="14213D"/>
                          </a:solidFill>
                          <a:latin typeface="Calibri"/>
                        </a:rPr>
                        <a:t>Model</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50" b="1" i="0">
                          <a:solidFill>
                            <a:srgbClr val="14213D"/>
                          </a:solidFill>
                          <a:latin typeface="Calibri"/>
                        </a:rPr>
                        <a:t>Params</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50" b="1" i="0">
                          <a:solidFill>
                            <a:srgbClr val="14213D"/>
                          </a:solidFill>
                          <a:latin typeface="Calibri"/>
                        </a:rPr>
                        <a:t>Resolution</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50" b="1" i="0">
                          <a:solidFill>
                            <a:srgbClr val="14213D"/>
                          </a:solidFill>
                          <a:latin typeface="Calibri"/>
                        </a:rPr>
                        <a:t>Context</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50" b="1" i="0">
                          <a:solidFill>
                            <a:srgbClr val="14213D"/>
                          </a:solidFill>
                          <a:latin typeface="Calibri"/>
                        </a:rPr>
                        <a:t>FPS</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50" b="1" i="0">
                          <a:solidFill>
                            <a:srgbClr val="14213D"/>
                          </a:solidFill>
                          <a:latin typeface="Calibri"/>
                        </a:rPr>
                        <a:t>Tasks solved</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384048">
                <a:tc>
                  <a:txBody>
                    <a:bodyPr/>
                    <a:lstStyle/>
                    <a:p>
                      <a:pPr algn="l"/>
                      <a:r>
                        <a:rPr sz="1300" b="0" i="0">
                          <a:solidFill>
                            <a:srgbClr val="1F2937"/>
                          </a:solidFill>
                          <a:latin typeface="Calibri"/>
                        </a:rPr>
                        <a:t>MineWorld</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1.2 B</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384×224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0.8 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300" b="0" i="0">
                          <a:solidFill>
                            <a:srgbClr val="1F2937"/>
                          </a:solidFill>
                          <a:latin typeface="Calibri"/>
                        </a:rPr>
                        <a:t>not evaluable (needs actions in advance)</a:t>
                      </a:r>
                    </a:p>
                  </a:txBody>
                  <a:tcPr marL="64008" marR="64008" marT="36576" marB="36576" anchor="ctr">
                    <a:lnL w="0">
                      <a:noFill/>
                    </a:lnL>
                    <a:lnR w="0">
                      <a:noFill/>
                    </a:lnR>
                    <a:lnT w="0">
                      <a:noFill/>
                    </a:lnT>
                    <a:lnB w="6350" cap="flat" cmpd="sng" algn="ctr">
                      <a:solidFill>
                        <a:srgbClr val="D3D8E2"/>
                      </a:solidFill>
                      <a:prstDash val="solid"/>
                    </a:lnB>
                    <a:noFill/>
                  </a:tcPr>
                </a:tc>
              </a:tr>
              <a:tr h="384048">
                <a:tc>
                  <a:txBody>
                    <a:bodyPr/>
                    <a:lstStyle/>
                    <a:p>
                      <a:pPr algn="l"/>
                      <a:r>
                        <a:rPr sz="1300" b="0" i="0">
                          <a:solidFill>
                            <a:srgbClr val="1F2937"/>
                          </a:solidFill>
                          <a:latin typeface="Calibri"/>
                        </a:rPr>
                        <a:t>Lucid-v1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1.1 B</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640×360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1.0 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44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0 / 16</a:t>
                      </a:r>
                    </a:p>
                  </a:txBody>
                  <a:tcPr marL="64008" marR="64008" marT="36576" marB="36576" anchor="ctr">
                    <a:lnL w="0">
                      <a:noFill/>
                    </a:lnL>
                    <a:lnR w="0">
                      <a:noFill/>
                    </a:lnR>
                    <a:lnT w="0">
                      <a:noFill/>
                    </a:lnT>
                    <a:lnB w="6350" cap="flat" cmpd="sng" algn="ctr">
                      <a:solidFill>
                        <a:srgbClr val="D3D8E2"/>
                      </a:solidFill>
                      <a:prstDash val="solid"/>
                    </a:lnB>
                    <a:noFill/>
                  </a:tcPr>
                </a:tc>
              </a:tr>
              <a:tr h="384048">
                <a:tc>
                  <a:txBody>
                    <a:bodyPr/>
                    <a:lstStyle/>
                    <a:p>
                      <a:pPr algn="l"/>
                      <a:r>
                        <a:rPr sz="1300" b="0" i="0">
                          <a:solidFill>
                            <a:srgbClr val="1F2937"/>
                          </a:solidFill>
                          <a:latin typeface="Calibri"/>
                        </a:rPr>
                        <a:t>Oasis (small)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500 M</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640×360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1.6 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20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0 / 16</a:t>
                      </a:r>
                    </a:p>
                  </a:txBody>
                  <a:tcPr marL="64008" marR="64008" marT="36576" marB="36576" anchor="ctr">
                    <a:lnL w="0">
                      <a:noFill/>
                    </a:lnL>
                    <a:lnR w="0">
                      <a:noFill/>
                    </a:lnR>
                    <a:lnT w="0">
                      <a:noFill/>
                    </a:lnT>
                    <a:lnB w="6350" cap="flat" cmpd="sng" algn="ctr">
                      <a:solidFill>
                        <a:srgbClr val="D3D8E2"/>
                      </a:solidFill>
                      <a:prstDash val="solid"/>
                    </a:lnB>
                    <a:noFill/>
                  </a:tcPr>
                </a:tc>
              </a:tr>
              <a:tr h="384048">
                <a:tc>
                  <a:txBody>
                    <a:bodyPr/>
                    <a:lstStyle/>
                    <a:p>
                      <a:pPr algn="l"/>
                      <a:r>
                        <a:rPr sz="1300" b="0" i="0">
                          <a:solidFill>
                            <a:srgbClr val="1F2937"/>
                          </a:solidFill>
                          <a:latin typeface="Calibri"/>
                        </a:rPr>
                        <a:t>Oasis (large)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360×360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1.6 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300" b="0" i="0">
                          <a:solidFill>
                            <a:srgbClr val="1F2937"/>
                          </a:solidFill>
                          <a:latin typeface="Calibri"/>
                        </a:rPr>
                        <a:t>5 / 16</a:t>
                      </a:r>
                    </a:p>
                  </a:txBody>
                  <a:tcPr marL="64008" marR="64008" marT="36576" marB="36576" anchor="ctr">
                    <a:lnL w="0">
                      <a:noFill/>
                    </a:lnL>
                    <a:lnR w="0">
                      <a:noFill/>
                    </a:lnR>
                    <a:lnT w="0">
                      <a:noFill/>
                    </a:lnT>
                    <a:lnB w="6350" cap="flat" cmpd="sng" algn="ctr">
                      <a:solidFill>
                        <a:srgbClr val="D3D8E2"/>
                      </a:solidFill>
                      <a:prstDash val="solid"/>
                    </a:lnB>
                    <a:noFill/>
                  </a:tcPr>
                </a:tc>
              </a:tr>
              <a:tr h="384048">
                <a:tc>
                  <a:txBody>
                    <a:bodyPr/>
                    <a:lstStyle/>
                    <a:p>
                      <a:pPr algn="l"/>
                      <a:r>
                        <a:rPr sz="1300" b="1" i="0">
                          <a:solidFill>
                            <a:srgbClr val="1F2937"/>
                          </a:solidFill>
                          <a:latin typeface="Calibri"/>
                        </a:rPr>
                        <a:t>Dreamer 4</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300" b="1" i="0">
                          <a:solidFill>
                            <a:srgbClr val="1F2937"/>
                          </a:solidFill>
                          <a:latin typeface="Calibri"/>
                        </a:rPr>
                        <a:t>2 B</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300" b="1" i="0">
                          <a:solidFill>
                            <a:srgbClr val="1F2937"/>
                          </a:solidFill>
                          <a:latin typeface="Calibri"/>
                        </a:rPr>
                        <a:t>640×360</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300" b="1" i="0">
                          <a:solidFill>
                            <a:srgbClr val="1F2937"/>
                          </a:solidFill>
                          <a:latin typeface="Calibri"/>
                        </a:rPr>
                        <a:t>9.6 s</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300" b="1" i="0">
                          <a:solidFill>
                            <a:srgbClr val="1F2937"/>
                          </a:solidFill>
                          <a:latin typeface="Calibri"/>
                        </a:rPr>
                        <a:t>21</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c>
                  <a:txBody>
                    <a:bodyPr/>
                    <a:lstStyle/>
                    <a:p>
                      <a:pPr algn="ctr"/>
                      <a:r>
                        <a:rPr sz="1300" b="1" i="0">
                          <a:solidFill>
                            <a:srgbClr val="1F2937"/>
                          </a:solidFill>
                          <a:latin typeface="Calibri"/>
                        </a:rPr>
                        <a:t>14 / 16</a:t>
                      </a:r>
                    </a:p>
                  </a:txBody>
                  <a:tcPr marL="64008" marR="64008" marT="36576" marB="36576" anchor="ctr">
                    <a:lnL w="0">
                      <a:noFill/>
                    </a:lnL>
                    <a:lnR w="0">
                      <a:noFill/>
                    </a:lnR>
                    <a:lnT w="0">
                      <a:noFill/>
                    </a:lnT>
                    <a:lnB w="12700" cap="flat" cmpd="sng" algn="ctr">
                      <a:solidFill>
                        <a:srgbClr val="14213D"/>
                      </a:solidFill>
                      <a:prstDash val="solid"/>
                    </a:lnB>
                    <a:solidFill>
                      <a:srgbClr val="F3F5F8"/>
                    </a:solidFill>
                  </a:tcPr>
                </a:tc>
              </a:tr>
            </a:tbl>
          </a:graphicData>
        </a:graphic>
      </p:graphicFrame>
      <p:sp>
        <p:nvSpPr>
          <p:cNvPr id="9" name="TextBox 8"/>
          <p:cNvSpPr txBox="1"/>
          <p:nvPr/>
        </p:nvSpPr>
        <p:spPr>
          <a:xfrm>
            <a:off x="548640" y="4023360"/>
            <a:ext cx="7223760" cy="228600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50" b="1" i="0">
                <a:solidFill>
                  <a:srgbClr val="14213D"/>
                </a:solidFill>
                <a:latin typeface="Calibri"/>
              </a:rPr>
              <a:t>The 16 tasks:</a:t>
            </a:r>
            <a:r>
              <a:rPr sz="1350" b="0" i="0">
                <a:solidFill>
                  <a:srgbClr val="1F2937"/>
                </a:solidFill>
                <a:latin typeface="Calibri"/>
              </a:rPr>
              <a:t> eat apple · place 3 torches · chop tree · dig 3×3 pit · craft wooden pickaxe · use furnace · place &amp; open workbench · kill zombies · mine diamonds · complete window · place &amp; ride boat · enter portal · place door · bed &amp; sleep · plant reed &amp; pour water · turn 360° &amp; enter house</a:t>
            </a:r>
          </a:p>
          <a:p>
            <a:pPr marL="237744" indent="-201168">
              <a:lnSpc>
                <a:spcPct val="108000"/>
              </a:lnSpc>
              <a:spcAft>
                <a:spcPts val="600"/>
              </a:spcAft>
              <a:buClr>
                <a:srgbClr val="9AA3B2"/>
              </a:buClr>
              <a:buFont typeface="Arial"/>
              <a:buChar char="•"/>
            </a:pPr>
            <a:r>
              <a:rPr sz="1350" b="1" i="0">
                <a:solidFill>
                  <a:srgbClr val="14213D"/>
                </a:solidFill>
                <a:latin typeface="Calibri"/>
              </a:rPr>
              <a:t>The two failures</a:t>
            </a:r>
            <a:r>
              <a:rPr sz="1350" b="0" i="0">
                <a:solidFill>
                  <a:srgbClr val="1F2937"/>
                </a:solidFill>
                <a:latin typeface="Calibri"/>
              </a:rPr>
              <a:t> were memory-related: the world changes when you look away for longer than the 9.6 s context, and inventory contents become unclear over time</a:t>
            </a:r>
          </a:p>
          <a:p>
            <a:pPr marL="237744" indent="-201168">
              <a:lnSpc>
                <a:spcPct val="108000"/>
              </a:lnSpc>
              <a:spcAft>
                <a:spcPts val="600"/>
              </a:spcAft>
              <a:buClr>
                <a:srgbClr val="9AA3B2"/>
              </a:buClr>
              <a:buFont typeface="Arial"/>
              <a:buChar char="•"/>
            </a:pPr>
            <a:r>
              <a:rPr sz="1350" b="0" i="0">
                <a:solidFill>
                  <a:srgbClr val="1F2937"/>
                </a:solidFill>
                <a:latin typeface="Calibri"/>
              </a:rPr>
              <a:t>Genie 3 is not compared: it has no fine-grained mouse/keyboard control</a:t>
            </a:r>
          </a:p>
        </p:txBody>
      </p:sp>
      <p:pic>
        <p:nvPicPr>
          <p:cNvPr id="10" name="Picture 9" descr="fig5_human_interaction_pdf.png"/>
          <p:cNvPicPr>
            <a:picLocks noChangeAspect="1"/>
          </p:cNvPicPr>
          <p:nvPr/>
        </p:nvPicPr>
        <p:blipFill>
          <a:blip r:embed="rId2"/>
          <a:stretch>
            <a:fillRect/>
          </a:stretch>
        </p:blipFill>
        <p:spPr>
          <a:xfrm>
            <a:off x="7955279" y="1463040"/>
            <a:ext cx="3840480" cy="1261963"/>
          </a:xfrm>
          <a:prstGeom prst="rect">
            <a:avLst/>
          </a:prstGeom>
        </p:spPr>
      </p:pic>
      <p:sp>
        <p:nvSpPr>
          <p:cNvPr id="11" name="TextBox 10"/>
          <p:cNvSpPr txBox="1"/>
          <p:nvPr/>
        </p:nvSpPr>
        <p:spPr>
          <a:xfrm>
            <a:off x="7955279" y="3566160"/>
            <a:ext cx="384048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Figure 5: same task, same start frame — Dreamer 4 (top) builds the wall; Lucid-v1 and Oasis do not.</a:t>
            </a:r>
          </a:p>
        </p:txBody>
      </p:sp>
      <p:sp>
        <p:nvSpPr>
          <p:cNvPr id="12" name="Rectangle 11"/>
          <p:cNvSpPr/>
          <p:nvPr/>
        </p:nvSpPr>
        <p:spPr>
          <a:xfrm>
            <a:off x="7955279" y="4233672"/>
            <a:ext cx="25400" cy="139852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59" y="4206240"/>
            <a:ext cx="363931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WHY THIS EVALUATION</a:t>
            </a:r>
          </a:p>
        </p:txBody>
      </p:sp>
      <p:sp>
        <p:nvSpPr>
          <p:cNvPr id="14" name="TextBox 13"/>
          <p:cNvSpPr txBox="1"/>
          <p:nvPr/>
        </p:nvSpPr>
        <p:spPr>
          <a:xfrm>
            <a:off x="8138159" y="4535424"/>
            <a:ext cx="3639312" cy="1554480"/>
          </a:xfrm>
          <a:prstGeom prst="rect">
            <a:avLst/>
          </a:prstGeom>
          <a:noFill/>
        </p:spPr>
        <p:txBody>
          <a:bodyPr wrap="square" anchor="t" lIns="45720" rIns="45720" tIns="18288" bIns="18288">
            <a:spAutoFit/>
          </a:bodyPr>
          <a:lstStyle/>
          <a:p>
            <a:pPr algn="l">
              <a:lnSpc>
                <a:spcPct val="110000"/>
              </a:lnSpc>
              <a:spcAft>
                <a:spcPts val="500"/>
              </a:spcAft>
            </a:pPr>
            <a:r>
              <a:rPr sz="1200" b="0" i="0">
                <a:solidFill>
                  <a:srgbClr val="1F2937"/>
                </a:solidFill>
                <a:latin typeface="Calibri"/>
              </a:rPr>
              <a:t>FVD and PSNR measure how video </a:t>
            </a:r>
            <a:r>
              <a:rPr sz="1200" b="0" i="1">
                <a:solidFill>
                  <a:srgbClr val="1F2937"/>
                </a:solidFill>
                <a:latin typeface="Calibri"/>
              </a:rPr>
              <a:t>looks</a:t>
            </a:r>
            <a:r>
              <a:rPr sz="1200" b="0" i="0">
                <a:solidFill>
                  <a:srgbClr val="1F2937"/>
                </a:solidFill>
                <a:latin typeface="Calibri"/>
              </a:rPr>
              <a:t>; only interaction tests whether the model got the </a:t>
            </a:r>
            <a:r>
              <a:rPr sz="1200" b="0" i="1">
                <a:solidFill>
                  <a:srgbClr val="1F2937"/>
                </a:solidFill>
                <a:latin typeface="Calibri"/>
              </a:rPr>
              <a:t>mechanics</a:t>
            </a:r>
            <a:r>
              <a:rPr sz="1200" b="0" i="0">
                <a:solidFill>
                  <a:srgbClr val="1F2937"/>
                </a:solidFill>
                <a:latin typeface="Calibri"/>
              </a:rPr>
              <a:t> right. The paper complements it with FVD on 384-frame rollouts, but no long-horizon </a:t>
            </a:r>
            <a:r>
              <a:rPr sz="1200" b="0" i="1">
                <a:solidFill>
                  <a:srgbClr val="1F2937"/>
                </a:solidFill>
                <a:latin typeface="Calibri"/>
              </a:rPr>
              <a:t>quantitative</a:t>
            </a:r>
            <a:r>
              <a:rPr sz="1200" b="0" i="0">
                <a:solidFill>
                  <a:srgbClr val="1F2937"/>
                </a:solidFill>
                <a:latin typeface="Calibri"/>
              </a:rPr>
              <a:t> interaction metric exists yet — a fair critique.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What 'accurate object interactions' looks like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Frames from the project page's side-by-side human sessions (same start frame, same human inputs)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DOES IT HOLD UP?</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23</a:t>
            </a:r>
          </a:p>
        </p:txBody>
      </p:sp>
      <p:sp>
        <p:nvSpPr>
          <p:cNvPr id="8" name="TextBox 7"/>
          <p:cNvSpPr txBox="1"/>
          <p:nvPr/>
        </p:nvSpPr>
        <p:spPr>
          <a:xfrm>
            <a:off x="1554480" y="1280160"/>
            <a:ext cx="3383280" cy="320040"/>
          </a:xfrm>
          <a:prstGeom prst="rect">
            <a:avLst/>
          </a:prstGeom>
          <a:noFill/>
        </p:spPr>
        <p:txBody>
          <a:bodyPr wrap="square" anchor="t" lIns="45720" rIns="45720" tIns="18288" bIns="18288">
            <a:spAutoFit/>
          </a:bodyPr>
          <a:lstStyle/>
          <a:p>
            <a:pPr algn="ctr">
              <a:lnSpc>
                <a:spcPct val="105000"/>
              </a:lnSpc>
            </a:pPr>
            <a:r>
              <a:rPr sz="1400" b="1" i="0">
                <a:solidFill>
                  <a:srgbClr val="2A56D6"/>
                </a:solidFill>
                <a:latin typeface="Calibri"/>
              </a:rPr>
              <a:t>Dreamer 4</a:t>
            </a:r>
          </a:p>
        </p:txBody>
      </p:sp>
      <p:sp>
        <p:nvSpPr>
          <p:cNvPr id="9" name="TextBox 8"/>
          <p:cNvSpPr txBox="1"/>
          <p:nvPr/>
        </p:nvSpPr>
        <p:spPr>
          <a:xfrm>
            <a:off x="5029200" y="1280160"/>
            <a:ext cx="3383280" cy="320040"/>
          </a:xfrm>
          <a:prstGeom prst="rect">
            <a:avLst/>
          </a:prstGeom>
          <a:noFill/>
        </p:spPr>
        <p:txBody>
          <a:bodyPr wrap="square" anchor="t" lIns="45720" rIns="45720" tIns="18288" bIns="18288">
            <a:spAutoFit/>
          </a:bodyPr>
          <a:lstStyle/>
          <a:p>
            <a:pPr algn="ctr">
              <a:lnSpc>
                <a:spcPct val="105000"/>
              </a:lnSpc>
            </a:pPr>
            <a:r>
              <a:rPr sz="1400" b="1" i="0">
                <a:solidFill>
                  <a:srgbClr val="6B7280"/>
                </a:solidFill>
                <a:latin typeface="Calibri"/>
              </a:rPr>
              <a:t>Lucid-v1</a:t>
            </a:r>
          </a:p>
        </p:txBody>
      </p:sp>
      <p:sp>
        <p:nvSpPr>
          <p:cNvPr id="10" name="TextBox 9"/>
          <p:cNvSpPr txBox="1"/>
          <p:nvPr/>
        </p:nvSpPr>
        <p:spPr>
          <a:xfrm>
            <a:off x="8503920" y="1280160"/>
            <a:ext cx="3383280" cy="320040"/>
          </a:xfrm>
          <a:prstGeom prst="rect">
            <a:avLst/>
          </a:prstGeom>
          <a:noFill/>
        </p:spPr>
        <p:txBody>
          <a:bodyPr wrap="square" anchor="t" lIns="45720" rIns="45720" tIns="18288" bIns="18288">
            <a:spAutoFit/>
          </a:bodyPr>
          <a:lstStyle/>
          <a:p>
            <a:pPr algn="ctr">
              <a:lnSpc>
                <a:spcPct val="105000"/>
              </a:lnSpc>
            </a:pPr>
            <a:r>
              <a:rPr sz="1400" b="1" i="0">
                <a:solidFill>
                  <a:srgbClr val="6B7280"/>
                </a:solidFill>
                <a:latin typeface="Calibri"/>
              </a:rPr>
              <a:t>Oasis</a:t>
            </a:r>
          </a:p>
        </p:txBody>
      </p:sp>
      <p:sp>
        <p:nvSpPr>
          <p:cNvPr id="11" name="TextBox 10"/>
          <p:cNvSpPr txBox="1"/>
          <p:nvPr/>
        </p:nvSpPr>
        <p:spPr>
          <a:xfrm>
            <a:off x="274320" y="2057400"/>
            <a:ext cx="1234440" cy="731520"/>
          </a:xfrm>
          <a:prstGeom prst="rect">
            <a:avLst/>
          </a:prstGeom>
          <a:noFill/>
        </p:spPr>
        <p:txBody>
          <a:bodyPr wrap="square" anchor="t" lIns="45720" rIns="45720" tIns="18288" bIns="18288">
            <a:spAutoFit/>
          </a:bodyPr>
          <a:lstStyle/>
          <a:p>
            <a:pPr algn="l">
              <a:lnSpc>
                <a:spcPct val="105000"/>
              </a:lnSpc>
            </a:pPr>
            <a:r>
              <a:rPr sz="1200" b="1" i="0">
                <a:solidFill>
                  <a:srgbClr val="1F2937"/>
                </a:solidFill>
                <a:latin typeface="Calibri"/>
              </a:rPr>
              <a:t>Place and ride boat</a:t>
            </a:r>
          </a:p>
        </p:txBody>
      </p:sp>
      <p:pic>
        <p:nvPicPr>
          <p:cNvPr id="12" name="Picture 11" descr="frame_boat_dreamer.jpg"/>
          <p:cNvPicPr>
            <a:picLocks noChangeAspect="1"/>
          </p:cNvPicPr>
          <p:nvPr/>
        </p:nvPicPr>
        <p:blipFill>
          <a:blip r:embed="rId2"/>
          <a:stretch>
            <a:fillRect/>
          </a:stretch>
        </p:blipFill>
        <p:spPr>
          <a:xfrm>
            <a:off x="2067560" y="1600200"/>
            <a:ext cx="2357120" cy="1325880"/>
          </a:xfrm>
          <a:prstGeom prst="rect">
            <a:avLst/>
          </a:prstGeom>
        </p:spPr>
      </p:pic>
      <p:pic>
        <p:nvPicPr>
          <p:cNvPr id="13" name="Picture 12" descr="frame_boat_lucid.jpg"/>
          <p:cNvPicPr>
            <a:picLocks noChangeAspect="1"/>
          </p:cNvPicPr>
          <p:nvPr/>
        </p:nvPicPr>
        <p:blipFill>
          <a:blip r:embed="rId3"/>
          <a:stretch>
            <a:fillRect/>
          </a:stretch>
        </p:blipFill>
        <p:spPr>
          <a:xfrm>
            <a:off x="5542280" y="1600200"/>
            <a:ext cx="2357120" cy="1325880"/>
          </a:xfrm>
          <a:prstGeom prst="rect">
            <a:avLst/>
          </a:prstGeom>
        </p:spPr>
      </p:pic>
      <p:pic>
        <p:nvPicPr>
          <p:cNvPr id="14" name="Picture 13" descr="frame_boat_oasis.jpg"/>
          <p:cNvPicPr>
            <a:picLocks noChangeAspect="1"/>
          </p:cNvPicPr>
          <p:nvPr/>
        </p:nvPicPr>
        <p:blipFill>
          <a:blip r:embed="rId4"/>
          <a:stretch>
            <a:fillRect/>
          </a:stretch>
        </p:blipFill>
        <p:spPr>
          <a:xfrm>
            <a:off x="9532620" y="1600200"/>
            <a:ext cx="1325880" cy="1325880"/>
          </a:xfrm>
          <a:prstGeom prst="rect">
            <a:avLst/>
          </a:prstGeom>
        </p:spPr>
      </p:pic>
      <p:sp>
        <p:nvSpPr>
          <p:cNvPr id="15" name="TextBox 14"/>
          <p:cNvSpPr txBox="1"/>
          <p:nvPr/>
        </p:nvSpPr>
        <p:spPr>
          <a:xfrm>
            <a:off x="274320" y="3474720"/>
            <a:ext cx="1234440" cy="731520"/>
          </a:xfrm>
          <a:prstGeom prst="rect">
            <a:avLst/>
          </a:prstGeom>
          <a:noFill/>
        </p:spPr>
        <p:txBody>
          <a:bodyPr wrap="square" anchor="t" lIns="45720" rIns="45720" tIns="18288" bIns="18288">
            <a:spAutoFit/>
          </a:bodyPr>
          <a:lstStyle/>
          <a:p>
            <a:pPr algn="l">
              <a:lnSpc>
                <a:spcPct val="105000"/>
              </a:lnSpc>
            </a:pPr>
            <a:r>
              <a:rPr sz="1200" b="1" i="0">
                <a:solidFill>
                  <a:srgbClr val="1F2937"/>
                </a:solidFill>
                <a:latin typeface="Calibri"/>
              </a:rPr>
              <a:t>Enter portal</a:t>
            </a:r>
          </a:p>
        </p:txBody>
      </p:sp>
      <p:pic>
        <p:nvPicPr>
          <p:cNvPr id="16" name="Picture 15" descr="frame_portal_dreamer.jpg"/>
          <p:cNvPicPr>
            <a:picLocks noChangeAspect="1"/>
          </p:cNvPicPr>
          <p:nvPr/>
        </p:nvPicPr>
        <p:blipFill>
          <a:blip r:embed="rId5"/>
          <a:stretch>
            <a:fillRect/>
          </a:stretch>
        </p:blipFill>
        <p:spPr>
          <a:xfrm>
            <a:off x="2067560" y="3017520"/>
            <a:ext cx="2357120" cy="1325880"/>
          </a:xfrm>
          <a:prstGeom prst="rect">
            <a:avLst/>
          </a:prstGeom>
        </p:spPr>
      </p:pic>
      <p:pic>
        <p:nvPicPr>
          <p:cNvPr id="17" name="Picture 16" descr="frame_portal_lucid.jpg"/>
          <p:cNvPicPr>
            <a:picLocks noChangeAspect="1"/>
          </p:cNvPicPr>
          <p:nvPr/>
        </p:nvPicPr>
        <p:blipFill>
          <a:blip r:embed="rId6"/>
          <a:stretch>
            <a:fillRect/>
          </a:stretch>
        </p:blipFill>
        <p:spPr>
          <a:xfrm>
            <a:off x="5542280" y="3017520"/>
            <a:ext cx="2357120" cy="1325880"/>
          </a:xfrm>
          <a:prstGeom prst="rect">
            <a:avLst/>
          </a:prstGeom>
        </p:spPr>
      </p:pic>
      <p:pic>
        <p:nvPicPr>
          <p:cNvPr id="18" name="Picture 17" descr="frame_portal_oasis.jpg"/>
          <p:cNvPicPr>
            <a:picLocks noChangeAspect="1"/>
          </p:cNvPicPr>
          <p:nvPr/>
        </p:nvPicPr>
        <p:blipFill>
          <a:blip r:embed="rId7"/>
          <a:stretch>
            <a:fillRect/>
          </a:stretch>
        </p:blipFill>
        <p:spPr>
          <a:xfrm>
            <a:off x="9532620" y="3017520"/>
            <a:ext cx="1325880" cy="1325880"/>
          </a:xfrm>
          <a:prstGeom prst="rect">
            <a:avLst/>
          </a:prstGeom>
        </p:spPr>
      </p:pic>
      <p:sp>
        <p:nvSpPr>
          <p:cNvPr id="19" name="TextBox 18"/>
          <p:cNvSpPr txBox="1"/>
          <p:nvPr/>
        </p:nvSpPr>
        <p:spPr>
          <a:xfrm>
            <a:off x="274320" y="4892040"/>
            <a:ext cx="1234440" cy="731520"/>
          </a:xfrm>
          <a:prstGeom prst="rect">
            <a:avLst/>
          </a:prstGeom>
          <a:noFill/>
        </p:spPr>
        <p:txBody>
          <a:bodyPr wrap="square" anchor="t" lIns="45720" rIns="45720" tIns="18288" bIns="18288">
            <a:spAutoFit/>
          </a:bodyPr>
          <a:lstStyle/>
          <a:p>
            <a:pPr algn="l">
              <a:lnSpc>
                <a:spcPct val="105000"/>
              </a:lnSpc>
            </a:pPr>
            <a:r>
              <a:rPr sz="1200" b="1" i="0">
                <a:solidFill>
                  <a:srgbClr val="1F2937"/>
                </a:solidFill>
                <a:latin typeface="Calibri"/>
              </a:rPr>
              <a:t>Craft wooden pickaxe</a:t>
            </a:r>
          </a:p>
        </p:txBody>
      </p:sp>
      <p:pic>
        <p:nvPicPr>
          <p:cNvPr id="20" name="Picture 19" descr="frame_pickaxe_dreamer.jpg"/>
          <p:cNvPicPr>
            <a:picLocks noChangeAspect="1"/>
          </p:cNvPicPr>
          <p:nvPr/>
        </p:nvPicPr>
        <p:blipFill>
          <a:blip r:embed="rId8"/>
          <a:stretch>
            <a:fillRect/>
          </a:stretch>
        </p:blipFill>
        <p:spPr>
          <a:xfrm>
            <a:off x="2067560" y="4434840"/>
            <a:ext cx="2357120" cy="1325880"/>
          </a:xfrm>
          <a:prstGeom prst="rect">
            <a:avLst/>
          </a:prstGeom>
        </p:spPr>
      </p:pic>
      <p:pic>
        <p:nvPicPr>
          <p:cNvPr id="21" name="Picture 20" descr="frame_pickaxe_lucid.jpg"/>
          <p:cNvPicPr>
            <a:picLocks noChangeAspect="1"/>
          </p:cNvPicPr>
          <p:nvPr/>
        </p:nvPicPr>
        <p:blipFill>
          <a:blip r:embed="rId9"/>
          <a:stretch>
            <a:fillRect/>
          </a:stretch>
        </p:blipFill>
        <p:spPr>
          <a:xfrm>
            <a:off x="5542280" y="4434840"/>
            <a:ext cx="2357120" cy="1325880"/>
          </a:xfrm>
          <a:prstGeom prst="rect">
            <a:avLst/>
          </a:prstGeom>
        </p:spPr>
      </p:pic>
      <p:pic>
        <p:nvPicPr>
          <p:cNvPr id="22" name="Picture 21" descr="frame_pickaxe_oasis.jpg"/>
          <p:cNvPicPr>
            <a:picLocks noChangeAspect="1"/>
          </p:cNvPicPr>
          <p:nvPr/>
        </p:nvPicPr>
        <p:blipFill>
          <a:blip r:embed="rId10"/>
          <a:stretch>
            <a:fillRect/>
          </a:stretch>
        </p:blipFill>
        <p:spPr>
          <a:xfrm>
            <a:off x="9532620" y="4434840"/>
            <a:ext cx="1325880" cy="1325880"/>
          </a:xfrm>
          <a:prstGeom prst="rect">
            <a:avLst/>
          </a:prstGeom>
        </p:spPr>
      </p:pic>
      <p:sp>
        <p:nvSpPr>
          <p:cNvPr id="23" name="TextBox 22"/>
          <p:cNvSpPr txBox="1"/>
          <p:nvPr/>
        </p:nvSpPr>
        <p:spPr>
          <a:xfrm>
            <a:off x="457200" y="5989320"/>
            <a:ext cx="11247120" cy="457200"/>
          </a:xfrm>
          <a:prstGeom prst="rect">
            <a:avLst/>
          </a:prstGeom>
          <a:noFill/>
        </p:spPr>
        <p:txBody>
          <a:bodyPr wrap="square" lIns="45720" rIns="45720" tIns="18288" bIns="18288">
            <a:spAutoFit/>
          </a:bodyPr>
          <a:lstStyle/>
          <a:p>
            <a:r>
              <a:rPr sz="1050" b="0" i="1">
                <a:solidFill>
                  <a:srgbClr val="6B7280"/>
                </a:solidFill>
                <a:latin typeface="Calibri"/>
              </a:rPr>
              <a:t>Single frames sampled from the project-page clips. Dreamer 4 renders the boat ride, the Nether-portal swirl and a working crafting-table menu; the baselines lose the scene or the menu.  ▶ All 51 clips (17 tasks × 3 models): </a:t>
            </a:r>
            <a:r>
              <a:rPr sz="1050" b="1" i="0">
                <a:solidFill>
                  <a:srgbClr val="2A56D6"/>
                </a:solidFill>
                <a:latin typeface="Calibri"/>
                <a:hlinkClick r:id="rId11"/>
              </a:rPr>
              <a:t>danijar.com/project/dreamer4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Diamonds from offline experience: the results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Success rate per milestone; 1,000 episodes × 60 min; same 2,541 h of data for all methods (Table 7 / Fig. 3)</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DOES IT HOLD UP?</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24</a:t>
            </a:r>
          </a:p>
        </p:txBody>
      </p:sp>
      <p:pic>
        <p:nvPicPr>
          <p:cNvPr id="8" name="Picture 7" descr="benchmark.png"/>
          <p:cNvPicPr>
            <a:picLocks noChangeAspect="1"/>
          </p:cNvPicPr>
          <p:nvPr/>
        </p:nvPicPr>
        <p:blipFill>
          <a:blip r:embed="rId2"/>
          <a:stretch>
            <a:fillRect/>
          </a:stretch>
        </p:blipFill>
        <p:spPr>
          <a:xfrm>
            <a:off x="716117" y="1371600"/>
            <a:ext cx="10729285" cy="3291840"/>
          </a:xfrm>
          <a:prstGeom prst="rect">
            <a:avLst/>
          </a:prstGeom>
        </p:spPr>
      </p:pic>
      <p:sp>
        <p:nvSpPr>
          <p:cNvPr id="9" name="TextBox 8"/>
          <p:cNvSpPr txBox="1"/>
          <p:nvPr/>
        </p:nvSpPr>
        <p:spPr>
          <a:xfrm>
            <a:off x="548640" y="4754880"/>
            <a:ext cx="11155680" cy="173736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00" b="1" i="0">
                <a:solidFill>
                  <a:srgbClr val="14213D"/>
                </a:solidFill>
                <a:latin typeface="Calibri"/>
              </a:rPr>
              <a:t>Dreamer 4:</a:t>
            </a:r>
            <a:r>
              <a:rPr sz="1400" b="0" i="0">
                <a:solidFill>
                  <a:srgbClr val="1F2937"/>
                </a:solidFill>
                <a:latin typeface="Calibri"/>
              </a:rPr>
              <a:t> stone pickaxe 90.1 % · iron ore 66.7 % · furnace 58.1 % · iron ingot 39.5 % · iron pickaxe 29.0 % · </a:t>
            </a:r>
            <a:r>
              <a:rPr sz="1400" b="1" i="0">
                <a:solidFill>
                  <a:srgbClr val="14213D"/>
                </a:solidFill>
                <a:latin typeface="Calibri"/>
              </a:rPr>
              <a:t>diamond 0.7 %</a:t>
            </a:r>
            <a:r>
              <a:rPr sz="1400" b="0" i="0">
                <a:solidFill>
                  <a:srgbClr val="1F2937"/>
                </a:solidFill>
                <a:latin typeface="Calibri"/>
              </a:rPr>
              <a:t> (≈ 7 of 1,000 episodes)</a:t>
            </a:r>
          </a:p>
          <a:p>
            <a:pPr marL="237744" indent="-201168">
              <a:lnSpc>
                <a:spcPct val="108000"/>
              </a:lnSpc>
              <a:spcAft>
                <a:spcPts val="600"/>
              </a:spcAft>
              <a:buClr>
                <a:srgbClr val="9AA3B2"/>
              </a:buClr>
              <a:buFont typeface="Arial"/>
              <a:buChar char="•"/>
            </a:pPr>
            <a:r>
              <a:rPr sz="1400" b="1" i="0">
                <a:solidFill>
                  <a:srgbClr val="14213D"/>
                </a:solidFill>
                <a:latin typeface="Calibri"/>
              </a:rPr>
              <a:t>VLA on Gemma 3 (same data):</a:t>
            </a:r>
            <a:r>
              <a:rPr sz="1400" b="0" i="0">
                <a:solidFill>
                  <a:srgbClr val="1F2937"/>
                </a:solidFill>
                <a:latin typeface="Calibri"/>
              </a:rPr>
              <a:t> iron pickaxe 11.2 %, no diamonds · </a:t>
            </a:r>
            <a:r>
              <a:rPr sz="1400" b="1" i="0">
                <a:solidFill>
                  <a:srgbClr val="14213D"/>
                </a:solidFill>
                <a:latin typeface="Calibri"/>
              </a:rPr>
              <a:t>BC:</a:t>
            </a:r>
            <a:r>
              <a:rPr sz="1400" b="0" i="0">
                <a:solidFill>
                  <a:srgbClr val="1F2937"/>
                </a:solidFill>
                <a:latin typeface="Calibri"/>
              </a:rPr>
              <a:t> 0.6 % · </a:t>
            </a:r>
            <a:r>
              <a:rPr sz="1400" b="1" i="0">
                <a:solidFill>
                  <a:srgbClr val="14213D"/>
                </a:solidFill>
                <a:latin typeface="Calibri"/>
              </a:rPr>
              <a:t>VPT fine-tuned</a:t>
            </a:r>
            <a:r>
              <a:rPr sz="1400" b="0" i="0">
                <a:solidFill>
                  <a:srgbClr val="1F2937"/>
                </a:solidFill>
                <a:latin typeface="Calibri"/>
              </a:rPr>
              <a:t> (pretrained on 270 K h of web video): only reliably reaches sticks</a:t>
            </a:r>
          </a:p>
          <a:p>
            <a:pPr marL="237744" indent="-201168">
              <a:lnSpc>
                <a:spcPct val="108000"/>
              </a:lnSpc>
              <a:spcAft>
                <a:spcPts val="600"/>
              </a:spcAft>
              <a:buClr>
                <a:srgbClr val="9AA3B2"/>
              </a:buClr>
              <a:buFont typeface="Arial"/>
              <a:buChar char="•"/>
            </a:pPr>
            <a:r>
              <a:rPr sz="1400" b="0" i="0">
                <a:solidFill>
                  <a:srgbClr val="1F2937"/>
                </a:solidFill>
                <a:latin typeface="Calibri"/>
              </a:rPr>
              <a:t>Gap widens along the tech tree: imitation is enough for early items, imagination RL matters where data is thin and horizons are long</a:t>
            </a:r>
          </a:p>
        </p:txBody>
      </p:sp>
      <p:sp>
        <p:nvSpPr>
          <p:cNvPr id="10" name="TextBox 9"/>
          <p:cNvSpPr txBox="1"/>
          <p:nvPr/>
        </p:nvSpPr>
        <p:spPr>
          <a:xfrm>
            <a:off x="457200" y="4526280"/>
            <a:ext cx="11247120" cy="457200"/>
          </a:xfrm>
          <a:prstGeom prst="rect">
            <a:avLst/>
          </a:prstGeom>
          <a:noFill/>
        </p:spPr>
        <p:txBody>
          <a:bodyPr wrap="square" lIns="45720" rIns="45720" tIns="18288" bIns="18288">
            <a:spAutoFit/>
          </a:bodyPr>
          <a:lstStyle/>
          <a:p>
            <a:r>
              <a:rPr sz="950" b="0" i="1">
                <a:solidFill>
                  <a:srgbClr val="6B7280"/>
                </a:solidFill>
                <a:latin typeface="Calibri"/>
              </a:rPr>
              <a:t>Official figure from danijar.com/project/dreamer4 (benchmark.png).   ▶ Watch the trained agent in the real game — four uncut 60-minute evaluation episodes on YouTube: </a:t>
            </a:r>
            <a:r>
              <a:rPr sz="950" b="1" i="0">
                <a:solidFill>
                  <a:srgbClr val="2A56D6"/>
                </a:solidFill>
                <a:latin typeface="Calibri"/>
                <a:hlinkClick r:id="rId3"/>
              </a:rPr>
              <a:t>Uncut #1</a:t>
            </a:r>
            <a:r>
              <a:rPr sz="950" b="0" i="1">
                <a:solidFill>
                  <a:srgbClr val="6B7280"/>
                </a:solidFill>
                <a:latin typeface="Calibri"/>
              </a:rPr>
              <a:t> · </a:t>
            </a:r>
            <a:r>
              <a:rPr sz="950" b="1" i="0">
                <a:solidFill>
                  <a:srgbClr val="2A56D6"/>
                </a:solidFill>
                <a:latin typeface="Calibri"/>
                <a:hlinkClick r:id="rId4"/>
              </a:rPr>
              <a:t>#2</a:t>
            </a:r>
            <a:r>
              <a:rPr sz="950" b="0" i="1">
                <a:solidFill>
                  <a:srgbClr val="6B7280"/>
                </a:solidFill>
                <a:latin typeface="Calibri"/>
              </a:rPr>
              <a:t> · </a:t>
            </a:r>
            <a:r>
              <a:rPr sz="950" b="1" i="0">
                <a:solidFill>
                  <a:srgbClr val="2A56D6"/>
                </a:solidFill>
                <a:latin typeface="Calibri"/>
                <a:hlinkClick r:id="rId5"/>
              </a:rPr>
              <a:t>#3</a:t>
            </a:r>
            <a:r>
              <a:rPr sz="950" b="0" i="1">
                <a:solidFill>
                  <a:srgbClr val="6B7280"/>
                </a:solidFill>
                <a:latin typeface="Calibri"/>
              </a:rPr>
              <a:t> · </a:t>
            </a:r>
            <a:r>
              <a:rPr sz="950" b="1" i="0">
                <a:solidFill>
                  <a:srgbClr val="2A56D6"/>
                </a:solidFill>
                <a:latin typeface="Calibri"/>
                <a:hlinkClick r:id="rId6"/>
              </a:rPr>
              <a:t>#4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Where do the gains come from? Agent ablations and speed</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Figure 4 / Table 8: representation (WM+BC vs BC) and imagination RL (Dreamer 4 vs WM+BC) both contribute</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3 · DOES IT HOLD UP?</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25</a:t>
            </a:r>
          </a:p>
        </p:txBody>
      </p:sp>
      <p:pic>
        <p:nvPicPr>
          <p:cNvPr id="8" name="Picture 7" descr="chart_table7_hard.png"/>
          <p:cNvPicPr>
            <a:picLocks noChangeAspect="1"/>
          </p:cNvPicPr>
          <p:nvPr/>
        </p:nvPicPr>
        <p:blipFill>
          <a:blip r:embed="rId2"/>
          <a:stretch>
            <a:fillRect/>
          </a:stretch>
        </p:blipFill>
        <p:spPr>
          <a:xfrm>
            <a:off x="366058" y="1371600"/>
            <a:ext cx="6765963" cy="3108960"/>
          </a:xfrm>
          <a:prstGeom prst="rect">
            <a:avLst/>
          </a:prstGeom>
        </p:spPr>
      </p:pic>
      <p:pic>
        <p:nvPicPr>
          <p:cNvPr id="9" name="Picture 8" descr="chart_time_to_milestone.png"/>
          <p:cNvPicPr>
            <a:picLocks noChangeAspect="1"/>
          </p:cNvPicPr>
          <p:nvPr/>
        </p:nvPicPr>
        <p:blipFill>
          <a:blip r:embed="rId3"/>
          <a:stretch>
            <a:fillRect/>
          </a:stretch>
        </p:blipFill>
        <p:spPr>
          <a:xfrm>
            <a:off x="7315200" y="1371600"/>
            <a:ext cx="4480560" cy="2940367"/>
          </a:xfrm>
          <a:prstGeom prst="rect">
            <a:avLst/>
          </a:prstGeom>
        </p:spPr>
      </p:pic>
      <p:sp>
        <p:nvSpPr>
          <p:cNvPr id="10" name="TextBox 9"/>
          <p:cNvSpPr txBox="1"/>
          <p:nvPr/>
        </p:nvSpPr>
        <p:spPr>
          <a:xfrm>
            <a:off x="548640" y="4617720"/>
            <a:ext cx="11155680" cy="182880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50" b="1" i="0">
                <a:solidFill>
                  <a:srgbClr val="14213D"/>
                </a:solidFill>
                <a:latin typeface="Calibri"/>
              </a:rPr>
              <a:t>Representation:</a:t>
            </a:r>
            <a:r>
              <a:rPr sz="1350" b="0" i="0">
                <a:solidFill>
                  <a:srgbClr val="1F2937"/>
                </a:solidFill>
                <a:latin typeface="Calibri"/>
              </a:rPr>
              <a:t> BC on the world model's features (WM+BC) vs plain BC — iron pickaxe 16.9 % vs 0.6 %; authors: 'video prediction implicitly learns an understanding of the world that is useful for decision making'</a:t>
            </a:r>
          </a:p>
          <a:p>
            <a:pPr marL="237744" indent="-201168">
              <a:lnSpc>
                <a:spcPct val="108000"/>
              </a:lnSpc>
              <a:spcAft>
                <a:spcPts val="600"/>
              </a:spcAft>
              <a:buClr>
                <a:srgbClr val="9AA3B2"/>
              </a:buClr>
              <a:buFont typeface="Arial"/>
              <a:buChar char="•"/>
            </a:pPr>
            <a:r>
              <a:rPr sz="1350" b="1" i="0">
                <a:solidFill>
                  <a:srgbClr val="14213D"/>
                </a:solidFill>
                <a:latin typeface="Calibri"/>
              </a:rPr>
              <a:t>Imagination RL:</a:t>
            </a:r>
            <a:r>
              <a:rPr sz="1350" b="0" i="0">
                <a:solidFill>
                  <a:srgbClr val="1F2937"/>
                </a:solidFill>
                <a:latin typeface="Calibri"/>
              </a:rPr>
              <a:t> adds +12 pts on iron pickaxe and +12 pts on iron ingot over WM+BC, and unlocks diamonds</a:t>
            </a:r>
          </a:p>
          <a:p>
            <a:pPr marL="237744" indent="-201168">
              <a:lnSpc>
                <a:spcPct val="108000"/>
              </a:lnSpc>
              <a:spcAft>
                <a:spcPts val="600"/>
              </a:spcAft>
              <a:buClr>
                <a:srgbClr val="9AA3B2"/>
              </a:buClr>
              <a:buFont typeface="Arial"/>
              <a:buChar char="•"/>
            </a:pPr>
            <a:r>
              <a:rPr sz="1350" b="1" i="0">
                <a:solidFill>
                  <a:srgbClr val="14213D"/>
                </a:solidFill>
                <a:latin typeface="Calibri"/>
              </a:rPr>
              <a:t>Speed:</a:t>
            </a:r>
            <a:r>
              <a:rPr sz="1350" b="0" i="0">
                <a:solidFill>
                  <a:srgbClr val="1F2937"/>
                </a:solidFill>
                <a:latin typeface="Calibri"/>
              </a:rPr>
              <a:t> Dreamer 4 is fastest at every milestone — iron pickaxe in 13.3 min vs 31.1 min for the VLA; diamonds in 20.7 min on average when achieved (human average ≈ 20 min)</a:t>
            </a:r>
          </a:p>
          <a:p>
            <a:pPr marL="237744" indent="-201168">
              <a:lnSpc>
                <a:spcPct val="108000"/>
              </a:lnSpc>
              <a:spcAft>
                <a:spcPts val="600"/>
              </a:spcAft>
              <a:buClr>
                <a:srgbClr val="9AA3B2"/>
              </a:buClr>
              <a:buFont typeface="Arial"/>
              <a:buChar char="•"/>
            </a:pPr>
            <a:r>
              <a:rPr sz="1350" b="1" i="0">
                <a:solidFill>
                  <a:srgbClr val="14213D"/>
                </a:solidFill>
                <a:latin typeface="Calibri"/>
              </a:rPr>
              <a:t>Task input matters:</a:t>
            </a:r>
            <a:r>
              <a:rPr sz="1350" b="0" i="0">
                <a:solidFill>
                  <a:srgbClr val="1F2937"/>
                </a:solidFill>
                <a:latin typeface="Calibri"/>
              </a:rPr>
              <a:t> BC without the task embedding collapses to 8.8 % stone pickaxe (Table 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949440" y="822960"/>
            <a:ext cx="4846320" cy="3840480"/>
          </a:xfrm>
          <a:prstGeom prst="rect">
            <a:avLst/>
          </a:prstGeom>
          <a:noFill/>
        </p:spPr>
        <p:txBody>
          <a:bodyPr wrap="square" anchor="t" lIns="45720" rIns="45720" tIns="18288" bIns="18288">
            <a:spAutoFit/>
          </a:bodyPr>
          <a:lstStyle/>
          <a:p>
            <a:pPr algn="r">
              <a:lnSpc>
                <a:spcPct val="105000"/>
              </a:lnSpc>
            </a:pPr>
            <a:r>
              <a:rPr sz="26000" b="1" i="0">
                <a:solidFill>
                  <a:srgbClr val="1D2D52"/>
                </a:solidFill>
                <a:latin typeface="Calibri"/>
              </a:rPr>
              <a:t>04</a:t>
            </a:r>
          </a:p>
        </p:txBody>
      </p:sp>
      <p:sp>
        <p:nvSpPr>
          <p:cNvPr id="4" name="TextBox 3"/>
          <p:cNvSpPr txBox="1"/>
          <p:nvPr/>
        </p:nvSpPr>
        <p:spPr>
          <a:xfrm>
            <a:off x="822960" y="2331720"/>
            <a:ext cx="5486400" cy="274320"/>
          </a:xfrm>
          <a:prstGeom prst="rect">
            <a:avLst/>
          </a:prstGeom>
          <a:noFill/>
        </p:spPr>
        <p:txBody>
          <a:bodyPr wrap="square" anchor="t" lIns="45720" rIns="45720" tIns="18288" bIns="18288">
            <a:spAutoFit/>
          </a:bodyPr>
          <a:lstStyle/>
          <a:p>
            <a:pPr algn="l">
              <a:lnSpc>
                <a:spcPct val="105000"/>
              </a:lnSpc>
            </a:pPr>
            <a:r>
              <a:rPr sz="1300" b="1" i="0" spc="120">
                <a:solidFill>
                  <a:srgbClr val="9DB8F5"/>
                </a:solidFill>
                <a:latin typeface="Calibri"/>
              </a:rPr>
              <a:t>PART 4</a:t>
            </a:r>
          </a:p>
        </p:txBody>
      </p:sp>
      <p:sp>
        <p:nvSpPr>
          <p:cNvPr id="5" name="Rectangle 4"/>
          <p:cNvSpPr/>
          <p:nvPr/>
        </p:nvSpPr>
        <p:spPr>
          <a:xfrm>
            <a:off x="822960" y="2724912"/>
            <a:ext cx="822960" cy="19050"/>
          </a:xfrm>
          <a:prstGeom prst="rect">
            <a:avLst/>
          </a:prstGeom>
          <a:solidFill>
            <a:srgbClr val="9DB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880360"/>
            <a:ext cx="8229600" cy="1188720"/>
          </a:xfrm>
          <a:prstGeom prst="rect">
            <a:avLst/>
          </a:prstGeom>
          <a:noFill/>
        </p:spPr>
        <p:txBody>
          <a:bodyPr wrap="square" anchor="t" lIns="45720" rIns="45720" tIns="18288" bIns="18288">
            <a:spAutoFit/>
          </a:bodyPr>
          <a:lstStyle/>
          <a:p>
            <a:pPr algn="l">
              <a:lnSpc>
                <a:spcPct val="105000"/>
              </a:lnSpc>
            </a:pPr>
            <a:r>
              <a:rPr sz="4400" b="1" i="0">
                <a:solidFill>
                  <a:srgbClr val="FFFFFF"/>
                </a:solidFill>
                <a:latin typeface="Calibri"/>
              </a:rPr>
              <a:t>Where it stands</a:t>
            </a:r>
          </a:p>
        </p:txBody>
      </p:sp>
      <p:sp>
        <p:nvSpPr>
          <p:cNvPr id="7" name="TextBox 6"/>
          <p:cNvSpPr txBox="1"/>
          <p:nvPr/>
        </p:nvSpPr>
        <p:spPr>
          <a:xfrm>
            <a:off x="822960" y="3977639"/>
            <a:ext cx="7772400" cy="1280160"/>
          </a:xfrm>
          <a:prstGeom prst="rect">
            <a:avLst/>
          </a:prstGeom>
          <a:noFill/>
        </p:spPr>
        <p:txBody>
          <a:bodyPr wrap="square" anchor="t" lIns="45720" rIns="45720" tIns="18288" bIns="18288">
            <a:spAutoFit/>
          </a:bodyPr>
          <a:lstStyle/>
          <a:p>
            <a:pPr algn="l">
              <a:lnSpc>
                <a:spcPct val="115000"/>
              </a:lnSpc>
            </a:pPr>
            <a:r>
              <a:rPr sz="1800" b="0" i="0">
                <a:solidFill>
                  <a:srgbClr val="C9D3E6"/>
                </a:solidFill>
                <a:latin typeface="Calibri"/>
              </a:rPr>
              <a:t>Genie 3, the caveats, and what to take away</a:t>
            </a:r>
          </a:p>
        </p:txBody>
      </p:sp>
      <p:sp>
        <p:nvSpPr>
          <p:cNvPr id="8" name="TextBox 7"/>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9DB8F5"/>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Genie 3 and Dreamer 4: agent outside vs. agent inside the model</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Human play in the research preview and Project Genie, the SIMA 2 agent loop, stated limitations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WHERE IT STANDS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27</a:t>
            </a:r>
          </a:p>
        </p:txBody>
      </p:sp>
      <p:pic>
        <p:nvPicPr>
          <p:cNvPr id="8" name="Picture 7" descr="genie3_bottom_s.jpg"/>
          <p:cNvPicPr>
            <a:picLocks noChangeAspect="1"/>
          </p:cNvPicPr>
          <p:nvPr/>
        </p:nvPicPr>
        <p:blipFill>
          <a:blip r:embed="rId2"/>
          <a:stretch>
            <a:fillRect/>
          </a:stretch>
        </p:blipFill>
        <p:spPr>
          <a:xfrm>
            <a:off x="365760" y="1417320"/>
            <a:ext cx="11430000" cy="2466975"/>
          </a:xfrm>
          <a:prstGeom prst="rect">
            <a:avLst/>
          </a:prstGeom>
        </p:spPr>
      </p:pic>
      <p:sp>
        <p:nvSpPr>
          <p:cNvPr id="9" name="TextBox 8"/>
          <p:cNvSpPr txBox="1"/>
          <p:nvPr/>
        </p:nvSpPr>
        <p:spPr>
          <a:xfrm>
            <a:off x="548640" y="4114800"/>
            <a:ext cx="11155680" cy="224028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00" b="1" i="0">
                <a:solidFill>
                  <a:srgbClr val="14213D"/>
                </a:solidFill>
                <a:latin typeface="Calibri"/>
              </a:rPr>
              <a:t>Agent outside vs. agent inside:</a:t>
            </a:r>
            <a:r>
              <a:rPr sz="1300" b="0" i="0">
                <a:solidFill>
                  <a:srgbClr val="1F2937"/>
                </a:solidFill>
                <a:latin typeface="Calibri"/>
              </a:rPr>
              <a:t> SIMA 2 acts in Genie 3 worlds with Gemini-written tasks and a learned reward model, and Genie 3 only renders the consequences; Dreamer 4's policy is a head on the same transformer, trained by RL on imagined latents with the reward head it learned from the data</a:t>
            </a:r>
          </a:p>
          <a:p>
            <a:pPr marL="237744" indent="-201168">
              <a:lnSpc>
                <a:spcPct val="108000"/>
              </a:lnSpc>
              <a:spcAft>
                <a:spcPts val="600"/>
              </a:spcAft>
              <a:buClr>
                <a:srgbClr val="9AA3B2"/>
              </a:buClr>
              <a:buFont typeface="Arial"/>
              <a:buChar char="•"/>
            </a:pPr>
            <a:r>
              <a:rPr sz="1300" b="1" i="0">
                <a:solidFill>
                  <a:srgbClr val="14213D"/>
                </a:solidFill>
                <a:latin typeface="Calibri"/>
              </a:rPr>
              <a:t>Same limits, different scale:</a:t>
            </a:r>
            <a:r>
              <a:rPr sz="1300" b="0" i="0">
                <a:solidFill>
                  <a:srgbClr val="1F2937"/>
                </a:solidFill>
                <a:latin typeface="Calibri"/>
              </a:rPr>
              <a:t> both are closed. Genie 3 stays consistent for minutes but with a limited action space; Dreamer 4 forgets beyond 9.6 s but simulates crafting menus, furnaces, boats and portals from raw mouse and keyboard</a:t>
            </a:r>
          </a:p>
          <a:p>
            <a:pPr marL="237744" indent="-201168">
              <a:lnSpc>
                <a:spcPct val="108000"/>
              </a:lnSpc>
              <a:spcAft>
                <a:spcPts val="600"/>
              </a:spcAft>
              <a:buClr>
                <a:srgbClr val="9AA3B2"/>
              </a:buClr>
              <a:buFont typeface="Arial"/>
              <a:buChar char="•"/>
            </a:pPr>
            <a:r>
              <a:rPr sz="1300" b="1" i="0">
                <a:solidFill>
                  <a:srgbClr val="14213D"/>
                </a:solidFill>
                <a:latin typeface="Calibri"/>
              </a:rPr>
              <a:t>Convergent direction:</a:t>
            </a:r>
            <a:r>
              <a:rPr sz="1300" b="0" i="0">
                <a:solidFill>
                  <a:srgbClr val="1F2937"/>
                </a:solidFill>
                <a:latin typeface="Calibri"/>
              </a:rPr>
              <a:t> both bet on world models as training grounds — Genie 3 via generated worlds for embodied agents and robots, Dreamer 4 via imagination training on offline video; neither has yet shown a policy that transfers to a physical robot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 critical reading: established vs. open</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What a reviewer would push on (and what independent groups later found)</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WHERE IT STANDS</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28</a:t>
            </a:r>
          </a:p>
        </p:txBody>
      </p:sp>
      <p:sp>
        <p:nvSpPr>
          <p:cNvPr id="8" name="Rectangle 7"/>
          <p:cNvSpPr/>
          <p:nvPr/>
        </p:nvSpPr>
        <p:spPr>
          <a:xfrm>
            <a:off x="457200" y="1463040"/>
            <a:ext cx="5362956" cy="1270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36192"/>
            <a:ext cx="5362956" cy="384048"/>
          </a:xfrm>
          <a:prstGeom prst="rect">
            <a:avLst/>
          </a:prstGeom>
          <a:noFill/>
        </p:spPr>
        <p:txBody>
          <a:bodyPr wrap="square" anchor="t" lIns="45720" rIns="45720" tIns="18288" bIns="18288">
            <a:spAutoFit/>
          </a:bodyPr>
          <a:lstStyle/>
          <a:p>
            <a:pPr algn="l">
              <a:lnSpc>
                <a:spcPct val="105000"/>
              </a:lnSpc>
            </a:pPr>
            <a:r>
              <a:rPr sz="1600" b="1" i="0">
                <a:solidFill>
                  <a:srgbClr val="14213D"/>
                </a:solidFill>
                <a:latin typeface="Calibri"/>
              </a:rPr>
              <a:t>Well supported</a:t>
            </a:r>
          </a:p>
        </p:txBody>
      </p:sp>
      <p:sp>
        <p:nvSpPr>
          <p:cNvPr id="10" name="TextBox 9"/>
          <p:cNvSpPr txBox="1"/>
          <p:nvPr/>
        </p:nvSpPr>
        <p:spPr>
          <a:xfrm>
            <a:off x="411480" y="1956816"/>
            <a:ext cx="5408676" cy="4261104"/>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450" b="0" i="0">
                <a:solidFill>
                  <a:srgbClr val="1F2937"/>
                </a:solidFill>
                <a:latin typeface="Calibri"/>
              </a:rPr>
              <a:t>Shortcut forcing + x-prediction gives a large speed/quality win — a clean 12-step ablation cascade, and reproduced by Open Dreamer at 1.6 B scale (JAX, 2026).</a:t>
            </a:r>
          </a:p>
          <a:p>
            <a:pPr marL="237744" indent="-201168">
              <a:lnSpc>
                <a:spcPct val="108000"/>
              </a:lnSpc>
              <a:spcAft>
                <a:spcPts val="500"/>
              </a:spcAft>
              <a:buClr>
                <a:srgbClr val="9AA3B2"/>
              </a:buClr>
              <a:buFont typeface="Arial"/>
              <a:buChar char="•"/>
            </a:pPr>
            <a:r>
              <a:rPr sz="1450" b="0" i="0">
                <a:solidFill>
                  <a:srgbClr val="1F2937"/>
                </a:solidFill>
                <a:latin typeface="Calibri"/>
              </a:rPr>
              <a:t>The world model handles object interactions far better than Oasis / Lucid-v1 — consistent human play-tests plus long-rollout FVD.</a:t>
            </a:r>
          </a:p>
          <a:p>
            <a:pPr marL="237744" indent="-201168">
              <a:lnSpc>
                <a:spcPct val="108000"/>
              </a:lnSpc>
              <a:spcAft>
                <a:spcPts val="500"/>
              </a:spcAft>
              <a:buClr>
                <a:srgbClr val="9AA3B2"/>
              </a:buClr>
              <a:buFont typeface="Arial"/>
              <a:buChar char="•"/>
            </a:pPr>
            <a:r>
              <a:rPr sz="1450" b="0" i="0">
                <a:solidFill>
                  <a:srgbClr val="1F2937"/>
                </a:solidFill>
                <a:latin typeface="Calibri"/>
              </a:rPr>
              <a:t>World-model features are a strong prior for imitation (WM+BC ≫ BC on the same data).</a:t>
            </a:r>
          </a:p>
          <a:p>
            <a:pPr marL="237744" indent="-201168">
              <a:lnSpc>
                <a:spcPct val="108000"/>
              </a:lnSpc>
              <a:spcAft>
                <a:spcPts val="500"/>
              </a:spcAft>
              <a:buClr>
                <a:srgbClr val="9AA3B2"/>
              </a:buClr>
              <a:buFont typeface="Arial"/>
              <a:buChar char="•"/>
            </a:pPr>
            <a:r>
              <a:rPr sz="1450" b="0" i="0">
                <a:solidFill>
                  <a:srgbClr val="1F2937"/>
                </a:solidFill>
                <a:latin typeface="Calibri"/>
              </a:rPr>
              <a:t>Action conditioning from ~4 % labeled data works and transfers across visual domains.</a:t>
            </a:r>
          </a:p>
        </p:txBody>
      </p:sp>
      <p:sp>
        <p:nvSpPr>
          <p:cNvPr id="11" name="Rectangle 10"/>
          <p:cNvSpPr/>
          <p:nvPr/>
        </p:nvSpPr>
        <p:spPr>
          <a:xfrm>
            <a:off x="6368796" y="1463040"/>
            <a:ext cx="5362956" cy="12700"/>
          </a:xfrm>
          <a:prstGeom prst="rect">
            <a:avLst/>
          </a:prstGeom>
          <a:solidFill>
            <a:srgbClr val="C97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8796" y="1536192"/>
            <a:ext cx="5362956" cy="384048"/>
          </a:xfrm>
          <a:prstGeom prst="rect">
            <a:avLst/>
          </a:prstGeom>
          <a:noFill/>
        </p:spPr>
        <p:txBody>
          <a:bodyPr wrap="square" anchor="t" lIns="45720" rIns="45720" tIns="18288" bIns="18288">
            <a:spAutoFit/>
          </a:bodyPr>
          <a:lstStyle/>
          <a:p>
            <a:pPr algn="l">
              <a:lnSpc>
                <a:spcPct val="105000"/>
              </a:lnSpc>
            </a:pPr>
            <a:r>
              <a:rPr sz="1600" b="1" i="0">
                <a:solidFill>
                  <a:srgbClr val="14213D"/>
                </a:solidFill>
                <a:latin typeface="Calibri"/>
              </a:rPr>
              <a:t>Open or thinly supported</a:t>
            </a:r>
          </a:p>
        </p:txBody>
      </p:sp>
      <p:sp>
        <p:nvSpPr>
          <p:cNvPr id="13" name="TextBox 12"/>
          <p:cNvSpPr txBox="1"/>
          <p:nvPr/>
        </p:nvSpPr>
        <p:spPr>
          <a:xfrm>
            <a:off x="6323076" y="1956816"/>
            <a:ext cx="5408676" cy="4261104"/>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450" b="0" i="0">
                <a:solidFill>
                  <a:srgbClr val="1F2937"/>
                </a:solidFill>
                <a:latin typeface="Calibri"/>
              </a:rPr>
              <a:t>Diamond result: 0.7 % without confidence intervals or per-seed variance; success criterion is a game event, protocol details are in the appendix only.</a:t>
            </a:r>
          </a:p>
          <a:p>
            <a:pPr marL="237744" indent="-201168">
              <a:lnSpc>
                <a:spcPct val="108000"/>
              </a:lnSpc>
              <a:spcAft>
                <a:spcPts val="500"/>
              </a:spcAft>
              <a:buClr>
                <a:srgbClr val="9AA3B2"/>
              </a:buClr>
              <a:buFont typeface="Arial"/>
              <a:buChar char="•"/>
            </a:pPr>
            <a:r>
              <a:rPr sz="1450" b="0" i="0">
                <a:solidFill>
                  <a:srgbClr val="1F2937"/>
                </a:solidFill>
                <a:latin typeface="Calibri"/>
              </a:rPr>
              <a:t>No direct quantitative long-horizon accuracy metric — interaction accuracy is human-judged on 16 tasks (Pith/EmergentMind critique).</a:t>
            </a:r>
          </a:p>
          <a:p>
            <a:pPr marL="237744" indent="-201168">
              <a:lnSpc>
                <a:spcPct val="108000"/>
              </a:lnSpc>
              <a:spcAft>
                <a:spcPts val="500"/>
              </a:spcAft>
              <a:buClr>
                <a:srgbClr val="9AA3B2"/>
              </a:buClr>
              <a:buFont typeface="Arial"/>
              <a:buChar char="•"/>
            </a:pPr>
            <a:r>
              <a:rPr sz="1450" b="0" i="0">
                <a:solidFill>
                  <a:srgbClr val="1F2937"/>
                </a:solidFill>
                <a:latin typeface="Calibri"/>
              </a:rPr>
              <a:t>RL gains over WM+BC are modest on most items; small-scale reproductions report high seed variance in the RL phase and reward-hacking of the frozen reward head.</a:t>
            </a:r>
          </a:p>
          <a:p>
            <a:pPr marL="237744" indent="-201168">
              <a:lnSpc>
                <a:spcPct val="108000"/>
              </a:lnSpc>
              <a:spcAft>
                <a:spcPts val="500"/>
              </a:spcAft>
              <a:buClr>
                <a:srgbClr val="9AA3B2"/>
              </a:buClr>
              <a:buFont typeface="Arial"/>
              <a:buChar char="•"/>
            </a:pPr>
            <a:r>
              <a:rPr sz="1450" b="0" i="0">
                <a:solidFill>
                  <a:srgbClr val="1F2937"/>
                </a:solidFill>
                <a:latin typeface="Calibri"/>
              </a:rPr>
              <a:t>No peer review as of Sept 2026 (arXiv v1 only); no code or weights; nobody outside DeepMind has reproduced offline diamonds.</a:t>
            </a:r>
          </a:p>
          <a:p>
            <a:pPr marL="237744" indent="-201168">
              <a:lnSpc>
                <a:spcPct val="108000"/>
              </a:lnSpc>
              <a:spcAft>
                <a:spcPts val="500"/>
              </a:spcAft>
              <a:buClr>
                <a:srgbClr val="9AA3B2"/>
              </a:buClr>
              <a:buFont typeface="Arial"/>
              <a:buChar char="•"/>
            </a:pPr>
            <a:r>
              <a:rPr sz="1450" b="0" i="0">
                <a:solidFill>
                  <a:srgbClr val="1F2937"/>
                </a:solidFill>
                <a:latin typeface="Calibri"/>
              </a:rPr>
              <a:t>Generality of the </a:t>
            </a:r>
            <a:r>
              <a:rPr sz="1450" b="0" i="1">
                <a:solidFill>
                  <a:srgbClr val="1F2937"/>
                </a:solidFill>
                <a:latin typeface="Calibri"/>
              </a:rPr>
              <a:t>agent</a:t>
            </a:r>
            <a:r>
              <a:rPr sz="1450" b="0" i="0">
                <a:solidFill>
                  <a:srgbClr val="1F2937"/>
                </a:solidFill>
                <a:latin typeface="Calibri"/>
              </a:rPr>
              <a:t> beyond Minecraft is untested.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What makes Dreamer 4 special — in one slide</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WHERE IT STANDS</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29</a:t>
            </a:r>
          </a:p>
        </p:txBody>
      </p:sp>
      <p:sp>
        <p:nvSpPr>
          <p:cNvPr id="7" name="TextBox 6"/>
          <p:cNvSpPr txBox="1"/>
          <p:nvPr/>
        </p:nvSpPr>
        <p:spPr>
          <a:xfrm>
            <a:off x="457200"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01</a:t>
            </a:r>
          </a:p>
        </p:txBody>
      </p:sp>
      <p:sp>
        <p:nvSpPr>
          <p:cNvPr id="8" name="Rectangle 7"/>
          <p:cNvSpPr/>
          <p:nvPr/>
        </p:nvSpPr>
        <p:spPr>
          <a:xfrm>
            <a:off x="457200"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92938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The first world model good enough to train in</a:t>
            </a:r>
          </a:p>
        </p:txBody>
      </p:sp>
      <p:sp>
        <p:nvSpPr>
          <p:cNvPr id="10" name="TextBox 9"/>
          <p:cNvSpPr txBox="1"/>
          <p:nvPr/>
        </p:nvSpPr>
        <p:spPr>
          <a:xfrm>
            <a:off x="457200" y="262432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Humans solve 14 of 16 interaction tasks inside it in real time; an agent trained only inside it reaches diamonds from offline video.</a:t>
            </a:r>
          </a:p>
        </p:txBody>
      </p:sp>
      <p:sp>
        <p:nvSpPr>
          <p:cNvPr id="11" name="TextBox 10"/>
          <p:cNvSpPr txBox="1"/>
          <p:nvPr/>
        </p:nvSpPr>
        <p:spPr>
          <a:xfrm>
            <a:off x="4352544"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02</a:t>
            </a:r>
          </a:p>
        </p:txBody>
      </p:sp>
      <p:sp>
        <p:nvSpPr>
          <p:cNvPr id="12" name="Rectangle 11"/>
          <p:cNvSpPr/>
          <p:nvPr/>
        </p:nvSpPr>
        <p:spPr>
          <a:xfrm>
            <a:off x="4352544"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52544" y="192938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Real-time diffusion is the enabling trick</a:t>
            </a:r>
          </a:p>
        </p:txBody>
      </p:sp>
      <p:sp>
        <p:nvSpPr>
          <p:cNvPr id="14" name="TextBox 13"/>
          <p:cNvSpPr txBox="1"/>
          <p:nvPr/>
        </p:nvSpPr>
        <p:spPr>
          <a:xfrm>
            <a:off x="4352544" y="262432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Shortcut forcing (4 steps), x-prediction with an x-space loss and time attention every 4th layer: 21 FPS on one GPU with 9.6 s of context.</a:t>
            </a:r>
          </a:p>
        </p:txBody>
      </p:sp>
      <p:sp>
        <p:nvSpPr>
          <p:cNvPr id="15" name="TextBox 14"/>
          <p:cNvSpPr txBox="1"/>
          <p:nvPr/>
        </p:nvSpPr>
        <p:spPr>
          <a:xfrm>
            <a:off x="8247888" y="141732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03</a:t>
            </a:r>
          </a:p>
        </p:txBody>
      </p:sp>
      <p:sp>
        <p:nvSpPr>
          <p:cNvPr id="16" name="Rectangle 15"/>
          <p:cNvSpPr/>
          <p:nvPr/>
        </p:nvSpPr>
        <p:spPr>
          <a:xfrm>
            <a:off x="8247888" y="185623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92938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One transformer, three roles</a:t>
            </a:r>
          </a:p>
        </p:txBody>
      </p:sp>
      <p:sp>
        <p:nvSpPr>
          <p:cNvPr id="18" name="TextBox 17"/>
          <p:cNvSpPr txBox="1"/>
          <p:nvPr/>
        </p:nvSpPr>
        <p:spPr>
          <a:xfrm>
            <a:off x="8247888" y="262432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Tokenizer, simulator and agent share the block-causal design; the agent reads the simulator through one-way attention and cannot bias it.</a:t>
            </a:r>
          </a:p>
        </p:txBody>
      </p:sp>
      <p:sp>
        <p:nvSpPr>
          <p:cNvPr id="19" name="TextBox 18"/>
          <p:cNvSpPr txBox="1"/>
          <p:nvPr/>
        </p:nvSpPr>
        <p:spPr>
          <a:xfrm>
            <a:off x="457200" y="402336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04</a:t>
            </a:r>
          </a:p>
        </p:txBody>
      </p:sp>
      <p:sp>
        <p:nvSpPr>
          <p:cNvPr id="20" name="Rectangle 19"/>
          <p:cNvSpPr/>
          <p:nvPr/>
        </p:nvSpPr>
        <p:spPr>
          <a:xfrm>
            <a:off x="457200" y="446227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53542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Imagination adds what imitation cannot</a:t>
            </a:r>
          </a:p>
        </p:txBody>
      </p:sp>
      <p:sp>
        <p:nvSpPr>
          <p:cNvPr id="22" name="TextBox 21"/>
          <p:cNvSpPr txBox="1"/>
          <p:nvPr/>
        </p:nvSpPr>
        <p:spPr>
          <a:xfrm>
            <a:off x="457200" y="523036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Most of the gain over BC is the world-model representation; RL inside the model adds the rest where data is thin: iron pickaxe 16.9 → 29 %, diamonds 0 → 0.7 %.</a:t>
            </a:r>
          </a:p>
        </p:txBody>
      </p:sp>
      <p:sp>
        <p:nvSpPr>
          <p:cNvPr id="23" name="TextBox 22"/>
          <p:cNvSpPr txBox="1"/>
          <p:nvPr/>
        </p:nvSpPr>
        <p:spPr>
          <a:xfrm>
            <a:off x="4352544" y="402336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05</a:t>
            </a:r>
          </a:p>
        </p:txBody>
      </p:sp>
      <p:sp>
        <p:nvSpPr>
          <p:cNvPr id="24" name="Rectangle 23"/>
          <p:cNvSpPr/>
          <p:nvPr/>
        </p:nvSpPr>
        <p:spPr>
          <a:xfrm>
            <a:off x="4352544" y="446227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52544" y="453542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Video is the prior, labels are cheap</a:t>
            </a:r>
          </a:p>
        </p:txBody>
      </p:sp>
      <p:sp>
        <p:nvSpPr>
          <p:cNvPr id="26" name="TextBox 25"/>
          <p:cNvSpPr txBox="1"/>
          <p:nvPr/>
        </p:nvSpPr>
        <p:spPr>
          <a:xfrm>
            <a:off x="4352544" y="523036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About 100 h of action labels on top of thousands of unlabeled hours suffice; action semantics transfer to worlds seen only as video.</a:t>
            </a:r>
          </a:p>
        </p:txBody>
      </p:sp>
      <p:sp>
        <p:nvSpPr>
          <p:cNvPr id="27" name="TextBox 26"/>
          <p:cNvSpPr txBox="1"/>
          <p:nvPr/>
        </p:nvSpPr>
        <p:spPr>
          <a:xfrm>
            <a:off x="8247888" y="4023360"/>
            <a:ext cx="348386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06</a:t>
            </a:r>
          </a:p>
        </p:txBody>
      </p:sp>
      <p:sp>
        <p:nvSpPr>
          <p:cNvPr id="28" name="Rectangle 27"/>
          <p:cNvSpPr/>
          <p:nvPr/>
        </p:nvSpPr>
        <p:spPr>
          <a:xfrm>
            <a:off x="8247888" y="4462272"/>
            <a:ext cx="348386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47888" y="4535424"/>
            <a:ext cx="3483864" cy="658368"/>
          </a:xfrm>
          <a:prstGeom prst="rect">
            <a:avLst/>
          </a:prstGeom>
          <a:noFill/>
        </p:spPr>
        <p:txBody>
          <a:bodyPr wrap="square" anchor="t" lIns="45720" rIns="45720" tIns="18288" bIns="18288">
            <a:spAutoFit/>
          </a:bodyPr>
          <a:lstStyle/>
          <a:p>
            <a:pPr algn="l">
              <a:lnSpc>
                <a:spcPct val="105000"/>
              </a:lnSpc>
            </a:pPr>
            <a:r>
              <a:rPr sz="1550" b="1" i="0">
                <a:solidFill>
                  <a:srgbClr val="14213D"/>
                </a:solidFill>
                <a:latin typeface="Calibri"/>
              </a:rPr>
              <a:t>What is still open</a:t>
            </a:r>
          </a:p>
        </p:txBody>
      </p:sp>
      <p:sp>
        <p:nvSpPr>
          <p:cNvPr id="30" name="TextBox 29"/>
          <p:cNvSpPr txBox="1"/>
          <p:nvPr/>
        </p:nvSpPr>
        <p:spPr>
          <a:xfrm>
            <a:off x="8247888" y="5230368"/>
            <a:ext cx="3483864" cy="1170432"/>
          </a:xfrm>
          <a:prstGeom prst="rect">
            <a:avLst/>
          </a:prstGeom>
          <a:noFill/>
        </p:spPr>
        <p:txBody>
          <a:bodyPr wrap="square" anchor="t" lIns="45720" rIns="45720" tIns="18288" bIns="18288">
            <a:spAutoFit/>
          </a:bodyPr>
          <a:lstStyle/>
          <a:p>
            <a:pPr algn="l">
              <a:lnSpc>
                <a:spcPct val="110000"/>
              </a:lnSpc>
              <a:spcAft>
                <a:spcPts val="500"/>
              </a:spcAft>
            </a:pPr>
            <a:r>
              <a:rPr sz="1450" b="0" i="0">
                <a:solidFill>
                  <a:srgbClr val="1F2937"/>
                </a:solidFill>
                <a:latin typeface="Calibri"/>
              </a:rPr>
              <a:t>9.6 s of memory, a frozen simulator the policy could exploit, thin statistics on the headline number, and no code or weights.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Questions for discussion</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WHERE IT STANDS</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30</a:t>
            </a:r>
          </a:p>
        </p:txBody>
      </p:sp>
      <p:sp>
        <p:nvSpPr>
          <p:cNvPr id="7" name="TextBox 6"/>
          <p:cNvSpPr txBox="1"/>
          <p:nvPr/>
        </p:nvSpPr>
        <p:spPr>
          <a:xfrm>
            <a:off x="640080" y="152704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01</a:t>
            </a:r>
          </a:p>
        </p:txBody>
      </p:sp>
      <p:sp>
        <p:nvSpPr>
          <p:cNvPr id="8" name="TextBox 7"/>
          <p:cNvSpPr txBox="1"/>
          <p:nvPr/>
        </p:nvSpPr>
        <p:spPr>
          <a:xfrm>
            <a:off x="1234440" y="1554480"/>
            <a:ext cx="1028700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How much of the diamond result is the world model versus PMPO? Would a stronger offline-RL baseline on world-model features (no imagination) close the gap?</a:t>
            </a:r>
          </a:p>
        </p:txBody>
      </p:sp>
      <p:sp>
        <p:nvSpPr>
          <p:cNvPr id="9" name="TextBox 8"/>
          <p:cNvSpPr txBox="1"/>
          <p:nvPr/>
        </p:nvSpPr>
        <p:spPr>
          <a:xfrm>
            <a:off x="640080" y="230936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02</a:t>
            </a:r>
          </a:p>
        </p:txBody>
      </p:sp>
      <p:sp>
        <p:nvSpPr>
          <p:cNvPr id="10" name="TextBox 9"/>
          <p:cNvSpPr txBox="1"/>
          <p:nvPr/>
        </p:nvSpPr>
        <p:spPr>
          <a:xfrm>
            <a:off x="1234440" y="2336800"/>
            <a:ext cx="1028700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Is human play-testing on 16 tasks a sufficient measure of 'accurate simulation'? What automated long-horizon metric would you propose?</a:t>
            </a:r>
          </a:p>
        </p:txBody>
      </p:sp>
      <p:sp>
        <p:nvSpPr>
          <p:cNvPr id="11" name="TextBox 10"/>
          <p:cNvSpPr txBox="1"/>
          <p:nvPr/>
        </p:nvSpPr>
        <p:spPr>
          <a:xfrm>
            <a:off x="640080" y="309168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03</a:t>
            </a:r>
          </a:p>
        </p:txBody>
      </p:sp>
      <p:sp>
        <p:nvSpPr>
          <p:cNvPr id="12" name="TextBox 11"/>
          <p:cNvSpPr txBox="1"/>
          <p:nvPr/>
        </p:nvSpPr>
        <p:spPr>
          <a:xfrm>
            <a:off x="1234440" y="3119120"/>
            <a:ext cx="1028700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The transformer is frozen during RL and the reward head is learned: where would you expect exploitation to appear first, and how would you detect it offline?</a:t>
            </a:r>
          </a:p>
        </p:txBody>
      </p:sp>
      <p:sp>
        <p:nvSpPr>
          <p:cNvPr id="13" name="TextBox 12"/>
          <p:cNvSpPr txBox="1"/>
          <p:nvPr/>
        </p:nvSpPr>
        <p:spPr>
          <a:xfrm>
            <a:off x="640080" y="387400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04</a:t>
            </a:r>
          </a:p>
        </p:txBody>
      </p:sp>
      <p:sp>
        <p:nvSpPr>
          <p:cNvPr id="14" name="TextBox 13"/>
          <p:cNvSpPr txBox="1"/>
          <p:nvPr/>
        </p:nvSpPr>
        <p:spPr>
          <a:xfrm>
            <a:off x="1234440" y="3901440"/>
            <a:ext cx="1028700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9.6 s of context: which memory mechanism (retrieval, state-space layers, compressed summaries) fits a block-causal diffusion transformer best?</a:t>
            </a:r>
          </a:p>
        </p:txBody>
      </p:sp>
      <p:sp>
        <p:nvSpPr>
          <p:cNvPr id="15" name="TextBox 14"/>
          <p:cNvSpPr txBox="1"/>
          <p:nvPr/>
        </p:nvSpPr>
        <p:spPr>
          <a:xfrm>
            <a:off x="640080" y="465632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05</a:t>
            </a:r>
          </a:p>
        </p:txBody>
      </p:sp>
      <p:sp>
        <p:nvSpPr>
          <p:cNvPr id="16" name="TextBox 15"/>
          <p:cNvSpPr txBox="1"/>
          <p:nvPr/>
        </p:nvSpPr>
        <p:spPr>
          <a:xfrm>
            <a:off x="1234440" y="4683760"/>
            <a:ext cx="10287000" cy="782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The recipe needs ~100 h of action labels per domain. What does the path to internet-scale video look like — inverse dynamics models, or Dreamer 4's 'no-action' embedding at scale?</a:t>
            </a:r>
          </a:p>
        </p:txBody>
      </p:sp>
      <p:sp>
        <p:nvSpPr>
          <p:cNvPr id="17" name="TextBox 16"/>
          <p:cNvSpPr txBox="1"/>
          <p:nvPr/>
        </p:nvSpPr>
        <p:spPr>
          <a:xfrm>
            <a:off x="640080" y="5438648"/>
            <a:ext cx="594360" cy="457200"/>
          </a:xfrm>
          <a:prstGeom prst="rect">
            <a:avLst/>
          </a:prstGeom>
          <a:noFill/>
        </p:spPr>
        <p:txBody>
          <a:bodyPr wrap="square" anchor="t" lIns="45720" rIns="45720" tIns="18288" bIns="18288">
            <a:spAutoFit/>
          </a:bodyPr>
          <a:lstStyle/>
          <a:p>
            <a:pPr algn="l">
              <a:lnSpc>
                <a:spcPct val="105000"/>
              </a:lnSpc>
            </a:pPr>
            <a:r>
              <a:rPr sz="1800" b="1" i="0">
                <a:solidFill>
                  <a:srgbClr val="2A56D6"/>
                </a:solidFill>
                <a:latin typeface="Calibri"/>
              </a:rPr>
              <a:t>06</a:t>
            </a:r>
          </a:p>
        </p:txBody>
      </p:sp>
      <p:sp>
        <p:nvSpPr>
          <p:cNvPr id="18" name="TextBox 17"/>
          <p:cNvSpPr txBox="1"/>
          <p:nvPr/>
        </p:nvSpPr>
        <p:spPr>
          <a:xfrm>
            <a:off x="1234440" y="5466080"/>
            <a:ext cx="10287000" cy="528320"/>
          </a:xfrm>
          <a:prstGeom prst="rect">
            <a:avLst/>
          </a:prstGeom>
          <a:noFill/>
        </p:spPr>
        <p:txBody>
          <a:bodyPr wrap="square" anchor="t" lIns="45720" rIns="45720" tIns="18288" bIns="18288">
            <a:spAutoFit/>
          </a:bodyPr>
          <a:lstStyle/>
          <a:p>
            <a:pPr algn="l">
              <a:lnSpc>
                <a:spcPct val="110000"/>
              </a:lnSpc>
            </a:pPr>
            <a:r>
              <a:rPr sz="1600" b="0" i="0">
                <a:solidFill>
                  <a:srgbClr val="1F2937"/>
                </a:solidFill>
                <a:latin typeface="Calibri"/>
              </a:rPr>
              <a:t>What would convince you that this transfers to real robots — and what evaluation would you run first?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References &amp; resources</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PART 4 · WHERE IT STANDS</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31</a:t>
            </a:r>
          </a:p>
        </p:txBody>
      </p:sp>
      <p:sp>
        <p:nvSpPr>
          <p:cNvPr id="7" name="TextBox 6"/>
          <p:cNvSpPr txBox="1"/>
          <p:nvPr/>
        </p:nvSpPr>
        <p:spPr>
          <a:xfrm>
            <a:off x="548640" y="1371600"/>
            <a:ext cx="11247120" cy="5120640"/>
          </a:xfrm>
          <a:prstGeom prst="rect">
            <a:avLst/>
          </a:prstGeom>
          <a:noFill/>
        </p:spPr>
        <p:txBody>
          <a:bodyPr wrap="square" lIns="45720" rIns="45720">
            <a:spAutoFit/>
          </a:bodyPr>
          <a:lstStyle/>
          <a:p>
            <a:pPr marL="237744" indent="-201168">
              <a:lnSpc>
                <a:spcPct val="108000"/>
              </a:lnSpc>
              <a:spcAft>
                <a:spcPts val="900"/>
              </a:spcAft>
              <a:buClr>
                <a:srgbClr val="9AA3B2"/>
              </a:buClr>
              <a:buFont typeface="Arial"/>
              <a:buChar char="•"/>
            </a:pPr>
            <a:r>
              <a:rPr sz="1400" b="1" i="0">
                <a:solidFill>
                  <a:srgbClr val="14213D"/>
                </a:solidFill>
                <a:latin typeface="Calibri"/>
              </a:rPr>
              <a:t>Paper:</a:t>
            </a:r>
            <a:r>
              <a:rPr sz="1400" b="0" i="0">
                <a:solidFill>
                  <a:srgbClr val="1F2937"/>
                </a:solidFill>
                <a:latin typeface="Calibri"/>
              </a:rPr>
              <a:t> Hafner*, Yan*, Lillicrap. Training Agents Inside of Scalable World Models. arXiv:2509.24527 (29 Sep 2025). https://arxiv.org/abs/2509.24527</a:t>
            </a:r>
          </a:p>
          <a:p>
            <a:pPr marL="237744" indent="-201168">
              <a:lnSpc>
                <a:spcPct val="108000"/>
              </a:lnSpc>
              <a:spcAft>
                <a:spcPts val="900"/>
              </a:spcAft>
              <a:buClr>
                <a:srgbClr val="9AA3B2"/>
              </a:buClr>
              <a:buFont typeface="Arial"/>
              <a:buChar char="•"/>
            </a:pPr>
            <a:r>
              <a:rPr sz="1400" b="1" i="0">
                <a:solidFill>
                  <a:srgbClr val="14213D"/>
                </a:solidFill>
                <a:latin typeface="Calibri"/>
              </a:rPr>
              <a:t>Project page &amp; videos:</a:t>
            </a:r>
            <a:r>
              <a:rPr sz="1400" b="0" i="0">
                <a:solidFill>
                  <a:srgbClr val="1F2937"/>
                </a:solidFill>
                <a:latin typeface="Calibri"/>
              </a:rPr>
              <a:t> https://danijar.com/project/dreamer4/ — overview video (youtube.com/watch?v=oDlBtTcX0g0), four uncut 60-min 'Diamond Challenge' evaluation episodes, 51 human-interaction clips</a:t>
            </a:r>
          </a:p>
          <a:p>
            <a:pPr marL="237744" indent="-201168">
              <a:lnSpc>
                <a:spcPct val="108000"/>
              </a:lnSpc>
              <a:spcAft>
                <a:spcPts val="900"/>
              </a:spcAft>
              <a:buClr>
                <a:srgbClr val="9AA3B2"/>
              </a:buClr>
              <a:buFont typeface="Arial"/>
              <a:buChar char="•"/>
            </a:pPr>
            <a:r>
              <a:rPr sz="1400" b="1" i="0">
                <a:solidFill>
                  <a:srgbClr val="14213D"/>
                </a:solidFill>
                <a:latin typeface="Calibri"/>
              </a:rPr>
              <a:t>Authors in conversation:</a:t>
            </a:r>
            <a:r>
              <a:rPr sz="1400" b="0" i="0">
                <a:solidFill>
                  <a:srgbClr val="1F2937"/>
                </a:solidFill>
                <a:latin typeface="Calibri"/>
              </a:rPr>
              <a:t> TalkRL E73 'Danijar Hafner on Dreamer v4' (10 Nov 2025), transcript available; Hack Club AMA (Dec 2025)</a:t>
            </a:r>
          </a:p>
          <a:p>
            <a:pPr marL="237744" indent="-201168">
              <a:lnSpc>
                <a:spcPct val="108000"/>
              </a:lnSpc>
              <a:spcAft>
                <a:spcPts val="900"/>
              </a:spcAft>
              <a:buClr>
                <a:srgbClr val="9AA3B2"/>
              </a:buClr>
              <a:buFont typeface="Arial"/>
              <a:buChar char="•"/>
            </a:pPr>
            <a:r>
              <a:rPr sz="1400" b="1" i="0">
                <a:solidFill>
                  <a:srgbClr val="14213D"/>
                </a:solidFill>
                <a:latin typeface="Calibri"/>
              </a:rPr>
              <a:t>Ingredients:</a:t>
            </a:r>
            <a:r>
              <a:rPr sz="1400" b="0" i="0">
                <a:solidFill>
                  <a:srgbClr val="1F2937"/>
                </a:solidFill>
                <a:latin typeface="Calibri"/>
              </a:rPr>
              <a:t> Chen et al., Diffusion Forcing (2407.01392) · Frans, Hafner, Levine, Abbeel, Shortcut Models (2410.12557) · Chen et al., MAETok (2502.03444) · Baker et al., VPT (2206.11795) · Hafner et al., DreamerV3 (2301.04104)</a:t>
            </a:r>
          </a:p>
          <a:p>
            <a:pPr marL="237744" indent="-201168">
              <a:lnSpc>
                <a:spcPct val="108000"/>
              </a:lnSpc>
              <a:spcAft>
                <a:spcPts val="900"/>
              </a:spcAft>
              <a:buClr>
                <a:srgbClr val="9AA3B2"/>
              </a:buClr>
              <a:buFont typeface="Arial"/>
              <a:buChar char="•"/>
            </a:pPr>
            <a:r>
              <a:rPr sz="1400" b="1" i="0">
                <a:solidFill>
                  <a:srgbClr val="14213D"/>
                </a:solidFill>
                <a:latin typeface="Calibri"/>
              </a:rPr>
              <a:t>Independent reproductions / follow-ups:</a:t>
            </a:r>
            <a:r>
              <a:rPr sz="1400" b="0" i="0">
                <a:solidFill>
                  <a:srgbClr val="1F2937"/>
                </a:solidFill>
                <a:latin typeface="Calibri"/>
              </a:rPr>
              <a:t> next-state/open-dreamer (JAX, 1.6 B Minecraft world model, Jul 2026) · IamCreateAI/Dreamerv4-MC (weights on HF) · nicklashansen/dreamer4 &amp; MMBench2 (Hansen &amp; Wang, 2606.27326) · lucidrains/dreamer4 (PyTorch)</a:t>
            </a:r>
          </a:p>
          <a:p>
            <a:pPr marL="237744" indent="-201168">
              <a:lnSpc>
                <a:spcPct val="108000"/>
              </a:lnSpc>
              <a:spcAft>
                <a:spcPts val="900"/>
              </a:spcAft>
              <a:buClr>
                <a:srgbClr val="9AA3B2"/>
              </a:buClr>
              <a:buFont typeface="Arial"/>
              <a:buChar char="•"/>
            </a:pPr>
            <a:r>
              <a:rPr sz="1400" b="1" i="0">
                <a:solidFill>
                  <a:srgbClr val="14213D"/>
                </a:solidFill>
                <a:latin typeface="Calibri"/>
              </a:rPr>
              <a:t>Everything above, archived:</a:t>
            </a:r>
            <a:r>
              <a:rPr sz="1400" b="0" i="0">
                <a:solidFill>
                  <a:srgbClr val="1F2937"/>
                </a:solidFill>
                <a:latin typeface="Calibri"/>
              </a:rPr>
              <a:t> https://github.com/HarmannBitte/Dreamer-4 — PDFs, repo snapshots, articles, transcripts, the official clips used in this deck, and a MEDIA_INDEX.md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The test bed: the offline diamond challenge</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No environment interaction at all — learn everything from 2,541 hours of human gameplay video</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32</a:t>
            </a:r>
          </a:p>
        </p:txBody>
      </p:sp>
      <p:sp>
        <p:nvSpPr>
          <p:cNvPr id="8" name="TextBox 7"/>
          <p:cNvSpPr txBox="1"/>
          <p:nvPr/>
        </p:nvSpPr>
        <p:spPr>
          <a:xfrm>
            <a:off x="548640" y="1417320"/>
            <a:ext cx="6035040" cy="475488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550" b="1" i="0">
                <a:solidFill>
                  <a:srgbClr val="14213D"/>
                </a:solidFill>
                <a:latin typeface="Calibri"/>
              </a:rPr>
              <a:t>Data:</a:t>
            </a:r>
            <a:r>
              <a:rPr sz="1550" b="0" i="0">
                <a:solidFill>
                  <a:srgbClr val="1F2937"/>
                </a:solidFill>
                <a:latin typeface="Calibri"/>
              </a:rPr>
              <a:t> OpenAI VPT contractor recordings (subsets 6–10), 2,541 h at 360×640, 20 FPS, with mouse &amp; keyboard labels; 90/10 train/eval split by 5-minute chunk</a:t>
            </a:r>
          </a:p>
          <a:p>
            <a:pPr marL="237744" indent="-201168">
              <a:lnSpc>
                <a:spcPct val="108000"/>
              </a:lnSpc>
              <a:spcAft>
                <a:spcPts val="600"/>
              </a:spcAft>
              <a:buClr>
                <a:srgbClr val="9AA3B2"/>
              </a:buClr>
              <a:buFont typeface="Arial"/>
              <a:buChar char="•"/>
            </a:pPr>
            <a:r>
              <a:rPr sz="1550" b="1" i="0">
                <a:solidFill>
                  <a:srgbClr val="14213D"/>
                </a:solidFill>
                <a:latin typeface="Calibri"/>
              </a:rPr>
              <a:t>Actions:</a:t>
            </a:r>
            <a:r>
              <a:rPr sz="1550" b="0" i="0">
                <a:solidFill>
                  <a:srgbClr val="1F2937"/>
                </a:solidFill>
                <a:latin typeface="Calibri"/>
              </a:rPr>
              <a:t> 23 binary keys + 121-way mouse class (11×11 foveated bins, VPT convention) — no abstract 'craft' actions</a:t>
            </a:r>
          </a:p>
          <a:p>
            <a:pPr marL="237744" indent="-201168">
              <a:lnSpc>
                <a:spcPct val="108000"/>
              </a:lnSpc>
              <a:spcAft>
                <a:spcPts val="600"/>
              </a:spcAft>
              <a:buClr>
                <a:srgbClr val="9AA3B2"/>
              </a:buClr>
              <a:buFont typeface="Arial"/>
              <a:buChar char="•"/>
            </a:pPr>
            <a:r>
              <a:rPr sz="1550" b="1" i="0">
                <a:solidFill>
                  <a:srgbClr val="14213D"/>
                </a:solidFill>
                <a:latin typeface="Calibri"/>
              </a:rPr>
              <a:t>Evaluation:</a:t>
            </a:r>
            <a:r>
              <a:rPr sz="1550" b="0" i="0">
                <a:solidFill>
                  <a:srgbClr val="1F2937"/>
                </a:solidFill>
                <a:latin typeface="Calibri"/>
              </a:rPr>
              <a:t> 1,000 fresh random worlds, empty inventory, 60 min each (72,000 actions at 20 FPS); a fixed prompt sequence walks the agent through the 12-item tech tree</a:t>
            </a:r>
          </a:p>
          <a:p>
            <a:pPr marL="237744" indent="-201168">
              <a:lnSpc>
                <a:spcPct val="108000"/>
              </a:lnSpc>
              <a:spcAft>
                <a:spcPts val="600"/>
              </a:spcAft>
              <a:buClr>
                <a:srgbClr val="9AA3B2"/>
              </a:buClr>
              <a:buFont typeface="Arial"/>
              <a:buChar char="•"/>
            </a:pPr>
            <a:r>
              <a:rPr sz="1550" b="1" i="0">
                <a:solidFill>
                  <a:srgbClr val="14213D"/>
                </a:solidFill>
                <a:latin typeface="Calibri"/>
              </a:rPr>
              <a:t>Why it is hard:</a:t>
            </a:r>
            <a:r>
              <a:rPr sz="1550" b="0" i="0">
                <a:solidFill>
                  <a:srgbClr val="1F2937"/>
                </a:solidFill>
                <a:latin typeface="Calibri"/>
              </a:rPr>
              <a:t> diamonds sit ~24,000 actions deep for a human; rewards are sparse; offline data covers the late tech tree thinly; every skill (chop → craft → mine → smelt) must chain without a single trial in the real game</a:t>
            </a:r>
          </a:p>
          <a:p>
            <a:pPr marL="237744" indent="-201168">
              <a:lnSpc>
                <a:spcPct val="108000"/>
              </a:lnSpc>
              <a:spcAft>
                <a:spcPts val="600"/>
              </a:spcAft>
              <a:buClr>
                <a:srgbClr val="9AA3B2"/>
              </a:buClr>
              <a:buFont typeface="Arial"/>
              <a:buChar char="•"/>
            </a:pPr>
            <a:r>
              <a:rPr sz="1550" b="1" i="0">
                <a:solidFill>
                  <a:srgbClr val="14213D"/>
                </a:solidFill>
                <a:latin typeface="Calibri"/>
              </a:rPr>
              <a:t>Baselines, all on the same data:</a:t>
            </a:r>
            <a:r>
              <a:rPr sz="1550" b="0" i="0">
                <a:solidFill>
                  <a:srgbClr val="1F2937"/>
                </a:solidFill>
                <a:latin typeface="Calibri"/>
              </a:rPr>
              <a:t> VPT fine-tuned, BC, BC without task input, a VLA built on Gemma 3, and 'WM + BC' (Dreamer 4 without imagination RL)</a:t>
            </a:r>
          </a:p>
        </p:txBody>
      </p:sp>
      <p:pic>
        <p:nvPicPr>
          <p:cNvPr id="9" name="Picture 8" descr="frame_diamond_dreamer.jpg"/>
          <p:cNvPicPr>
            <a:picLocks noChangeAspect="1"/>
          </p:cNvPicPr>
          <p:nvPr/>
        </p:nvPicPr>
        <p:blipFill>
          <a:blip r:embed="rId2"/>
          <a:stretch>
            <a:fillRect/>
          </a:stretch>
        </p:blipFill>
        <p:spPr>
          <a:xfrm>
            <a:off x="6858000" y="1463040"/>
            <a:ext cx="4846320" cy="2726055"/>
          </a:xfrm>
          <a:prstGeom prst="rect">
            <a:avLst/>
          </a:prstGeom>
        </p:spPr>
      </p:pic>
      <p:sp>
        <p:nvSpPr>
          <p:cNvPr id="10" name="TextBox 9"/>
          <p:cNvSpPr txBox="1"/>
          <p:nvPr/>
        </p:nvSpPr>
        <p:spPr>
          <a:xfrm>
            <a:off x="6858000" y="4224528"/>
            <a:ext cx="484632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Diamond ore, as simulated by the world model during a human 'mine diamonds' session (project page).</a:t>
            </a:r>
          </a:p>
        </p:txBody>
      </p:sp>
      <p:sp>
        <p:nvSpPr>
          <p:cNvPr id="11" name="Rectangle 10"/>
          <p:cNvSpPr/>
          <p:nvPr/>
        </p:nvSpPr>
        <p:spPr>
          <a:xfrm>
            <a:off x="6858000" y="4690872"/>
            <a:ext cx="25400" cy="996188"/>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0" y="4663440"/>
            <a:ext cx="464515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THE 12 MILESTONES (TABLE 5)</a:t>
            </a:r>
          </a:p>
        </p:txBody>
      </p:sp>
      <p:sp>
        <p:nvSpPr>
          <p:cNvPr id="13" name="TextBox 12"/>
          <p:cNvSpPr txBox="1"/>
          <p:nvPr/>
        </p:nvSpPr>
        <p:spPr>
          <a:xfrm>
            <a:off x="7040880" y="4992624"/>
            <a:ext cx="4645152" cy="1097280"/>
          </a:xfrm>
          <a:prstGeom prst="rect">
            <a:avLst/>
          </a:prstGeom>
          <a:noFill/>
        </p:spPr>
        <p:txBody>
          <a:bodyPr wrap="square" anchor="t" lIns="45720" rIns="45720" tIns="18288" bIns="18288">
            <a:spAutoFit/>
          </a:bodyPr>
          <a:lstStyle/>
          <a:p>
            <a:pPr algn="l">
              <a:lnSpc>
                <a:spcPct val="110000"/>
              </a:lnSpc>
              <a:spcAft>
                <a:spcPts val="500"/>
              </a:spcAft>
            </a:pPr>
            <a:r>
              <a:rPr sz="1200" b="0" i="0">
                <a:solidFill>
                  <a:srgbClr val="1F2937"/>
                </a:solidFill>
                <a:latin typeface="Calibri"/>
              </a:rPr>
              <a:t>log → planks → crafting table → stick → wooden pickaxe → cobblestone → stone pickaxe → iron ore → furnace → iron ingot → iron pickaxe → diamond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Who reached diamonds before, and what it cost</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Table 3: same goal, very different regimes — hours of data and interaction behind each agent</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33</a:t>
            </a:r>
          </a:p>
        </p:txBody>
      </p:sp>
      <p:pic>
        <p:nvPicPr>
          <p:cNvPr id="8" name="Picture 7" descr="chart_agent_cost_s.jpg"/>
          <p:cNvPicPr>
            <a:picLocks noChangeAspect="1"/>
          </p:cNvPicPr>
          <p:nvPr/>
        </p:nvPicPr>
        <p:blipFill>
          <a:blip r:embed="rId2"/>
          <a:stretch>
            <a:fillRect/>
          </a:stretch>
        </p:blipFill>
        <p:spPr>
          <a:xfrm>
            <a:off x="365760" y="1371600"/>
            <a:ext cx="7223760" cy="4467325"/>
          </a:xfrm>
          <a:prstGeom prst="rect">
            <a:avLst/>
          </a:prstGeom>
        </p:spPr>
      </p:pic>
      <p:sp>
        <p:nvSpPr>
          <p:cNvPr id="9" name="Rectangle 8"/>
          <p:cNvSpPr/>
          <p:nvPr/>
        </p:nvSpPr>
        <p:spPr>
          <a:xfrm>
            <a:off x="7955279" y="1490472"/>
            <a:ext cx="25400" cy="1398524"/>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59" y="1463040"/>
            <a:ext cx="363931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VPT (OPENAI, 2022)</a:t>
            </a:r>
          </a:p>
        </p:txBody>
      </p:sp>
      <p:sp>
        <p:nvSpPr>
          <p:cNvPr id="11" name="TextBox 10"/>
          <p:cNvSpPr txBox="1"/>
          <p:nvPr/>
        </p:nvSpPr>
        <p:spPr>
          <a:xfrm>
            <a:off x="8138159" y="1792224"/>
            <a:ext cx="3639312" cy="1234440"/>
          </a:xfrm>
          <a:prstGeom prst="rect">
            <a:avLst/>
          </a:prstGeom>
          <a:noFill/>
        </p:spPr>
        <p:txBody>
          <a:bodyPr wrap="square" anchor="t" lIns="45720" rIns="45720" tIns="18288" bIns="18288">
            <a:spAutoFit/>
          </a:bodyPr>
          <a:lstStyle/>
          <a:p>
            <a:pPr algn="l">
              <a:lnSpc>
                <a:spcPct val="110000"/>
              </a:lnSpc>
              <a:spcAft>
                <a:spcPts val="500"/>
              </a:spcAft>
            </a:pPr>
            <a:r>
              <a:rPr sz="1200" b="0" i="0">
                <a:solidFill>
                  <a:srgbClr val="1F2937"/>
                </a:solidFill>
                <a:latin typeface="Calibri"/>
              </a:rPr>
              <a:t>Showed that web video plus an inverse-dynamics model can bootstrap a mouse-and-keyboard policy — but diamonds still took 194K hours of trial and error in the live game, and the pure behavioural-cloning variant never crafts a wooden pickaxe offline.</a:t>
            </a:r>
          </a:p>
        </p:txBody>
      </p:sp>
      <p:sp>
        <p:nvSpPr>
          <p:cNvPr id="12" name="Rectangle 11"/>
          <p:cNvSpPr/>
          <p:nvPr/>
        </p:nvSpPr>
        <p:spPr>
          <a:xfrm>
            <a:off x="7955279" y="3182112"/>
            <a:ext cx="25400" cy="1197356"/>
          </a:xfrm>
          <a:prstGeom prst="rect">
            <a:avLst/>
          </a:prstGeom>
          <a:solidFill>
            <a:srgbClr val="2A56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38159" y="3154680"/>
            <a:ext cx="363931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DREAMER 3 (2023)</a:t>
            </a:r>
          </a:p>
        </p:txBody>
      </p:sp>
      <p:sp>
        <p:nvSpPr>
          <p:cNvPr id="14" name="TextBox 13"/>
          <p:cNvSpPr txBox="1"/>
          <p:nvPr/>
        </p:nvSpPr>
        <p:spPr>
          <a:xfrm>
            <a:off x="8138159" y="3483864"/>
            <a:ext cx="3639312" cy="1051560"/>
          </a:xfrm>
          <a:prstGeom prst="rect">
            <a:avLst/>
          </a:prstGeom>
          <a:noFill/>
        </p:spPr>
        <p:txBody>
          <a:bodyPr wrap="square" anchor="t" lIns="45720" rIns="45720" tIns="18288" bIns="18288">
            <a:spAutoFit/>
          </a:bodyPr>
          <a:lstStyle/>
          <a:p>
            <a:pPr algn="l">
              <a:lnSpc>
                <a:spcPct val="110000"/>
              </a:lnSpc>
              <a:spcAft>
                <a:spcPts val="500"/>
              </a:spcAft>
            </a:pPr>
            <a:r>
              <a:rPr sz="1200" b="0" i="0">
                <a:solidFill>
                  <a:srgbClr val="1F2937"/>
                </a:solidFill>
                <a:latin typeface="Calibri"/>
              </a:rPr>
              <a:t>Reached diamonds from scratch by online RL inside a small recurrent world model — at 64×64 pixels, with inventory state as input and abstract crafting actions instead of mouse clicks in menus.</a:t>
            </a:r>
          </a:p>
        </p:txBody>
      </p:sp>
      <p:sp>
        <p:nvSpPr>
          <p:cNvPr id="15" name="Rectangle 14"/>
          <p:cNvSpPr/>
          <p:nvPr/>
        </p:nvSpPr>
        <p:spPr>
          <a:xfrm>
            <a:off x="7955279" y="4690872"/>
            <a:ext cx="25400" cy="1398524"/>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59" y="4663440"/>
            <a:ext cx="3639312" cy="274320"/>
          </a:xfrm>
          <a:prstGeom prst="rect">
            <a:avLst/>
          </a:prstGeom>
          <a:noFill/>
        </p:spPr>
        <p:txBody>
          <a:bodyPr wrap="square" anchor="t" lIns="45720" rIns="45720" tIns="18288" bIns="18288">
            <a:spAutoFit/>
          </a:bodyPr>
          <a:lstStyle/>
          <a:p>
            <a:pPr algn="l">
              <a:lnSpc>
                <a:spcPct val="105000"/>
              </a:lnSpc>
            </a:pPr>
            <a:r>
              <a:rPr sz="1000" b="1" i="0" spc="120">
                <a:solidFill>
                  <a:srgbClr val="14213D"/>
                </a:solidFill>
                <a:latin typeface="Calibri"/>
              </a:rPr>
              <a:t>DREAMER 4'S BET</a:t>
            </a:r>
          </a:p>
        </p:txBody>
      </p:sp>
      <p:sp>
        <p:nvSpPr>
          <p:cNvPr id="17" name="TextBox 16"/>
          <p:cNvSpPr txBox="1"/>
          <p:nvPr/>
        </p:nvSpPr>
        <p:spPr>
          <a:xfrm>
            <a:off x="8138159" y="4992624"/>
            <a:ext cx="3639312" cy="1234440"/>
          </a:xfrm>
          <a:prstGeom prst="rect">
            <a:avLst/>
          </a:prstGeom>
          <a:noFill/>
        </p:spPr>
        <p:txBody>
          <a:bodyPr wrap="square" anchor="t" lIns="45720" rIns="45720" tIns="18288" bIns="18288">
            <a:spAutoFit/>
          </a:bodyPr>
          <a:lstStyle/>
          <a:p>
            <a:pPr algn="l">
              <a:lnSpc>
                <a:spcPct val="110000"/>
              </a:lnSpc>
              <a:spcAft>
                <a:spcPts val="500"/>
              </a:spcAft>
            </a:pPr>
            <a:r>
              <a:rPr sz="1200" b="0" i="0">
                <a:solidFill>
                  <a:srgbClr val="1F2937"/>
                </a:solidFill>
                <a:latin typeface="Calibri"/>
              </a:rPr>
              <a:t>Keep the human interface (360×640 pixels, raw mouse &amp; keyboard), drop environment interaction entirely, and get the missing experience from imagination instead of the game — 100× less data than the keyboard-and-mouse agents before it (Table 3 caption).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Overview: three phases, one transformer</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Algorithm 1 in the paper</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34</a:t>
            </a:r>
          </a:p>
        </p:txBody>
      </p:sp>
      <p:sp>
        <p:nvSpPr>
          <p:cNvPr id="8" name="TextBox 7"/>
          <p:cNvSpPr txBox="1"/>
          <p:nvPr/>
        </p:nvSpPr>
        <p:spPr>
          <a:xfrm>
            <a:off x="457200" y="1417320"/>
            <a:ext cx="342290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Phase 1</a:t>
            </a:r>
          </a:p>
        </p:txBody>
      </p:sp>
      <p:sp>
        <p:nvSpPr>
          <p:cNvPr id="9" name="TextBox 8"/>
          <p:cNvSpPr txBox="1"/>
          <p:nvPr/>
        </p:nvSpPr>
        <p:spPr>
          <a:xfrm>
            <a:off x="3880104" y="1435608"/>
            <a:ext cx="502920" cy="411480"/>
          </a:xfrm>
          <a:prstGeom prst="rect">
            <a:avLst/>
          </a:prstGeom>
          <a:noFill/>
        </p:spPr>
        <p:txBody>
          <a:bodyPr wrap="square" anchor="t" lIns="45720" rIns="45720" tIns="18288" bIns="18288">
            <a:spAutoFit/>
          </a:bodyPr>
          <a:lstStyle/>
          <a:p>
            <a:pPr algn="ctr">
              <a:lnSpc>
                <a:spcPct val="105000"/>
              </a:lnSpc>
            </a:pPr>
            <a:r>
              <a:rPr sz="1800" b="0" i="0">
                <a:solidFill>
                  <a:srgbClr val="9AA3B2"/>
                </a:solidFill>
                <a:latin typeface="Calibri"/>
              </a:rPr>
              <a:t>→</a:t>
            </a:r>
          </a:p>
        </p:txBody>
      </p:sp>
      <p:sp>
        <p:nvSpPr>
          <p:cNvPr id="10" name="Rectangle 9"/>
          <p:cNvSpPr/>
          <p:nvPr/>
        </p:nvSpPr>
        <p:spPr>
          <a:xfrm>
            <a:off x="457200" y="1856232"/>
            <a:ext cx="342290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929384"/>
            <a:ext cx="342290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World-model pretraining</a:t>
            </a:r>
          </a:p>
        </p:txBody>
      </p:sp>
      <p:sp>
        <p:nvSpPr>
          <p:cNvPr id="12" name="TextBox 11"/>
          <p:cNvSpPr txBox="1"/>
          <p:nvPr/>
        </p:nvSpPr>
        <p:spPr>
          <a:xfrm>
            <a:off x="411480" y="2350008"/>
            <a:ext cx="3468624" cy="2450592"/>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00" b="0" i="0">
                <a:solidFill>
                  <a:srgbClr val="1F2937"/>
                </a:solidFill>
                <a:latin typeface="Calibri"/>
              </a:rPr>
              <a:t>Train the causal tokenizer (masked autoencoding), then freeze it</a:t>
            </a:r>
          </a:p>
          <a:p>
            <a:pPr marL="237744" indent="-201168">
              <a:lnSpc>
                <a:spcPct val="108000"/>
              </a:lnSpc>
              <a:spcAft>
                <a:spcPts val="500"/>
              </a:spcAft>
              <a:buClr>
                <a:srgbClr val="9AA3B2"/>
              </a:buClr>
              <a:buFont typeface="Arial"/>
              <a:buChar char="•"/>
            </a:pPr>
            <a:r>
              <a:rPr sz="1300" b="0" i="0">
                <a:solidFill>
                  <a:srgbClr val="1F2937"/>
                </a:solidFill>
                <a:latin typeface="Calibri"/>
              </a:rPr>
              <a:t>Train the interactive dynamics model on tokenized video ± actions with shortcut forcing</a:t>
            </a:r>
          </a:p>
          <a:p>
            <a:pPr marL="237744" indent="-201168">
              <a:lnSpc>
                <a:spcPct val="108000"/>
              </a:lnSpc>
              <a:spcAft>
                <a:spcPts val="500"/>
              </a:spcAft>
              <a:buClr>
                <a:srgbClr val="9AA3B2"/>
              </a:buClr>
              <a:buFont typeface="Arial"/>
              <a:buChar char="•"/>
            </a:pPr>
            <a:r>
              <a:rPr sz="1300" b="0" i="0">
                <a:solidFill>
                  <a:srgbClr val="1F2937"/>
                </a:solidFill>
                <a:latin typeface="Calibri"/>
              </a:rPr>
              <a:t>Inputs: all 2,541 h, labeled or not</a:t>
            </a:r>
          </a:p>
        </p:txBody>
      </p:sp>
      <p:sp>
        <p:nvSpPr>
          <p:cNvPr id="13" name="TextBox 12"/>
          <p:cNvSpPr txBox="1"/>
          <p:nvPr/>
        </p:nvSpPr>
        <p:spPr>
          <a:xfrm>
            <a:off x="4383024" y="1417320"/>
            <a:ext cx="342290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Phase 2</a:t>
            </a:r>
          </a:p>
        </p:txBody>
      </p:sp>
      <p:sp>
        <p:nvSpPr>
          <p:cNvPr id="14" name="TextBox 13"/>
          <p:cNvSpPr txBox="1"/>
          <p:nvPr/>
        </p:nvSpPr>
        <p:spPr>
          <a:xfrm>
            <a:off x="7805928" y="1435608"/>
            <a:ext cx="502920" cy="411480"/>
          </a:xfrm>
          <a:prstGeom prst="rect">
            <a:avLst/>
          </a:prstGeom>
          <a:noFill/>
        </p:spPr>
        <p:txBody>
          <a:bodyPr wrap="square" anchor="t" lIns="45720" rIns="45720" tIns="18288" bIns="18288">
            <a:spAutoFit/>
          </a:bodyPr>
          <a:lstStyle/>
          <a:p>
            <a:pPr algn="ctr">
              <a:lnSpc>
                <a:spcPct val="105000"/>
              </a:lnSpc>
            </a:pPr>
            <a:r>
              <a:rPr sz="1800" b="0" i="0">
                <a:solidFill>
                  <a:srgbClr val="9AA3B2"/>
                </a:solidFill>
                <a:latin typeface="Calibri"/>
              </a:rPr>
              <a:t>→</a:t>
            </a:r>
          </a:p>
        </p:txBody>
      </p:sp>
      <p:sp>
        <p:nvSpPr>
          <p:cNvPr id="15" name="Rectangle 14"/>
          <p:cNvSpPr/>
          <p:nvPr/>
        </p:nvSpPr>
        <p:spPr>
          <a:xfrm>
            <a:off x="4383024" y="1856232"/>
            <a:ext cx="342290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3024" y="1929384"/>
            <a:ext cx="342290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Agent fine-tuning</a:t>
            </a:r>
          </a:p>
        </p:txBody>
      </p:sp>
      <p:sp>
        <p:nvSpPr>
          <p:cNvPr id="17" name="TextBox 16"/>
          <p:cNvSpPr txBox="1"/>
          <p:nvPr/>
        </p:nvSpPr>
        <p:spPr>
          <a:xfrm>
            <a:off x="4337304" y="2350008"/>
            <a:ext cx="3468624" cy="2450592"/>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00" b="0" i="0">
                <a:solidFill>
                  <a:srgbClr val="1F2937"/>
                </a:solidFill>
                <a:latin typeface="Calibri"/>
              </a:rPr>
              <a:t>Insert agent tokens with task embedding; add policy &amp; reward heads</a:t>
            </a:r>
          </a:p>
          <a:p>
            <a:pPr marL="237744" indent="-201168">
              <a:lnSpc>
                <a:spcPct val="108000"/>
              </a:lnSpc>
              <a:spcAft>
                <a:spcPts val="500"/>
              </a:spcAft>
              <a:buClr>
                <a:srgbClr val="9AA3B2"/>
              </a:buClr>
              <a:buFont typeface="Arial"/>
              <a:buChar char="•"/>
            </a:pPr>
            <a:r>
              <a:rPr sz="1300" b="0" i="0">
                <a:solidFill>
                  <a:srgbClr val="1F2937"/>
                </a:solidFill>
                <a:latin typeface="Calibri"/>
              </a:rPr>
              <a:t>Behavioural cloning with multi-token prediction (L = 8) on task-relevant data</a:t>
            </a:r>
          </a:p>
          <a:p>
            <a:pPr marL="237744" indent="-201168">
              <a:lnSpc>
                <a:spcPct val="108000"/>
              </a:lnSpc>
              <a:spcAft>
                <a:spcPts val="500"/>
              </a:spcAft>
              <a:buClr>
                <a:srgbClr val="9AA3B2"/>
              </a:buClr>
              <a:buFont typeface="Arial"/>
              <a:buChar char="•"/>
            </a:pPr>
            <a:r>
              <a:rPr sz="1300" b="0" i="0">
                <a:solidFill>
                  <a:srgbClr val="1F2937"/>
                </a:solidFill>
                <a:latin typeface="Calibri"/>
              </a:rPr>
              <a:t>Dynamics loss continues on uniform data so the model stays honest</a:t>
            </a:r>
          </a:p>
        </p:txBody>
      </p:sp>
      <p:sp>
        <p:nvSpPr>
          <p:cNvPr id="18" name="TextBox 17"/>
          <p:cNvSpPr txBox="1"/>
          <p:nvPr/>
        </p:nvSpPr>
        <p:spPr>
          <a:xfrm>
            <a:off x="8308848" y="1417320"/>
            <a:ext cx="3422904" cy="411480"/>
          </a:xfrm>
          <a:prstGeom prst="rect">
            <a:avLst/>
          </a:prstGeom>
          <a:noFill/>
        </p:spPr>
        <p:txBody>
          <a:bodyPr wrap="square" anchor="t" lIns="45720" rIns="45720" tIns="18288" bIns="18288">
            <a:spAutoFit/>
          </a:bodyPr>
          <a:lstStyle/>
          <a:p>
            <a:pPr algn="l">
              <a:lnSpc>
                <a:spcPct val="105000"/>
              </a:lnSpc>
            </a:pPr>
            <a:r>
              <a:rPr sz="2000" b="1" i="0">
                <a:solidFill>
                  <a:srgbClr val="2A56D6"/>
                </a:solidFill>
                <a:latin typeface="Calibri"/>
              </a:rPr>
              <a:t>Phase 3</a:t>
            </a:r>
          </a:p>
        </p:txBody>
      </p:sp>
      <p:sp>
        <p:nvSpPr>
          <p:cNvPr id="19" name="Rectangle 18"/>
          <p:cNvSpPr/>
          <p:nvPr/>
        </p:nvSpPr>
        <p:spPr>
          <a:xfrm>
            <a:off x="8308848" y="1856232"/>
            <a:ext cx="3422904" cy="1270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8848" y="1929384"/>
            <a:ext cx="3422904" cy="384048"/>
          </a:xfrm>
          <a:prstGeom prst="rect">
            <a:avLst/>
          </a:prstGeom>
          <a:noFill/>
        </p:spPr>
        <p:txBody>
          <a:bodyPr wrap="square" anchor="t" lIns="45720" rIns="45720" tIns="18288" bIns="18288">
            <a:spAutoFit/>
          </a:bodyPr>
          <a:lstStyle/>
          <a:p>
            <a:pPr algn="l">
              <a:lnSpc>
                <a:spcPct val="105000"/>
              </a:lnSpc>
            </a:pPr>
            <a:r>
              <a:rPr sz="1500" b="1" i="0">
                <a:solidFill>
                  <a:srgbClr val="14213D"/>
                </a:solidFill>
                <a:latin typeface="Calibri"/>
              </a:rPr>
              <a:t>Imagination training</a:t>
            </a:r>
          </a:p>
        </p:txBody>
      </p:sp>
      <p:sp>
        <p:nvSpPr>
          <p:cNvPr id="21" name="TextBox 20"/>
          <p:cNvSpPr txBox="1"/>
          <p:nvPr/>
        </p:nvSpPr>
        <p:spPr>
          <a:xfrm>
            <a:off x="8263128" y="2350008"/>
            <a:ext cx="3468624" cy="2450592"/>
          </a:xfrm>
          <a:prstGeom prst="rect">
            <a:avLst/>
          </a:prstGeom>
          <a:noFill/>
        </p:spPr>
        <p:txBody>
          <a:bodyPr wrap="square" lIns="45720" rIns="45720">
            <a:spAutoFit/>
          </a:bodyPr>
          <a:lstStyle/>
          <a:p>
            <a:pPr marL="237744" indent="-201168">
              <a:lnSpc>
                <a:spcPct val="108000"/>
              </a:lnSpc>
              <a:spcAft>
                <a:spcPts val="500"/>
              </a:spcAft>
              <a:buClr>
                <a:srgbClr val="9AA3B2"/>
              </a:buClr>
              <a:buFont typeface="Arial"/>
              <a:buChar char="•"/>
            </a:pPr>
            <a:r>
              <a:rPr sz="1300" b="0" i="0">
                <a:solidFill>
                  <a:srgbClr val="1F2937"/>
                </a:solidFill>
                <a:latin typeface="Calibri"/>
              </a:rPr>
              <a:t>Freeze the transformer; train policy + value heads only</a:t>
            </a:r>
          </a:p>
          <a:p>
            <a:pPr marL="237744" indent="-201168">
              <a:lnSpc>
                <a:spcPct val="108000"/>
              </a:lnSpc>
              <a:spcAft>
                <a:spcPts val="500"/>
              </a:spcAft>
              <a:buClr>
                <a:srgbClr val="9AA3B2"/>
              </a:buClr>
              <a:buFont typeface="Arial"/>
              <a:buChar char="•"/>
            </a:pPr>
            <a:r>
              <a:rPr sz="1300" b="0" i="0">
                <a:solidFill>
                  <a:srgbClr val="1F2937"/>
                </a:solidFill>
                <a:latin typeface="Calibri"/>
              </a:rPr>
              <a:t>Roll out the policy inside the world model, reward from the learned reward head</a:t>
            </a:r>
          </a:p>
          <a:p>
            <a:pPr marL="237744" indent="-201168">
              <a:lnSpc>
                <a:spcPct val="108000"/>
              </a:lnSpc>
              <a:spcAft>
                <a:spcPts val="500"/>
              </a:spcAft>
              <a:buClr>
                <a:srgbClr val="9AA3B2"/>
              </a:buClr>
              <a:buFont typeface="Arial"/>
              <a:buChar char="•"/>
            </a:pPr>
            <a:r>
              <a:rPr sz="1300" b="0" i="0">
                <a:solidFill>
                  <a:srgbClr val="1F2937"/>
                </a:solidFill>
                <a:latin typeface="Calibri"/>
              </a:rPr>
              <a:t>PMPO with reverse-KL to the frozen BC policy; γ = 0.997</a:t>
            </a:r>
          </a:p>
        </p:txBody>
      </p:sp>
      <p:sp>
        <p:nvSpPr>
          <p:cNvPr id="22" name="TextBox 21"/>
          <p:cNvSpPr txBox="1"/>
          <p:nvPr/>
        </p:nvSpPr>
        <p:spPr>
          <a:xfrm>
            <a:off x="548640" y="4937760"/>
            <a:ext cx="11155680" cy="146304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450" b="1" i="0">
                <a:solidFill>
                  <a:srgbClr val="14213D"/>
                </a:solidFill>
                <a:latin typeface="Calibri"/>
              </a:rPr>
              <a:t>Key design choice:</a:t>
            </a:r>
            <a:r>
              <a:rPr sz="1450" b="0" i="0">
                <a:solidFill>
                  <a:srgbClr val="1F2937"/>
                </a:solidFill>
                <a:latin typeface="Calibri"/>
              </a:rPr>
              <a:t> the same block-causal transformer serves as tokenizer, dynamics model and agent backbone; policy and value are tiny heads on 'agent tokens'</a:t>
            </a:r>
          </a:p>
          <a:p>
            <a:pPr marL="237744" indent="-201168">
              <a:lnSpc>
                <a:spcPct val="108000"/>
              </a:lnSpc>
              <a:spcAft>
                <a:spcPts val="600"/>
              </a:spcAft>
              <a:buClr>
                <a:srgbClr val="9AA3B2"/>
              </a:buClr>
              <a:buFont typeface="Arial"/>
              <a:buChar char="•"/>
            </a:pPr>
            <a:r>
              <a:rPr sz="1450" b="1" i="0">
                <a:solidFill>
                  <a:srgbClr val="14213D"/>
                </a:solidFill>
                <a:latin typeface="Calibri"/>
              </a:rPr>
              <a:t>Data mix in phases 2–3:</a:t>
            </a:r>
            <a:r>
              <a:rPr sz="1450" b="0" i="0">
                <a:solidFill>
                  <a:srgbClr val="1F2937"/>
                </a:solidFill>
                <a:latin typeface="Calibri"/>
              </a:rPr>
              <a:t> 50 % uniform sequences / 50 % task-relevant; BC loss only on relevant data, dynamics loss only on uniform data ('to avoid optimistic generations')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How the pieces fit together (1/2): data → tokenizer → one transformer</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What flows between the components, and which phase trains which output</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35</a:t>
            </a:r>
          </a:p>
        </p:txBody>
      </p:sp>
      <p:pic>
        <p:nvPicPr>
          <p:cNvPr id="8" name="Picture 7" descr="diag_stack_model_s.jpg"/>
          <p:cNvPicPr>
            <a:picLocks noChangeAspect="1"/>
          </p:cNvPicPr>
          <p:nvPr/>
        </p:nvPicPr>
        <p:blipFill>
          <a:blip r:embed="rId2"/>
          <a:stretch>
            <a:fillRect/>
          </a:stretch>
        </p:blipFill>
        <p:spPr>
          <a:xfrm>
            <a:off x="365760" y="1371600"/>
            <a:ext cx="11430000" cy="3257550"/>
          </a:xfrm>
          <a:prstGeom prst="rect">
            <a:avLst/>
          </a:prstGeom>
        </p:spPr>
      </p:pic>
      <p:sp>
        <p:nvSpPr>
          <p:cNvPr id="9" name="TextBox 8"/>
          <p:cNvSpPr txBox="1"/>
          <p:nvPr/>
        </p:nvSpPr>
        <p:spPr>
          <a:xfrm>
            <a:off x="548640" y="4892040"/>
            <a:ext cx="11155680" cy="146304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50" b="1" i="0">
                <a:solidFill>
                  <a:srgbClr val="14213D"/>
                </a:solidFill>
                <a:latin typeface="Calibri"/>
              </a:rPr>
              <a:t>Two block-causal transformers:</a:t>
            </a:r>
            <a:r>
              <a:rPr sz="1350" b="0" i="0">
                <a:solidFill>
                  <a:srgbClr val="1F2937"/>
                </a:solidFill>
                <a:latin typeface="Calibri"/>
              </a:rPr>
              <a:t> the tokenizer (400 M) turns each frame into 256 latent tokens; the dynamics/agent transformer (1.6 B) predicts the clean next latents and reads policy, reward and value off its agent tokens (MLP heads, multi-token prediction L = 8)</a:t>
            </a:r>
          </a:p>
          <a:p>
            <a:pPr marL="237744" indent="-201168">
              <a:lnSpc>
                <a:spcPct val="108000"/>
              </a:lnSpc>
              <a:spcAft>
                <a:spcPts val="600"/>
              </a:spcAft>
              <a:buClr>
                <a:srgbClr val="9AA3B2"/>
              </a:buClr>
              <a:buFont typeface="Arial"/>
              <a:buChar char="•"/>
            </a:pPr>
            <a:r>
              <a:rPr sz="1350" b="1" i="0">
                <a:solidFill>
                  <a:srgbClr val="14213D"/>
                </a:solidFill>
                <a:latin typeface="Calibri"/>
              </a:rPr>
              <a:t>The decoder is outside the agent's loop:</a:t>
            </a:r>
            <a:r>
              <a:rPr sz="1350" b="0" i="0">
                <a:solidFill>
                  <a:srgbClr val="1F2937"/>
                </a:solidFill>
                <a:latin typeface="Calibri"/>
              </a:rPr>
              <a:t> pretraining, fine-tuning and imagination all happen in latent space — pixels are only rendered for humans</a:t>
            </a:r>
          </a:p>
          <a:p>
            <a:pPr marL="237744" indent="-201168">
              <a:lnSpc>
                <a:spcPct val="108000"/>
              </a:lnSpc>
              <a:spcAft>
                <a:spcPts val="600"/>
              </a:spcAft>
              <a:buClr>
                <a:srgbClr val="9AA3B2"/>
              </a:buClr>
              <a:buFont typeface="Arial"/>
              <a:buChar char="•"/>
            </a:pPr>
            <a:r>
              <a:rPr sz="1350" b="1" i="0">
                <a:solidFill>
                  <a:srgbClr val="14213D"/>
                </a:solidFill>
                <a:latin typeface="Calibri"/>
              </a:rPr>
              <a:t>One-way attention for agent tokens:</a:t>
            </a:r>
            <a:r>
              <a:rPr sz="1350" b="0" i="0">
                <a:solidFill>
                  <a:srgbClr val="1F2937"/>
                </a:solidFill>
                <a:latin typeface="Calibri"/>
              </a:rPr>
              <a:t> they see everything, nothing sees them, so adding the agent cannot change what the simulator predicts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How the pieces fit together (2/2): the two loops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Training inside the model, and acting in the real game</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36</a:t>
            </a:r>
          </a:p>
        </p:txBody>
      </p:sp>
      <p:pic>
        <p:nvPicPr>
          <p:cNvPr id="8" name="Picture 7" descr="diag_stack_loops_s.jpg"/>
          <p:cNvPicPr>
            <a:picLocks noChangeAspect="1"/>
          </p:cNvPicPr>
          <p:nvPr/>
        </p:nvPicPr>
        <p:blipFill>
          <a:blip r:embed="rId2"/>
          <a:stretch>
            <a:fillRect/>
          </a:stretch>
        </p:blipFill>
        <p:spPr>
          <a:xfrm>
            <a:off x="365760" y="1371600"/>
            <a:ext cx="11430000" cy="2624137"/>
          </a:xfrm>
          <a:prstGeom prst="rect">
            <a:avLst/>
          </a:prstGeom>
        </p:spPr>
      </p:pic>
      <p:sp>
        <p:nvSpPr>
          <p:cNvPr id="9" name="TextBox 8"/>
          <p:cNvSpPr txBox="1"/>
          <p:nvPr/>
        </p:nvSpPr>
        <p:spPr>
          <a:xfrm>
            <a:off x="548640" y="4526280"/>
            <a:ext cx="11155680" cy="182880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50" b="1" i="0">
                <a:solidFill>
                  <a:srgbClr val="14213D"/>
                </a:solidFill>
                <a:latin typeface="Calibri"/>
              </a:rPr>
              <a:t>Imagination loop (phase 3):</a:t>
            </a:r>
            <a:r>
              <a:rPr sz="1350" b="0" i="0">
                <a:solidFill>
                  <a:srgbClr val="1F2937"/>
                </a:solidFill>
                <a:latin typeface="Calibri"/>
              </a:rPr>
              <a:t> start from real latents → policy head samples an action → dynamics predicts the next latents in K = 4 shortcut steps → reward and value heads score the step → PMPO with reverse KL updates the policy and value heads only; one rollout per context, transformer frozen</a:t>
            </a:r>
          </a:p>
          <a:p>
            <a:pPr marL="237744" indent="-201168">
              <a:lnSpc>
                <a:spcPct val="108000"/>
              </a:lnSpc>
              <a:spcAft>
                <a:spcPts val="600"/>
              </a:spcAft>
              <a:buClr>
                <a:srgbClr val="9AA3B2"/>
              </a:buClr>
              <a:buFont typeface="Arial"/>
              <a:buChar char="•"/>
            </a:pPr>
            <a:r>
              <a:rPr sz="1350" b="1" i="0">
                <a:solidFill>
                  <a:srgbClr val="14213D"/>
                </a:solidFill>
                <a:latin typeface="Calibri"/>
              </a:rPr>
              <a:t>Acting (evaluation):</a:t>
            </a:r>
            <a:r>
              <a:rPr sz="1350" b="0" i="0">
                <a:solidFill>
                  <a:srgbClr val="1F2937"/>
                </a:solidFill>
                <a:latin typeface="Calibri"/>
              </a:rPr>
              <a:t> encoder → transformer → policy head, once per frame at 20 FPS; the world model generates nothing at test time — it provides the representation</a:t>
            </a:r>
          </a:p>
          <a:p>
            <a:pPr marL="237744" indent="-201168">
              <a:lnSpc>
                <a:spcPct val="108000"/>
              </a:lnSpc>
              <a:spcAft>
                <a:spcPts val="600"/>
              </a:spcAft>
              <a:buClr>
                <a:srgbClr val="9AA3B2"/>
              </a:buClr>
              <a:buFont typeface="Arial"/>
              <a:buChar char="•"/>
            </a:pPr>
            <a:r>
              <a:rPr sz="1350" b="1" i="0">
                <a:solidFill>
                  <a:srgbClr val="14213D"/>
                </a:solidFill>
                <a:latin typeface="Calibri"/>
              </a:rPr>
              <a:t>What the loop buys:</a:t>
            </a:r>
            <a:r>
              <a:rPr sz="1350" b="0" i="0">
                <a:solidFill>
                  <a:srgbClr val="1F2937"/>
                </a:solidFill>
                <a:latin typeface="Calibri"/>
              </a:rPr>
              <a:t> on the same representations, behavioural cloning reaches the iron pickaxe in 16.9 % of episodes and no diamonds; after imagination training 29 % and 0.7 % (Table 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Minecraft world models, stack by stack (2/2): how they run</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Sampling, context, speed on one H100, the 16-task human play-test, and what each model is used for</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37</a:t>
            </a:r>
          </a:p>
        </p:txBody>
      </p:sp>
      <p:pic>
        <p:nvPicPr>
          <p:cNvPr id="8" name="Picture 7" descr="diag_wm_stack_b_s.jpg"/>
          <p:cNvPicPr>
            <a:picLocks noChangeAspect="1"/>
          </p:cNvPicPr>
          <p:nvPr/>
        </p:nvPicPr>
        <p:blipFill>
          <a:blip r:embed="rId2"/>
          <a:stretch>
            <a:fillRect/>
          </a:stretch>
        </p:blipFill>
        <p:spPr>
          <a:xfrm>
            <a:off x="365760" y="1371600"/>
            <a:ext cx="11430000" cy="3524250"/>
          </a:xfrm>
          <a:prstGeom prst="rect">
            <a:avLst/>
          </a:prstGeom>
        </p:spPr>
      </p:pic>
      <p:sp>
        <p:nvSpPr>
          <p:cNvPr id="9" name="TextBox 8"/>
          <p:cNvSpPr txBox="1"/>
          <p:nvPr/>
        </p:nvSpPr>
        <p:spPr>
          <a:xfrm>
            <a:off x="548640" y="5029200"/>
            <a:ext cx="11155680" cy="132588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00" b="1" i="0">
                <a:solidFill>
                  <a:srgbClr val="14213D"/>
                </a:solidFill>
                <a:latin typeface="Calibri"/>
              </a:rPr>
              <a:t>Speed alone is not the story:</a:t>
            </a:r>
            <a:r>
              <a:rPr sz="1300" b="0" i="0">
                <a:solidFill>
                  <a:srgbClr val="1F2937"/>
                </a:solidFill>
                <a:latin typeface="Calibri"/>
              </a:rPr>
              <a:t> Lucid-v1 is the fastest model in the table and solves none of the tasks; MineWorld cannot be played at all because its parallel decoding needs the actions in advance</a:t>
            </a:r>
          </a:p>
          <a:p>
            <a:pPr marL="237744" indent="-201168">
              <a:lnSpc>
                <a:spcPct val="108000"/>
              </a:lnSpc>
              <a:spcAft>
                <a:spcPts val="600"/>
              </a:spcAft>
              <a:buClr>
                <a:srgbClr val="9AA3B2"/>
              </a:buClr>
              <a:buFont typeface="Arial"/>
              <a:buChar char="•"/>
            </a:pPr>
            <a:r>
              <a:rPr sz="1300" b="1" i="0">
                <a:solidFill>
                  <a:srgbClr val="14213D"/>
                </a:solidFill>
                <a:latin typeface="Calibri"/>
              </a:rPr>
              <a:t>Context is:</a:t>
            </a:r>
            <a:r>
              <a:rPr sz="1300" b="0" i="0">
                <a:solidFill>
                  <a:srgbClr val="1F2937"/>
                </a:solidFill>
                <a:latin typeface="Calibri"/>
              </a:rPr>
              <a:t> 9.6 s versus 0.8–1.6 s is what lets the player look away and back — and the two tasks Dreamer 4 still fails are exactly the ones that exceed that window</a:t>
            </a:r>
          </a:p>
          <a:p>
            <a:pPr marL="237744" indent="-201168">
              <a:lnSpc>
                <a:spcPct val="108000"/>
              </a:lnSpc>
              <a:spcAft>
                <a:spcPts val="600"/>
              </a:spcAft>
              <a:buClr>
                <a:srgbClr val="9AA3B2"/>
              </a:buClr>
              <a:buFont typeface="Arial"/>
              <a:buChar char="•"/>
            </a:pPr>
            <a:r>
              <a:rPr sz="1300" b="1" i="0">
                <a:solidFill>
                  <a:srgbClr val="14213D"/>
                </a:solidFill>
                <a:latin typeface="Calibri"/>
              </a:rPr>
              <a:t>Only Dreamer 4 is used as a training ground:</a:t>
            </a:r>
            <a:r>
              <a:rPr sz="1300" b="0" i="0">
                <a:solidFill>
                  <a:srgbClr val="1F2937"/>
                </a:solidFill>
                <a:latin typeface="Calibri"/>
              </a:rPr>
              <a:t> the others are simulators or demos; here the same network also hosts the policy that is trained inside it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Context: Genie 3 (1/2) — what is actually public</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Google DeepMind, Aug 2025 — blog post and model page only. Plain boxes = stated; amber = inferred from the Genie 2 recipe; grey = undisclosed</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38</a:t>
            </a:r>
          </a:p>
        </p:txBody>
      </p:sp>
      <p:pic>
        <p:nvPicPr>
          <p:cNvPr id="8" name="Picture 7" descr="genie3_top_s.jpg"/>
          <p:cNvPicPr>
            <a:picLocks noChangeAspect="1"/>
          </p:cNvPicPr>
          <p:nvPr/>
        </p:nvPicPr>
        <p:blipFill>
          <a:blip r:embed="rId2"/>
          <a:stretch>
            <a:fillRect/>
          </a:stretch>
        </p:blipFill>
        <p:spPr>
          <a:xfrm>
            <a:off x="365760" y="1417320"/>
            <a:ext cx="11430000" cy="3038475"/>
          </a:xfrm>
          <a:prstGeom prst="rect">
            <a:avLst/>
          </a:prstGeom>
        </p:spPr>
      </p:pic>
      <p:sp>
        <p:nvSpPr>
          <p:cNvPr id="9" name="TextBox 8"/>
          <p:cNvSpPr txBox="1"/>
          <p:nvPr/>
        </p:nvSpPr>
        <p:spPr>
          <a:xfrm>
            <a:off x="548640" y="4754880"/>
            <a:ext cx="11155680" cy="1554480"/>
          </a:xfrm>
          <a:prstGeom prst="rect">
            <a:avLst/>
          </a:prstGeom>
          <a:noFill/>
        </p:spPr>
        <p:txBody>
          <a:bodyPr wrap="square" lIns="45720" rIns="45720">
            <a:spAutoFit/>
          </a:bodyPr>
          <a:lstStyle/>
          <a:p>
            <a:pPr marL="237744" indent="-201168">
              <a:lnSpc>
                <a:spcPct val="108000"/>
              </a:lnSpc>
              <a:spcAft>
                <a:spcPts val="600"/>
              </a:spcAft>
              <a:buClr>
                <a:srgbClr val="9AA3B2"/>
              </a:buClr>
              <a:buFont typeface="Arial"/>
              <a:buChar char="•"/>
            </a:pPr>
            <a:r>
              <a:rPr sz="1300" b="1" i="0">
                <a:solidFill>
                  <a:srgbClr val="14213D"/>
                </a:solidFill>
                <a:latin typeface="Calibri"/>
              </a:rPr>
              <a:t>A different problem:</a:t>
            </a:r>
            <a:r>
              <a:rPr sz="1300" b="0" i="0">
                <a:solidFill>
                  <a:srgbClr val="1F2937"/>
                </a:solidFill>
                <a:latin typeface="Calibri"/>
              </a:rPr>
              <a:t> any text-prompted world, 24 FPS at 720p, about a minute of visual memory, navigation-level actions — versus one game, full mouse &amp; keyboard, 9.6 s of context at 21 FPS and 360p</a:t>
            </a:r>
          </a:p>
          <a:p>
            <a:pPr marL="237744" indent="-201168">
              <a:lnSpc>
                <a:spcPct val="108000"/>
              </a:lnSpc>
              <a:spcAft>
                <a:spcPts val="600"/>
              </a:spcAft>
              <a:buClr>
                <a:srgbClr val="9AA3B2"/>
              </a:buClr>
              <a:buFont typeface="Arial"/>
              <a:buChar char="•"/>
            </a:pPr>
            <a:r>
              <a:rPr sz="1300" b="1" i="0">
                <a:solidFill>
                  <a:srgbClr val="14213D"/>
                </a:solidFill>
                <a:latin typeface="Calibri"/>
              </a:rPr>
              <a:t>Why the paper cannot compare (§4.2):</a:t>
            </a:r>
            <a:r>
              <a:rPr sz="1300" b="0" i="0">
                <a:solidFill>
                  <a:srgbClr val="1F2937"/>
                </a:solidFill>
                <a:latin typeface="Calibri"/>
              </a:rPr>
              <a:t> Genie 3 exposes only camera actions and one generic 'interact' button, so the 16 Minecraft tasks are not expressible; nothing about its size, data or objective is published — the '11 B / 200k hours' figures that circulate are Genie 1's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Dreamer 3 vs Dreamer 4</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Appendix F: what changed, and what the higher-fidelity model costs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39</a:t>
            </a:r>
          </a:p>
        </p:txBody>
      </p:sp>
      <p:graphicFrame>
        <p:nvGraphicFramePr>
          <p:cNvPr id="8" name="Table 7"/>
          <p:cNvGraphicFramePr>
            <a:graphicFrameLocks noGrp="1"/>
          </p:cNvGraphicFramePr>
          <p:nvPr/>
        </p:nvGraphicFramePr>
        <p:xfrm>
          <a:off x="457200" y="1417320"/>
          <a:ext cx="6949440" cy="3767328"/>
        </p:xfrm>
        <a:graphic>
          <a:graphicData uri="http://schemas.openxmlformats.org/drawingml/2006/table">
            <a:tbl>
              <a:tblPr firstRow="0" bandRow="0"/>
              <a:tblGrid>
                <a:gridCol w="1371600"/>
                <a:gridCol w="2743200"/>
                <a:gridCol w="2834640"/>
              </a:tblGrid>
              <a:tr h="384048">
                <a:tc>
                  <a:txBody>
                    <a:bodyPr/>
                    <a:lstStyle/>
                    <a:p>
                      <a:pPr algn="l"/>
                      <a:r>
                        <a:rPr sz="1200" b="1" i="0">
                          <a:solidFill>
                            <a:srgbClr val="14213D"/>
                          </a:solidFill>
                          <a:latin typeface="Calibri"/>
                        </a:rPr>
                        <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00" b="1" i="0">
                          <a:solidFill>
                            <a:srgbClr val="14213D"/>
                          </a:solidFill>
                          <a:latin typeface="Calibri"/>
                        </a:rPr>
                        <a:t>Dreamer 3 (Nature 2025)</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200" b="1" i="0">
                          <a:solidFill>
                            <a:srgbClr val="14213D"/>
                          </a:solidFill>
                          <a:latin typeface="Calibri"/>
                        </a:rPr>
                        <a:t>Dreamer 4</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676655">
                <a:tc>
                  <a:txBody>
                    <a:bodyPr/>
                    <a:lstStyle/>
                    <a:p>
                      <a:pPr algn="l"/>
                      <a:r>
                        <a:rPr sz="1250" b="0" i="0">
                          <a:solidFill>
                            <a:srgbClr val="1F2937"/>
                          </a:solidFill>
                          <a:latin typeface="Calibri"/>
                        </a:rPr>
                        <a:t>World model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RSSM (recurrent + variational latent)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1" i="0">
                          <a:solidFill>
                            <a:srgbClr val="2A56D6"/>
                          </a:solidFill>
                          <a:latin typeface="Calibri"/>
                        </a:rPr>
                        <a:t>Block-causal diffusion/flow transformer, shortcut forcing</a:t>
                      </a:r>
                    </a:p>
                  </a:txBody>
                  <a:tcPr marL="64008" marR="64008" marT="36576" marB="36576" anchor="ctr">
                    <a:lnL w="0">
                      <a:noFill/>
                    </a:lnL>
                    <a:lnR w="0">
                      <a:noFill/>
                    </a:lnR>
                    <a:lnT w="0">
                      <a:noFill/>
                    </a:lnT>
                    <a:lnB w="6350" cap="flat" cmpd="sng" algn="ctr">
                      <a:solidFill>
                        <a:srgbClr val="D3D8E2"/>
                      </a:solidFill>
                      <a:prstDash val="solid"/>
                    </a:lnB>
                    <a:noFill/>
                  </a:tcPr>
                </a:tc>
              </a:tr>
              <a:tr h="676655">
                <a:tc>
                  <a:txBody>
                    <a:bodyPr/>
                    <a:lstStyle/>
                    <a:p>
                      <a:pPr algn="l"/>
                      <a:r>
                        <a:rPr sz="1250" b="0" i="0">
                          <a:solidFill>
                            <a:srgbClr val="1F2937"/>
                          </a:solidFill>
                          <a:latin typeface="Calibri"/>
                        </a:rPr>
                        <a:t>Minecraft input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64×64 pixels + inventory state; abstract crafting actions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1" i="0">
                          <a:solidFill>
                            <a:srgbClr val="2A56D6"/>
                          </a:solidFill>
                          <a:latin typeface="Calibri"/>
                        </a:rPr>
                        <a:t>360×640 pixels only; raw mouse &amp; keyboard</a:t>
                      </a:r>
                    </a:p>
                  </a:txBody>
                  <a:tcPr marL="64008" marR="64008" marT="36576" marB="36576" anchor="ctr">
                    <a:lnL w="0">
                      <a:noFill/>
                    </a:lnL>
                    <a:lnR w="0">
                      <a:noFill/>
                    </a:lnR>
                    <a:lnT w="0">
                      <a:noFill/>
                    </a:lnT>
                    <a:lnB w="6350" cap="flat" cmpd="sng" algn="ctr">
                      <a:solidFill>
                        <a:srgbClr val="D3D8E2"/>
                      </a:solidFill>
                      <a:prstDash val="solid"/>
                    </a:lnB>
                    <a:noFill/>
                  </a:tcPr>
                </a:tc>
              </a:tr>
              <a:tr h="676655">
                <a:tc>
                  <a:txBody>
                    <a:bodyPr/>
                    <a:lstStyle/>
                    <a:p>
                      <a:pPr algn="l"/>
                      <a:r>
                        <a:rPr sz="1250" b="0" i="0">
                          <a:solidFill>
                            <a:srgbClr val="1F2937"/>
                          </a:solidFill>
                          <a:latin typeface="Calibri"/>
                        </a:rPr>
                        <a:t>Data</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1.4 K h of </a:t>
                      </a:r>
                      <a:r>
                        <a:rPr sz="1250" b="0" i="1">
                          <a:solidFill>
                            <a:srgbClr val="1F2937"/>
                          </a:solidFill>
                          <a:latin typeface="Calibri"/>
                        </a:rPr>
                        <a:t>online</a:t>
                      </a:r>
                      <a:r>
                        <a:rPr sz="1250" b="0" i="0">
                          <a:solidFill>
                            <a:srgbClr val="1F2937"/>
                          </a:solidFill>
                          <a:latin typeface="Calibri"/>
                        </a:rPr>
                        <a:t> interaction, no human data</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1" i="0">
                          <a:solidFill>
                            <a:srgbClr val="2A56D6"/>
                          </a:solidFill>
                          <a:latin typeface="Calibri"/>
                        </a:rPr>
                        <a:t>2.5 K h of </a:t>
                      </a:r>
                      <a:r>
                        <a:rPr sz="1250" b="1" i="1">
                          <a:solidFill>
                            <a:srgbClr val="2A56D6"/>
                          </a:solidFill>
                          <a:latin typeface="Calibri"/>
                        </a:rPr>
                        <a:t>offline</a:t>
                      </a:r>
                      <a:r>
                        <a:rPr sz="1250" b="1" i="0">
                          <a:solidFill>
                            <a:srgbClr val="2A56D6"/>
                          </a:solidFill>
                          <a:latin typeface="Calibri"/>
                        </a:rPr>
                        <a:t> human data, no interaction</a:t>
                      </a:r>
                    </a:p>
                  </a:txBody>
                  <a:tcPr marL="64008" marR="64008" marT="36576" marB="36576" anchor="ctr">
                    <a:lnL w="0">
                      <a:noFill/>
                    </a:lnL>
                    <a:lnR w="0">
                      <a:noFill/>
                    </a:lnR>
                    <a:lnT w="0">
                      <a:noFill/>
                    </a:lnT>
                    <a:lnB w="6350" cap="flat" cmpd="sng" algn="ctr">
                      <a:solidFill>
                        <a:srgbClr val="D3D8E2"/>
                      </a:solidFill>
                      <a:prstDash val="solid"/>
                    </a:lnB>
                    <a:noFill/>
                  </a:tcPr>
                </a:tc>
              </a:tr>
              <a:tr h="676655">
                <a:tc>
                  <a:txBody>
                    <a:bodyPr/>
                    <a:lstStyle/>
                    <a:p>
                      <a:pPr algn="l"/>
                      <a:r>
                        <a:rPr sz="1250" b="0" i="0">
                          <a:solidFill>
                            <a:srgbClr val="1F2937"/>
                          </a:solidFill>
                          <a:latin typeface="Calibri"/>
                        </a:rPr>
                        <a:t>RL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0" i="0">
                          <a:solidFill>
                            <a:srgbClr val="1F2937"/>
                          </a:solidFill>
                          <a:latin typeface="Calibri"/>
                        </a:rPr>
                        <a:t>Return normalisation + entropy bonus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250" b="1" i="0">
                          <a:solidFill>
                            <a:srgbClr val="2A56D6"/>
                          </a:solidFill>
                          <a:latin typeface="Calibri"/>
                        </a:rPr>
                        <a:t>PMPO (advantage sign) + KL to BC prior</a:t>
                      </a:r>
                    </a:p>
                  </a:txBody>
                  <a:tcPr marL="64008" marR="64008" marT="36576" marB="36576" anchor="ctr">
                    <a:lnL w="0">
                      <a:noFill/>
                    </a:lnL>
                    <a:lnR w="0">
                      <a:noFill/>
                    </a:lnR>
                    <a:lnT w="0">
                      <a:noFill/>
                    </a:lnT>
                    <a:lnB w="6350" cap="flat" cmpd="sng" algn="ctr">
                      <a:solidFill>
                        <a:srgbClr val="D3D8E2"/>
                      </a:solidFill>
                      <a:prstDash val="solid"/>
                    </a:lnB>
                    <a:noFill/>
                  </a:tcPr>
                </a:tc>
              </a:tr>
              <a:tr h="676660">
                <a:tc>
                  <a:txBody>
                    <a:bodyPr/>
                    <a:lstStyle/>
                    <a:p>
                      <a:pPr algn="l"/>
                      <a:r>
                        <a:rPr sz="1250" b="0" i="0">
                          <a:solidFill>
                            <a:srgbClr val="1F2937"/>
                          </a:solidFill>
                          <a:latin typeface="Calibri"/>
                        </a:rPr>
                        <a:t>Speed</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l"/>
                      <a:r>
                        <a:rPr sz="1250" b="0" i="0">
                          <a:solidFill>
                            <a:srgbClr val="1F2937"/>
                          </a:solidFill>
                          <a:latin typeface="Calibri"/>
                        </a:rPr>
                        <a:t>~1,000× faster than a diffusion transformer</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l"/>
                      <a:r>
                        <a:rPr sz="1250" b="1" i="0">
                          <a:solidFill>
                            <a:srgbClr val="2A56D6"/>
                          </a:solidFill>
                          <a:latin typeface="Calibri"/>
                        </a:rPr>
                        <a:t>~30× faster than diffusion forcing; ~40× slower than the RSSM</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pic>
        <p:nvPicPr>
          <p:cNvPr id="9" name="Picture 8" descr="fig11_dreamer3_vs_4_s.jpg"/>
          <p:cNvPicPr>
            <a:picLocks noChangeAspect="1"/>
          </p:cNvPicPr>
          <p:nvPr/>
        </p:nvPicPr>
        <p:blipFill>
          <a:blip r:embed="rId2"/>
          <a:stretch>
            <a:fillRect/>
          </a:stretch>
        </p:blipFill>
        <p:spPr>
          <a:xfrm>
            <a:off x="7850532" y="1417320"/>
            <a:ext cx="3775655" cy="1737360"/>
          </a:xfrm>
          <a:prstGeom prst="rect">
            <a:avLst/>
          </a:prstGeom>
        </p:spPr>
      </p:pic>
      <p:sp>
        <p:nvSpPr>
          <p:cNvPr id="10" name="TextBox 9"/>
          <p:cNvSpPr txBox="1"/>
          <p:nvPr/>
        </p:nvSpPr>
        <p:spPr>
          <a:xfrm>
            <a:off x="7680960" y="3200400"/>
            <a:ext cx="41148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Figure 11: multi-step generations, Dreamer 4 (top) vs Dreamer 3 (bottom).</a:t>
            </a:r>
          </a:p>
        </p:txBody>
      </p:sp>
      <p:pic>
        <p:nvPicPr>
          <p:cNvPr id="11" name="Picture 10" descr="chart_speed.png"/>
          <p:cNvPicPr>
            <a:picLocks noChangeAspect="1"/>
          </p:cNvPicPr>
          <p:nvPr/>
        </p:nvPicPr>
        <p:blipFill>
          <a:blip r:embed="rId3"/>
          <a:stretch>
            <a:fillRect/>
          </a:stretch>
        </p:blipFill>
        <p:spPr>
          <a:xfrm>
            <a:off x="7589520" y="3611880"/>
            <a:ext cx="4297680" cy="2218157"/>
          </a:xfrm>
          <a:prstGeom prst="rect">
            <a:avLst/>
          </a:prstGeom>
        </p:spPr>
      </p:pic>
      <p:sp>
        <p:nvSpPr>
          <p:cNvPr id="12" name="TextBox 11"/>
          <p:cNvSpPr txBox="1"/>
          <p:nvPr/>
        </p:nvSpPr>
        <p:spPr>
          <a:xfrm>
            <a:off x="7680960" y="5943600"/>
            <a:ext cx="4114800" cy="457200"/>
          </a:xfrm>
          <a:prstGeom prst="rect">
            <a:avLst/>
          </a:prstGeom>
          <a:noFill/>
        </p:spPr>
        <p:txBody>
          <a:bodyPr wrap="square" anchor="t" lIns="45720" rIns="45720" tIns="18288" bIns="18288">
            <a:spAutoFit/>
          </a:bodyPr>
          <a:lstStyle/>
          <a:p>
            <a:pPr algn="l">
              <a:lnSpc>
                <a:spcPct val="105000"/>
              </a:lnSpc>
            </a:pPr>
            <a:r>
              <a:rPr sz="950" b="0" i="1">
                <a:solidFill>
                  <a:srgbClr val="6B7280"/>
                </a:solidFill>
                <a:latin typeface="Calibri"/>
              </a:rPr>
              <a:t>Generation speed on a log scale (paper, TalkRL): ~30× faster than diffusion forcing, ~40× slower than the RSSM.</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Limitations the paper itself states</a:t>
            </a:r>
          </a:p>
        </p:txBody>
      </p:sp>
      <p:sp>
        <p:nvSpPr>
          <p:cNvPr id="3" name="TextBox 2"/>
          <p:cNvSpPr txBox="1"/>
          <p:nvPr/>
        </p:nvSpPr>
        <p:spPr>
          <a:xfrm>
            <a:off x="475488" y="914400"/>
            <a:ext cx="11247120" cy="411480"/>
          </a:xfrm>
          <a:prstGeom prst="rect">
            <a:avLst/>
          </a:prstGeom>
          <a:noFill/>
        </p:spPr>
        <p:txBody>
          <a:bodyPr wrap="square" anchor="t" lIns="45720" rIns="45720" tIns="18288" bIns="18288">
            <a:spAutoFit/>
          </a:bodyPr>
          <a:lstStyle/>
          <a:p>
            <a:pPr algn="l">
              <a:lnSpc>
                <a:spcPct val="105000"/>
              </a:lnSpc>
            </a:pPr>
            <a:r>
              <a:rPr sz="1400" b="0" i="0">
                <a:solidFill>
                  <a:srgbClr val="6B7280"/>
                </a:solidFill>
                <a:latin typeface="Calibri"/>
              </a:rPr>
              <a:t>From the discussion section and the authors' talks</a:t>
            </a:r>
          </a:p>
        </p:txBody>
      </p:sp>
      <p:sp>
        <p:nvSpPr>
          <p:cNvPr id="4" name="Rectangle 3"/>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6" name="TextBox 5"/>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7" name="TextBox 6"/>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40</a:t>
            </a:r>
          </a:p>
        </p:txBody>
      </p:sp>
      <p:sp>
        <p:nvSpPr>
          <p:cNvPr id="8" name="TextBox 7"/>
          <p:cNvSpPr txBox="1"/>
          <p:nvPr/>
        </p:nvSpPr>
        <p:spPr>
          <a:xfrm>
            <a:off x="548640" y="1481328"/>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01</a:t>
            </a:r>
          </a:p>
        </p:txBody>
      </p:sp>
      <p:sp>
        <p:nvSpPr>
          <p:cNvPr id="9" name="TextBox 8"/>
          <p:cNvSpPr txBox="1"/>
          <p:nvPr/>
        </p:nvSpPr>
        <p:spPr>
          <a:xfrm>
            <a:off x="1097280" y="1508760"/>
            <a:ext cx="10515600" cy="766445"/>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Diamonds are rare:</a:t>
            </a:r>
            <a:r>
              <a:rPr sz="1550" b="0" i="0">
                <a:solidFill>
                  <a:srgbClr val="1F2937"/>
                </a:solidFill>
                <a:latin typeface="Calibri"/>
              </a:rPr>
              <a:t> 0.7 % success; the authors call the pipeline a 'reliable and performant starting point', not a solved task</a:t>
            </a:r>
          </a:p>
        </p:txBody>
      </p:sp>
      <p:sp>
        <p:nvSpPr>
          <p:cNvPr id="10" name="TextBox 9"/>
          <p:cNvSpPr txBox="1"/>
          <p:nvPr/>
        </p:nvSpPr>
        <p:spPr>
          <a:xfrm>
            <a:off x="548640" y="2156332"/>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02</a:t>
            </a:r>
          </a:p>
        </p:txBody>
      </p:sp>
      <p:sp>
        <p:nvSpPr>
          <p:cNvPr id="11" name="TextBox 10"/>
          <p:cNvSpPr txBox="1"/>
          <p:nvPr/>
        </p:nvSpPr>
        <p:spPr>
          <a:xfrm>
            <a:off x="1097280" y="2183764"/>
            <a:ext cx="10515600" cy="766445"/>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Memory:</a:t>
            </a:r>
            <a:r>
              <a:rPr sz="1550" b="0" i="0">
                <a:solidFill>
                  <a:srgbClr val="1F2937"/>
                </a:solidFill>
                <a:latin typeface="Calibri"/>
              </a:rPr>
              <a:t> 9.6 s of context; walk into a house for 30 s and the outside is regenerated — long-term memory is the number-one item on the roadmap</a:t>
            </a:r>
          </a:p>
        </p:txBody>
      </p:sp>
      <p:sp>
        <p:nvSpPr>
          <p:cNvPr id="12" name="TextBox 11"/>
          <p:cNvSpPr txBox="1"/>
          <p:nvPr/>
        </p:nvSpPr>
        <p:spPr>
          <a:xfrm>
            <a:off x="548640" y="2831336"/>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03</a:t>
            </a:r>
          </a:p>
        </p:txBody>
      </p:sp>
      <p:sp>
        <p:nvSpPr>
          <p:cNvPr id="13" name="TextBox 12"/>
          <p:cNvSpPr txBox="1"/>
          <p:nvPr/>
        </p:nvSpPr>
        <p:spPr>
          <a:xfrm>
            <a:off x="1097280" y="2858768"/>
            <a:ext cx="10515600" cy="766445"/>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Inventory drift:</a:t>
            </a:r>
            <a:r>
              <a:rPr sz="1550" b="0" i="0">
                <a:solidFill>
                  <a:srgbClr val="1F2937"/>
                </a:solidFill>
                <a:latin typeface="Calibri"/>
              </a:rPr>
              <a:t> small UI elements and item counts blur over long horizons; small objects and long-range semantic correlations are what video models learn last</a:t>
            </a:r>
          </a:p>
        </p:txBody>
      </p:sp>
      <p:sp>
        <p:nvSpPr>
          <p:cNvPr id="14" name="TextBox 13"/>
          <p:cNvSpPr txBox="1"/>
          <p:nvPr/>
        </p:nvSpPr>
        <p:spPr>
          <a:xfrm>
            <a:off x="548640" y="3506340"/>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04</a:t>
            </a:r>
          </a:p>
        </p:txBody>
      </p:sp>
      <p:sp>
        <p:nvSpPr>
          <p:cNvPr id="15" name="TextBox 14"/>
          <p:cNvSpPr txBox="1"/>
          <p:nvPr/>
        </p:nvSpPr>
        <p:spPr>
          <a:xfrm>
            <a:off x="1097280" y="3533772"/>
            <a:ext cx="10515600" cy="766445"/>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Frozen, exploitable simulator:</a:t>
            </a:r>
            <a:r>
              <a:rPr sz="1550" b="0" i="0">
                <a:solidFill>
                  <a:srgbClr val="1F2937"/>
                </a:solidFill>
                <a:latin typeface="Calibri"/>
              </a:rPr>
              <a:t> no epistemic-uncertainty estimate; the policy can exploit model errors (invalid crafting) — currently mitigated only by the KL constraint</a:t>
            </a:r>
          </a:p>
        </p:txBody>
      </p:sp>
      <p:sp>
        <p:nvSpPr>
          <p:cNvPr id="16" name="TextBox 15"/>
          <p:cNvSpPr txBox="1"/>
          <p:nvPr/>
        </p:nvSpPr>
        <p:spPr>
          <a:xfrm>
            <a:off x="548640" y="4181344"/>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05</a:t>
            </a:r>
          </a:p>
        </p:txBody>
      </p:sp>
      <p:sp>
        <p:nvSpPr>
          <p:cNvPr id="17" name="TextBox 16"/>
          <p:cNvSpPr txBox="1"/>
          <p:nvPr/>
        </p:nvSpPr>
        <p:spPr>
          <a:xfrm>
            <a:off x="1097280" y="4208776"/>
            <a:ext cx="10515600" cy="520382"/>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Two-stage training:</a:t>
            </a:r>
            <a:r>
              <a:rPr sz="1550" b="0" i="0">
                <a:solidFill>
                  <a:srgbClr val="1F2937"/>
                </a:solidFill>
                <a:latin typeface="Calibri"/>
              </a:rPr>
              <a:t> tokenizer is trained separately and frozen; the authors expect end-to-end training eventually</a:t>
            </a:r>
          </a:p>
        </p:txBody>
      </p:sp>
      <p:sp>
        <p:nvSpPr>
          <p:cNvPr id="18" name="TextBox 17"/>
          <p:cNvSpPr txBox="1"/>
          <p:nvPr/>
        </p:nvSpPr>
        <p:spPr>
          <a:xfrm>
            <a:off x="548640" y="4610286"/>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06</a:t>
            </a:r>
          </a:p>
        </p:txBody>
      </p:sp>
      <p:sp>
        <p:nvSpPr>
          <p:cNvPr id="19" name="TextBox 18"/>
          <p:cNvSpPr txBox="1"/>
          <p:nvPr/>
        </p:nvSpPr>
        <p:spPr>
          <a:xfrm>
            <a:off x="1097280" y="4637718"/>
            <a:ext cx="10515600" cy="766445"/>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Single domain for the agent:</a:t>
            </a:r>
            <a:r>
              <a:rPr sz="1550" b="0" i="0">
                <a:solidFill>
                  <a:srgbClr val="1F2937"/>
                </a:solidFill>
                <a:latin typeface="Calibri"/>
              </a:rPr>
              <a:t> RL results exist only for Minecraft; robotics and kitchen video are qualitative world-model demos</a:t>
            </a:r>
          </a:p>
        </p:txBody>
      </p:sp>
      <p:sp>
        <p:nvSpPr>
          <p:cNvPr id="20" name="TextBox 19"/>
          <p:cNvSpPr txBox="1"/>
          <p:nvPr/>
        </p:nvSpPr>
        <p:spPr>
          <a:xfrm>
            <a:off x="548640" y="5285290"/>
            <a:ext cx="548640" cy="457200"/>
          </a:xfrm>
          <a:prstGeom prst="rect">
            <a:avLst/>
          </a:prstGeom>
          <a:noFill/>
        </p:spPr>
        <p:txBody>
          <a:bodyPr wrap="square" anchor="t" lIns="45720" rIns="45720" tIns="18288" bIns="18288">
            <a:spAutoFit/>
          </a:bodyPr>
          <a:lstStyle/>
          <a:p>
            <a:pPr algn="l">
              <a:lnSpc>
                <a:spcPct val="105000"/>
              </a:lnSpc>
            </a:pPr>
            <a:r>
              <a:rPr sz="1750" b="1" i="0">
                <a:solidFill>
                  <a:srgbClr val="2A56D6"/>
                </a:solidFill>
                <a:latin typeface="Calibri"/>
              </a:rPr>
              <a:t>07</a:t>
            </a:r>
          </a:p>
        </p:txBody>
      </p:sp>
      <p:sp>
        <p:nvSpPr>
          <p:cNvPr id="21" name="TextBox 20"/>
          <p:cNvSpPr txBox="1"/>
          <p:nvPr/>
        </p:nvSpPr>
        <p:spPr>
          <a:xfrm>
            <a:off x="1097280" y="5312722"/>
            <a:ext cx="10515600" cy="520382"/>
          </a:xfrm>
          <a:prstGeom prst="rect">
            <a:avLst/>
          </a:prstGeom>
          <a:noFill/>
        </p:spPr>
        <p:txBody>
          <a:bodyPr wrap="square" anchor="t" lIns="45720" rIns="45720" tIns="18288" bIns="18288">
            <a:spAutoFit/>
          </a:bodyPr>
          <a:lstStyle/>
          <a:p>
            <a:pPr algn="l">
              <a:lnSpc>
                <a:spcPct val="110000"/>
              </a:lnSpc>
            </a:pPr>
            <a:r>
              <a:rPr sz="1550" b="1" i="0">
                <a:solidFill>
                  <a:srgbClr val="14213D"/>
                </a:solidFill>
                <a:latin typeface="Calibri"/>
              </a:rPr>
              <a:t>Compute:</a:t>
            </a:r>
            <a:r>
              <a:rPr sz="1550" b="0" i="0">
                <a:solidFill>
                  <a:srgbClr val="1F2937"/>
                </a:solidFill>
                <a:latin typeface="Calibri"/>
              </a:rPr>
              <a:t> hundreds of TPU v5p chips per run; not a recipe individuals can reproduce at full scale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Appendix A — Configuration &amp; hyper-parameters</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41</a:t>
            </a:r>
          </a:p>
        </p:txBody>
      </p:sp>
      <p:graphicFrame>
        <p:nvGraphicFramePr>
          <p:cNvPr id="7" name="Table 6"/>
          <p:cNvGraphicFramePr>
            <a:graphicFrameLocks noGrp="1"/>
          </p:cNvGraphicFramePr>
          <p:nvPr/>
        </p:nvGraphicFramePr>
        <p:xfrm>
          <a:off x="457200" y="1325880"/>
          <a:ext cx="11247120" cy="4773168"/>
        </p:xfrm>
        <a:graphic>
          <a:graphicData uri="http://schemas.openxmlformats.org/drawingml/2006/table">
            <a:tbl>
              <a:tblPr firstRow="0" bandRow="0"/>
              <a:tblGrid>
                <a:gridCol w="1920240"/>
                <a:gridCol w="9326880"/>
              </a:tblGrid>
              <a:tr h="384048">
                <a:tc>
                  <a:txBody>
                    <a:bodyPr/>
                    <a:lstStyle/>
                    <a:p>
                      <a:pPr algn="l"/>
                      <a:r>
                        <a:rPr sz="1050" b="1" i="0">
                          <a:solidFill>
                            <a:srgbClr val="14213D"/>
                          </a:solidFill>
                          <a:latin typeface="Calibri"/>
                        </a:rPr>
                        <a:t>Component</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050" b="1" i="0">
                          <a:solidFill>
                            <a:srgbClr val="14213D"/>
                          </a:solidFill>
                          <a:latin typeface="Calibri"/>
                        </a:rPr>
                        <a:t>Setting</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548639">
                <a:tc>
                  <a:txBody>
                    <a:bodyPr/>
                    <a:lstStyle/>
                    <a:p>
                      <a:pPr algn="l"/>
                      <a:r>
                        <a:rPr sz="1100" b="0" i="0">
                          <a:solidFill>
                            <a:srgbClr val="1F2937"/>
                          </a:solidFill>
                          <a:latin typeface="Calibri"/>
                        </a:rPr>
                        <a:t>Tokenizer</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Masked autoencoder; 16×16 patches; patch dropout ~ U(0, 0.9); loss MSE + 0.2·LPIPS; bottleneck 512×16 with tanh → N_z = 256 tokens × 32 dims; causal in time; ≈ 400 M params; frozen after pretraining</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Dynamics model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 1.6 B params; pre-RMSNorm, RoPE, SwiGLU, QK-norm, logit soft-capping, register tokens; space attention in 3/4 layers, causal time attention every 4th layer; GQA; context C = 192 frames (9.6 s); alternating batch lengths T1/T2 = 64/256</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Shortcut forcing</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per-frame signal level τ, step size d; x-prediction; bootstrap target formed in v-space, loss scaled to x-space by (1−τ)²; ramp weight w(τ) = 0.9τ + 0.1; K = 4 sampling steps; context noise τ_ctx ≈ 0.1</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Actions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23 binary keys + 121-way mouse (μ-law, 11×11 foveated bins, VPT convention); learned 'no action' embedding for unlabeled video</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Agent (phase 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agent tokens with one-hot task (20 tasks), one-way attention; BC with multi-token prediction L = 8; task-conditioned scalar reward head; data mix 50 % uniform / 50 % task-relevant</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Imagination RL (phase 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transformer frozen; policy + TD value heads; PMPO with advantage sign, α = 0.5, reverse-KL β = 0.3 to frozen BC policy; γ = 0.997</a:t>
                      </a:r>
                    </a:p>
                  </a:txBody>
                  <a:tcPr marL="64008" marR="64008" marT="36576" marB="36576" anchor="ctr">
                    <a:lnL w="0">
                      <a:noFill/>
                    </a:lnL>
                    <a:lnR w="0">
                      <a:noFill/>
                    </a:lnR>
                    <a:lnT w="0">
                      <a:noFill/>
                    </a:lnT>
                    <a:lnB w="6350" cap="flat" cmpd="sng" algn="ctr">
                      <a:solidFill>
                        <a:srgbClr val="D3D8E2"/>
                      </a:solidFill>
                      <a:prstDash val="solid"/>
                    </a:lnB>
                    <a:noFill/>
                  </a:tcPr>
                </a:tc>
              </a:tr>
              <a:tr h="548639">
                <a:tc>
                  <a:txBody>
                    <a:bodyPr/>
                    <a:lstStyle/>
                    <a:p>
                      <a:pPr algn="l"/>
                      <a:r>
                        <a:rPr sz="1100" b="0" i="0">
                          <a:solidFill>
                            <a:srgbClr val="1F2937"/>
                          </a:solidFill>
                          <a:latin typeface="Calibri"/>
                        </a:rPr>
                        <a:t>Evaluation</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00" b="0" i="0">
                          <a:solidFill>
                            <a:srgbClr val="1F2937"/>
                          </a:solidFill>
                          <a:latin typeface="Calibri"/>
                        </a:rPr>
                        <a:t>1,000 episodes × 60 min, empty inventory, random worlds, fixed prompt sequence; human interaction: 16 tasks on one H100 at 21 FPS</a:t>
                      </a:r>
                    </a:p>
                  </a:txBody>
                  <a:tcPr marL="64008" marR="64008" marT="36576" marB="36576" anchor="ctr">
                    <a:lnL w="0">
                      <a:noFill/>
                    </a:lnL>
                    <a:lnR w="0">
                      <a:noFill/>
                    </a:lnR>
                    <a:lnT w="0">
                      <a:noFill/>
                    </a:lnT>
                    <a:lnB w="6350" cap="flat" cmpd="sng" algn="ctr">
                      <a:solidFill>
                        <a:srgbClr val="D3D8E2"/>
                      </a:solidFill>
                      <a:prstDash val="solid"/>
                    </a:lnB>
                    <a:noFill/>
                  </a:tcPr>
                </a:tc>
              </a:tr>
              <a:tr h="548647">
                <a:tc>
                  <a:txBody>
                    <a:bodyPr/>
                    <a:lstStyle/>
                    <a:p>
                      <a:pPr algn="l"/>
                      <a:r>
                        <a:rPr sz="1100" b="0" i="0">
                          <a:solidFill>
                            <a:srgbClr val="1F2937"/>
                          </a:solidFill>
                          <a:latin typeface="Calibri"/>
                        </a:rPr>
                        <a:t>Compute / data</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l"/>
                      <a:r>
                        <a:rPr sz="1100" b="0" i="0">
                          <a:solidFill>
                            <a:srgbClr val="1F2937"/>
                          </a:solidFill>
                          <a:latin typeface="Calibri"/>
                        </a:rPr>
                        <a:t>256–1,024 TPU v5p; 2,541 h VPT contractor video (subsets 6–10), 90/10 split by 5-min chunk; ablations: 48 h runs, FVD on 1,024 × 384-frame generations</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Appendix C — Full success-rate table (Table 7, %)</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42</a:t>
            </a:r>
          </a:p>
        </p:txBody>
      </p:sp>
      <p:graphicFrame>
        <p:nvGraphicFramePr>
          <p:cNvPr id="7" name="Table 6"/>
          <p:cNvGraphicFramePr>
            <a:graphicFrameLocks noGrp="1"/>
          </p:cNvGraphicFramePr>
          <p:nvPr/>
        </p:nvGraphicFramePr>
        <p:xfrm>
          <a:off x="457200" y="1325880"/>
          <a:ext cx="11247120" cy="4517136"/>
        </p:xfrm>
        <a:graphic>
          <a:graphicData uri="http://schemas.openxmlformats.org/drawingml/2006/table">
            <a:tbl>
              <a:tblPr firstRow="0" bandRow="0"/>
              <a:tblGrid>
                <a:gridCol w="2103120"/>
                <a:gridCol w="1371600"/>
                <a:gridCol w="1554480"/>
                <a:gridCol w="1280160"/>
                <a:gridCol w="1828800"/>
                <a:gridCol w="1463040"/>
                <a:gridCol w="1645920"/>
              </a:tblGrid>
              <a:tr h="347472">
                <a:tc>
                  <a:txBody>
                    <a:bodyPr/>
                    <a:lstStyle/>
                    <a:p>
                      <a:pPr algn="l"/>
                      <a:r>
                        <a:rPr sz="1150" b="1" i="0">
                          <a:solidFill>
                            <a:srgbClr val="14213D"/>
                          </a:solidFill>
                          <a:latin typeface="Calibri"/>
                        </a:rPr>
                        <a:t>Milestone</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VPT (ft)</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BC (no task)</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BC</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VLA (Gemma 3)</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WM + BC</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50" b="1" i="0">
                          <a:solidFill>
                            <a:srgbClr val="14213D"/>
                          </a:solidFill>
                          <a:latin typeface="Calibri"/>
                        </a:rPr>
                        <a:t>Dreamer 4</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347472">
                <a:tc>
                  <a:txBody>
                    <a:bodyPr/>
                    <a:lstStyle/>
                    <a:p>
                      <a:pPr algn="l"/>
                      <a:r>
                        <a:rPr sz="1200" b="0" i="0">
                          <a:solidFill>
                            <a:srgbClr val="1F2937"/>
                          </a:solidFill>
                          <a:latin typeface="Calibri"/>
                        </a:rPr>
                        <a:t>Log</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84.3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71.4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97.3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98.5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99.6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99.1</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Planks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65.3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68.6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95.7</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98.3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99.6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98.9</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Crafting table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4.7</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63.8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93.5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97.2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99.1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98.5</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Stick</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52.6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62.4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95.0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97.7</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98.9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98.7</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Wooden pickaxe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33.8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86.5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94.1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97.3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96.6</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Cobblestone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32.0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83.9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91.6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97.2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95.9</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Stone pickaxe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8.8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53.8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76.7</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89.4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90.1</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Iron ore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3.6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26.5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46.3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62.9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66.7</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Furnace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4.0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16.2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42.4</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51.1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58.1</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Iron ingot</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0.1</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4.3</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22.5</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27.8</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39.5</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Iron pickaxe</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0.6</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11.2</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0" i="0">
                          <a:solidFill>
                            <a:srgbClr val="1F2937"/>
                          </a:solidFill>
                          <a:latin typeface="Calibri"/>
                        </a:rPr>
                        <a:t>16.9</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ctr"/>
                      <a:r>
                        <a:rPr sz="1200" b="1" i="0">
                          <a:solidFill>
                            <a:srgbClr val="2A56D6"/>
                          </a:solidFill>
                          <a:latin typeface="Calibri"/>
                        </a:rPr>
                        <a:t>29.0</a:t>
                      </a:r>
                    </a:p>
                  </a:txBody>
                  <a:tcPr marL="64008" marR="64008" marT="36576" marB="36576" anchor="ctr">
                    <a:lnL w="0">
                      <a:noFill/>
                    </a:lnL>
                    <a:lnR w="0">
                      <a:noFill/>
                    </a:lnR>
                    <a:lnT w="0">
                      <a:noFill/>
                    </a:lnT>
                    <a:lnB w="6350" cap="flat" cmpd="sng" algn="ctr">
                      <a:solidFill>
                        <a:srgbClr val="D3D8E2"/>
                      </a:solidFill>
                      <a:prstDash val="solid"/>
                    </a:lnB>
                    <a:noFill/>
                  </a:tcPr>
                </a:tc>
              </a:tr>
              <a:tr h="347472">
                <a:tc>
                  <a:txBody>
                    <a:bodyPr/>
                    <a:lstStyle/>
                    <a:p>
                      <a:pPr algn="l"/>
                      <a:r>
                        <a:rPr sz="1200" b="0" i="0">
                          <a:solidFill>
                            <a:srgbClr val="1F2937"/>
                          </a:solidFill>
                          <a:latin typeface="Calibri"/>
                        </a:rPr>
                        <a:t>Diamond</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0" i="0">
                          <a:solidFill>
                            <a:srgbClr val="1F2937"/>
                          </a:solidFill>
                          <a:latin typeface="Calibri"/>
                        </a:rPr>
                        <a:t>0.0</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ctr"/>
                      <a:r>
                        <a:rPr sz="1200" b="1" i="0">
                          <a:solidFill>
                            <a:srgbClr val="2A56D6"/>
                          </a:solidFill>
                          <a:latin typeface="Calibri"/>
                        </a:rPr>
                        <a:t>0.7</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sp>
        <p:nvSpPr>
          <p:cNvPr id="8" name="TextBox 7"/>
          <p:cNvSpPr txBox="1"/>
          <p:nvPr/>
        </p:nvSpPr>
        <p:spPr>
          <a:xfrm>
            <a:off x="457200" y="5943600"/>
            <a:ext cx="10972800" cy="457200"/>
          </a:xfrm>
          <a:prstGeom prst="rect">
            <a:avLst/>
          </a:prstGeom>
          <a:noFill/>
        </p:spPr>
        <p:txBody>
          <a:bodyPr wrap="square" anchor="t" lIns="45720" rIns="45720" tIns="18288" bIns="18288">
            <a:spAutoFit/>
          </a:bodyPr>
          <a:lstStyle/>
          <a:p>
            <a:pPr algn="l">
              <a:lnSpc>
                <a:spcPct val="105000"/>
              </a:lnSpc>
            </a:pPr>
            <a:r>
              <a:rPr sz="1050" b="0" i="1">
                <a:solidFill>
                  <a:srgbClr val="6B7280"/>
                </a:solidFill>
                <a:latin typeface="Calibri"/>
              </a:rPr>
              <a:t>1,000 evaluation episodes of 60 minutes each; all agents trained on the same 2,541 h of contractor data (VPT additionally pretrained on 270 K h of web video).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47472"/>
            <a:ext cx="11247120" cy="685800"/>
          </a:xfrm>
          <a:prstGeom prst="rect">
            <a:avLst/>
          </a:prstGeom>
          <a:noFill/>
        </p:spPr>
        <p:txBody>
          <a:bodyPr wrap="square" anchor="t" lIns="45720" rIns="45720" tIns="18288" bIns="18288">
            <a:spAutoFit/>
          </a:bodyPr>
          <a:lstStyle/>
          <a:p>
            <a:pPr algn="l">
              <a:lnSpc>
                <a:spcPct val="105000"/>
              </a:lnSpc>
            </a:pPr>
            <a:r>
              <a:rPr sz="2600" b="1" i="0">
                <a:solidFill>
                  <a:srgbClr val="14213D"/>
                </a:solidFill>
                <a:latin typeface="Calibri"/>
              </a:rPr>
              <a:t>Appendix D — Glossary</a:t>
            </a:r>
          </a:p>
        </p:txBody>
      </p:sp>
      <p:sp>
        <p:nvSpPr>
          <p:cNvPr id="3" name="Rectangle 2"/>
          <p:cNvSpPr/>
          <p:nvPr/>
        </p:nvSpPr>
        <p:spPr>
          <a:xfrm>
            <a:off x="457200" y="6382512"/>
            <a:ext cx="11274552" cy="9525"/>
          </a:xfrm>
          <a:prstGeom prst="rect">
            <a:avLst/>
          </a:prstGeom>
          <a:solidFill>
            <a:srgbClr val="D3D8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37376"/>
            <a:ext cx="7315200" cy="274320"/>
          </a:xfrm>
          <a:prstGeom prst="rect">
            <a:avLst/>
          </a:prstGeom>
          <a:noFill/>
        </p:spPr>
        <p:txBody>
          <a:bodyPr wrap="square" anchor="t" lIns="45720" rIns="45720" tIns="18288" bIns="18288">
            <a:spAutoFit/>
          </a:bodyPr>
          <a:lstStyle/>
          <a:p>
            <a:pPr algn="l">
              <a:lnSpc>
                <a:spcPct val="105000"/>
              </a:lnSpc>
            </a:pPr>
            <a:r>
              <a:rPr sz="900" b="0" i="0">
                <a:solidFill>
                  <a:srgbClr val="9AA3B2"/>
                </a:solidFill>
                <a:latin typeface="Calibri"/>
              </a:rPr>
              <a:t>Dreamer 4  ·  Hafner, Yan, Lillicrap (Google DeepMind)  ·  arXiv 2509.24527</a:t>
            </a:r>
          </a:p>
        </p:txBody>
      </p:sp>
      <p:sp>
        <p:nvSpPr>
          <p:cNvPr id="5" name="TextBox 4"/>
          <p:cNvSpPr txBox="1"/>
          <p:nvPr/>
        </p:nvSpPr>
        <p:spPr>
          <a:xfrm>
            <a:off x="7315200" y="6446520"/>
            <a:ext cx="3657600" cy="274320"/>
          </a:xfrm>
          <a:prstGeom prst="rect">
            <a:avLst/>
          </a:prstGeom>
          <a:noFill/>
        </p:spPr>
        <p:txBody>
          <a:bodyPr wrap="square" anchor="t" lIns="45720" rIns="45720" tIns="18288" bIns="18288">
            <a:spAutoFit/>
          </a:bodyPr>
          <a:lstStyle/>
          <a:p>
            <a:pPr algn="r">
              <a:lnSpc>
                <a:spcPct val="105000"/>
              </a:lnSpc>
            </a:pPr>
            <a:r>
              <a:rPr sz="850" b="1" i="0" spc="120">
                <a:solidFill>
                  <a:srgbClr val="9AA3B2"/>
                </a:solidFill>
                <a:latin typeface="Calibri"/>
              </a:rPr>
              <a:t>APPENDIX</a:t>
            </a:r>
          </a:p>
        </p:txBody>
      </p:sp>
      <p:sp>
        <p:nvSpPr>
          <p:cNvPr id="6" name="TextBox 5"/>
          <p:cNvSpPr txBox="1"/>
          <p:nvPr/>
        </p:nvSpPr>
        <p:spPr>
          <a:xfrm>
            <a:off x="11155680" y="6428232"/>
            <a:ext cx="576072" cy="274320"/>
          </a:xfrm>
          <a:prstGeom prst="rect">
            <a:avLst/>
          </a:prstGeom>
          <a:noFill/>
        </p:spPr>
        <p:txBody>
          <a:bodyPr wrap="square" anchor="t" lIns="45720" rIns="45720" tIns="18288" bIns="18288">
            <a:spAutoFit/>
          </a:bodyPr>
          <a:lstStyle/>
          <a:p>
            <a:pPr algn="r">
              <a:lnSpc>
                <a:spcPct val="105000"/>
              </a:lnSpc>
            </a:pPr>
            <a:r>
              <a:rPr sz="1000" b="1" i="0">
                <a:solidFill>
                  <a:srgbClr val="6B7280"/>
                </a:solidFill>
                <a:latin typeface="Calibri"/>
              </a:rPr>
              <a:t>43</a:t>
            </a:r>
          </a:p>
        </p:txBody>
      </p:sp>
      <p:graphicFrame>
        <p:nvGraphicFramePr>
          <p:cNvPr id="7" name="Table 6"/>
          <p:cNvGraphicFramePr>
            <a:graphicFrameLocks noGrp="1"/>
          </p:cNvGraphicFramePr>
          <p:nvPr/>
        </p:nvGraphicFramePr>
        <p:xfrm>
          <a:off x="457200" y="1325880"/>
          <a:ext cx="11247120" cy="4526280"/>
        </p:xfrm>
        <a:graphic>
          <a:graphicData uri="http://schemas.openxmlformats.org/drawingml/2006/table">
            <a:tbl>
              <a:tblPr firstRow="0" bandRow="0"/>
              <a:tblGrid>
                <a:gridCol w="2194560"/>
                <a:gridCol w="9052560"/>
              </a:tblGrid>
              <a:tr h="411480">
                <a:tc>
                  <a:txBody>
                    <a:bodyPr/>
                    <a:lstStyle/>
                    <a:p>
                      <a:pPr algn="l"/>
                      <a:r>
                        <a:rPr sz="1100" b="1" i="0">
                          <a:solidFill>
                            <a:srgbClr val="14213D"/>
                          </a:solidFill>
                          <a:latin typeface="Calibri"/>
                        </a:rPr>
                        <a:t>Term</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c>
                  <a:txBody>
                    <a:bodyPr/>
                    <a:lstStyle/>
                    <a:p>
                      <a:pPr algn="ctr"/>
                      <a:r>
                        <a:rPr sz="1100" b="1" i="0">
                          <a:solidFill>
                            <a:srgbClr val="14213D"/>
                          </a:solidFill>
                          <a:latin typeface="Calibri"/>
                        </a:rPr>
                        <a:t>Meaning in this paper</a:t>
                      </a:r>
                    </a:p>
                  </a:txBody>
                  <a:tcPr marL="64008" marR="64008" marT="36576" marB="36576" anchor="ctr">
                    <a:lnL w="0">
                      <a:noFill/>
                    </a:lnL>
                    <a:lnR w="0">
                      <a:noFill/>
                    </a:lnR>
                    <a:lnT w="12700" cap="flat" cmpd="sng" algn="ctr">
                      <a:solidFill>
                        <a:srgbClr val="14213D"/>
                      </a:solidFill>
                      <a:prstDash val="solid"/>
                    </a:lnT>
                    <a:lnB w="12700" cap="flat" cmpd="sng" algn="ctr">
                      <a:solidFill>
                        <a:srgbClr val="14213D"/>
                      </a:solidFill>
                      <a:prstDash val="solid"/>
                    </a:lnB>
                    <a:noFill/>
                  </a:tcPr>
                </a:tc>
              </a:tr>
              <a:tr h="411480">
                <a:tc>
                  <a:txBody>
                    <a:bodyPr/>
                    <a:lstStyle/>
                    <a:p>
                      <a:pPr algn="l"/>
                      <a:r>
                        <a:rPr sz="1150" b="0" i="0">
                          <a:solidFill>
                            <a:srgbClr val="1F2937"/>
                          </a:solidFill>
                          <a:latin typeface="Calibri"/>
                        </a:rPr>
                        <a:t>World model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Learned model that predicts future observations (here: latent frames) given past observations and actions</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Imagination training</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Training the policy on rollouts generated by the world model instead of the real environment</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Tokenizer / latents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Encoder–decoder mapping each frame to 256 continuous tokens the dynamics model operates on</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Block-causal attention</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Full attention within a frame, causal across frames — enables frame-by-frame online generation</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Diffusion forcing</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Diffusion training with an independent noise level per frame in a sequence</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Shortcut model</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Diffusion/flow model conditioned on step size, trained to be self-consistent across step sizes → few-step sampling</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x- vs v-prediction</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Network predicts the clean latent (x) vs the velocity x − ε (v); Dreamer 4 uses x-prediction</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FVD / PSNR / SSIM</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Fréchet Video Distance (distribution-level video quality, lower is better) / per-frame reconstruction fidelity metrics</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GQA, RoPE, registers</a:t>
                      </a:r>
                    </a:p>
                  </a:txBody>
                  <a:tcPr marL="64008" marR="64008" marT="36576" marB="36576" anchor="ctr">
                    <a:lnL w="0">
                      <a:noFill/>
                    </a:lnL>
                    <a:lnR w="0">
                      <a:noFill/>
                    </a:lnR>
                    <a:lnT w="0">
                      <a:noFill/>
                    </a:lnT>
                    <a:lnB w="6350" cap="flat" cmpd="sng" algn="ctr">
                      <a:solidFill>
                        <a:srgbClr val="D3D8E2"/>
                      </a:solidFill>
                      <a:prstDash val="solid"/>
                    </a:lnB>
                    <a:noFill/>
                  </a:tcPr>
                </a:tc>
                <a:tc>
                  <a:txBody>
                    <a:bodyPr/>
                    <a:lstStyle/>
                    <a:p>
                      <a:pPr algn="l"/>
                      <a:r>
                        <a:rPr sz="1150" b="0" i="0">
                          <a:solidFill>
                            <a:srgbClr val="1F2937"/>
                          </a:solidFill>
                          <a:latin typeface="Calibri"/>
                        </a:rPr>
                        <a:t>Grouped-query attention (fewer KV heads), rotary position embeddings, extra learnable tokens that absorb attention mass</a:t>
                      </a:r>
                    </a:p>
                  </a:txBody>
                  <a:tcPr marL="64008" marR="64008" marT="36576" marB="36576" anchor="ctr">
                    <a:lnL w="0">
                      <a:noFill/>
                    </a:lnL>
                    <a:lnR w="0">
                      <a:noFill/>
                    </a:lnR>
                    <a:lnT w="0">
                      <a:noFill/>
                    </a:lnT>
                    <a:lnB w="6350" cap="flat" cmpd="sng" algn="ctr">
                      <a:solidFill>
                        <a:srgbClr val="D3D8E2"/>
                      </a:solidFill>
                      <a:prstDash val="solid"/>
                    </a:lnB>
                    <a:noFill/>
                  </a:tcPr>
                </a:tc>
              </a:tr>
              <a:tr h="411480">
                <a:tc>
                  <a:txBody>
                    <a:bodyPr/>
                    <a:lstStyle/>
                    <a:p>
                      <a:pPr algn="l"/>
                      <a:r>
                        <a:rPr sz="1150" b="0" i="0">
                          <a:solidFill>
                            <a:srgbClr val="1F2937"/>
                          </a:solidFill>
                          <a:latin typeface="Calibri"/>
                        </a:rPr>
                        <a:t>BC, VLA, PMPO</a:t>
                      </a:r>
                    </a:p>
                  </a:txBody>
                  <a:tcPr marL="64008" marR="64008" marT="36576" marB="36576" anchor="ctr">
                    <a:lnL w="0">
                      <a:noFill/>
                    </a:lnL>
                    <a:lnR w="0">
                      <a:noFill/>
                    </a:lnR>
                    <a:lnT w="0">
                      <a:noFill/>
                    </a:lnT>
                    <a:lnB w="12700" cap="flat" cmpd="sng" algn="ctr">
                      <a:solidFill>
                        <a:srgbClr val="14213D"/>
                      </a:solidFill>
                      <a:prstDash val="solid"/>
                    </a:lnB>
                    <a:noFill/>
                  </a:tcPr>
                </a:tc>
                <a:tc>
                  <a:txBody>
                    <a:bodyPr/>
                    <a:lstStyle/>
                    <a:p>
                      <a:pPr algn="l"/>
                      <a:r>
                        <a:rPr sz="1150" b="0" i="0">
                          <a:solidFill>
                            <a:srgbClr val="1F2937"/>
                          </a:solidFill>
                          <a:latin typeface="Calibri"/>
                        </a:rPr>
                        <a:t>Behavioural cloning; vision-language-action model (here built on Gemma 3); the sign-based, KL-regularised policy-gradient update used for RL</a:t>
                      </a:r>
                    </a:p>
                  </a:txBody>
                  <a:tcPr marL="64008" marR="64008" marT="36576" marB="36576" anchor="ctr">
                    <a:lnL w="0">
                      <a:noFill/>
                    </a:lnL>
                    <a:lnR w="0">
                      <a:noFill/>
                    </a:lnR>
                    <a:lnT w="0">
                      <a:noFill/>
                    </a:lnT>
                    <a:lnB w="12700" cap="flat" cmpd="sng" algn="ctr">
                      <a:solidFill>
                        <a:srgbClr val="14213D"/>
                      </a:solidFill>
                      <a:prstDash val="solid"/>
                    </a:lnB>
                    <a:no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